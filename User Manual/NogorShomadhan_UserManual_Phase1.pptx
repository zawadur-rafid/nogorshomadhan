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" Target="slide1.xml"/><Relationship Id="rId3" Type="http://schemas.openxmlformats.org/officeDocument/2006/relationships/slide" Target="slide2.xml"/><Relationship Id="rId4" Type="http://schemas.openxmlformats.org/officeDocument/2006/relationships/slide" Target="slide3.xml"/><Relationship Id="rId5" Type="http://schemas.openxmlformats.org/officeDocument/2006/relationships/slide" Target="slide4.xml"/><Relationship Id="rId6" Type="http://schemas.openxmlformats.org/officeDocument/2006/relationships/slide" Target="slide5.xml"/><Relationship Id="rId7" Type="http://schemas.openxmlformats.org/officeDocument/2006/relationships/slide" Target="slide6.xml"/><Relationship Id="rId8" Type="http://schemas.openxmlformats.org/officeDocument/2006/relationships/slide" Target="slide7.xml"/><Relationship Id="rId9" Type="http://schemas.openxmlformats.org/officeDocument/2006/relationships/slide" Target="slide8.xml"/><Relationship Id="rId10" Type="http://schemas.openxmlformats.org/officeDocument/2006/relationships/slide" Target="slide9.xml"/><Relationship Id="rId11" Type="http://schemas.openxmlformats.org/officeDocument/2006/relationships/slide" Target="slide10.xml"/><Relationship Id="rId12" Type="http://schemas.openxmlformats.org/officeDocument/2006/relationships/slide" Target="slide11.xml"/><Relationship Id="rId13" Type="http://schemas.openxmlformats.org/officeDocument/2006/relationships/slide" Target="slide12.xml"/><Relationship Id="rId14" Type="http://schemas.openxmlformats.org/officeDocument/2006/relationships/slide" Target="slide13.xml"/><Relationship Id="rId15" Type="http://schemas.openxmlformats.org/officeDocument/2006/relationships/slide" Target="slide14.xml"/><Relationship Id="rId16" Type="http://schemas.openxmlformats.org/officeDocument/2006/relationships/slide" Target="slide15.xml"/><Relationship Id="rId17" Type="http://schemas.openxmlformats.org/officeDocument/2006/relationships/slide" Target="slide16.xml"/><Relationship Id="rId18" Type="http://schemas.openxmlformats.org/officeDocument/2006/relationships/slide" Target="slide17.xml"/><Relationship Id="rId19" Type="http://schemas.openxmlformats.org/officeDocument/2006/relationships/slide" Target="slide18.xml"/><Relationship Id="rId20" Type="http://schemas.openxmlformats.org/officeDocument/2006/relationships/slide" Target="slide19.xml"/><Relationship Id="rId21" Type="http://schemas.openxmlformats.org/officeDocument/2006/relationships/slide" Target="slide20.xml"/><Relationship Id="rId22" Type="http://schemas.openxmlformats.org/officeDocument/2006/relationships/slide" Target="slide21.xml"/><Relationship Id="rId23" Type="http://schemas.openxmlformats.org/officeDocument/2006/relationships/slide" Target="slide22.xml"/><Relationship Id="rId24" Type="http://schemas.openxmlformats.org/officeDocument/2006/relationships/slide" Target="slide23.xml"/><Relationship Id="rId25" Type="http://schemas.openxmlformats.org/officeDocument/2006/relationships/slide" Target="slide24.xml"/><Relationship Id="rId26" Type="http://schemas.openxmlformats.org/officeDocument/2006/relationships/slide" Target="slide25.xml"/><Relationship Id="rId1" Type="http://schemas.openxmlformats.org/officeDocument/2006/relationships/image" Target="../media/image-1-1.png"/><Relationship Id="rId27" Type="http://schemas.openxmlformats.org/officeDocument/2006/relationships/slideLayout" Target="../slideLayouts/slideLayout1.xml"/><Relationship Id="rId28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" Target="slide1.xml"/><Relationship Id="rId2" Type="http://schemas.openxmlformats.org/officeDocument/2006/relationships/slide" Target="slide2.xml"/><Relationship Id="rId3" Type="http://schemas.openxmlformats.org/officeDocument/2006/relationships/slide" Target="slide3.xml"/><Relationship Id="rId4" Type="http://schemas.openxmlformats.org/officeDocument/2006/relationships/slide" Target="slide4.xml"/><Relationship Id="rId5" Type="http://schemas.openxmlformats.org/officeDocument/2006/relationships/slide" Target="slide5.xml"/><Relationship Id="rId6" Type="http://schemas.openxmlformats.org/officeDocument/2006/relationships/slide" Target="slide6.xml"/><Relationship Id="rId7" Type="http://schemas.openxmlformats.org/officeDocument/2006/relationships/slide" Target="slide7.xml"/><Relationship Id="rId8" Type="http://schemas.openxmlformats.org/officeDocument/2006/relationships/slide" Target="slide8.xml"/><Relationship Id="rId9" Type="http://schemas.openxmlformats.org/officeDocument/2006/relationships/slide" Target="slide9.xml"/><Relationship Id="rId10" Type="http://schemas.openxmlformats.org/officeDocument/2006/relationships/slide" Target="slide10.xml"/><Relationship Id="rId11" Type="http://schemas.openxmlformats.org/officeDocument/2006/relationships/slide" Target="slide11.xml"/><Relationship Id="rId12" Type="http://schemas.openxmlformats.org/officeDocument/2006/relationships/slide" Target="slide12.xml"/><Relationship Id="rId13" Type="http://schemas.openxmlformats.org/officeDocument/2006/relationships/slide" Target="slide13.xml"/><Relationship Id="rId14" Type="http://schemas.openxmlformats.org/officeDocument/2006/relationships/slide" Target="slide14.xml"/><Relationship Id="rId15" Type="http://schemas.openxmlformats.org/officeDocument/2006/relationships/slide" Target="slide15.xml"/><Relationship Id="rId16" Type="http://schemas.openxmlformats.org/officeDocument/2006/relationships/slide" Target="slide16.xml"/><Relationship Id="rId17" Type="http://schemas.openxmlformats.org/officeDocument/2006/relationships/slide" Target="slide17.xml"/><Relationship Id="rId18" Type="http://schemas.openxmlformats.org/officeDocument/2006/relationships/slide" Target="slide18.xml"/><Relationship Id="rId19" Type="http://schemas.openxmlformats.org/officeDocument/2006/relationships/slide" Target="slide19.xml"/><Relationship Id="rId20" Type="http://schemas.openxmlformats.org/officeDocument/2006/relationships/slide" Target="slide20.xml"/><Relationship Id="rId21" Type="http://schemas.openxmlformats.org/officeDocument/2006/relationships/slide" Target="slide21.xml"/><Relationship Id="rId22" Type="http://schemas.openxmlformats.org/officeDocument/2006/relationships/slide" Target="slide22.xml"/><Relationship Id="rId23" Type="http://schemas.openxmlformats.org/officeDocument/2006/relationships/slide" Target="slide23.xml"/><Relationship Id="rId24" Type="http://schemas.openxmlformats.org/officeDocument/2006/relationships/slide" Target="slide24.xml"/><Relationship Id="rId25" Type="http://schemas.openxmlformats.org/officeDocument/2006/relationships/slide" Target="slide25.xml"/><Relationship Id="rId26" Type="http://schemas.openxmlformats.org/officeDocument/2006/relationships/slideLayout" Target="../slideLayouts/slideLayout1.xml"/><Relationship Id="rId2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4" Type="http://schemas.openxmlformats.org/officeDocument/2006/relationships/slide" Target="slide1.xml"/><Relationship Id="rId5" Type="http://schemas.openxmlformats.org/officeDocument/2006/relationships/slide" Target="slide2.xml"/><Relationship Id="rId6" Type="http://schemas.openxmlformats.org/officeDocument/2006/relationships/slide" Target="slide3.xml"/><Relationship Id="rId7" Type="http://schemas.openxmlformats.org/officeDocument/2006/relationships/slide" Target="slide4.xml"/><Relationship Id="rId8" Type="http://schemas.openxmlformats.org/officeDocument/2006/relationships/slide" Target="slide5.xml"/><Relationship Id="rId9" Type="http://schemas.openxmlformats.org/officeDocument/2006/relationships/slide" Target="slide6.xml"/><Relationship Id="rId10" Type="http://schemas.openxmlformats.org/officeDocument/2006/relationships/slide" Target="slide7.xml"/><Relationship Id="rId11" Type="http://schemas.openxmlformats.org/officeDocument/2006/relationships/slide" Target="slide8.xml"/><Relationship Id="rId12" Type="http://schemas.openxmlformats.org/officeDocument/2006/relationships/slide" Target="slide9.xml"/><Relationship Id="rId13" Type="http://schemas.openxmlformats.org/officeDocument/2006/relationships/slide" Target="slide10.xml"/><Relationship Id="rId14" Type="http://schemas.openxmlformats.org/officeDocument/2006/relationships/slide" Target="slide11.xml"/><Relationship Id="rId15" Type="http://schemas.openxmlformats.org/officeDocument/2006/relationships/slide" Target="slide12.xml"/><Relationship Id="rId16" Type="http://schemas.openxmlformats.org/officeDocument/2006/relationships/slide" Target="slide13.xml"/><Relationship Id="rId17" Type="http://schemas.openxmlformats.org/officeDocument/2006/relationships/slide" Target="slide14.xml"/><Relationship Id="rId18" Type="http://schemas.openxmlformats.org/officeDocument/2006/relationships/slide" Target="slide15.xml"/><Relationship Id="rId19" Type="http://schemas.openxmlformats.org/officeDocument/2006/relationships/slide" Target="slide16.xml"/><Relationship Id="rId20" Type="http://schemas.openxmlformats.org/officeDocument/2006/relationships/slide" Target="slide17.xml"/><Relationship Id="rId21" Type="http://schemas.openxmlformats.org/officeDocument/2006/relationships/slide" Target="slide18.xml"/><Relationship Id="rId22" Type="http://schemas.openxmlformats.org/officeDocument/2006/relationships/slide" Target="slide19.xml"/><Relationship Id="rId23" Type="http://schemas.openxmlformats.org/officeDocument/2006/relationships/slide" Target="slide20.xml"/><Relationship Id="rId24" Type="http://schemas.openxmlformats.org/officeDocument/2006/relationships/slide" Target="slide21.xml"/><Relationship Id="rId25" Type="http://schemas.openxmlformats.org/officeDocument/2006/relationships/slide" Target="slide22.xml"/><Relationship Id="rId26" Type="http://schemas.openxmlformats.org/officeDocument/2006/relationships/slide" Target="slide23.xml"/><Relationship Id="rId27" Type="http://schemas.openxmlformats.org/officeDocument/2006/relationships/slide" Target="slide24.xml"/><Relationship Id="rId28" Type="http://schemas.openxmlformats.org/officeDocument/2006/relationships/slide" Target="slide25.xml"/><Relationship Id="rId1" Type="http://schemas.openxmlformats.org/officeDocument/2006/relationships/image" Target="../media/image-3-1.jpeg"/><Relationship Id="rId2" Type="http://schemas.openxmlformats.org/officeDocument/2006/relationships/image" Target="../media/image-3-2.jpeg"/><Relationship Id="rId3" Type="http://schemas.openxmlformats.org/officeDocument/2006/relationships/image" Target="../media/image-3-3.jpeg"/><Relationship Id="rId29" Type="http://schemas.openxmlformats.org/officeDocument/2006/relationships/slideLayout" Target="../slideLayouts/slideLayout1.xml"/><Relationship Id="rId30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" Target="slide1.xml"/><Relationship Id="rId4" Type="http://schemas.openxmlformats.org/officeDocument/2006/relationships/slide" Target="slide2.xml"/><Relationship Id="rId5" Type="http://schemas.openxmlformats.org/officeDocument/2006/relationships/slide" Target="slide3.xml"/><Relationship Id="rId6" Type="http://schemas.openxmlformats.org/officeDocument/2006/relationships/slide" Target="slide4.xml"/><Relationship Id="rId7" Type="http://schemas.openxmlformats.org/officeDocument/2006/relationships/slide" Target="slide5.xml"/><Relationship Id="rId8" Type="http://schemas.openxmlformats.org/officeDocument/2006/relationships/slide" Target="slide6.xml"/><Relationship Id="rId9" Type="http://schemas.openxmlformats.org/officeDocument/2006/relationships/slide" Target="slide7.xml"/><Relationship Id="rId10" Type="http://schemas.openxmlformats.org/officeDocument/2006/relationships/slide" Target="slide8.xml"/><Relationship Id="rId11" Type="http://schemas.openxmlformats.org/officeDocument/2006/relationships/slide" Target="slide9.xml"/><Relationship Id="rId12" Type="http://schemas.openxmlformats.org/officeDocument/2006/relationships/slide" Target="slide10.xml"/><Relationship Id="rId13" Type="http://schemas.openxmlformats.org/officeDocument/2006/relationships/slide" Target="slide11.xml"/><Relationship Id="rId14" Type="http://schemas.openxmlformats.org/officeDocument/2006/relationships/slide" Target="slide12.xml"/><Relationship Id="rId15" Type="http://schemas.openxmlformats.org/officeDocument/2006/relationships/slide" Target="slide13.xml"/><Relationship Id="rId16" Type="http://schemas.openxmlformats.org/officeDocument/2006/relationships/slide" Target="slide14.xml"/><Relationship Id="rId17" Type="http://schemas.openxmlformats.org/officeDocument/2006/relationships/slide" Target="slide15.xml"/><Relationship Id="rId18" Type="http://schemas.openxmlformats.org/officeDocument/2006/relationships/slide" Target="slide16.xml"/><Relationship Id="rId19" Type="http://schemas.openxmlformats.org/officeDocument/2006/relationships/slide" Target="slide17.xml"/><Relationship Id="rId20" Type="http://schemas.openxmlformats.org/officeDocument/2006/relationships/slide" Target="slide18.xml"/><Relationship Id="rId21" Type="http://schemas.openxmlformats.org/officeDocument/2006/relationships/slide" Target="slide19.xml"/><Relationship Id="rId22" Type="http://schemas.openxmlformats.org/officeDocument/2006/relationships/slide" Target="slide20.xml"/><Relationship Id="rId23" Type="http://schemas.openxmlformats.org/officeDocument/2006/relationships/slide" Target="slide21.xml"/><Relationship Id="rId24" Type="http://schemas.openxmlformats.org/officeDocument/2006/relationships/slide" Target="slide22.xml"/><Relationship Id="rId25" Type="http://schemas.openxmlformats.org/officeDocument/2006/relationships/slide" Target="slide23.xml"/><Relationship Id="rId26" Type="http://schemas.openxmlformats.org/officeDocument/2006/relationships/slide" Target="slide24.xml"/><Relationship Id="rId27" Type="http://schemas.openxmlformats.org/officeDocument/2006/relationships/slide" Target="slide25.xml"/><Relationship Id="rId1" Type="http://schemas.openxmlformats.org/officeDocument/2006/relationships/image" Target="../media/image-4-1.jpeg"/><Relationship Id="rId2" Type="http://schemas.openxmlformats.org/officeDocument/2006/relationships/image" Target="../media/image-4-2.jpeg"/><Relationship Id="rId28" Type="http://schemas.openxmlformats.org/officeDocument/2006/relationships/slideLayout" Target="../slideLayouts/slideLayout1.xml"/><Relationship Id="rId29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" Target="slide1.xml"/><Relationship Id="rId4" Type="http://schemas.openxmlformats.org/officeDocument/2006/relationships/slide" Target="slide2.xml"/><Relationship Id="rId5" Type="http://schemas.openxmlformats.org/officeDocument/2006/relationships/slide" Target="slide3.xml"/><Relationship Id="rId6" Type="http://schemas.openxmlformats.org/officeDocument/2006/relationships/slide" Target="slide4.xml"/><Relationship Id="rId7" Type="http://schemas.openxmlformats.org/officeDocument/2006/relationships/slide" Target="slide5.xml"/><Relationship Id="rId8" Type="http://schemas.openxmlformats.org/officeDocument/2006/relationships/slide" Target="slide6.xml"/><Relationship Id="rId9" Type="http://schemas.openxmlformats.org/officeDocument/2006/relationships/slide" Target="slide7.xml"/><Relationship Id="rId10" Type="http://schemas.openxmlformats.org/officeDocument/2006/relationships/slide" Target="slide8.xml"/><Relationship Id="rId11" Type="http://schemas.openxmlformats.org/officeDocument/2006/relationships/slide" Target="slide9.xml"/><Relationship Id="rId12" Type="http://schemas.openxmlformats.org/officeDocument/2006/relationships/slide" Target="slide10.xml"/><Relationship Id="rId13" Type="http://schemas.openxmlformats.org/officeDocument/2006/relationships/slide" Target="slide11.xml"/><Relationship Id="rId14" Type="http://schemas.openxmlformats.org/officeDocument/2006/relationships/slide" Target="slide12.xml"/><Relationship Id="rId15" Type="http://schemas.openxmlformats.org/officeDocument/2006/relationships/slide" Target="slide13.xml"/><Relationship Id="rId16" Type="http://schemas.openxmlformats.org/officeDocument/2006/relationships/slide" Target="slide14.xml"/><Relationship Id="rId17" Type="http://schemas.openxmlformats.org/officeDocument/2006/relationships/slide" Target="slide15.xml"/><Relationship Id="rId18" Type="http://schemas.openxmlformats.org/officeDocument/2006/relationships/slide" Target="slide16.xml"/><Relationship Id="rId19" Type="http://schemas.openxmlformats.org/officeDocument/2006/relationships/slide" Target="slide17.xml"/><Relationship Id="rId20" Type="http://schemas.openxmlformats.org/officeDocument/2006/relationships/slide" Target="slide18.xml"/><Relationship Id="rId21" Type="http://schemas.openxmlformats.org/officeDocument/2006/relationships/slide" Target="slide19.xml"/><Relationship Id="rId22" Type="http://schemas.openxmlformats.org/officeDocument/2006/relationships/slide" Target="slide20.xml"/><Relationship Id="rId23" Type="http://schemas.openxmlformats.org/officeDocument/2006/relationships/slide" Target="slide21.xml"/><Relationship Id="rId24" Type="http://schemas.openxmlformats.org/officeDocument/2006/relationships/slide" Target="slide22.xml"/><Relationship Id="rId25" Type="http://schemas.openxmlformats.org/officeDocument/2006/relationships/slide" Target="slide23.xml"/><Relationship Id="rId26" Type="http://schemas.openxmlformats.org/officeDocument/2006/relationships/slide" Target="slide24.xml"/><Relationship Id="rId27" Type="http://schemas.openxmlformats.org/officeDocument/2006/relationships/slide" Target="slide25.xml"/><Relationship Id="rId1" Type="http://schemas.openxmlformats.org/officeDocument/2006/relationships/image" Target="../media/image-5-1.jpeg"/><Relationship Id="rId2" Type="http://schemas.openxmlformats.org/officeDocument/2006/relationships/image" Target="../media/image-5-2.jpeg"/><Relationship Id="rId28" Type="http://schemas.openxmlformats.org/officeDocument/2006/relationships/slideLayout" Target="../slideLayouts/slideLayout1.xml"/><Relationship Id="rId29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" Target="slide1.xml"/><Relationship Id="rId4" Type="http://schemas.openxmlformats.org/officeDocument/2006/relationships/slide" Target="slide2.xml"/><Relationship Id="rId5" Type="http://schemas.openxmlformats.org/officeDocument/2006/relationships/slide" Target="slide3.xml"/><Relationship Id="rId6" Type="http://schemas.openxmlformats.org/officeDocument/2006/relationships/slide" Target="slide4.xml"/><Relationship Id="rId7" Type="http://schemas.openxmlformats.org/officeDocument/2006/relationships/slide" Target="slide5.xml"/><Relationship Id="rId8" Type="http://schemas.openxmlformats.org/officeDocument/2006/relationships/slide" Target="slide6.xml"/><Relationship Id="rId9" Type="http://schemas.openxmlformats.org/officeDocument/2006/relationships/slide" Target="slide7.xml"/><Relationship Id="rId10" Type="http://schemas.openxmlformats.org/officeDocument/2006/relationships/slide" Target="slide8.xml"/><Relationship Id="rId11" Type="http://schemas.openxmlformats.org/officeDocument/2006/relationships/slide" Target="slide9.xml"/><Relationship Id="rId12" Type="http://schemas.openxmlformats.org/officeDocument/2006/relationships/slide" Target="slide10.xml"/><Relationship Id="rId13" Type="http://schemas.openxmlformats.org/officeDocument/2006/relationships/slide" Target="slide11.xml"/><Relationship Id="rId14" Type="http://schemas.openxmlformats.org/officeDocument/2006/relationships/slide" Target="slide12.xml"/><Relationship Id="rId15" Type="http://schemas.openxmlformats.org/officeDocument/2006/relationships/slide" Target="slide13.xml"/><Relationship Id="rId16" Type="http://schemas.openxmlformats.org/officeDocument/2006/relationships/slide" Target="slide14.xml"/><Relationship Id="rId17" Type="http://schemas.openxmlformats.org/officeDocument/2006/relationships/slide" Target="slide15.xml"/><Relationship Id="rId18" Type="http://schemas.openxmlformats.org/officeDocument/2006/relationships/slide" Target="slide16.xml"/><Relationship Id="rId19" Type="http://schemas.openxmlformats.org/officeDocument/2006/relationships/slide" Target="slide17.xml"/><Relationship Id="rId20" Type="http://schemas.openxmlformats.org/officeDocument/2006/relationships/slide" Target="slide18.xml"/><Relationship Id="rId21" Type="http://schemas.openxmlformats.org/officeDocument/2006/relationships/slide" Target="slide19.xml"/><Relationship Id="rId22" Type="http://schemas.openxmlformats.org/officeDocument/2006/relationships/slide" Target="slide20.xml"/><Relationship Id="rId23" Type="http://schemas.openxmlformats.org/officeDocument/2006/relationships/slide" Target="slide21.xml"/><Relationship Id="rId24" Type="http://schemas.openxmlformats.org/officeDocument/2006/relationships/slide" Target="slide22.xml"/><Relationship Id="rId25" Type="http://schemas.openxmlformats.org/officeDocument/2006/relationships/slide" Target="slide23.xml"/><Relationship Id="rId26" Type="http://schemas.openxmlformats.org/officeDocument/2006/relationships/slide" Target="slide24.xml"/><Relationship Id="rId27" Type="http://schemas.openxmlformats.org/officeDocument/2006/relationships/slide" Target="slide25.xml"/><Relationship Id="rId1" Type="http://schemas.openxmlformats.org/officeDocument/2006/relationships/image" Target="../media/image-6-1.jpeg"/><Relationship Id="rId2" Type="http://schemas.openxmlformats.org/officeDocument/2006/relationships/image" Target="../media/image-6-2.jpeg"/><Relationship Id="rId28" Type="http://schemas.openxmlformats.org/officeDocument/2006/relationships/slideLayout" Target="../slideLayouts/slideLayout1.xml"/><Relationship Id="rId29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4" Type="http://schemas.openxmlformats.org/officeDocument/2006/relationships/slide" Target="slide1.xml"/><Relationship Id="rId5" Type="http://schemas.openxmlformats.org/officeDocument/2006/relationships/slide" Target="slide2.xml"/><Relationship Id="rId6" Type="http://schemas.openxmlformats.org/officeDocument/2006/relationships/slide" Target="slide3.xml"/><Relationship Id="rId7" Type="http://schemas.openxmlformats.org/officeDocument/2006/relationships/slide" Target="slide4.xml"/><Relationship Id="rId8" Type="http://schemas.openxmlformats.org/officeDocument/2006/relationships/slide" Target="slide5.xml"/><Relationship Id="rId9" Type="http://schemas.openxmlformats.org/officeDocument/2006/relationships/slide" Target="slide6.xml"/><Relationship Id="rId10" Type="http://schemas.openxmlformats.org/officeDocument/2006/relationships/slide" Target="slide7.xml"/><Relationship Id="rId11" Type="http://schemas.openxmlformats.org/officeDocument/2006/relationships/slide" Target="slide8.xml"/><Relationship Id="rId12" Type="http://schemas.openxmlformats.org/officeDocument/2006/relationships/slide" Target="slide9.xml"/><Relationship Id="rId13" Type="http://schemas.openxmlformats.org/officeDocument/2006/relationships/slide" Target="slide10.xml"/><Relationship Id="rId14" Type="http://schemas.openxmlformats.org/officeDocument/2006/relationships/slide" Target="slide11.xml"/><Relationship Id="rId15" Type="http://schemas.openxmlformats.org/officeDocument/2006/relationships/slide" Target="slide12.xml"/><Relationship Id="rId16" Type="http://schemas.openxmlformats.org/officeDocument/2006/relationships/slide" Target="slide13.xml"/><Relationship Id="rId17" Type="http://schemas.openxmlformats.org/officeDocument/2006/relationships/slide" Target="slide14.xml"/><Relationship Id="rId18" Type="http://schemas.openxmlformats.org/officeDocument/2006/relationships/slide" Target="slide15.xml"/><Relationship Id="rId19" Type="http://schemas.openxmlformats.org/officeDocument/2006/relationships/slide" Target="slide16.xml"/><Relationship Id="rId20" Type="http://schemas.openxmlformats.org/officeDocument/2006/relationships/slide" Target="slide17.xml"/><Relationship Id="rId21" Type="http://schemas.openxmlformats.org/officeDocument/2006/relationships/slide" Target="slide18.xml"/><Relationship Id="rId22" Type="http://schemas.openxmlformats.org/officeDocument/2006/relationships/slide" Target="slide19.xml"/><Relationship Id="rId23" Type="http://schemas.openxmlformats.org/officeDocument/2006/relationships/slide" Target="slide20.xml"/><Relationship Id="rId24" Type="http://schemas.openxmlformats.org/officeDocument/2006/relationships/slide" Target="slide21.xml"/><Relationship Id="rId25" Type="http://schemas.openxmlformats.org/officeDocument/2006/relationships/slide" Target="slide22.xml"/><Relationship Id="rId26" Type="http://schemas.openxmlformats.org/officeDocument/2006/relationships/slide" Target="slide23.xml"/><Relationship Id="rId27" Type="http://schemas.openxmlformats.org/officeDocument/2006/relationships/slide" Target="slide24.xml"/><Relationship Id="rId28" Type="http://schemas.openxmlformats.org/officeDocument/2006/relationships/slide" Target="slide25.xml"/><Relationship Id="rId1" Type="http://schemas.openxmlformats.org/officeDocument/2006/relationships/image" Target="../media/image-7-1.jpeg"/><Relationship Id="rId2" Type="http://schemas.openxmlformats.org/officeDocument/2006/relationships/image" Target="../media/image-7-2.jpeg"/><Relationship Id="rId3" Type="http://schemas.openxmlformats.org/officeDocument/2006/relationships/image" Target="../media/image-7-3.jpeg"/><Relationship Id="rId29" Type="http://schemas.openxmlformats.org/officeDocument/2006/relationships/slideLayout" Target="../slideLayouts/slideLayout1.xml"/><Relationship Id="rId30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4" Type="http://schemas.openxmlformats.org/officeDocument/2006/relationships/slide" Target="slide1.xml"/><Relationship Id="rId5" Type="http://schemas.openxmlformats.org/officeDocument/2006/relationships/slide" Target="slide2.xml"/><Relationship Id="rId6" Type="http://schemas.openxmlformats.org/officeDocument/2006/relationships/slide" Target="slide3.xml"/><Relationship Id="rId7" Type="http://schemas.openxmlformats.org/officeDocument/2006/relationships/slide" Target="slide4.xml"/><Relationship Id="rId8" Type="http://schemas.openxmlformats.org/officeDocument/2006/relationships/slide" Target="slide5.xml"/><Relationship Id="rId9" Type="http://schemas.openxmlformats.org/officeDocument/2006/relationships/slide" Target="slide6.xml"/><Relationship Id="rId10" Type="http://schemas.openxmlformats.org/officeDocument/2006/relationships/slide" Target="slide7.xml"/><Relationship Id="rId11" Type="http://schemas.openxmlformats.org/officeDocument/2006/relationships/slide" Target="slide8.xml"/><Relationship Id="rId12" Type="http://schemas.openxmlformats.org/officeDocument/2006/relationships/slide" Target="slide9.xml"/><Relationship Id="rId13" Type="http://schemas.openxmlformats.org/officeDocument/2006/relationships/slide" Target="slide10.xml"/><Relationship Id="rId14" Type="http://schemas.openxmlformats.org/officeDocument/2006/relationships/slide" Target="slide11.xml"/><Relationship Id="rId15" Type="http://schemas.openxmlformats.org/officeDocument/2006/relationships/slide" Target="slide12.xml"/><Relationship Id="rId16" Type="http://schemas.openxmlformats.org/officeDocument/2006/relationships/slide" Target="slide13.xml"/><Relationship Id="rId17" Type="http://schemas.openxmlformats.org/officeDocument/2006/relationships/slide" Target="slide14.xml"/><Relationship Id="rId18" Type="http://schemas.openxmlformats.org/officeDocument/2006/relationships/slide" Target="slide15.xml"/><Relationship Id="rId19" Type="http://schemas.openxmlformats.org/officeDocument/2006/relationships/slide" Target="slide16.xml"/><Relationship Id="rId20" Type="http://schemas.openxmlformats.org/officeDocument/2006/relationships/slide" Target="slide17.xml"/><Relationship Id="rId21" Type="http://schemas.openxmlformats.org/officeDocument/2006/relationships/slide" Target="slide18.xml"/><Relationship Id="rId22" Type="http://schemas.openxmlformats.org/officeDocument/2006/relationships/slide" Target="slide19.xml"/><Relationship Id="rId23" Type="http://schemas.openxmlformats.org/officeDocument/2006/relationships/slide" Target="slide20.xml"/><Relationship Id="rId24" Type="http://schemas.openxmlformats.org/officeDocument/2006/relationships/slide" Target="slide21.xml"/><Relationship Id="rId25" Type="http://schemas.openxmlformats.org/officeDocument/2006/relationships/slide" Target="slide22.xml"/><Relationship Id="rId26" Type="http://schemas.openxmlformats.org/officeDocument/2006/relationships/slide" Target="slide23.xml"/><Relationship Id="rId27" Type="http://schemas.openxmlformats.org/officeDocument/2006/relationships/slide" Target="slide24.xml"/><Relationship Id="rId28" Type="http://schemas.openxmlformats.org/officeDocument/2006/relationships/slide" Target="slide25.xml"/><Relationship Id="rId1" Type="http://schemas.openxmlformats.org/officeDocument/2006/relationships/image" Target="../media/image-8-1.jpe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29" Type="http://schemas.openxmlformats.org/officeDocument/2006/relationships/slideLayout" Target="../slideLayouts/slideLayout1.xml"/><Relationship Id="rId30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slide" Target="slide1.xml"/><Relationship Id="rId4" Type="http://schemas.openxmlformats.org/officeDocument/2006/relationships/slide" Target="slide2.xml"/><Relationship Id="rId5" Type="http://schemas.openxmlformats.org/officeDocument/2006/relationships/slide" Target="slide3.xml"/><Relationship Id="rId6" Type="http://schemas.openxmlformats.org/officeDocument/2006/relationships/slide" Target="slide4.xml"/><Relationship Id="rId7" Type="http://schemas.openxmlformats.org/officeDocument/2006/relationships/slide" Target="slide5.xml"/><Relationship Id="rId8" Type="http://schemas.openxmlformats.org/officeDocument/2006/relationships/slide" Target="slide6.xml"/><Relationship Id="rId9" Type="http://schemas.openxmlformats.org/officeDocument/2006/relationships/slide" Target="slide7.xml"/><Relationship Id="rId10" Type="http://schemas.openxmlformats.org/officeDocument/2006/relationships/slide" Target="slide8.xml"/><Relationship Id="rId11" Type="http://schemas.openxmlformats.org/officeDocument/2006/relationships/slide" Target="slide9.xml"/><Relationship Id="rId12" Type="http://schemas.openxmlformats.org/officeDocument/2006/relationships/slide" Target="slide10.xml"/><Relationship Id="rId13" Type="http://schemas.openxmlformats.org/officeDocument/2006/relationships/slide" Target="slide11.xml"/><Relationship Id="rId14" Type="http://schemas.openxmlformats.org/officeDocument/2006/relationships/slide" Target="slide12.xml"/><Relationship Id="rId15" Type="http://schemas.openxmlformats.org/officeDocument/2006/relationships/slide" Target="slide13.xml"/><Relationship Id="rId16" Type="http://schemas.openxmlformats.org/officeDocument/2006/relationships/slide" Target="slide14.xml"/><Relationship Id="rId17" Type="http://schemas.openxmlformats.org/officeDocument/2006/relationships/slide" Target="slide15.xml"/><Relationship Id="rId18" Type="http://schemas.openxmlformats.org/officeDocument/2006/relationships/slide" Target="slide16.xml"/><Relationship Id="rId19" Type="http://schemas.openxmlformats.org/officeDocument/2006/relationships/slide" Target="slide17.xml"/><Relationship Id="rId20" Type="http://schemas.openxmlformats.org/officeDocument/2006/relationships/slide" Target="slide18.xml"/><Relationship Id="rId21" Type="http://schemas.openxmlformats.org/officeDocument/2006/relationships/slide" Target="slide19.xml"/><Relationship Id="rId22" Type="http://schemas.openxmlformats.org/officeDocument/2006/relationships/slide" Target="slide20.xml"/><Relationship Id="rId23" Type="http://schemas.openxmlformats.org/officeDocument/2006/relationships/slide" Target="slide21.xml"/><Relationship Id="rId24" Type="http://schemas.openxmlformats.org/officeDocument/2006/relationships/slide" Target="slide22.xml"/><Relationship Id="rId25" Type="http://schemas.openxmlformats.org/officeDocument/2006/relationships/slide" Target="slide23.xml"/><Relationship Id="rId26" Type="http://schemas.openxmlformats.org/officeDocument/2006/relationships/slide" Target="slide24.xml"/><Relationship Id="rId27" Type="http://schemas.openxmlformats.org/officeDocument/2006/relationships/slide" Target="slide25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28" Type="http://schemas.openxmlformats.org/officeDocument/2006/relationships/slideLayout" Target="../slideLayouts/slideLayout1.xml"/><Relationship Id="rId29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" Target="slide1.xml"/><Relationship Id="rId4" Type="http://schemas.openxmlformats.org/officeDocument/2006/relationships/slide" Target="slide2.xml"/><Relationship Id="rId5" Type="http://schemas.openxmlformats.org/officeDocument/2006/relationships/slide" Target="slide3.xml"/><Relationship Id="rId6" Type="http://schemas.openxmlformats.org/officeDocument/2006/relationships/slide" Target="slide4.xml"/><Relationship Id="rId7" Type="http://schemas.openxmlformats.org/officeDocument/2006/relationships/slide" Target="slide5.xml"/><Relationship Id="rId8" Type="http://schemas.openxmlformats.org/officeDocument/2006/relationships/slide" Target="slide6.xml"/><Relationship Id="rId9" Type="http://schemas.openxmlformats.org/officeDocument/2006/relationships/slide" Target="slide7.xml"/><Relationship Id="rId10" Type="http://schemas.openxmlformats.org/officeDocument/2006/relationships/slide" Target="slide8.xml"/><Relationship Id="rId11" Type="http://schemas.openxmlformats.org/officeDocument/2006/relationships/slide" Target="slide9.xml"/><Relationship Id="rId12" Type="http://schemas.openxmlformats.org/officeDocument/2006/relationships/slide" Target="slide10.xml"/><Relationship Id="rId13" Type="http://schemas.openxmlformats.org/officeDocument/2006/relationships/slide" Target="slide11.xml"/><Relationship Id="rId14" Type="http://schemas.openxmlformats.org/officeDocument/2006/relationships/slide" Target="slide12.xml"/><Relationship Id="rId15" Type="http://schemas.openxmlformats.org/officeDocument/2006/relationships/slide" Target="slide13.xml"/><Relationship Id="rId16" Type="http://schemas.openxmlformats.org/officeDocument/2006/relationships/slide" Target="slide14.xml"/><Relationship Id="rId17" Type="http://schemas.openxmlformats.org/officeDocument/2006/relationships/slide" Target="slide15.xml"/><Relationship Id="rId18" Type="http://schemas.openxmlformats.org/officeDocument/2006/relationships/slide" Target="slide16.xml"/><Relationship Id="rId19" Type="http://schemas.openxmlformats.org/officeDocument/2006/relationships/slide" Target="slide17.xml"/><Relationship Id="rId20" Type="http://schemas.openxmlformats.org/officeDocument/2006/relationships/slide" Target="slide18.xml"/><Relationship Id="rId21" Type="http://schemas.openxmlformats.org/officeDocument/2006/relationships/slide" Target="slide19.xml"/><Relationship Id="rId22" Type="http://schemas.openxmlformats.org/officeDocument/2006/relationships/slide" Target="slide20.xml"/><Relationship Id="rId23" Type="http://schemas.openxmlformats.org/officeDocument/2006/relationships/slide" Target="slide21.xml"/><Relationship Id="rId24" Type="http://schemas.openxmlformats.org/officeDocument/2006/relationships/slide" Target="slide22.xml"/><Relationship Id="rId25" Type="http://schemas.openxmlformats.org/officeDocument/2006/relationships/slide" Target="slide23.xml"/><Relationship Id="rId26" Type="http://schemas.openxmlformats.org/officeDocument/2006/relationships/slide" Target="slide24.xml"/><Relationship Id="rId27" Type="http://schemas.openxmlformats.org/officeDocument/2006/relationships/slide" Target="slide25.xml"/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28" Type="http://schemas.openxmlformats.org/officeDocument/2006/relationships/slideLayout" Target="../slideLayouts/slideLayout1.xml"/><Relationship Id="rId29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4" Type="http://schemas.openxmlformats.org/officeDocument/2006/relationships/slide" Target="slide1.xml"/><Relationship Id="rId5" Type="http://schemas.openxmlformats.org/officeDocument/2006/relationships/slide" Target="slide2.xml"/><Relationship Id="rId6" Type="http://schemas.openxmlformats.org/officeDocument/2006/relationships/slide" Target="slide3.xml"/><Relationship Id="rId7" Type="http://schemas.openxmlformats.org/officeDocument/2006/relationships/slide" Target="slide4.xml"/><Relationship Id="rId8" Type="http://schemas.openxmlformats.org/officeDocument/2006/relationships/slide" Target="slide5.xml"/><Relationship Id="rId9" Type="http://schemas.openxmlformats.org/officeDocument/2006/relationships/slide" Target="slide6.xml"/><Relationship Id="rId10" Type="http://schemas.openxmlformats.org/officeDocument/2006/relationships/slide" Target="slide7.xml"/><Relationship Id="rId11" Type="http://schemas.openxmlformats.org/officeDocument/2006/relationships/slide" Target="slide8.xml"/><Relationship Id="rId12" Type="http://schemas.openxmlformats.org/officeDocument/2006/relationships/slide" Target="slide9.xml"/><Relationship Id="rId13" Type="http://schemas.openxmlformats.org/officeDocument/2006/relationships/slide" Target="slide10.xml"/><Relationship Id="rId14" Type="http://schemas.openxmlformats.org/officeDocument/2006/relationships/slide" Target="slide11.xml"/><Relationship Id="rId15" Type="http://schemas.openxmlformats.org/officeDocument/2006/relationships/slide" Target="slide12.xml"/><Relationship Id="rId16" Type="http://schemas.openxmlformats.org/officeDocument/2006/relationships/slide" Target="slide13.xml"/><Relationship Id="rId17" Type="http://schemas.openxmlformats.org/officeDocument/2006/relationships/slide" Target="slide14.xml"/><Relationship Id="rId18" Type="http://schemas.openxmlformats.org/officeDocument/2006/relationships/slide" Target="slide15.xml"/><Relationship Id="rId19" Type="http://schemas.openxmlformats.org/officeDocument/2006/relationships/slide" Target="slide16.xml"/><Relationship Id="rId20" Type="http://schemas.openxmlformats.org/officeDocument/2006/relationships/slide" Target="slide17.xml"/><Relationship Id="rId21" Type="http://schemas.openxmlformats.org/officeDocument/2006/relationships/slide" Target="slide18.xml"/><Relationship Id="rId22" Type="http://schemas.openxmlformats.org/officeDocument/2006/relationships/slide" Target="slide19.xml"/><Relationship Id="rId23" Type="http://schemas.openxmlformats.org/officeDocument/2006/relationships/slide" Target="slide20.xml"/><Relationship Id="rId24" Type="http://schemas.openxmlformats.org/officeDocument/2006/relationships/slide" Target="slide21.xml"/><Relationship Id="rId25" Type="http://schemas.openxmlformats.org/officeDocument/2006/relationships/slide" Target="slide22.xml"/><Relationship Id="rId26" Type="http://schemas.openxmlformats.org/officeDocument/2006/relationships/slide" Target="slide23.xml"/><Relationship Id="rId27" Type="http://schemas.openxmlformats.org/officeDocument/2006/relationships/slide" Target="slide24.xml"/><Relationship Id="rId28" Type="http://schemas.openxmlformats.org/officeDocument/2006/relationships/slide" Target="slide25.xml"/><Relationship Id="rId1" Type="http://schemas.openxmlformats.org/officeDocument/2006/relationships/image" Target="../media/image-11-1.jpeg"/><Relationship Id="rId2" Type="http://schemas.openxmlformats.org/officeDocument/2006/relationships/image" Target="../media/image-11-2.jpeg"/><Relationship Id="rId3" Type="http://schemas.openxmlformats.org/officeDocument/2006/relationships/image" Target="../media/image-11-3.png"/><Relationship Id="rId29" Type="http://schemas.openxmlformats.org/officeDocument/2006/relationships/slideLayout" Target="../slideLayouts/slideLayout1.xml"/><Relationship Id="rId30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4" Type="http://schemas.openxmlformats.org/officeDocument/2006/relationships/slide" Target="slide1.xml"/><Relationship Id="rId5" Type="http://schemas.openxmlformats.org/officeDocument/2006/relationships/slide" Target="slide2.xml"/><Relationship Id="rId6" Type="http://schemas.openxmlformats.org/officeDocument/2006/relationships/slide" Target="slide3.xml"/><Relationship Id="rId7" Type="http://schemas.openxmlformats.org/officeDocument/2006/relationships/slide" Target="slide4.xml"/><Relationship Id="rId8" Type="http://schemas.openxmlformats.org/officeDocument/2006/relationships/slide" Target="slide5.xml"/><Relationship Id="rId9" Type="http://schemas.openxmlformats.org/officeDocument/2006/relationships/slide" Target="slide6.xml"/><Relationship Id="rId10" Type="http://schemas.openxmlformats.org/officeDocument/2006/relationships/slide" Target="slide7.xml"/><Relationship Id="rId11" Type="http://schemas.openxmlformats.org/officeDocument/2006/relationships/slide" Target="slide8.xml"/><Relationship Id="rId12" Type="http://schemas.openxmlformats.org/officeDocument/2006/relationships/slide" Target="slide9.xml"/><Relationship Id="rId13" Type="http://schemas.openxmlformats.org/officeDocument/2006/relationships/slide" Target="slide10.xml"/><Relationship Id="rId14" Type="http://schemas.openxmlformats.org/officeDocument/2006/relationships/slide" Target="slide11.xml"/><Relationship Id="rId15" Type="http://schemas.openxmlformats.org/officeDocument/2006/relationships/slide" Target="slide12.xml"/><Relationship Id="rId16" Type="http://schemas.openxmlformats.org/officeDocument/2006/relationships/slide" Target="slide13.xml"/><Relationship Id="rId17" Type="http://schemas.openxmlformats.org/officeDocument/2006/relationships/slide" Target="slide14.xml"/><Relationship Id="rId18" Type="http://schemas.openxmlformats.org/officeDocument/2006/relationships/slide" Target="slide15.xml"/><Relationship Id="rId19" Type="http://schemas.openxmlformats.org/officeDocument/2006/relationships/slide" Target="slide16.xml"/><Relationship Id="rId20" Type="http://schemas.openxmlformats.org/officeDocument/2006/relationships/slide" Target="slide17.xml"/><Relationship Id="rId21" Type="http://schemas.openxmlformats.org/officeDocument/2006/relationships/slide" Target="slide18.xml"/><Relationship Id="rId22" Type="http://schemas.openxmlformats.org/officeDocument/2006/relationships/slide" Target="slide19.xml"/><Relationship Id="rId23" Type="http://schemas.openxmlformats.org/officeDocument/2006/relationships/slide" Target="slide20.xml"/><Relationship Id="rId24" Type="http://schemas.openxmlformats.org/officeDocument/2006/relationships/slide" Target="slide21.xml"/><Relationship Id="rId25" Type="http://schemas.openxmlformats.org/officeDocument/2006/relationships/slide" Target="slide22.xml"/><Relationship Id="rId26" Type="http://schemas.openxmlformats.org/officeDocument/2006/relationships/slide" Target="slide23.xml"/><Relationship Id="rId27" Type="http://schemas.openxmlformats.org/officeDocument/2006/relationships/slide" Target="slide24.xml"/><Relationship Id="rId28" Type="http://schemas.openxmlformats.org/officeDocument/2006/relationships/slide" Target="slide25.xml"/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29" Type="http://schemas.openxmlformats.org/officeDocument/2006/relationships/slideLayout" Target="../slideLayouts/slideLayout1.xml"/><Relationship Id="rId30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5" Type="http://schemas.openxmlformats.org/officeDocument/2006/relationships/slide" Target="slide1.xml"/><Relationship Id="rId6" Type="http://schemas.openxmlformats.org/officeDocument/2006/relationships/slide" Target="slide2.xml"/><Relationship Id="rId7" Type="http://schemas.openxmlformats.org/officeDocument/2006/relationships/slide" Target="slide3.xml"/><Relationship Id="rId8" Type="http://schemas.openxmlformats.org/officeDocument/2006/relationships/slide" Target="slide4.xml"/><Relationship Id="rId9" Type="http://schemas.openxmlformats.org/officeDocument/2006/relationships/slide" Target="slide5.xml"/><Relationship Id="rId10" Type="http://schemas.openxmlformats.org/officeDocument/2006/relationships/slide" Target="slide6.xml"/><Relationship Id="rId11" Type="http://schemas.openxmlformats.org/officeDocument/2006/relationships/slide" Target="slide7.xml"/><Relationship Id="rId12" Type="http://schemas.openxmlformats.org/officeDocument/2006/relationships/slide" Target="slide8.xml"/><Relationship Id="rId13" Type="http://schemas.openxmlformats.org/officeDocument/2006/relationships/slide" Target="slide9.xml"/><Relationship Id="rId14" Type="http://schemas.openxmlformats.org/officeDocument/2006/relationships/slide" Target="slide10.xml"/><Relationship Id="rId15" Type="http://schemas.openxmlformats.org/officeDocument/2006/relationships/slide" Target="slide11.xml"/><Relationship Id="rId16" Type="http://schemas.openxmlformats.org/officeDocument/2006/relationships/slide" Target="slide12.xml"/><Relationship Id="rId17" Type="http://schemas.openxmlformats.org/officeDocument/2006/relationships/slide" Target="slide13.xml"/><Relationship Id="rId18" Type="http://schemas.openxmlformats.org/officeDocument/2006/relationships/slide" Target="slide14.xml"/><Relationship Id="rId19" Type="http://schemas.openxmlformats.org/officeDocument/2006/relationships/slide" Target="slide15.xml"/><Relationship Id="rId20" Type="http://schemas.openxmlformats.org/officeDocument/2006/relationships/slide" Target="slide16.xml"/><Relationship Id="rId21" Type="http://schemas.openxmlformats.org/officeDocument/2006/relationships/slide" Target="slide17.xml"/><Relationship Id="rId22" Type="http://schemas.openxmlformats.org/officeDocument/2006/relationships/slide" Target="slide18.xml"/><Relationship Id="rId23" Type="http://schemas.openxmlformats.org/officeDocument/2006/relationships/slide" Target="slide19.xml"/><Relationship Id="rId24" Type="http://schemas.openxmlformats.org/officeDocument/2006/relationships/slide" Target="slide20.xml"/><Relationship Id="rId25" Type="http://schemas.openxmlformats.org/officeDocument/2006/relationships/slide" Target="slide21.xml"/><Relationship Id="rId26" Type="http://schemas.openxmlformats.org/officeDocument/2006/relationships/slide" Target="slide22.xml"/><Relationship Id="rId27" Type="http://schemas.openxmlformats.org/officeDocument/2006/relationships/slide" Target="slide23.xml"/><Relationship Id="rId28" Type="http://schemas.openxmlformats.org/officeDocument/2006/relationships/slide" Target="slide24.xml"/><Relationship Id="rId29" Type="http://schemas.openxmlformats.org/officeDocument/2006/relationships/slide" Target="slide25.xml"/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30" Type="http://schemas.openxmlformats.org/officeDocument/2006/relationships/slideLayout" Target="../slideLayouts/slideLayout1.xml"/><Relationship Id="rId31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4" Type="http://schemas.openxmlformats.org/officeDocument/2006/relationships/slide" Target="slide1.xml"/><Relationship Id="rId5" Type="http://schemas.openxmlformats.org/officeDocument/2006/relationships/slide" Target="slide2.xml"/><Relationship Id="rId6" Type="http://schemas.openxmlformats.org/officeDocument/2006/relationships/slide" Target="slide3.xml"/><Relationship Id="rId7" Type="http://schemas.openxmlformats.org/officeDocument/2006/relationships/slide" Target="slide4.xml"/><Relationship Id="rId8" Type="http://schemas.openxmlformats.org/officeDocument/2006/relationships/slide" Target="slide5.xml"/><Relationship Id="rId9" Type="http://schemas.openxmlformats.org/officeDocument/2006/relationships/slide" Target="slide6.xml"/><Relationship Id="rId10" Type="http://schemas.openxmlformats.org/officeDocument/2006/relationships/slide" Target="slide7.xml"/><Relationship Id="rId11" Type="http://schemas.openxmlformats.org/officeDocument/2006/relationships/slide" Target="slide8.xml"/><Relationship Id="rId12" Type="http://schemas.openxmlformats.org/officeDocument/2006/relationships/slide" Target="slide9.xml"/><Relationship Id="rId13" Type="http://schemas.openxmlformats.org/officeDocument/2006/relationships/slide" Target="slide10.xml"/><Relationship Id="rId14" Type="http://schemas.openxmlformats.org/officeDocument/2006/relationships/slide" Target="slide11.xml"/><Relationship Id="rId15" Type="http://schemas.openxmlformats.org/officeDocument/2006/relationships/slide" Target="slide12.xml"/><Relationship Id="rId16" Type="http://schemas.openxmlformats.org/officeDocument/2006/relationships/slide" Target="slide13.xml"/><Relationship Id="rId17" Type="http://schemas.openxmlformats.org/officeDocument/2006/relationships/slide" Target="slide14.xml"/><Relationship Id="rId18" Type="http://schemas.openxmlformats.org/officeDocument/2006/relationships/slide" Target="slide15.xml"/><Relationship Id="rId19" Type="http://schemas.openxmlformats.org/officeDocument/2006/relationships/slide" Target="slide16.xml"/><Relationship Id="rId20" Type="http://schemas.openxmlformats.org/officeDocument/2006/relationships/slide" Target="slide17.xml"/><Relationship Id="rId21" Type="http://schemas.openxmlformats.org/officeDocument/2006/relationships/slide" Target="slide18.xml"/><Relationship Id="rId22" Type="http://schemas.openxmlformats.org/officeDocument/2006/relationships/slide" Target="slide19.xml"/><Relationship Id="rId23" Type="http://schemas.openxmlformats.org/officeDocument/2006/relationships/slide" Target="slide20.xml"/><Relationship Id="rId24" Type="http://schemas.openxmlformats.org/officeDocument/2006/relationships/slide" Target="slide21.xml"/><Relationship Id="rId25" Type="http://schemas.openxmlformats.org/officeDocument/2006/relationships/slide" Target="slide22.xml"/><Relationship Id="rId26" Type="http://schemas.openxmlformats.org/officeDocument/2006/relationships/slide" Target="slide23.xml"/><Relationship Id="rId27" Type="http://schemas.openxmlformats.org/officeDocument/2006/relationships/slide" Target="slide24.xml"/><Relationship Id="rId28" Type="http://schemas.openxmlformats.org/officeDocument/2006/relationships/slide" Target="slide25.xml"/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29" Type="http://schemas.openxmlformats.org/officeDocument/2006/relationships/slideLayout" Target="../slideLayouts/slideLayout1.xml"/><Relationship Id="rId30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4" Type="http://schemas.openxmlformats.org/officeDocument/2006/relationships/slide" Target="slide1.xml"/><Relationship Id="rId5" Type="http://schemas.openxmlformats.org/officeDocument/2006/relationships/slide" Target="slide2.xml"/><Relationship Id="rId6" Type="http://schemas.openxmlformats.org/officeDocument/2006/relationships/slide" Target="slide3.xml"/><Relationship Id="rId7" Type="http://schemas.openxmlformats.org/officeDocument/2006/relationships/slide" Target="slide4.xml"/><Relationship Id="rId8" Type="http://schemas.openxmlformats.org/officeDocument/2006/relationships/slide" Target="slide5.xml"/><Relationship Id="rId9" Type="http://schemas.openxmlformats.org/officeDocument/2006/relationships/slide" Target="slide6.xml"/><Relationship Id="rId10" Type="http://schemas.openxmlformats.org/officeDocument/2006/relationships/slide" Target="slide7.xml"/><Relationship Id="rId11" Type="http://schemas.openxmlformats.org/officeDocument/2006/relationships/slide" Target="slide8.xml"/><Relationship Id="rId12" Type="http://schemas.openxmlformats.org/officeDocument/2006/relationships/slide" Target="slide9.xml"/><Relationship Id="rId13" Type="http://schemas.openxmlformats.org/officeDocument/2006/relationships/slide" Target="slide10.xml"/><Relationship Id="rId14" Type="http://schemas.openxmlformats.org/officeDocument/2006/relationships/slide" Target="slide11.xml"/><Relationship Id="rId15" Type="http://schemas.openxmlformats.org/officeDocument/2006/relationships/slide" Target="slide12.xml"/><Relationship Id="rId16" Type="http://schemas.openxmlformats.org/officeDocument/2006/relationships/slide" Target="slide13.xml"/><Relationship Id="rId17" Type="http://schemas.openxmlformats.org/officeDocument/2006/relationships/slide" Target="slide14.xml"/><Relationship Id="rId18" Type="http://schemas.openxmlformats.org/officeDocument/2006/relationships/slide" Target="slide15.xml"/><Relationship Id="rId19" Type="http://schemas.openxmlformats.org/officeDocument/2006/relationships/slide" Target="slide16.xml"/><Relationship Id="rId20" Type="http://schemas.openxmlformats.org/officeDocument/2006/relationships/slide" Target="slide17.xml"/><Relationship Id="rId21" Type="http://schemas.openxmlformats.org/officeDocument/2006/relationships/slide" Target="slide18.xml"/><Relationship Id="rId22" Type="http://schemas.openxmlformats.org/officeDocument/2006/relationships/slide" Target="slide19.xml"/><Relationship Id="rId23" Type="http://schemas.openxmlformats.org/officeDocument/2006/relationships/slide" Target="slide20.xml"/><Relationship Id="rId24" Type="http://schemas.openxmlformats.org/officeDocument/2006/relationships/slide" Target="slide21.xml"/><Relationship Id="rId25" Type="http://schemas.openxmlformats.org/officeDocument/2006/relationships/slide" Target="slide22.xml"/><Relationship Id="rId26" Type="http://schemas.openxmlformats.org/officeDocument/2006/relationships/slide" Target="slide23.xml"/><Relationship Id="rId27" Type="http://schemas.openxmlformats.org/officeDocument/2006/relationships/slide" Target="slide24.xml"/><Relationship Id="rId28" Type="http://schemas.openxmlformats.org/officeDocument/2006/relationships/slide" Target="slide25.xml"/><Relationship Id="rId1" Type="http://schemas.openxmlformats.org/officeDocument/2006/relationships/image" Target="../media/image-15-1.jpeg"/><Relationship Id="rId2" Type="http://schemas.openxmlformats.org/officeDocument/2006/relationships/image" Target="../media/image-15-2.jpeg"/><Relationship Id="rId3" Type="http://schemas.openxmlformats.org/officeDocument/2006/relationships/image" Target="../media/image-15-3.png"/><Relationship Id="rId29" Type="http://schemas.openxmlformats.org/officeDocument/2006/relationships/slideLayout" Target="../slideLayouts/slideLayout1.xml"/><Relationship Id="rId30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4" Type="http://schemas.openxmlformats.org/officeDocument/2006/relationships/slide" Target="slide1.xml"/><Relationship Id="rId5" Type="http://schemas.openxmlformats.org/officeDocument/2006/relationships/slide" Target="slide2.xml"/><Relationship Id="rId6" Type="http://schemas.openxmlformats.org/officeDocument/2006/relationships/slide" Target="slide3.xml"/><Relationship Id="rId7" Type="http://schemas.openxmlformats.org/officeDocument/2006/relationships/slide" Target="slide4.xml"/><Relationship Id="rId8" Type="http://schemas.openxmlformats.org/officeDocument/2006/relationships/slide" Target="slide5.xml"/><Relationship Id="rId9" Type="http://schemas.openxmlformats.org/officeDocument/2006/relationships/slide" Target="slide6.xml"/><Relationship Id="rId10" Type="http://schemas.openxmlformats.org/officeDocument/2006/relationships/slide" Target="slide7.xml"/><Relationship Id="rId11" Type="http://schemas.openxmlformats.org/officeDocument/2006/relationships/slide" Target="slide8.xml"/><Relationship Id="rId12" Type="http://schemas.openxmlformats.org/officeDocument/2006/relationships/slide" Target="slide9.xml"/><Relationship Id="rId13" Type="http://schemas.openxmlformats.org/officeDocument/2006/relationships/slide" Target="slide10.xml"/><Relationship Id="rId14" Type="http://schemas.openxmlformats.org/officeDocument/2006/relationships/slide" Target="slide11.xml"/><Relationship Id="rId15" Type="http://schemas.openxmlformats.org/officeDocument/2006/relationships/slide" Target="slide12.xml"/><Relationship Id="rId16" Type="http://schemas.openxmlformats.org/officeDocument/2006/relationships/slide" Target="slide13.xml"/><Relationship Id="rId17" Type="http://schemas.openxmlformats.org/officeDocument/2006/relationships/slide" Target="slide14.xml"/><Relationship Id="rId18" Type="http://schemas.openxmlformats.org/officeDocument/2006/relationships/slide" Target="slide15.xml"/><Relationship Id="rId19" Type="http://schemas.openxmlformats.org/officeDocument/2006/relationships/slide" Target="slide16.xml"/><Relationship Id="rId20" Type="http://schemas.openxmlformats.org/officeDocument/2006/relationships/slide" Target="slide17.xml"/><Relationship Id="rId21" Type="http://schemas.openxmlformats.org/officeDocument/2006/relationships/slide" Target="slide18.xml"/><Relationship Id="rId22" Type="http://schemas.openxmlformats.org/officeDocument/2006/relationships/slide" Target="slide19.xml"/><Relationship Id="rId23" Type="http://schemas.openxmlformats.org/officeDocument/2006/relationships/slide" Target="slide20.xml"/><Relationship Id="rId24" Type="http://schemas.openxmlformats.org/officeDocument/2006/relationships/slide" Target="slide21.xml"/><Relationship Id="rId25" Type="http://schemas.openxmlformats.org/officeDocument/2006/relationships/slide" Target="slide22.xml"/><Relationship Id="rId26" Type="http://schemas.openxmlformats.org/officeDocument/2006/relationships/slide" Target="slide23.xml"/><Relationship Id="rId27" Type="http://schemas.openxmlformats.org/officeDocument/2006/relationships/slide" Target="slide24.xml"/><Relationship Id="rId28" Type="http://schemas.openxmlformats.org/officeDocument/2006/relationships/slide" Target="slide25.xml"/><Relationship Id="rId1" Type="http://schemas.openxmlformats.org/officeDocument/2006/relationships/image" Target="../media/image-16-1.jpeg"/><Relationship Id="rId2" Type="http://schemas.openxmlformats.org/officeDocument/2006/relationships/image" Target="../media/image-16-2.jpeg"/><Relationship Id="rId3" Type="http://schemas.openxmlformats.org/officeDocument/2006/relationships/image" Target="../media/image-16-3.jpeg"/><Relationship Id="rId29" Type="http://schemas.openxmlformats.org/officeDocument/2006/relationships/slideLayout" Target="../slideLayouts/slideLayout1.xml"/><Relationship Id="rId30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4" Type="http://schemas.openxmlformats.org/officeDocument/2006/relationships/slide" Target="slide1.xml"/><Relationship Id="rId5" Type="http://schemas.openxmlformats.org/officeDocument/2006/relationships/slide" Target="slide2.xml"/><Relationship Id="rId6" Type="http://schemas.openxmlformats.org/officeDocument/2006/relationships/slide" Target="slide3.xml"/><Relationship Id="rId7" Type="http://schemas.openxmlformats.org/officeDocument/2006/relationships/slide" Target="slide4.xml"/><Relationship Id="rId8" Type="http://schemas.openxmlformats.org/officeDocument/2006/relationships/slide" Target="slide5.xml"/><Relationship Id="rId9" Type="http://schemas.openxmlformats.org/officeDocument/2006/relationships/slide" Target="slide6.xml"/><Relationship Id="rId10" Type="http://schemas.openxmlformats.org/officeDocument/2006/relationships/slide" Target="slide7.xml"/><Relationship Id="rId11" Type="http://schemas.openxmlformats.org/officeDocument/2006/relationships/slide" Target="slide8.xml"/><Relationship Id="rId12" Type="http://schemas.openxmlformats.org/officeDocument/2006/relationships/slide" Target="slide9.xml"/><Relationship Id="rId13" Type="http://schemas.openxmlformats.org/officeDocument/2006/relationships/slide" Target="slide10.xml"/><Relationship Id="rId14" Type="http://schemas.openxmlformats.org/officeDocument/2006/relationships/slide" Target="slide11.xml"/><Relationship Id="rId15" Type="http://schemas.openxmlformats.org/officeDocument/2006/relationships/slide" Target="slide12.xml"/><Relationship Id="rId16" Type="http://schemas.openxmlformats.org/officeDocument/2006/relationships/slide" Target="slide13.xml"/><Relationship Id="rId17" Type="http://schemas.openxmlformats.org/officeDocument/2006/relationships/slide" Target="slide14.xml"/><Relationship Id="rId18" Type="http://schemas.openxmlformats.org/officeDocument/2006/relationships/slide" Target="slide15.xml"/><Relationship Id="rId19" Type="http://schemas.openxmlformats.org/officeDocument/2006/relationships/slide" Target="slide16.xml"/><Relationship Id="rId20" Type="http://schemas.openxmlformats.org/officeDocument/2006/relationships/slide" Target="slide17.xml"/><Relationship Id="rId21" Type="http://schemas.openxmlformats.org/officeDocument/2006/relationships/slide" Target="slide18.xml"/><Relationship Id="rId22" Type="http://schemas.openxmlformats.org/officeDocument/2006/relationships/slide" Target="slide19.xml"/><Relationship Id="rId23" Type="http://schemas.openxmlformats.org/officeDocument/2006/relationships/slide" Target="slide20.xml"/><Relationship Id="rId24" Type="http://schemas.openxmlformats.org/officeDocument/2006/relationships/slide" Target="slide21.xml"/><Relationship Id="rId25" Type="http://schemas.openxmlformats.org/officeDocument/2006/relationships/slide" Target="slide22.xml"/><Relationship Id="rId26" Type="http://schemas.openxmlformats.org/officeDocument/2006/relationships/slide" Target="slide23.xml"/><Relationship Id="rId27" Type="http://schemas.openxmlformats.org/officeDocument/2006/relationships/slide" Target="slide24.xml"/><Relationship Id="rId28" Type="http://schemas.openxmlformats.org/officeDocument/2006/relationships/slide" Target="slide25.xml"/><Relationship Id="rId1" Type="http://schemas.openxmlformats.org/officeDocument/2006/relationships/image" Target="../media/image-17-1.jpeg"/><Relationship Id="rId2" Type="http://schemas.openxmlformats.org/officeDocument/2006/relationships/image" Target="../media/image-17-2.jpeg"/><Relationship Id="rId3" Type="http://schemas.openxmlformats.org/officeDocument/2006/relationships/image" Target="../media/image-17-3.jpeg"/><Relationship Id="rId29" Type="http://schemas.openxmlformats.org/officeDocument/2006/relationships/slideLayout" Target="../slideLayouts/slideLayout1.xml"/><Relationship Id="rId30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4" Type="http://schemas.openxmlformats.org/officeDocument/2006/relationships/slide" Target="slide1.xml"/><Relationship Id="rId5" Type="http://schemas.openxmlformats.org/officeDocument/2006/relationships/slide" Target="slide2.xml"/><Relationship Id="rId6" Type="http://schemas.openxmlformats.org/officeDocument/2006/relationships/slide" Target="slide3.xml"/><Relationship Id="rId7" Type="http://schemas.openxmlformats.org/officeDocument/2006/relationships/slide" Target="slide4.xml"/><Relationship Id="rId8" Type="http://schemas.openxmlformats.org/officeDocument/2006/relationships/slide" Target="slide5.xml"/><Relationship Id="rId9" Type="http://schemas.openxmlformats.org/officeDocument/2006/relationships/slide" Target="slide6.xml"/><Relationship Id="rId10" Type="http://schemas.openxmlformats.org/officeDocument/2006/relationships/slide" Target="slide7.xml"/><Relationship Id="rId11" Type="http://schemas.openxmlformats.org/officeDocument/2006/relationships/slide" Target="slide8.xml"/><Relationship Id="rId12" Type="http://schemas.openxmlformats.org/officeDocument/2006/relationships/slide" Target="slide9.xml"/><Relationship Id="rId13" Type="http://schemas.openxmlformats.org/officeDocument/2006/relationships/slide" Target="slide10.xml"/><Relationship Id="rId14" Type="http://schemas.openxmlformats.org/officeDocument/2006/relationships/slide" Target="slide11.xml"/><Relationship Id="rId15" Type="http://schemas.openxmlformats.org/officeDocument/2006/relationships/slide" Target="slide12.xml"/><Relationship Id="rId16" Type="http://schemas.openxmlformats.org/officeDocument/2006/relationships/slide" Target="slide13.xml"/><Relationship Id="rId17" Type="http://schemas.openxmlformats.org/officeDocument/2006/relationships/slide" Target="slide14.xml"/><Relationship Id="rId18" Type="http://schemas.openxmlformats.org/officeDocument/2006/relationships/slide" Target="slide15.xml"/><Relationship Id="rId19" Type="http://schemas.openxmlformats.org/officeDocument/2006/relationships/slide" Target="slide16.xml"/><Relationship Id="rId20" Type="http://schemas.openxmlformats.org/officeDocument/2006/relationships/slide" Target="slide17.xml"/><Relationship Id="rId21" Type="http://schemas.openxmlformats.org/officeDocument/2006/relationships/slide" Target="slide18.xml"/><Relationship Id="rId22" Type="http://schemas.openxmlformats.org/officeDocument/2006/relationships/slide" Target="slide19.xml"/><Relationship Id="rId23" Type="http://schemas.openxmlformats.org/officeDocument/2006/relationships/slide" Target="slide20.xml"/><Relationship Id="rId24" Type="http://schemas.openxmlformats.org/officeDocument/2006/relationships/slide" Target="slide21.xml"/><Relationship Id="rId25" Type="http://schemas.openxmlformats.org/officeDocument/2006/relationships/slide" Target="slide22.xml"/><Relationship Id="rId26" Type="http://schemas.openxmlformats.org/officeDocument/2006/relationships/slide" Target="slide23.xml"/><Relationship Id="rId27" Type="http://schemas.openxmlformats.org/officeDocument/2006/relationships/slide" Target="slide24.xml"/><Relationship Id="rId28" Type="http://schemas.openxmlformats.org/officeDocument/2006/relationships/slide" Target="slide25.xml"/><Relationship Id="rId1" Type="http://schemas.openxmlformats.org/officeDocument/2006/relationships/image" Target="../media/image-18-1.jpeg"/><Relationship Id="rId2" Type="http://schemas.openxmlformats.org/officeDocument/2006/relationships/image" Target="../media/image-18-2.jpeg"/><Relationship Id="rId3" Type="http://schemas.openxmlformats.org/officeDocument/2006/relationships/image" Target="../media/image-18-3.jpeg"/><Relationship Id="rId29" Type="http://schemas.openxmlformats.org/officeDocument/2006/relationships/slideLayout" Target="../slideLayouts/slideLayout1.xml"/><Relationship Id="rId30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4" Type="http://schemas.openxmlformats.org/officeDocument/2006/relationships/slide" Target="slide1.xml"/><Relationship Id="rId5" Type="http://schemas.openxmlformats.org/officeDocument/2006/relationships/slide" Target="slide2.xml"/><Relationship Id="rId6" Type="http://schemas.openxmlformats.org/officeDocument/2006/relationships/slide" Target="slide3.xml"/><Relationship Id="rId7" Type="http://schemas.openxmlformats.org/officeDocument/2006/relationships/slide" Target="slide4.xml"/><Relationship Id="rId8" Type="http://schemas.openxmlformats.org/officeDocument/2006/relationships/slide" Target="slide5.xml"/><Relationship Id="rId9" Type="http://schemas.openxmlformats.org/officeDocument/2006/relationships/slide" Target="slide6.xml"/><Relationship Id="rId10" Type="http://schemas.openxmlformats.org/officeDocument/2006/relationships/slide" Target="slide7.xml"/><Relationship Id="rId11" Type="http://schemas.openxmlformats.org/officeDocument/2006/relationships/slide" Target="slide8.xml"/><Relationship Id="rId12" Type="http://schemas.openxmlformats.org/officeDocument/2006/relationships/slide" Target="slide9.xml"/><Relationship Id="rId13" Type="http://schemas.openxmlformats.org/officeDocument/2006/relationships/slide" Target="slide10.xml"/><Relationship Id="rId14" Type="http://schemas.openxmlformats.org/officeDocument/2006/relationships/slide" Target="slide11.xml"/><Relationship Id="rId15" Type="http://schemas.openxmlformats.org/officeDocument/2006/relationships/slide" Target="slide12.xml"/><Relationship Id="rId16" Type="http://schemas.openxmlformats.org/officeDocument/2006/relationships/slide" Target="slide13.xml"/><Relationship Id="rId17" Type="http://schemas.openxmlformats.org/officeDocument/2006/relationships/slide" Target="slide14.xml"/><Relationship Id="rId18" Type="http://schemas.openxmlformats.org/officeDocument/2006/relationships/slide" Target="slide15.xml"/><Relationship Id="rId19" Type="http://schemas.openxmlformats.org/officeDocument/2006/relationships/slide" Target="slide16.xml"/><Relationship Id="rId20" Type="http://schemas.openxmlformats.org/officeDocument/2006/relationships/slide" Target="slide17.xml"/><Relationship Id="rId21" Type="http://schemas.openxmlformats.org/officeDocument/2006/relationships/slide" Target="slide18.xml"/><Relationship Id="rId22" Type="http://schemas.openxmlformats.org/officeDocument/2006/relationships/slide" Target="slide19.xml"/><Relationship Id="rId23" Type="http://schemas.openxmlformats.org/officeDocument/2006/relationships/slide" Target="slide20.xml"/><Relationship Id="rId24" Type="http://schemas.openxmlformats.org/officeDocument/2006/relationships/slide" Target="slide21.xml"/><Relationship Id="rId25" Type="http://schemas.openxmlformats.org/officeDocument/2006/relationships/slide" Target="slide22.xml"/><Relationship Id="rId26" Type="http://schemas.openxmlformats.org/officeDocument/2006/relationships/slide" Target="slide23.xml"/><Relationship Id="rId27" Type="http://schemas.openxmlformats.org/officeDocument/2006/relationships/slide" Target="slide24.xml"/><Relationship Id="rId28" Type="http://schemas.openxmlformats.org/officeDocument/2006/relationships/slide" Target="slide25.xml"/><Relationship Id="rId1" Type="http://schemas.openxmlformats.org/officeDocument/2006/relationships/image" Target="../media/image-19-1.jpeg"/><Relationship Id="rId2" Type="http://schemas.openxmlformats.org/officeDocument/2006/relationships/image" Target="../media/image-19-2.jpeg"/><Relationship Id="rId3" Type="http://schemas.openxmlformats.org/officeDocument/2006/relationships/image" Target="../media/image-19-3.jpeg"/><Relationship Id="rId29" Type="http://schemas.openxmlformats.org/officeDocument/2006/relationships/slideLayout" Target="../slideLayouts/slideLayout1.xml"/><Relationship Id="rId30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4" Type="http://schemas.openxmlformats.org/officeDocument/2006/relationships/slide" Target="slide1.xml"/><Relationship Id="rId5" Type="http://schemas.openxmlformats.org/officeDocument/2006/relationships/slide" Target="slide2.xml"/><Relationship Id="rId6" Type="http://schemas.openxmlformats.org/officeDocument/2006/relationships/slide" Target="slide3.xml"/><Relationship Id="rId7" Type="http://schemas.openxmlformats.org/officeDocument/2006/relationships/slide" Target="slide4.xml"/><Relationship Id="rId8" Type="http://schemas.openxmlformats.org/officeDocument/2006/relationships/slide" Target="slide5.xml"/><Relationship Id="rId9" Type="http://schemas.openxmlformats.org/officeDocument/2006/relationships/slide" Target="slide6.xml"/><Relationship Id="rId10" Type="http://schemas.openxmlformats.org/officeDocument/2006/relationships/slide" Target="slide7.xml"/><Relationship Id="rId11" Type="http://schemas.openxmlformats.org/officeDocument/2006/relationships/slide" Target="slide8.xml"/><Relationship Id="rId12" Type="http://schemas.openxmlformats.org/officeDocument/2006/relationships/slide" Target="slide9.xml"/><Relationship Id="rId13" Type="http://schemas.openxmlformats.org/officeDocument/2006/relationships/slide" Target="slide10.xml"/><Relationship Id="rId14" Type="http://schemas.openxmlformats.org/officeDocument/2006/relationships/slide" Target="slide11.xml"/><Relationship Id="rId15" Type="http://schemas.openxmlformats.org/officeDocument/2006/relationships/slide" Target="slide12.xml"/><Relationship Id="rId16" Type="http://schemas.openxmlformats.org/officeDocument/2006/relationships/slide" Target="slide13.xml"/><Relationship Id="rId17" Type="http://schemas.openxmlformats.org/officeDocument/2006/relationships/slide" Target="slide14.xml"/><Relationship Id="rId18" Type="http://schemas.openxmlformats.org/officeDocument/2006/relationships/slide" Target="slide15.xml"/><Relationship Id="rId19" Type="http://schemas.openxmlformats.org/officeDocument/2006/relationships/slide" Target="slide16.xml"/><Relationship Id="rId20" Type="http://schemas.openxmlformats.org/officeDocument/2006/relationships/slide" Target="slide17.xml"/><Relationship Id="rId21" Type="http://schemas.openxmlformats.org/officeDocument/2006/relationships/slide" Target="slide18.xml"/><Relationship Id="rId22" Type="http://schemas.openxmlformats.org/officeDocument/2006/relationships/slide" Target="slide19.xml"/><Relationship Id="rId23" Type="http://schemas.openxmlformats.org/officeDocument/2006/relationships/slide" Target="slide20.xml"/><Relationship Id="rId24" Type="http://schemas.openxmlformats.org/officeDocument/2006/relationships/slide" Target="slide21.xml"/><Relationship Id="rId25" Type="http://schemas.openxmlformats.org/officeDocument/2006/relationships/slide" Target="slide22.xml"/><Relationship Id="rId26" Type="http://schemas.openxmlformats.org/officeDocument/2006/relationships/slide" Target="slide23.xml"/><Relationship Id="rId27" Type="http://schemas.openxmlformats.org/officeDocument/2006/relationships/slide" Target="slide24.xml"/><Relationship Id="rId28" Type="http://schemas.openxmlformats.org/officeDocument/2006/relationships/slide" Target="slide25.xml"/><Relationship Id="rId1" Type="http://schemas.openxmlformats.org/officeDocument/2006/relationships/image" Target="../media/image-20-1.jpeg"/><Relationship Id="rId2" Type="http://schemas.openxmlformats.org/officeDocument/2006/relationships/image" Target="../media/image-20-2.jpeg"/><Relationship Id="rId3" Type="http://schemas.openxmlformats.org/officeDocument/2006/relationships/image" Target="../media/image-20-3.jpeg"/><Relationship Id="rId29" Type="http://schemas.openxmlformats.org/officeDocument/2006/relationships/slideLayout" Target="../slideLayouts/slideLayout1.xml"/><Relationship Id="rId30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slide" Target="slide1.xml"/><Relationship Id="rId4" Type="http://schemas.openxmlformats.org/officeDocument/2006/relationships/slide" Target="slide2.xml"/><Relationship Id="rId5" Type="http://schemas.openxmlformats.org/officeDocument/2006/relationships/slide" Target="slide3.xml"/><Relationship Id="rId6" Type="http://schemas.openxmlformats.org/officeDocument/2006/relationships/slide" Target="slide4.xml"/><Relationship Id="rId7" Type="http://schemas.openxmlformats.org/officeDocument/2006/relationships/slide" Target="slide5.xml"/><Relationship Id="rId8" Type="http://schemas.openxmlformats.org/officeDocument/2006/relationships/slide" Target="slide6.xml"/><Relationship Id="rId9" Type="http://schemas.openxmlformats.org/officeDocument/2006/relationships/slide" Target="slide7.xml"/><Relationship Id="rId10" Type="http://schemas.openxmlformats.org/officeDocument/2006/relationships/slide" Target="slide8.xml"/><Relationship Id="rId11" Type="http://schemas.openxmlformats.org/officeDocument/2006/relationships/slide" Target="slide9.xml"/><Relationship Id="rId12" Type="http://schemas.openxmlformats.org/officeDocument/2006/relationships/slide" Target="slide10.xml"/><Relationship Id="rId13" Type="http://schemas.openxmlformats.org/officeDocument/2006/relationships/slide" Target="slide11.xml"/><Relationship Id="rId14" Type="http://schemas.openxmlformats.org/officeDocument/2006/relationships/slide" Target="slide12.xml"/><Relationship Id="rId15" Type="http://schemas.openxmlformats.org/officeDocument/2006/relationships/slide" Target="slide13.xml"/><Relationship Id="rId16" Type="http://schemas.openxmlformats.org/officeDocument/2006/relationships/slide" Target="slide14.xml"/><Relationship Id="rId17" Type="http://schemas.openxmlformats.org/officeDocument/2006/relationships/slide" Target="slide15.xml"/><Relationship Id="rId18" Type="http://schemas.openxmlformats.org/officeDocument/2006/relationships/slide" Target="slide16.xml"/><Relationship Id="rId19" Type="http://schemas.openxmlformats.org/officeDocument/2006/relationships/slide" Target="slide17.xml"/><Relationship Id="rId20" Type="http://schemas.openxmlformats.org/officeDocument/2006/relationships/slide" Target="slide18.xml"/><Relationship Id="rId21" Type="http://schemas.openxmlformats.org/officeDocument/2006/relationships/slide" Target="slide19.xml"/><Relationship Id="rId22" Type="http://schemas.openxmlformats.org/officeDocument/2006/relationships/slide" Target="slide20.xml"/><Relationship Id="rId23" Type="http://schemas.openxmlformats.org/officeDocument/2006/relationships/slide" Target="slide21.xml"/><Relationship Id="rId24" Type="http://schemas.openxmlformats.org/officeDocument/2006/relationships/slide" Target="slide22.xml"/><Relationship Id="rId25" Type="http://schemas.openxmlformats.org/officeDocument/2006/relationships/slide" Target="slide23.xml"/><Relationship Id="rId26" Type="http://schemas.openxmlformats.org/officeDocument/2006/relationships/slide" Target="slide24.xml"/><Relationship Id="rId27" Type="http://schemas.openxmlformats.org/officeDocument/2006/relationships/slide" Target="slide25.xml"/><Relationship Id="rId1" Type="http://schemas.openxmlformats.org/officeDocument/2006/relationships/image" Target="../media/image-21-1.jpeg"/><Relationship Id="rId2" Type="http://schemas.openxmlformats.org/officeDocument/2006/relationships/image" Target="../media/image-21-2.jpeg"/><Relationship Id="rId28" Type="http://schemas.openxmlformats.org/officeDocument/2006/relationships/slideLayout" Target="../slideLayouts/slideLayout1.xml"/><Relationship Id="rId29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4" Type="http://schemas.openxmlformats.org/officeDocument/2006/relationships/slide" Target="slide1.xml"/><Relationship Id="rId5" Type="http://schemas.openxmlformats.org/officeDocument/2006/relationships/slide" Target="slide2.xml"/><Relationship Id="rId6" Type="http://schemas.openxmlformats.org/officeDocument/2006/relationships/slide" Target="slide3.xml"/><Relationship Id="rId7" Type="http://schemas.openxmlformats.org/officeDocument/2006/relationships/slide" Target="slide4.xml"/><Relationship Id="rId8" Type="http://schemas.openxmlformats.org/officeDocument/2006/relationships/slide" Target="slide5.xml"/><Relationship Id="rId9" Type="http://schemas.openxmlformats.org/officeDocument/2006/relationships/slide" Target="slide6.xml"/><Relationship Id="rId10" Type="http://schemas.openxmlformats.org/officeDocument/2006/relationships/slide" Target="slide7.xml"/><Relationship Id="rId11" Type="http://schemas.openxmlformats.org/officeDocument/2006/relationships/slide" Target="slide8.xml"/><Relationship Id="rId12" Type="http://schemas.openxmlformats.org/officeDocument/2006/relationships/slide" Target="slide9.xml"/><Relationship Id="rId13" Type="http://schemas.openxmlformats.org/officeDocument/2006/relationships/slide" Target="slide10.xml"/><Relationship Id="rId14" Type="http://schemas.openxmlformats.org/officeDocument/2006/relationships/slide" Target="slide11.xml"/><Relationship Id="rId15" Type="http://schemas.openxmlformats.org/officeDocument/2006/relationships/slide" Target="slide12.xml"/><Relationship Id="rId16" Type="http://schemas.openxmlformats.org/officeDocument/2006/relationships/slide" Target="slide13.xml"/><Relationship Id="rId17" Type="http://schemas.openxmlformats.org/officeDocument/2006/relationships/slide" Target="slide14.xml"/><Relationship Id="rId18" Type="http://schemas.openxmlformats.org/officeDocument/2006/relationships/slide" Target="slide15.xml"/><Relationship Id="rId19" Type="http://schemas.openxmlformats.org/officeDocument/2006/relationships/slide" Target="slide16.xml"/><Relationship Id="rId20" Type="http://schemas.openxmlformats.org/officeDocument/2006/relationships/slide" Target="slide17.xml"/><Relationship Id="rId21" Type="http://schemas.openxmlformats.org/officeDocument/2006/relationships/slide" Target="slide18.xml"/><Relationship Id="rId22" Type="http://schemas.openxmlformats.org/officeDocument/2006/relationships/slide" Target="slide19.xml"/><Relationship Id="rId23" Type="http://schemas.openxmlformats.org/officeDocument/2006/relationships/slide" Target="slide20.xml"/><Relationship Id="rId24" Type="http://schemas.openxmlformats.org/officeDocument/2006/relationships/slide" Target="slide21.xml"/><Relationship Id="rId25" Type="http://schemas.openxmlformats.org/officeDocument/2006/relationships/slide" Target="slide22.xml"/><Relationship Id="rId26" Type="http://schemas.openxmlformats.org/officeDocument/2006/relationships/slide" Target="slide23.xml"/><Relationship Id="rId27" Type="http://schemas.openxmlformats.org/officeDocument/2006/relationships/slide" Target="slide24.xml"/><Relationship Id="rId28" Type="http://schemas.openxmlformats.org/officeDocument/2006/relationships/slide" Target="slide25.xml"/><Relationship Id="rId1" Type="http://schemas.openxmlformats.org/officeDocument/2006/relationships/image" Target="../media/image-22-1.jpeg"/><Relationship Id="rId2" Type="http://schemas.openxmlformats.org/officeDocument/2006/relationships/image" Target="../media/image-22-2.jpeg"/><Relationship Id="rId3" Type="http://schemas.openxmlformats.org/officeDocument/2006/relationships/image" Target="../media/image-22-3.jpeg"/><Relationship Id="rId29" Type="http://schemas.openxmlformats.org/officeDocument/2006/relationships/slideLayout" Target="../slideLayouts/slideLayout1.xml"/><Relationship Id="rId30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4" Type="http://schemas.openxmlformats.org/officeDocument/2006/relationships/slide" Target="slide1.xml"/><Relationship Id="rId5" Type="http://schemas.openxmlformats.org/officeDocument/2006/relationships/slide" Target="slide2.xml"/><Relationship Id="rId6" Type="http://schemas.openxmlformats.org/officeDocument/2006/relationships/slide" Target="slide3.xml"/><Relationship Id="rId7" Type="http://schemas.openxmlformats.org/officeDocument/2006/relationships/slide" Target="slide4.xml"/><Relationship Id="rId8" Type="http://schemas.openxmlformats.org/officeDocument/2006/relationships/slide" Target="slide5.xml"/><Relationship Id="rId9" Type="http://schemas.openxmlformats.org/officeDocument/2006/relationships/slide" Target="slide6.xml"/><Relationship Id="rId10" Type="http://schemas.openxmlformats.org/officeDocument/2006/relationships/slide" Target="slide7.xml"/><Relationship Id="rId11" Type="http://schemas.openxmlformats.org/officeDocument/2006/relationships/slide" Target="slide8.xml"/><Relationship Id="rId12" Type="http://schemas.openxmlformats.org/officeDocument/2006/relationships/slide" Target="slide9.xml"/><Relationship Id="rId13" Type="http://schemas.openxmlformats.org/officeDocument/2006/relationships/slide" Target="slide10.xml"/><Relationship Id="rId14" Type="http://schemas.openxmlformats.org/officeDocument/2006/relationships/slide" Target="slide11.xml"/><Relationship Id="rId15" Type="http://schemas.openxmlformats.org/officeDocument/2006/relationships/slide" Target="slide12.xml"/><Relationship Id="rId16" Type="http://schemas.openxmlformats.org/officeDocument/2006/relationships/slide" Target="slide13.xml"/><Relationship Id="rId17" Type="http://schemas.openxmlformats.org/officeDocument/2006/relationships/slide" Target="slide14.xml"/><Relationship Id="rId18" Type="http://schemas.openxmlformats.org/officeDocument/2006/relationships/slide" Target="slide15.xml"/><Relationship Id="rId19" Type="http://schemas.openxmlformats.org/officeDocument/2006/relationships/slide" Target="slide16.xml"/><Relationship Id="rId20" Type="http://schemas.openxmlformats.org/officeDocument/2006/relationships/slide" Target="slide17.xml"/><Relationship Id="rId21" Type="http://schemas.openxmlformats.org/officeDocument/2006/relationships/slide" Target="slide18.xml"/><Relationship Id="rId22" Type="http://schemas.openxmlformats.org/officeDocument/2006/relationships/slide" Target="slide19.xml"/><Relationship Id="rId23" Type="http://schemas.openxmlformats.org/officeDocument/2006/relationships/slide" Target="slide20.xml"/><Relationship Id="rId24" Type="http://schemas.openxmlformats.org/officeDocument/2006/relationships/slide" Target="slide21.xml"/><Relationship Id="rId25" Type="http://schemas.openxmlformats.org/officeDocument/2006/relationships/slide" Target="slide22.xml"/><Relationship Id="rId26" Type="http://schemas.openxmlformats.org/officeDocument/2006/relationships/slide" Target="slide23.xml"/><Relationship Id="rId27" Type="http://schemas.openxmlformats.org/officeDocument/2006/relationships/slide" Target="slide24.xml"/><Relationship Id="rId28" Type="http://schemas.openxmlformats.org/officeDocument/2006/relationships/slide" Target="slide25.xml"/><Relationship Id="rId1" Type="http://schemas.openxmlformats.org/officeDocument/2006/relationships/image" Target="../media/image-23-1.jpeg"/><Relationship Id="rId2" Type="http://schemas.openxmlformats.org/officeDocument/2006/relationships/image" Target="../media/image-23-2.jpeg"/><Relationship Id="rId3" Type="http://schemas.openxmlformats.org/officeDocument/2006/relationships/image" Target="../media/image-23-3.jpeg"/><Relationship Id="rId29" Type="http://schemas.openxmlformats.org/officeDocument/2006/relationships/slideLayout" Target="../slideLayouts/slideLayout1.xml"/><Relationship Id="rId30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4" Type="http://schemas.openxmlformats.org/officeDocument/2006/relationships/slide" Target="slide1.xml"/><Relationship Id="rId5" Type="http://schemas.openxmlformats.org/officeDocument/2006/relationships/slide" Target="slide2.xml"/><Relationship Id="rId6" Type="http://schemas.openxmlformats.org/officeDocument/2006/relationships/slide" Target="slide3.xml"/><Relationship Id="rId7" Type="http://schemas.openxmlformats.org/officeDocument/2006/relationships/slide" Target="slide4.xml"/><Relationship Id="rId8" Type="http://schemas.openxmlformats.org/officeDocument/2006/relationships/slide" Target="slide5.xml"/><Relationship Id="rId9" Type="http://schemas.openxmlformats.org/officeDocument/2006/relationships/slide" Target="slide6.xml"/><Relationship Id="rId10" Type="http://schemas.openxmlformats.org/officeDocument/2006/relationships/slide" Target="slide7.xml"/><Relationship Id="rId11" Type="http://schemas.openxmlformats.org/officeDocument/2006/relationships/slide" Target="slide8.xml"/><Relationship Id="rId12" Type="http://schemas.openxmlformats.org/officeDocument/2006/relationships/slide" Target="slide9.xml"/><Relationship Id="rId13" Type="http://schemas.openxmlformats.org/officeDocument/2006/relationships/slide" Target="slide10.xml"/><Relationship Id="rId14" Type="http://schemas.openxmlformats.org/officeDocument/2006/relationships/slide" Target="slide11.xml"/><Relationship Id="rId15" Type="http://schemas.openxmlformats.org/officeDocument/2006/relationships/slide" Target="slide12.xml"/><Relationship Id="rId16" Type="http://schemas.openxmlformats.org/officeDocument/2006/relationships/slide" Target="slide13.xml"/><Relationship Id="rId17" Type="http://schemas.openxmlformats.org/officeDocument/2006/relationships/slide" Target="slide14.xml"/><Relationship Id="rId18" Type="http://schemas.openxmlformats.org/officeDocument/2006/relationships/slide" Target="slide15.xml"/><Relationship Id="rId19" Type="http://schemas.openxmlformats.org/officeDocument/2006/relationships/slide" Target="slide16.xml"/><Relationship Id="rId20" Type="http://schemas.openxmlformats.org/officeDocument/2006/relationships/slide" Target="slide17.xml"/><Relationship Id="rId21" Type="http://schemas.openxmlformats.org/officeDocument/2006/relationships/slide" Target="slide18.xml"/><Relationship Id="rId22" Type="http://schemas.openxmlformats.org/officeDocument/2006/relationships/slide" Target="slide19.xml"/><Relationship Id="rId23" Type="http://schemas.openxmlformats.org/officeDocument/2006/relationships/slide" Target="slide20.xml"/><Relationship Id="rId24" Type="http://schemas.openxmlformats.org/officeDocument/2006/relationships/slide" Target="slide21.xml"/><Relationship Id="rId25" Type="http://schemas.openxmlformats.org/officeDocument/2006/relationships/slide" Target="slide22.xml"/><Relationship Id="rId26" Type="http://schemas.openxmlformats.org/officeDocument/2006/relationships/slide" Target="slide23.xml"/><Relationship Id="rId27" Type="http://schemas.openxmlformats.org/officeDocument/2006/relationships/slide" Target="slide24.xml"/><Relationship Id="rId28" Type="http://schemas.openxmlformats.org/officeDocument/2006/relationships/slide" Target="slide25.xml"/><Relationship Id="rId1" Type="http://schemas.openxmlformats.org/officeDocument/2006/relationships/image" Target="../media/image-24-1.jpeg"/><Relationship Id="rId2" Type="http://schemas.openxmlformats.org/officeDocument/2006/relationships/image" Target="../media/image-24-2.jpeg"/><Relationship Id="rId3" Type="http://schemas.openxmlformats.org/officeDocument/2006/relationships/image" Target="../media/image-24-3.jpeg"/><Relationship Id="rId29" Type="http://schemas.openxmlformats.org/officeDocument/2006/relationships/slideLayout" Target="../slideLayouts/slideLayout1.xml"/><Relationship Id="rId30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4" Type="http://schemas.openxmlformats.org/officeDocument/2006/relationships/slide" Target="slide1.xml"/><Relationship Id="rId5" Type="http://schemas.openxmlformats.org/officeDocument/2006/relationships/slide" Target="slide2.xml"/><Relationship Id="rId6" Type="http://schemas.openxmlformats.org/officeDocument/2006/relationships/slide" Target="slide3.xml"/><Relationship Id="rId7" Type="http://schemas.openxmlformats.org/officeDocument/2006/relationships/slide" Target="slide4.xml"/><Relationship Id="rId8" Type="http://schemas.openxmlformats.org/officeDocument/2006/relationships/slide" Target="slide5.xml"/><Relationship Id="rId9" Type="http://schemas.openxmlformats.org/officeDocument/2006/relationships/slide" Target="slide6.xml"/><Relationship Id="rId10" Type="http://schemas.openxmlformats.org/officeDocument/2006/relationships/slide" Target="slide7.xml"/><Relationship Id="rId11" Type="http://schemas.openxmlformats.org/officeDocument/2006/relationships/slide" Target="slide8.xml"/><Relationship Id="rId12" Type="http://schemas.openxmlformats.org/officeDocument/2006/relationships/slide" Target="slide9.xml"/><Relationship Id="rId13" Type="http://schemas.openxmlformats.org/officeDocument/2006/relationships/slide" Target="slide10.xml"/><Relationship Id="rId14" Type="http://schemas.openxmlformats.org/officeDocument/2006/relationships/slide" Target="slide11.xml"/><Relationship Id="rId15" Type="http://schemas.openxmlformats.org/officeDocument/2006/relationships/slide" Target="slide12.xml"/><Relationship Id="rId16" Type="http://schemas.openxmlformats.org/officeDocument/2006/relationships/slide" Target="slide13.xml"/><Relationship Id="rId17" Type="http://schemas.openxmlformats.org/officeDocument/2006/relationships/slide" Target="slide14.xml"/><Relationship Id="rId18" Type="http://schemas.openxmlformats.org/officeDocument/2006/relationships/slide" Target="slide15.xml"/><Relationship Id="rId19" Type="http://schemas.openxmlformats.org/officeDocument/2006/relationships/slide" Target="slide16.xml"/><Relationship Id="rId20" Type="http://schemas.openxmlformats.org/officeDocument/2006/relationships/slide" Target="slide17.xml"/><Relationship Id="rId21" Type="http://schemas.openxmlformats.org/officeDocument/2006/relationships/slide" Target="slide18.xml"/><Relationship Id="rId22" Type="http://schemas.openxmlformats.org/officeDocument/2006/relationships/slide" Target="slide19.xml"/><Relationship Id="rId23" Type="http://schemas.openxmlformats.org/officeDocument/2006/relationships/slide" Target="slide20.xml"/><Relationship Id="rId24" Type="http://schemas.openxmlformats.org/officeDocument/2006/relationships/slide" Target="slide21.xml"/><Relationship Id="rId25" Type="http://schemas.openxmlformats.org/officeDocument/2006/relationships/slide" Target="slide22.xml"/><Relationship Id="rId26" Type="http://schemas.openxmlformats.org/officeDocument/2006/relationships/slide" Target="slide23.xml"/><Relationship Id="rId27" Type="http://schemas.openxmlformats.org/officeDocument/2006/relationships/slide" Target="slide24.xml"/><Relationship Id="rId28" Type="http://schemas.openxmlformats.org/officeDocument/2006/relationships/slide" Target="slide25.xml"/><Relationship Id="rId1" Type="http://schemas.openxmlformats.org/officeDocument/2006/relationships/image" Target="../media/image-25-1.jpeg"/><Relationship Id="rId2" Type="http://schemas.openxmlformats.org/officeDocument/2006/relationships/image" Target="../media/image-25-2.jpeg"/><Relationship Id="rId3" Type="http://schemas.openxmlformats.org/officeDocument/2006/relationships/image" Target="../media/image-25-3.jpeg"/><Relationship Id="rId29" Type="http://schemas.openxmlformats.org/officeDocument/2006/relationships/slideLayout" Target="../slideLayouts/slideLayout1.xml"/><Relationship Id="rId30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475467"/>
          </a:solidFill>
          <a:ln/>
        </p:spPr>
      </p:sp>
      <p:sp>
        <p:nvSpPr>
          <p:cNvPr id="3" name="Shape 1"/>
          <p:cNvSpPr/>
          <p:nvPr/>
        </p:nvSpPr>
        <p:spPr>
          <a:xfrm>
            <a:off x="411480" y="329184"/>
            <a:ext cx="621792" cy="621792"/>
          </a:xfrm>
          <a:prstGeom prst="roundRect">
            <a:avLst>
              <a:gd name="adj" fmla="val 23529"/>
            </a:avLst>
          </a:prstGeom>
          <a:solidFill>
            <a:srgbClr val="475467"/>
          </a:solidFill>
          <a:ln w="12700">
            <a:solidFill>
              <a:srgbClr val="475467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411480" y="329184"/>
            <a:ext cx="62179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1188720" y="329184"/>
            <a:ext cx="768096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4754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 ·  WHY THIS PLATFORM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52144" y="548640"/>
            <a:ext cx="8321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10679278" y="475488"/>
            <a:ext cx="1100938" cy="420624"/>
          </a:xfrm>
          <a:prstGeom prst="roundRect">
            <a:avLst>
              <a:gd name="adj" fmla="val 50000"/>
            </a:avLst>
          </a:prstGeom>
          <a:solidFill>
            <a:srgbClr val="475467"/>
          </a:solidFill>
          <a:ln w="12700">
            <a:solidFill>
              <a:srgbClr val="475467"/>
            </a:solidFill>
            <a:prstDash val="solid"/>
          </a:ln>
          <a:effectLst>
            <a:outerShdw sx="100000" sy="100000" kx="0" ky="0" algn="bl" rotWithShape="0" blurRad="76200" dist="12700" dir="5400000">
              <a:srgbClr val="0B2239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0679278" y="475488"/>
            <a:ext cx="110093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11480" y="1216152"/>
            <a:ext cx="11368735" cy="18288"/>
          </a:xfrm>
          <a:prstGeom prst="rect">
            <a:avLst/>
          </a:prstGeom>
          <a:solidFill>
            <a:srgbClr val="DDE1E7"/>
          </a:solidFill>
          <a:ln/>
        </p:spPr>
      </p:sp>
      <p:sp>
        <p:nvSpPr>
          <p:cNvPr id="10" name="a_stmt_bg"/>
          <p:cNvSpPr/>
          <p:nvPr/>
        </p:nvSpPr>
        <p:spPr>
          <a:xfrm>
            <a:off x="411480" y="1417320"/>
            <a:ext cx="594360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12700">
            <a:solidFill>
              <a:srgbClr val="DDE1E7"/>
            </a:solidFill>
            <a:prstDash val="solid"/>
          </a:ln>
          <a:effectLst>
            <a:outerShdw sx="100000" sy="100000" kx="0" ky="0" algn="bl" rotWithShape="0" blurRad="76200" dist="12700" dir="5400000">
              <a:srgbClr val="0B2239">
                <a:alpha val="8000"/>
              </a:srgbClr>
            </a:outerShdw>
          </a:effectLst>
        </p:spPr>
      </p:sp>
      <p:sp>
        <p:nvSpPr>
          <p:cNvPr id="11" name="a_stmt_bar"/>
          <p:cNvSpPr/>
          <p:nvPr/>
        </p:nvSpPr>
        <p:spPr>
          <a:xfrm>
            <a:off x="411480" y="1417320"/>
            <a:ext cx="82296" cy="932688"/>
          </a:xfrm>
          <a:prstGeom prst="rect">
            <a:avLst/>
          </a:prstGeom>
          <a:solidFill>
            <a:srgbClr val="475467"/>
          </a:solidFill>
          <a:ln/>
        </p:spPr>
      </p:sp>
      <p:sp>
        <p:nvSpPr>
          <p:cNvPr id="12" name="a_stmt_tx"/>
          <p:cNvSpPr/>
          <p:nvPr/>
        </p:nvSpPr>
        <p:spPr>
          <a:xfrm>
            <a:off x="704088" y="1417320"/>
            <a:ext cx="5394960" cy="9326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 maintenance complaints remain fragmented and difficult to track</a:t>
            </a:r>
            <a:endParaRPr lang="en-US" sz="2200" dirty="0"/>
          </a:p>
        </p:txBody>
      </p:sp>
      <p:sp>
        <p:nvSpPr>
          <p:cNvPr id="13" name="p1_1_c"/>
          <p:cNvSpPr/>
          <p:nvPr/>
        </p:nvSpPr>
        <p:spPr>
          <a:xfrm>
            <a:off x="466344" y="2523744"/>
            <a:ext cx="347472" cy="347472"/>
          </a:xfrm>
          <a:prstGeom prst="ellipse">
            <a:avLst/>
          </a:prstGeom>
          <a:solidFill>
            <a:srgbClr val="475467"/>
          </a:solidFill>
          <a:ln>
            <a:solidFill>
              <a:srgbClr val="47546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4" name="p1_1_t"/>
          <p:cNvSpPr/>
          <p:nvPr/>
        </p:nvSpPr>
        <p:spPr>
          <a:xfrm>
            <a:off x="1014984" y="2505456"/>
            <a:ext cx="5285232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Residents rely on phone calls, social media groups, and informal messages.</a:t>
            </a:r>
            <a:endParaRPr lang="en-US" sz="1800" dirty="0"/>
          </a:p>
        </p:txBody>
      </p:sp>
      <p:sp>
        <p:nvSpPr>
          <p:cNvPr id="15" name="p1_2_c"/>
          <p:cNvSpPr/>
          <p:nvPr/>
        </p:nvSpPr>
        <p:spPr>
          <a:xfrm>
            <a:off x="466344" y="3267456"/>
            <a:ext cx="347472" cy="347472"/>
          </a:xfrm>
          <a:prstGeom prst="ellipse">
            <a:avLst/>
          </a:prstGeom>
          <a:solidFill>
            <a:srgbClr val="475467"/>
          </a:solidFill>
          <a:ln>
            <a:solidFill>
              <a:srgbClr val="47546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6" name="p1_2_t"/>
          <p:cNvSpPr/>
          <p:nvPr/>
        </p:nvSpPr>
        <p:spPr>
          <a:xfrm>
            <a:off x="1014984" y="3249168"/>
            <a:ext cx="5285232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 often arrive without structured evidence or accurate location details.</a:t>
            </a:r>
            <a:endParaRPr lang="en-US" sz="1800" dirty="0"/>
          </a:p>
        </p:txBody>
      </p:sp>
      <p:sp>
        <p:nvSpPr>
          <p:cNvPr id="17" name="p1_3_c"/>
          <p:cNvSpPr/>
          <p:nvPr/>
        </p:nvSpPr>
        <p:spPr>
          <a:xfrm>
            <a:off x="466344" y="4011168"/>
            <a:ext cx="347472" cy="347472"/>
          </a:xfrm>
          <a:prstGeom prst="ellipse">
            <a:avLst/>
          </a:prstGeom>
          <a:solidFill>
            <a:srgbClr val="475467"/>
          </a:solidFill>
          <a:ln>
            <a:solidFill>
              <a:srgbClr val="47546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p1_3_t"/>
          <p:cNvSpPr/>
          <p:nvPr/>
        </p:nvSpPr>
        <p:spPr>
          <a:xfrm>
            <a:off x="1014984" y="3992880"/>
            <a:ext cx="5285232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Duplicate reports and disconnected channels delay verification and assignment.</a:t>
            </a:r>
            <a:endParaRPr lang="en-US" sz="1800" dirty="0"/>
          </a:p>
        </p:txBody>
      </p:sp>
      <p:sp>
        <p:nvSpPr>
          <p:cNvPr id="19" name="p1_4_c"/>
          <p:cNvSpPr/>
          <p:nvPr/>
        </p:nvSpPr>
        <p:spPr>
          <a:xfrm>
            <a:off x="466344" y="4754880"/>
            <a:ext cx="347472" cy="347472"/>
          </a:xfrm>
          <a:prstGeom prst="ellipse">
            <a:avLst/>
          </a:prstGeom>
          <a:solidFill>
            <a:srgbClr val="475467"/>
          </a:solidFill>
          <a:ln>
            <a:solidFill>
              <a:srgbClr val="47546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0" name="p1_4_t"/>
          <p:cNvSpPr/>
          <p:nvPr/>
        </p:nvSpPr>
        <p:spPr>
          <a:xfrm>
            <a:off x="1014984" y="4736592"/>
            <a:ext cx="5285232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Residents have limited visibility into progress, reducing trust and accountability.</a:t>
            </a:r>
            <a:endParaRPr lang="en-US" sz="1800" dirty="0"/>
          </a:p>
        </p:txBody>
      </p:sp>
      <p:sp>
        <p:nvSpPr>
          <p:cNvPr id="21" name="a_close_bg"/>
          <p:cNvSpPr/>
          <p:nvPr/>
        </p:nvSpPr>
        <p:spPr>
          <a:xfrm>
            <a:off x="411480" y="5486400"/>
            <a:ext cx="5943600" cy="749808"/>
          </a:xfrm>
          <a:prstGeom prst="roundRect">
            <a:avLst>
              <a:gd name="adj" fmla="val 12195"/>
            </a:avLst>
          </a:prstGeom>
          <a:solidFill>
            <a:srgbClr val="17324D"/>
          </a:solidFill>
          <a:ln w="12700">
            <a:solidFill>
              <a:srgbClr val="17324D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22" name="a_close_tx"/>
          <p:cNvSpPr/>
          <p:nvPr/>
        </p:nvSpPr>
        <p:spPr>
          <a:xfrm>
            <a:off x="667512" y="5486400"/>
            <a:ext cx="5431536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Nogor Shomadhan provides one verified workflow from reporting to resolution.</a:t>
            </a:r>
            <a:endParaRPr lang="en-US" sz="1850" dirty="0"/>
          </a:p>
        </p:txBody>
      </p:sp>
      <p:sp>
        <p:nvSpPr>
          <p:cNvPr id="23" name="Shape 21"/>
          <p:cNvSpPr/>
          <p:nvPr/>
        </p:nvSpPr>
        <p:spPr>
          <a:xfrm>
            <a:off x="6656832" y="1417320"/>
            <a:ext cx="5120640" cy="3968592"/>
          </a:xfrm>
          <a:prstGeom prst="roundRect">
            <a:avLst>
              <a:gd name="adj" fmla="val 2304"/>
            </a:avLst>
          </a:prstGeom>
          <a:solidFill>
            <a:srgbClr val="FFFFFF"/>
          </a:solidFill>
          <a:ln w="12700">
            <a:solidFill>
              <a:srgbClr val="DDE1E7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24" name="Image 0" descr="C:/NogorShomadhan/Images/Road brok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0840" y="1481328"/>
            <a:ext cx="4992624" cy="3840576"/>
          </a:xfrm>
          <a:prstGeom prst="rect">
            <a:avLst/>
          </a:prstGeom>
        </p:spPr>
      </p:pic>
      <p:sp>
        <p:nvSpPr>
          <p:cNvPr id="25" name="Shape 22"/>
          <p:cNvSpPr/>
          <p:nvPr/>
        </p:nvSpPr>
        <p:spPr>
          <a:xfrm>
            <a:off x="6656832" y="5477256"/>
            <a:ext cx="5120640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DDE1E7"/>
            </a:solidFill>
            <a:prstDash val="solid"/>
          </a:ln>
          <a:effectLst>
            <a:outerShdw sx="100000" sy="100000" kx="0" ky="0" algn="bl" rotWithShape="0" blurRad="76200" dist="12700" dir="5400000">
              <a:srgbClr val="0B2239">
                <a:alpha val="8000"/>
              </a:srgbClr>
            </a:outerShdw>
          </a:effectLst>
        </p:spPr>
      </p:sp>
      <p:sp>
        <p:nvSpPr>
          <p:cNvPr id="26" name="Text 23"/>
          <p:cNvSpPr/>
          <p:nvPr/>
        </p:nvSpPr>
        <p:spPr>
          <a:xfrm>
            <a:off x="6912864" y="5559552"/>
            <a:ext cx="460857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40" kern="0" dirty="0">
                <a:solidFill>
                  <a:srgbClr val="4754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EVERYDAY REALITY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6912864" y="5779008"/>
            <a:ext cx="4608576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Visible to everyone, yet no record of who reported it or what happens next.</a:t>
            </a:r>
            <a:endParaRPr lang="en-US" sz="1650" dirty="0"/>
          </a:p>
        </p:txBody>
      </p:sp>
      <p:sp>
        <p:nvSpPr>
          <p:cNvPr id="28" name="Text 25"/>
          <p:cNvSpPr/>
          <p:nvPr/>
        </p:nvSpPr>
        <p:spPr>
          <a:xfrm>
            <a:off x="411480" y="6510528"/>
            <a:ext cx="4114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Nogor Shomadhan  ·  User Manual</a:t>
            </a:r>
            <a:endParaRPr lang="en-US" sz="1100" dirty="0"/>
          </a:p>
        </p:txBody>
      </p:sp>
      <p:sp>
        <p:nvSpPr>
          <p:cNvPr id="29" name="Text 26">
            <a:hlinkClick r:id="rId2" tooltip="1. Problem Statement" action="ppaction://hlinksldjump"/>
          </p:cNvPr>
          <p:cNvSpPr/>
          <p:nvPr/>
        </p:nvSpPr>
        <p:spPr>
          <a:xfrm>
            <a:off x="7272223" y="6528816"/>
            <a:ext cx="118872" cy="118872"/>
          </a:xfrm>
          <a:prstGeom prst="ellipse">
            <a:avLst/>
          </a:prstGeom>
          <a:solidFill>
            <a:srgbClr val="475467"/>
          </a:solidFill>
          <a:ln>
            <a:solidFill>
              <a:srgbClr val="4754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action="ppaction://hlinksldjump" tooltip="1. Problem Stateme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30" name="Text 27">
            <a:hlinkClick r:id="rId3" tooltip="2. Stakeholders and Responsibilities" action="ppaction://hlinksldjump"/>
          </p:cNvPr>
          <p:cNvSpPr/>
          <p:nvPr/>
        </p:nvSpPr>
        <p:spPr>
          <a:xfrm>
            <a:off x="745510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action="ppaction://hlinksldjump" tooltip="2. Stakeholders and Responsibiliti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31" name="Text 28">
            <a:hlinkClick r:id="rId4" tooltip="3. Resident Account Registration" action="ppaction://hlinksldjump"/>
          </p:cNvPr>
          <p:cNvSpPr/>
          <p:nvPr/>
        </p:nvSpPr>
        <p:spPr>
          <a:xfrm>
            <a:off x="763798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action="ppaction://hlinksldjump" tooltip="3. Resident Account Registra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32" name="Text 29">
            <a:hlinkClick r:id="rId5" tooltip="4. Registration Request Submitted" action="ppaction://hlinksldjump"/>
          </p:cNvPr>
          <p:cNvSpPr/>
          <p:nvPr/>
        </p:nvSpPr>
        <p:spPr>
          <a:xfrm>
            <a:off x="782086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action="ppaction://hlinksldjump" tooltip="4. Registration Request Submit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33" name="Text 30">
            <a:hlinkClick r:id="rId6" tooltip="5. Admin Receives the Verification Request" action="ppaction://hlinksldjump"/>
          </p:cNvPr>
          <p:cNvSpPr/>
          <p:nvPr/>
        </p:nvSpPr>
        <p:spPr>
          <a:xfrm>
            <a:off x="800374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 action="ppaction://hlinksldjump" tooltip="5. Admin Receives the Verification Reques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34" name="Text 31">
            <a:hlinkClick r:id="rId7" tooltip="6. Admin Reviews and Approves the Account" action="ppaction://hlinksldjump"/>
          </p:cNvPr>
          <p:cNvSpPr/>
          <p:nvPr/>
        </p:nvSpPr>
        <p:spPr>
          <a:xfrm>
            <a:off x="818662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 action="ppaction://hlinksldjump" tooltip="6. Admin Reviews and Approves the Accou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35" name="Text 32">
            <a:hlinkClick r:id="rId8" tooltip="7. Account Verification Completed" action="ppaction://hlinksldjump"/>
          </p:cNvPr>
          <p:cNvSpPr/>
          <p:nvPr/>
        </p:nvSpPr>
        <p:spPr>
          <a:xfrm>
            <a:off x="836950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" action="ppaction://hlinksldjump" tooltip="7. Account Verification Comple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36" name="Text 33">
            <a:hlinkClick r:id="rId9" tooltip="8. Create a New Complaint" action="ppaction://hlinksldjump"/>
          </p:cNvPr>
          <p:cNvSpPr/>
          <p:nvPr/>
        </p:nvSpPr>
        <p:spPr>
          <a:xfrm>
            <a:off x="855238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" action="ppaction://hlinksldjump" tooltip="8. Create a New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37" name="Text 34">
            <a:hlinkClick r:id="rId10" tooltip="9. Add Evidence and Review the Category" action="ppaction://hlinksldjump"/>
          </p:cNvPr>
          <p:cNvSpPr/>
          <p:nvPr/>
        </p:nvSpPr>
        <p:spPr>
          <a:xfrm>
            <a:off x="873526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0" action="ppaction://hlinksldjump" tooltip="9. Add Evidence and Review the Categor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38" name="Text 35">
            <a:hlinkClick r:id="rId11" tooltip="10. Confirm the Complaint Submission" action="ppaction://hlinksldjump"/>
          </p:cNvPr>
          <p:cNvSpPr/>
          <p:nvPr/>
        </p:nvSpPr>
        <p:spPr>
          <a:xfrm>
            <a:off x="891814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1" action="ppaction://hlinksldjump" tooltip="10. Confirm the Complaint Submiss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39" name="Text 36">
            <a:hlinkClick r:id="rId12" tooltip="11. Admin Opens the Review Queue" action="ppaction://hlinksldjump"/>
          </p:cNvPr>
          <p:cNvSpPr/>
          <p:nvPr/>
        </p:nvSpPr>
        <p:spPr>
          <a:xfrm>
            <a:off x="910102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2" action="ppaction://hlinksldjump" tooltip="11. Admin Opens the Review Queu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0" name="Text 37">
            <a:hlinkClick r:id="rId13" tooltip="12. Complaint Check and Duplicate Comparison" action="ppaction://hlinksldjump"/>
          </p:cNvPr>
          <p:cNvSpPr/>
          <p:nvPr/>
        </p:nvSpPr>
        <p:spPr>
          <a:xfrm>
            <a:off x="928390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3" action="ppaction://hlinksldjump" tooltip="12. Complaint Check and Duplicate Compari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1" name="Text 38">
            <a:hlinkClick r:id="rId14" tooltip="13. Duplicate Review Outcomes" action="ppaction://hlinksldjump"/>
          </p:cNvPr>
          <p:cNvSpPr/>
          <p:nvPr/>
        </p:nvSpPr>
        <p:spPr>
          <a:xfrm>
            <a:off x="946678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4" action="ppaction://hlinksldjump" tooltip="13. Duplicate Review Outcom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2" name="Text 39">
            <a:hlinkClick r:id="rId15" tooltip="14. Pending Complaint Visibility" action="ppaction://hlinksldjump"/>
          </p:cNvPr>
          <p:cNvSpPr/>
          <p:nvPr/>
        </p:nvSpPr>
        <p:spPr>
          <a:xfrm>
            <a:off x="964966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5" action="ppaction://hlinksldjump" tooltip="14. Pending Complaint Visibilit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3" name="Text 40">
            <a:hlinkClick r:id="rId16" tooltip="15. Authority Opens the Complaint" action="ppaction://hlinksldjump"/>
          </p:cNvPr>
          <p:cNvSpPr/>
          <p:nvPr/>
        </p:nvSpPr>
        <p:spPr>
          <a:xfrm>
            <a:off x="983254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6" action="ppaction://hlinksldjump" tooltip="15. Authority Opens the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4" name="Text 41">
            <a:hlinkClick r:id="rId17" tooltip="16. Assign a Contractor and Start Work" action="ppaction://hlinksldjump"/>
          </p:cNvPr>
          <p:cNvSpPr/>
          <p:nvPr/>
        </p:nvSpPr>
        <p:spPr>
          <a:xfrm>
            <a:off x="1001542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7" action="ppaction://hlinksldjump" tooltip="16. Assign a Contractor and Start Work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5" name="Text 42">
            <a:hlinkClick r:id="rId18" tooltip="17. The Complaint Moves to In Progress" action="ppaction://hlinksldjump"/>
          </p:cNvPr>
          <p:cNvSpPr/>
          <p:nvPr/>
        </p:nvSpPr>
        <p:spPr>
          <a:xfrm>
            <a:off x="1019830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8" action="ppaction://hlinksldjump" tooltip="17. The Complaint Moves to In Progres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6" name="Text 43">
            <a:hlinkClick r:id="rId19" tooltip="18. Residents See the Progress Update" action="ppaction://hlinksldjump"/>
          </p:cNvPr>
          <p:cNvSpPr/>
          <p:nvPr/>
        </p:nvSpPr>
        <p:spPr>
          <a:xfrm>
            <a:off x="1038118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9" action="ppaction://hlinksldjump" tooltip="18. Residents See the Progress Updat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7" name="Text 44">
            <a:hlinkClick r:id="rId20" tooltip="19. Resident Starts a Forum Discussion" action="ppaction://hlinksldjump"/>
          </p:cNvPr>
          <p:cNvSpPr/>
          <p:nvPr/>
        </p:nvSpPr>
        <p:spPr>
          <a:xfrm>
            <a:off x="1056406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0" action="ppaction://hlinksldjump" tooltip="19. Resident Starts a Forum Discuss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8" name="Text 45">
            <a:hlinkClick r:id="rId21" tooltip="20. Everyone Is Notified" action="ppaction://hlinksldjump"/>
          </p:cNvPr>
          <p:cNvSpPr/>
          <p:nvPr/>
        </p:nvSpPr>
        <p:spPr>
          <a:xfrm>
            <a:off x="1074694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1" action="ppaction://hlinksldjump" tooltip="20. Everyone Is Notifi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9" name="Text 46">
            <a:hlinkClick r:id="rId22" tooltip="21. Open the Post and Discuss" action="ppaction://hlinksldjump"/>
          </p:cNvPr>
          <p:cNvSpPr/>
          <p:nvPr/>
        </p:nvSpPr>
        <p:spPr>
          <a:xfrm>
            <a:off x="1092982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2" action="ppaction://hlinksldjump" tooltip="21. Open the Post and Discus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0" name="Text 47">
            <a:hlinkClick r:id="rId23" tooltip="22. Authority Updates the Work" action="ppaction://hlinksldjump"/>
          </p:cNvPr>
          <p:cNvSpPr/>
          <p:nvPr/>
        </p:nvSpPr>
        <p:spPr>
          <a:xfrm>
            <a:off x="1111270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3" action="ppaction://hlinksldjump" tooltip="22. Authority Updates the Work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1" name="Text 48">
            <a:hlinkClick r:id="rId24" tooltip="23. Authority Resolves the Complaint" action="ppaction://hlinksldjump"/>
          </p:cNvPr>
          <p:cNvSpPr/>
          <p:nvPr/>
        </p:nvSpPr>
        <p:spPr>
          <a:xfrm>
            <a:off x="1129558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4" action="ppaction://hlinksldjump" tooltip="23. Authority Resolves the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2" name="Text 49">
            <a:hlinkClick r:id="rId25" tooltip="24. Residents Give Feedback" action="ppaction://hlinksldjump"/>
          </p:cNvPr>
          <p:cNvSpPr/>
          <p:nvPr/>
        </p:nvSpPr>
        <p:spPr>
          <a:xfrm>
            <a:off x="1147846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5" action="ppaction://hlinksldjump" tooltip="24. Residents Give Feedback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3" name="Text 50">
            <a:hlinkClick r:id="rId26" tooltip="25. Feedback Is Public and Answered" action="ppaction://hlinksldjump"/>
          </p:cNvPr>
          <p:cNvSpPr/>
          <p:nvPr/>
        </p:nvSpPr>
        <p:spPr>
          <a:xfrm>
            <a:off x="1166134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6" action="ppaction://hlinksldjump" tooltip="25. Feedback Is Public and Answer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4" name="Text 51"/>
          <p:cNvSpPr/>
          <p:nvPr/>
        </p:nvSpPr>
        <p:spPr>
          <a:xfrm>
            <a:off x="6449263" y="6510528"/>
            <a:ext cx="7132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25</a:t>
            </a:r>
            <a:endParaRPr lang="en-US" sz="11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2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475467"/>
          </a:solidFill>
          <a:ln/>
        </p:spPr>
      </p:sp>
      <p:sp>
        <p:nvSpPr>
          <p:cNvPr id="3" name="Shape 1"/>
          <p:cNvSpPr/>
          <p:nvPr/>
        </p:nvSpPr>
        <p:spPr>
          <a:xfrm>
            <a:off x="411480" y="329184"/>
            <a:ext cx="621792" cy="621792"/>
          </a:xfrm>
          <a:prstGeom prst="roundRect">
            <a:avLst>
              <a:gd name="adj" fmla="val 23529"/>
            </a:avLst>
          </a:prstGeom>
          <a:solidFill>
            <a:srgbClr val="475467"/>
          </a:solidFill>
          <a:ln w="12700">
            <a:solidFill>
              <a:srgbClr val="475467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411480" y="329184"/>
            <a:ext cx="62179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1188720" y="329184"/>
            <a:ext cx="768096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4754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 ·  WHO USES THE PLATFORM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52144" y="548640"/>
            <a:ext cx="8321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Stakeholders and Responsibilities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10383012" y="475488"/>
            <a:ext cx="1397203" cy="420624"/>
          </a:xfrm>
          <a:prstGeom prst="roundRect">
            <a:avLst>
              <a:gd name="adj" fmla="val 50000"/>
            </a:avLst>
          </a:prstGeom>
          <a:solidFill>
            <a:srgbClr val="475467"/>
          </a:solidFill>
          <a:ln w="12700">
            <a:solidFill>
              <a:srgbClr val="475467"/>
            </a:solidFill>
            <a:prstDash val="solid"/>
          </a:ln>
          <a:effectLst>
            <a:outerShdw sx="100000" sy="100000" kx="0" ky="0" algn="bl" rotWithShape="0" blurRad="76200" dist="12700" dir="5400000">
              <a:srgbClr val="0B2239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0383012" y="475488"/>
            <a:ext cx="1397203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roles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11480" y="1216152"/>
            <a:ext cx="11368735" cy="18288"/>
          </a:xfrm>
          <a:prstGeom prst="rect">
            <a:avLst/>
          </a:prstGeom>
          <a:solidFill>
            <a:srgbClr val="DDE1E7"/>
          </a:solidFill>
          <a:ln/>
        </p:spPr>
      </p:sp>
      <p:sp>
        <p:nvSpPr>
          <p:cNvPr id="10" name="c_res_bg"/>
          <p:cNvSpPr/>
          <p:nvPr/>
        </p:nvSpPr>
        <p:spPr>
          <a:xfrm>
            <a:off x="440284" y="1426464"/>
            <a:ext cx="3502152" cy="4069080"/>
          </a:xfrm>
          <a:prstGeom prst="roundRect">
            <a:avLst>
              <a:gd name="adj" fmla="val 2611"/>
            </a:avLst>
          </a:prstGeom>
          <a:solidFill>
            <a:srgbClr val="FFFFFF"/>
          </a:solidFill>
          <a:ln w="12700">
            <a:solidFill>
              <a:srgbClr val="CFE3F4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11" name="c_res_hd"/>
          <p:cNvSpPr/>
          <p:nvPr/>
        </p:nvSpPr>
        <p:spPr>
          <a:xfrm>
            <a:off x="440284" y="1426464"/>
            <a:ext cx="3502152" cy="658368"/>
          </a:xfrm>
          <a:prstGeom prst="roundRect">
            <a:avLst>
              <a:gd name="adj" fmla="val 13889"/>
            </a:avLst>
          </a:prstGeom>
          <a:solidFill>
            <a:srgbClr val="2563A6"/>
          </a:solidFill>
          <a:ln w="12700">
            <a:solidFill>
              <a:srgbClr val="2563A6"/>
            </a:solidFill>
            <a:prstDash val="solid"/>
          </a:ln>
        </p:spPr>
      </p:sp>
      <p:sp>
        <p:nvSpPr>
          <p:cNvPr id="12" name="c_res_hd2"/>
          <p:cNvSpPr/>
          <p:nvPr/>
        </p:nvSpPr>
        <p:spPr>
          <a:xfrm>
            <a:off x="440284" y="1847088"/>
            <a:ext cx="3502152" cy="237744"/>
          </a:xfrm>
          <a:prstGeom prst="rect">
            <a:avLst/>
          </a:prstGeom>
          <a:solidFill>
            <a:srgbClr val="2563A6"/>
          </a:solidFill>
          <a:ln/>
        </p:spPr>
      </p:sp>
      <p:sp>
        <p:nvSpPr>
          <p:cNvPr id="13" name="c_res_hdt"/>
          <p:cNvSpPr/>
          <p:nvPr/>
        </p:nvSpPr>
        <p:spPr>
          <a:xfrm>
            <a:off x="440284" y="1426464"/>
            <a:ext cx="350215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</a:t>
            </a:r>
            <a:endParaRPr lang="en-US" sz="2000" dirty="0"/>
          </a:p>
        </p:txBody>
      </p:sp>
      <p:sp>
        <p:nvSpPr>
          <p:cNvPr id="14" name="c_res_bl"/>
          <p:cNvSpPr/>
          <p:nvPr/>
        </p:nvSpPr>
        <p:spPr>
          <a:xfrm>
            <a:off x="696316" y="2231136"/>
            <a:ext cx="2990088" cy="3136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0000"/>
              </a:lnSpc>
              <a:spcAft>
                <a:spcPts val="1000"/>
              </a:spcAft>
              <a:buSzPct val="100000"/>
              <a:buChar char="●"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 community problems with location and optional photographic evidence.</a:t>
            </a:r>
            <a:endParaRPr lang="en-US" sz="1800" dirty="0"/>
          </a:p>
          <a:p>
            <a:pPr marL="342900" indent="-342900">
              <a:lnSpc>
                <a:spcPct val="100000"/>
              </a:lnSpc>
              <a:spcAft>
                <a:spcPts val="1000"/>
              </a:spcAft>
              <a:buSzPct val="100000"/>
              <a:buChar char="●"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Tracks complaint status and receives important notifications.</a:t>
            </a:r>
            <a:endParaRPr lang="en-US" sz="1800" dirty="0"/>
          </a:p>
          <a:p>
            <a:pPr marL="342900" indent="-342900">
              <a:lnSpc>
                <a:spcPct val="100000"/>
              </a:lnSpc>
              <a:spcAft>
                <a:spcPts val="1000"/>
              </a:spcAft>
              <a:buSzPct val="100000"/>
              <a:buChar char="●"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Participates through urgency votes, forum discussions, and feedback.</a:t>
            </a:r>
            <a:endParaRPr lang="en-US" sz="1800" dirty="0"/>
          </a:p>
        </p:txBody>
      </p:sp>
      <p:sp>
        <p:nvSpPr>
          <p:cNvPr id="15" name="c_adm_bg"/>
          <p:cNvSpPr/>
          <p:nvPr/>
        </p:nvSpPr>
        <p:spPr>
          <a:xfrm>
            <a:off x="4344772" y="1426464"/>
            <a:ext cx="3502152" cy="4069080"/>
          </a:xfrm>
          <a:prstGeom prst="roundRect">
            <a:avLst>
              <a:gd name="adj" fmla="val 2611"/>
            </a:avLst>
          </a:prstGeom>
          <a:solidFill>
            <a:srgbClr val="FFFFFF"/>
          </a:solidFill>
          <a:ln w="12700">
            <a:solidFill>
              <a:srgbClr val="F2DBBB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16" name="c_adm_hd"/>
          <p:cNvSpPr/>
          <p:nvPr/>
        </p:nvSpPr>
        <p:spPr>
          <a:xfrm>
            <a:off x="4344772" y="1426464"/>
            <a:ext cx="3502152" cy="658368"/>
          </a:xfrm>
          <a:prstGeom prst="roundRect">
            <a:avLst>
              <a:gd name="adj" fmla="val 13889"/>
            </a:avLst>
          </a:prstGeom>
          <a:solidFill>
            <a:srgbClr val="B86A12"/>
          </a:solidFill>
          <a:ln w="12700">
            <a:solidFill>
              <a:srgbClr val="B86A12"/>
            </a:solidFill>
            <a:prstDash val="solid"/>
          </a:ln>
        </p:spPr>
      </p:sp>
      <p:sp>
        <p:nvSpPr>
          <p:cNvPr id="17" name="c_adm_hd2"/>
          <p:cNvSpPr/>
          <p:nvPr/>
        </p:nvSpPr>
        <p:spPr>
          <a:xfrm>
            <a:off x="4344772" y="1847088"/>
            <a:ext cx="3502152" cy="237744"/>
          </a:xfrm>
          <a:prstGeom prst="rect">
            <a:avLst/>
          </a:prstGeom>
          <a:solidFill>
            <a:srgbClr val="B86A12"/>
          </a:solidFill>
          <a:ln/>
        </p:spPr>
      </p:sp>
      <p:sp>
        <p:nvSpPr>
          <p:cNvPr id="18" name="c_adm_hdt"/>
          <p:cNvSpPr/>
          <p:nvPr/>
        </p:nvSpPr>
        <p:spPr>
          <a:xfrm>
            <a:off x="4344772" y="1426464"/>
            <a:ext cx="350215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2000" dirty="0"/>
          </a:p>
        </p:txBody>
      </p:sp>
      <p:sp>
        <p:nvSpPr>
          <p:cNvPr id="19" name="c_adm_bl"/>
          <p:cNvSpPr/>
          <p:nvPr/>
        </p:nvSpPr>
        <p:spPr>
          <a:xfrm>
            <a:off x="4600804" y="2231136"/>
            <a:ext cx="2990088" cy="3136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0000"/>
              </a:lnSpc>
              <a:spcAft>
                <a:spcPts val="1000"/>
              </a:spcAft>
              <a:buSzPct val="100000"/>
              <a:buChar char="●"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Verifies resident accounts and newly submitted complaints.</a:t>
            </a:r>
            <a:endParaRPr lang="en-US" sz="1800" dirty="0"/>
          </a:p>
          <a:p>
            <a:pPr marL="342900" indent="-342900">
              <a:lnSpc>
                <a:spcPct val="100000"/>
              </a:lnSpc>
              <a:spcAft>
                <a:spcPts val="1000"/>
              </a:spcAft>
              <a:buSzPct val="100000"/>
              <a:buChar char="●"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Reviews possible duplicates identified by the system.</a:t>
            </a:r>
            <a:endParaRPr lang="en-US" sz="1800" dirty="0"/>
          </a:p>
          <a:p>
            <a:pPr marL="342900" indent="-342900">
              <a:lnSpc>
                <a:spcPct val="100000"/>
              </a:lnSpc>
              <a:spcAft>
                <a:spcPts val="1000"/>
              </a:spcAft>
              <a:buSzPct val="100000"/>
              <a:buChar char="●"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Approves valid records and maintains platform integrity.</a:t>
            </a:r>
            <a:endParaRPr lang="en-US" sz="1800" dirty="0"/>
          </a:p>
        </p:txBody>
      </p:sp>
      <p:sp>
        <p:nvSpPr>
          <p:cNvPr id="20" name="c_aut_bg"/>
          <p:cNvSpPr/>
          <p:nvPr/>
        </p:nvSpPr>
        <p:spPr>
          <a:xfrm>
            <a:off x="8249260" y="1426464"/>
            <a:ext cx="3502152" cy="4069080"/>
          </a:xfrm>
          <a:prstGeom prst="roundRect">
            <a:avLst>
              <a:gd name="adj" fmla="val 2611"/>
            </a:avLst>
          </a:prstGeom>
          <a:solidFill>
            <a:srgbClr val="FFFFFF"/>
          </a:solidFill>
          <a:ln w="12700">
            <a:solidFill>
              <a:srgbClr val="C6E5D6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21" name="c_aut_hd"/>
          <p:cNvSpPr/>
          <p:nvPr/>
        </p:nvSpPr>
        <p:spPr>
          <a:xfrm>
            <a:off x="8249260" y="1426464"/>
            <a:ext cx="3502152" cy="658368"/>
          </a:xfrm>
          <a:prstGeom prst="roundRect">
            <a:avLst>
              <a:gd name="adj" fmla="val 13889"/>
            </a:avLst>
          </a:prstGeom>
          <a:solidFill>
            <a:srgbClr val="237A57"/>
          </a:solidFill>
          <a:ln w="12700">
            <a:solidFill>
              <a:srgbClr val="237A57"/>
            </a:solidFill>
            <a:prstDash val="solid"/>
          </a:ln>
        </p:spPr>
      </p:sp>
      <p:sp>
        <p:nvSpPr>
          <p:cNvPr id="22" name="c_aut_hd2"/>
          <p:cNvSpPr/>
          <p:nvPr/>
        </p:nvSpPr>
        <p:spPr>
          <a:xfrm>
            <a:off x="8249260" y="1847088"/>
            <a:ext cx="3502152" cy="237744"/>
          </a:xfrm>
          <a:prstGeom prst="rect">
            <a:avLst/>
          </a:prstGeom>
          <a:solidFill>
            <a:srgbClr val="237A57"/>
          </a:solidFill>
          <a:ln/>
        </p:spPr>
      </p:sp>
      <p:sp>
        <p:nvSpPr>
          <p:cNvPr id="23" name="c_aut_hdt"/>
          <p:cNvSpPr/>
          <p:nvPr/>
        </p:nvSpPr>
        <p:spPr>
          <a:xfrm>
            <a:off x="8249260" y="1426464"/>
            <a:ext cx="350215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 Authority</a:t>
            </a:r>
            <a:endParaRPr lang="en-US" sz="2000" dirty="0"/>
          </a:p>
        </p:txBody>
      </p:sp>
      <p:sp>
        <p:nvSpPr>
          <p:cNvPr id="24" name="c_aut_bl"/>
          <p:cNvSpPr/>
          <p:nvPr/>
        </p:nvSpPr>
        <p:spPr>
          <a:xfrm>
            <a:off x="8505292" y="2231136"/>
            <a:ext cx="2990088" cy="3136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0000"/>
              </a:lnSpc>
              <a:spcAft>
                <a:spcPts val="1000"/>
              </a:spcAft>
              <a:buSzPct val="100000"/>
              <a:buChar char="●"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Reviews verified complaints and begins the required work.</a:t>
            </a:r>
            <a:endParaRPr lang="en-US" sz="1800" dirty="0"/>
          </a:p>
          <a:p>
            <a:pPr marL="342900" indent="-342900">
              <a:lnSpc>
                <a:spcPct val="100000"/>
              </a:lnSpc>
              <a:spcAft>
                <a:spcPts val="1000"/>
              </a:spcAft>
              <a:buSzPct val="100000"/>
              <a:buChar char="●"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Manages deadlines, budgets, contractors, notes, and evidence.</a:t>
            </a:r>
            <a:endParaRPr lang="en-US" sz="1800" dirty="0"/>
          </a:p>
          <a:p>
            <a:pPr marL="342900" indent="-342900">
              <a:lnSpc>
                <a:spcPct val="100000"/>
              </a:lnSpc>
              <a:spcAft>
                <a:spcPts val="1000"/>
              </a:spcAft>
              <a:buSzPct val="100000"/>
              <a:buChar char="●"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Resolves complaints and responds to resident feedback.</a:t>
            </a:r>
            <a:endParaRPr lang="en-US" sz="1800" dirty="0"/>
          </a:p>
        </p:txBody>
      </p:sp>
      <p:sp>
        <p:nvSpPr>
          <p:cNvPr id="25" name="sys_bg"/>
          <p:cNvSpPr/>
          <p:nvPr/>
        </p:nvSpPr>
        <p:spPr>
          <a:xfrm>
            <a:off x="440284" y="5605272"/>
            <a:ext cx="11311128" cy="731520"/>
          </a:xfrm>
          <a:prstGeom prst="roundRect">
            <a:avLst>
              <a:gd name="adj" fmla="val 12500"/>
            </a:avLst>
          </a:prstGeom>
          <a:solidFill>
            <a:srgbClr val="E9ECF1"/>
          </a:solidFill>
          <a:ln w="12700">
            <a:solidFill>
              <a:srgbClr val="D8DDE4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59740" y="5797296"/>
            <a:ext cx="1874520" cy="347472"/>
          </a:xfrm>
          <a:prstGeom prst="roundRect">
            <a:avLst>
              <a:gd name="adj" fmla="val 50000"/>
            </a:avLst>
          </a:prstGeom>
          <a:solidFill>
            <a:srgbClr val="475467"/>
          </a:solidFill>
          <a:ln w="12700">
            <a:solidFill>
              <a:srgbClr val="47546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9740" y="5797296"/>
            <a:ext cx="1874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8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SUPPORTING LAYER</a:t>
            </a:r>
            <a:endParaRPr lang="en-US" sz="1400" dirty="0"/>
          </a:p>
        </p:txBody>
      </p:sp>
      <p:sp>
        <p:nvSpPr>
          <p:cNvPr id="28" name="sys_tx"/>
          <p:cNvSpPr/>
          <p:nvPr/>
        </p:nvSpPr>
        <p:spPr>
          <a:xfrm>
            <a:off x="2744572" y="5605272"/>
            <a:ext cx="8787384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and AI: categorization, duplicate screening, status tracking, and notifications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11480" y="6510528"/>
            <a:ext cx="4114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Nogor Shomadhan  ·  User Manual</a:t>
            </a:r>
            <a:endParaRPr lang="en-US" sz="1100" dirty="0"/>
          </a:p>
        </p:txBody>
      </p:sp>
      <p:sp>
        <p:nvSpPr>
          <p:cNvPr id="30" name="Text 28">
            <a:hlinkClick r:id="rId1" tooltip="1. Problem Statement" action="ppaction://hlinksldjump"/>
          </p:cNvPr>
          <p:cNvSpPr/>
          <p:nvPr/>
        </p:nvSpPr>
        <p:spPr>
          <a:xfrm>
            <a:off x="727222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action="ppaction://hlinksldjump" tooltip="1. Problem Stateme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31" name="Text 29">
            <a:hlinkClick r:id="rId2" tooltip="2. Stakeholders and Responsibilities" action="ppaction://hlinksldjump"/>
          </p:cNvPr>
          <p:cNvSpPr/>
          <p:nvPr/>
        </p:nvSpPr>
        <p:spPr>
          <a:xfrm>
            <a:off x="7455103" y="6528816"/>
            <a:ext cx="118872" cy="118872"/>
          </a:xfrm>
          <a:prstGeom prst="ellipse">
            <a:avLst/>
          </a:prstGeom>
          <a:solidFill>
            <a:srgbClr val="475467"/>
          </a:solidFill>
          <a:ln>
            <a:solidFill>
              <a:srgbClr val="4754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action="ppaction://hlinksldjump" tooltip="2. Stakeholders and Responsibiliti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32" name="Text 30">
            <a:hlinkClick r:id="rId3" tooltip="3. Resident Account Registration" action="ppaction://hlinksldjump"/>
          </p:cNvPr>
          <p:cNvSpPr/>
          <p:nvPr/>
        </p:nvSpPr>
        <p:spPr>
          <a:xfrm>
            <a:off x="763798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action="ppaction://hlinksldjump" tooltip="3. Resident Account Registra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33" name="Text 31">
            <a:hlinkClick r:id="rId4" tooltip="4. Registration Request Submitted" action="ppaction://hlinksldjump"/>
          </p:cNvPr>
          <p:cNvSpPr/>
          <p:nvPr/>
        </p:nvSpPr>
        <p:spPr>
          <a:xfrm>
            <a:off x="782086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action="ppaction://hlinksldjump" tooltip="4. Registration Request Submit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34" name="Text 32">
            <a:hlinkClick r:id="rId5" tooltip="5. Admin Receives the Verification Request" action="ppaction://hlinksldjump"/>
          </p:cNvPr>
          <p:cNvSpPr/>
          <p:nvPr/>
        </p:nvSpPr>
        <p:spPr>
          <a:xfrm>
            <a:off x="800374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action="ppaction://hlinksldjump" tooltip="5. Admin Receives the Verification Reques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35" name="Text 33">
            <a:hlinkClick r:id="rId6" tooltip="6. Admin Reviews and Approves the Account" action="ppaction://hlinksldjump"/>
          </p:cNvPr>
          <p:cNvSpPr/>
          <p:nvPr/>
        </p:nvSpPr>
        <p:spPr>
          <a:xfrm>
            <a:off x="818662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 action="ppaction://hlinksldjump" tooltip="6. Admin Reviews and Approves the Accou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36" name="Text 34">
            <a:hlinkClick r:id="rId7" tooltip="7. Account Verification Completed" action="ppaction://hlinksldjump"/>
          </p:cNvPr>
          <p:cNvSpPr/>
          <p:nvPr/>
        </p:nvSpPr>
        <p:spPr>
          <a:xfrm>
            <a:off x="836950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 action="ppaction://hlinksldjump" tooltip="7. Account Verification Comple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37" name="Text 35">
            <a:hlinkClick r:id="rId8" tooltip="8. Create a New Complaint" action="ppaction://hlinksldjump"/>
          </p:cNvPr>
          <p:cNvSpPr/>
          <p:nvPr/>
        </p:nvSpPr>
        <p:spPr>
          <a:xfrm>
            <a:off x="855238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" action="ppaction://hlinksldjump" tooltip="8. Create a New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38" name="Text 36">
            <a:hlinkClick r:id="rId9" tooltip="9. Add Evidence and Review the Category" action="ppaction://hlinksldjump"/>
          </p:cNvPr>
          <p:cNvSpPr/>
          <p:nvPr/>
        </p:nvSpPr>
        <p:spPr>
          <a:xfrm>
            <a:off x="873526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" action="ppaction://hlinksldjump" tooltip="9. Add Evidence and Review the Categor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39" name="Text 37">
            <a:hlinkClick r:id="rId10" tooltip="10. Confirm the Complaint Submission" action="ppaction://hlinksldjump"/>
          </p:cNvPr>
          <p:cNvSpPr/>
          <p:nvPr/>
        </p:nvSpPr>
        <p:spPr>
          <a:xfrm>
            <a:off x="891814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0" action="ppaction://hlinksldjump" tooltip="10. Confirm the Complaint Submiss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0" name="Text 38">
            <a:hlinkClick r:id="rId11" tooltip="11. Admin Opens the Review Queue" action="ppaction://hlinksldjump"/>
          </p:cNvPr>
          <p:cNvSpPr/>
          <p:nvPr/>
        </p:nvSpPr>
        <p:spPr>
          <a:xfrm>
            <a:off x="910102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1" action="ppaction://hlinksldjump" tooltip="11. Admin Opens the Review Queu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1" name="Text 39">
            <a:hlinkClick r:id="rId12" tooltip="12. Complaint Check and Duplicate Comparison" action="ppaction://hlinksldjump"/>
          </p:cNvPr>
          <p:cNvSpPr/>
          <p:nvPr/>
        </p:nvSpPr>
        <p:spPr>
          <a:xfrm>
            <a:off x="928390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2" action="ppaction://hlinksldjump" tooltip="12. Complaint Check and Duplicate Compari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2" name="Text 40">
            <a:hlinkClick r:id="rId13" tooltip="13. Duplicate Review Outcomes" action="ppaction://hlinksldjump"/>
          </p:cNvPr>
          <p:cNvSpPr/>
          <p:nvPr/>
        </p:nvSpPr>
        <p:spPr>
          <a:xfrm>
            <a:off x="946678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3" action="ppaction://hlinksldjump" tooltip="13. Duplicate Review Outcom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3" name="Text 41">
            <a:hlinkClick r:id="rId14" tooltip="14. Pending Complaint Visibility" action="ppaction://hlinksldjump"/>
          </p:cNvPr>
          <p:cNvSpPr/>
          <p:nvPr/>
        </p:nvSpPr>
        <p:spPr>
          <a:xfrm>
            <a:off x="964966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4" action="ppaction://hlinksldjump" tooltip="14. Pending Complaint Visibilit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4" name="Text 42">
            <a:hlinkClick r:id="rId15" tooltip="15. Authority Opens the Complaint" action="ppaction://hlinksldjump"/>
          </p:cNvPr>
          <p:cNvSpPr/>
          <p:nvPr/>
        </p:nvSpPr>
        <p:spPr>
          <a:xfrm>
            <a:off x="983254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5" action="ppaction://hlinksldjump" tooltip="15. Authority Opens the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5" name="Text 43">
            <a:hlinkClick r:id="rId16" tooltip="16. Assign a Contractor and Start Work" action="ppaction://hlinksldjump"/>
          </p:cNvPr>
          <p:cNvSpPr/>
          <p:nvPr/>
        </p:nvSpPr>
        <p:spPr>
          <a:xfrm>
            <a:off x="1001542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6" action="ppaction://hlinksldjump" tooltip="16. Assign a Contractor and Start Work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6" name="Text 44">
            <a:hlinkClick r:id="rId17" tooltip="17. The Complaint Moves to In Progress" action="ppaction://hlinksldjump"/>
          </p:cNvPr>
          <p:cNvSpPr/>
          <p:nvPr/>
        </p:nvSpPr>
        <p:spPr>
          <a:xfrm>
            <a:off x="1019830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7" action="ppaction://hlinksldjump" tooltip="17. The Complaint Moves to In Progres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7" name="Text 45">
            <a:hlinkClick r:id="rId18" tooltip="18. Residents See the Progress Update" action="ppaction://hlinksldjump"/>
          </p:cNvPr>
          <p:cNvSpPr/>
          <p:nvPr/>
        </p:nvSpPr>
        <p:spPr>
          <a:xfrm>
            <a:off x="1038118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8" action="ppaction://hlinksldjump" tooltip="18. Residents See the Progress Updat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8" name="Text 46">
            <a:hlinkClick r:id="rId19" tooltip="19. Resident Starts a Forum Discussion" action="ppaction://hlinksldjump"/>
          </p:cNvPr>
          <p:cNvSpPr/>
          <p:nvPr/>
        </p:nvSpPr>
        <p:spPr>
          <a:xfrm>
            <a:off x="1056406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9" action="ppaction://hlinksldjump" tooltip="19. Resident Starts a Forum Discuss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9" name="Text 47">
            <a:hlinkClick r:id="rId20" tooltip="20. Everyone Is Notified" action="ppaction://hlinksldjump"/>
          </p:cNvPr>
          <p:cNvSpPr/>
          <p:nvPr/>
        </p:nvSpPr>
        <p:spPr>
          <a:xfrm>
            <a:off x="1074694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0" action="ppaction://hlinksldjump" tooltip="20. Everyone Is Notifi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0" name="Text 48">
            <a:hlinkClick r:id="rId21" tooltip="21. Open the Post and Discuss" action="ppaction://hlinksldjump"/>
          </p:cNvPr>
          <p:cNvSpPr/>
          <p:nvPr/>
        </p:nvSpPr>
        <p:spPr>
          <a:xfrm>
            <a:off x="1092982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1" action="ppaction://hlinksldjump" tooltip="21. Open the Post and Discus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1" name="Text 49">
            <a:hlinkClick r:id="rId22" tooltip="22. Authority Updates the Work" action="ppaction://hlinksldjump"/>
          </p:cNvPr>
          <p:cNvSpPr/>
          <p:nvPr/>
        </p:nvSpPr>
        <p:spPr>
          <a:xfrm>
            <a:off x="1111270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2" action="ppaction://hlinksldjump" tooltip="22. Authority Updates the Work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2" name="Text 50">
            <a:hlinkClick r:id="rId23" tooltip="23. Authority Resolves the Complaint" action="ppaction://hlinksldjump"/>
          </p:cNvPr>
          <p:cNvSpPr/>
          <p:nvPr/>
        </p:nvSpPr>
        <p:spPr>
          <a:xfrm>
            <a:off x="1129558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3" action="ppaction://hlinksldjump" tooltip="23. Authority Resolves the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3" name="Text 51">
            <a:hlinkClick r:id="rId24" tooltip="24. Residents Give Feedback" action="ppaction://hlinksldjump"/>
          </p:cNvPr>
          <p:cNvSpPr/>
          <p:nvPr/>
        </p:nvSpPr>
        <p:spPr>
          <a:xfrm>
            <a:off x="1147846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4" action="ppaction://hlinksldjump" tooltip="24. Residents Give Feedback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4" name="Text 52">
            <a:hlinkClick r:id="rId25" tooltip="25. Feedback Is Public and Answered" action="ppaction://hlinksldjump"/>
          </p:cNvPr>
          <p:cNvSpPr/>
          <p:nvPr/>
        </p:nvSpPr>
        <p:spPr>
          <a:xfrm>
            <a:off x="1166134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5" action="ppaction://hlinksldjump" tooltip="25. Feedback Is Public and Answer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5" name="Text 53"/>
          <p:cNvSpPr/>
          <p:nvPr/>
        </p:nvSpPr>
        <p:spPr>
          <a:xfrm>
            <a:off x="6449263" y="6510528"/>
            <a:ext cx="7132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25</a:t>
            </a:r>
            <a:endParaRPr lang="en-US" sz="11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2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2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2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2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2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AF4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2563A6"/>
          </a:solidFill>
          <a:ln/>
        </p:spPr>
      </p:sp>
      <p:sp>
        <p:nvSpPr>
          <p:cNvPr id="3" name="Shape 1"/>
          <p:cNvSpPr/>
          <p:nvPr/>
        </p:nvSpPr>
        <p:spPr>
          <a:xfrm>
            <a:off x="411480" y="329184"/>
            <a:ext cx="621792" cy="621792"/>
          </a:xfrm>
          <a:prstGeom prst="roundRect">
            <a:avLst>
              <a:gd name="adj" fmla="val 23529"/>
            </a:avLst>
          </a:prstGeom>
          <a:solidFill>
            <a:srgbClr val="2563A6"/>
          </a:solidFill>
          <a:ln w="12700">
            <a:solidFill>
              <a:srgbClr val="2563A6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411480" y="329184"/>
            <a:ext cx="62179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1188720" y="329184"/>
            <a:ext cx="768096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256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 ·  ACCOUNT REGISTRATION AND VERIFICATION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52144" y="548640"/>
            <a:ext cx="8321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 Account Registration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10679278" y="475488"/>
            <a:ext cx="1100938" cy="420624"/>
          </a:xfrm>
          <a:prstGeom prst="roundRect">
            <a:avLst>
              <a:gd name="adj" fmla="val 50000"/>
            </a:avLst>
          </a:prstGeom>
          <a:solidFill>
            <a:srgbClr val="2563A6"/>
          </a:solidFill>
          <a:ln w="12700">
            <a:solidFill>
              <a:srgbClr val="2563A6"/>
            </a:solidFill>
            <a:prstDash val="solid"/>
          </a:ln>
          <a:effectLst>
            <a:outerShdw sx="100000" sy="100000" kx="0" ky="0" algn="bl" rotWithShape="0" blurRad="76200" dist="12700" dir="5400000">
              <a:srgbClr val="0B2239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0679278" y="475488"/>
            <a:ext cx="110093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11480" y="1216152"/>
            <a:ext cx="11368735" cy="18288"/>
          </a:xfrm>
          <a:prstGeom prst="rect">
            <a:avLst/>
          </a:prstGeom>
          <a:solidFill>
            <a:srgbClr val="CFE3F4"/>
          </a:solidFill>
          <a:ln/>
        </p:spPr>
      </p:sp>
      <p:sp>
        <p:nvSpPr>
          <p:cNvPr id="10" name="Shape 8"/>
          <p:cNvSpPr/>
          <p:nvPr/>
        </p:nvSpPr>
        <p:spPr>
          <a:xfrm>
            <a:off x="411480" y="1417320"/>
            <a:ext cx="3584448" cy="4636008"/>
          </a:xfrm>
          <a:prstGeom prst="roundRect">
            <a:avLst>
              <a:gd name="adj" fmla="val 2551"/>
            </a:avLst>
          </a:prstGeom>
          <a:solidFill>
            <a:srgbClr val="FFFFFF"/>
          </a:solidFill>
          <a:ln w="12700">
            <a:solidFill>
              <a:srgbClr val="CFE3F4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11" name="p3_1_c"/>
          <p:cNvSpPr/>
          <p:nvPr/>
        </p:nvSpPr>
        <p:spPr>
          <a:xfrm>
            <a:off x="685800" y="1801368"/>
            <a:ext cx="347472" cy="347472"/>
          </a:xfrm>
          <a:prstGeom prst="ellipse">
            <a:avLst/>
          </a:prstGeom>
          <a:solidFill>
            <a:srgbClr val="2563A6"/>
          </a:solidFill>
          <a:ln>
            <a:solidFill>
              <a:srgbClr val="2563A6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2" name="p3_1_t"/>
          <p:cNvSpPr/>
          <p:nvPr/>
        </p:nvSpPr>
        <p:spPr>
          <a:xfrm>
            <a:off x="1234440" y="1783080"/>
            <a:ext cx="2487168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Register from the public home page.</a:t>
            </a:r>
            <a:endParaRPr lang="en-US" sz="1800" dirty="0"/>
          </a:p>
        </p:txBody>
      </p:sp>
      <p:sp>
        <p:nvSpPr>
          <p:cNvPr id="13" name="p3_2_c"/>
          <p:cNvSpPr/>
          <p:nvPr/>
        </p:nvSpPr>
        <p:spPr>
          <a:xfrm>
            <a:off x="685800" y="2791968"/>
            <a:ext cx="347472" cy="347472"/>
          </a:xfrm>
          <a:prstGeom prst="ellipse">
            <a:avLst/>
          </a:prstGeom>
          <a:solidFill>
            <a:srgbClr val="2563A6"/>
          </a:solidFill>
          <a:ln>
            <a:solidFill>
              <a:srgbClr val="2563A6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p3_2_t"/>
          <p:cNvSpPr/>
          <p:nvPr/>
        </p:nvSpPr>
        <p:spPr>
          <a:xfrm>
            <a:off x="1234440" y="2773680"/>
            <a:ext cx="2487168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 identity and contact information.</a:t>
            </a:r>
            <a:endParaRPr lang="en-US" sz="1800" dirty="0"/>
          </a:p>
        </p:txBody>
      </p:sp>
      <p:sp>
        <p:nvSpPr>
          <p:cNvPr id="15" name="p3_3_c"/>
          <p:cNvSpPr/>
          <p:nvPr/>
        </p:nvSpPr>
        <p:spPr>
          <a:xfrm>
            <a:off x="685800" y="3782568"/>
            <a:ext cx="347472" cy="347472"/>
          </a:xfrm>
          <a:prstGeom prst="ellipse">
            <a:avLst/>
          </a:prstGeom>
          <a:solidFill>
            <a:srgbClr val="2563A6"/>
          </a:solidFill>
          <a:ln>
            <a:solidFill>
              <a:srgbClr val="2563A6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p3_3_t"/>
          <p:cNvSpPr/>
          <p:nvPr/>
        </p:nvSpPr>
        <p:spPr>
          <a:xfrm>
            <a:off x="1234440" y="3764280"/>
            <a:ext cx="2487168" cy="9052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the residential address and secure login credentials.</a:t>
            </a:r>
            <a:endParaRPr lang="en-US" sz="1800" dirty="0"/>
          </a:p>
        </p:txBody>
      </p:sp>
      <p:sp>
        <p:nvSpPr>
          <p:cNvPr id="17" name="p3_4_c"/>
          <p:cNvSpPr/>
          <p:nvPr/>
        </p:nvSpPr>
        <p:spPr>
          <a:xfrm>
            <a:off x="685800" y="5056632"/>
            <a:ext cx="347472" cy="347472"/>
          </a:xfrm>
          <a:prstGeom prst="ellipse">
            <a:avLst/>
          </a:prstGeom>
          <a:solidFill>
            <a:srgbClr val="2563A6"/>
          </a:solidFill>
          <a:ln>
            <a:solidFill>
              <a:srgbClr val="2563A6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p3_4_t"/>
          <p:cNvSpPr/>
          <p:nvPr/>
        </p:nvSpPr>
        <p:spPr>
          <a:xfrm>
            <a:off x="1234440" y="5038344"/>
            <a:ext cx="2487168" cy="9052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the information before registration.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685800" y="6144768"/>
            <a:ext cx="321868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details masked for this presentation.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163800" y="2327148"/>
            <a:ext cx="1935058" cy="3712464"/>
          </a:xfrm>
          <a:prstGeom prst="roundRect">
            <a:avLst>
              <a:gd name="adj" fmla="val 3780"/>
            </a:avLst>
          </a:prstGeom>
          <a:solidFill>
            <a:srgbClr val="FFFFFF"/>
          </a:solidFill>
          <a:ln w="12700">
            <a:solidFill>
              <a:srgbClr val="CFE3F4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21" name="Image 0" descr="C:/NogorShomadhan/User Manual/Phase 1/registration/01-public-home-registration-entry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14092" y="2377440"/>
            <a:ext cx="1834474" cy="3611880"/>
          </a:xfrm>
          <a:prstGeom prst="rect">
            <a:avLst/>
          </a:prstGeom>
        </p:spPr>
      </p:pic>
      <p:sp>
        <p:nvSpPr>
          <p:cNvPr id="22" name="Text 19"/>
          <p:cNvSpPr/>
          <p:nvPr/>
        </p:nvSpPr>
        <p:spPr>
          <a:xfrm>
            <a:off x="3894052" y="6099048"/>
            <a:ext cx="247455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home page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6236018" y="1641348"/>
            <a:ext cx="3246916" cy="4398264"/>
          </a:xfrm>
          <a:prstGeom prst="roundRect">
            <a:avLst>
              <a:gd name="adj" fmla="val 2253"/>
            </a:avLst>
          </a:prstGeom>
          <a:solidFill>
            <a:srgbClr val="FFFFFF"/>
          </a:solidFill>
          <a:ln w="12700">
            <a:solidFill>
              <a:srgbClr val="CFE3F4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24" name="Image 1" descr="C:/NogorShomadhan/User Manual/Phase 1/registration/02-resident-registration-personal-information.jpe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6310" y="1691640"/>
            <a:ext cx="3146332" cy="4297680"/>
          </a:xfrm>
          <a:prstGeom prst="rect">
            <a:avLst/>
          </a:prstGeom>
        </p:spPr>
      </p:pic>
      <p:sp>
        <p:nvSpPr>
          <p:cNvPr id="25" name="Text 21"/>
          <p:cNvSpPr/>
          <p:nvPr/>
        </p:nvSpPr>
        <p:spPr>
          <a:xfrm>
            <a:off x="5966270" y="6099048"/>
            <a:ext cx="37864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information</a:t>
            </a:r>
            <a:endParaRPr lang="en-US" sz="1600" dirty="0"/>
          </a:p>
        </p:txBody>
      </p:sp>
      <p:sp>
        <p:nvSpPr>
          <p:cNvPr id="26" name="Shape 22"/>
          <p:cNvSpPr/>
          <p:nvPr/>
        </p:nvSpPr>
        <p:spPr>
          <a:xfrm>
            <a:off x="9620094" y="1641348"/>
            <a:ext cx="2303145" cy="4398264"/>
          </a:xfrm>
          <a:prstGeom prst="roundRect">
            <a:avLst>
              <a:gd name="adj" fmla="val 3176"/>
            </a:avLst>
          </a:prstGeom>
          <a:solidFill>
            <a:srgbClr val="FFFFFF"/>
          </a:solidFill>
          <a:ln w="12700">
            <a:solidFill>
              <a:srgbClr val="CFE3F4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27" name="Image 2" descr="C:/NogorShomadhan/User Manual/Phase 1/registration/03-resident-registration-address-and-security.jpe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386" y="1691640"/>
            <a:ext cx="2202561" cy="4297680"/>
          </a:xfrm>
          <a:prstGeom prst="rect">
            <a:avLst/>
          </a:prstGeom>
        </p:spPr>
      </p:pic>
      <p:sp>
        <p:nvSpPr>
          <p:cNvPr id="28" name="Text 23"/>
          <p:cNvSpPr/>
          <p:nvPr/>
        </p:nvSpPr>
        <p:spPr>
          <a:xfrm>
            <a:off x="9350346" y="6099048"/>
            <a:ext cx="2842641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Address and credentials</a:t>
            </a:r>
            <a:endParaRPr lang="en-US" sz="1600" dirty="0"/>
          </a:p>
        </p:txBody>
      </p:sp>
      <p:sp>
        <p:nvSpPr>
          <p:cNvPr id="29" name="Shape 24"/>
          <p:cNvSpPr/>
          <p:nvPr/>
        </p:nvSpPr>
        <p:spPr>
          <a:xfrm>
            <a:off x="6890406" y="4321820"/>
            <a:ext cx="582071" cy="184800"/>
          </a:xfrm>
          <a:prstGeom prst="roundRect">
            <a:avLst>
              <a:gd name="adj" fmla="val 24740"/>
            </a:avLst>
          </a:prstGeom>
          <a:solidFill>
            <a:srgbClr val="A9B4C2"/>
          </a:solidFill>
          <a:ln w="12700">
            <a:solidFill>
              <a:srgbClr val="A9B4C2"/>
            </a:solidFill>
            <a:prstDash val="solid"/>
          </a:ln>
        </p:spPr>
      </p:sp>
      <p:sp>
        <p:nvSpPr>
          <p:cNvPr id="30" name="Shape 25"/>
          <p:cNvSpPr/>
          <p:nvPr/>
        </p:nvSpPr>
        <p:spPr>
          <a:xfrm>
            <a:off x="6890406" y="4966472"/>
            <a:ext cx="1116948" cy="184800"/>
          </a:xfrm>
          <a:prstGeom prst="roundRect">
            <a:avLst>
              <a:gd name="adj" fmla="val 24740"/>
            </a:avLst>
          </a:prstGeom>
          <a:solidFill>
            <a:srgbClr val="A9B4C2"/>
          </a:solidFill>
          <a:ln w="12700">
            <a:solidFill>
              <a:srgbClr val="A9B4C2"/>
            </a:solidFill>
            <a:prstDash val="solid"/>
          </a:ln>
        </p:spPr>
      </p:sp>
      <p:sp>
        <p:nvSpPr>
          <p:cNvPr id="31" name="Shape 26"/>
          <p:cNvSpPr/>
          <p:nvPr/>
        </p:nvSpPr>
        <p:spPr>
          <a:xfrm>
            <a:off x="6931308" y="5611124"/>
            <a:ext cx="456218" cy="184800"/>
          </a:xfrm>
          <a:prstGeom prst="roundRect">
            <a:avLst>
              <a:gd name="adj" fmla="val 24740"/>
            </a:avLst>
          </a:prstGeom>
          <a:solidFill>
            <a:srgbClr val="A9B4C2"/>
          </a:solidFill>
          <a:ln w="12700">
            <a:solidFill>
              <a:srgbClr val="A9B4C2"/>
            </a:solidFill>
            <a:prstDash val="solid"/>
          </a:ln>
        </p:spPr>
      </p:sp>
      <p:sp>
        <p:nvSpPr>
          <p:cNvPr id="32" name="Shape 27"/>
          <p:cNvSpPr/>
          <p:nvPr/>
        </p:nvSpPr>
        <p:spPr>
          <a:xfrm>
            <a:off x="9952314" y="2357780"/>
            <a:ext cx="176205" cy="116037"/>
          </a:xfrm>
          <a:prstGeom prst="roundRect">
            <a:avLst>
              <a:gd name="adj" fmla="val 39401"/>
            </a:avLst>
          </a:prstGeom>
          <a:solidFill>
            <a:srgbClr val="A9B4C2"/>
          </a:solidFill>
          <a:ln w="12700">
            <a:solidFill>
              <a:srgbClr val="A9B4C2"/>
            </a:solidFill>
            <a:prstDash val="solid"/>
          </a:ln>
        </p:spPr>
      </p:sp>
      <p:sp>
        <p:nvSpPr>
          <p:cNvPr id="33" name="h3_1"/>
          <p:cNvSpPr/>
          <p:nvPr/>
        </p:nvSpPr>
        <p:spPr>
          <a:xfrm>
            <a:off x="5389990" y="2381052"/>
            <a:ext cx="388908" cy="180594"/>
          </a:xfrm>
          <a:prstGeom prst="roundRect">
            <a:avLst>
              <a:gd name="adj" fmla="val 30380"/>
            </a:avLst>
          </a:prstGeom>
          <a:ln w="28575">
            <a:solidFill>
              <a:srgbClr val="2563A6"/>
            </a:solidFill>
            <a:prstDash val="solid"/>
          </a:ln>
        </p:spPr>
      </p:sp>
      <p:sp>
        <p:nvSpPr>
          <p:cNvPr id="34" name="h3_4"/>
          <p:cNvSpPr/>
          <p:nvPr/>
        </p:nvSpPr>
        <p:spPr>
          <a:xfrm>
            <a:off x="9868616" y="5293096"/>
            <a:ext cx="1810505" cy="249265"/>
          </a:xfrm>
          <a:prstGeom prst="roundRect">
            <a:avLst>
              <a:gd name="adj" fmla="val 22010"/>
            </a:avLst>
          </a:prstGeom>
          <a:ln w="28575">
            <a:solidFill>
              <a:srgbClr val="2563A6"/>
            </a:solidFill>
            <a:prstDash val="solid"/>
          </a:ln>
        </p:spPr>
      </p:sp>
      <p:sp>
        <p:nvSpPr>
          <p:cNvPr id="35" name="b3_1"/>
          <p:cNvSpPr/>
          <p:nvPr/>
        </p:nvSpPr>
        <p:spPr>
          <a:xfrm>
            <a:off x="4159626" y="2310140"/>
            <a:ext cx="365760" cy="365760"/>
          </a:xfrm>
          <a:prstGeom prst="ellipse">
            <a:avLst/>
          </a:prstGeom>
          <a:solidFill>
            <a:srgbClr val="2563A6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36" name="b3_1_t"/>
          <p:cNvSpPr/>
          <p:nvPr/>
        </p:nvSpPr>
        <p:spPr>
          <a:xfrm>
            <a:off x="4159626" y="23101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37" name="b3_2"/>
          <p:cNvSpPr/>
          <p:nvPr/>
        </p:nvSpPr>
        <p:spPr>
          <a:xfrm>
            <a:off x="6245015" y="1637690"/>
            <a:ext cx="365760" cy="365760"/>
          </a:xfrm>
          <a:prstGeom prst="ellipse">
            <a:avLst/>
          </a:prstGeom>
          <a:solidFill>
            <a:srgbClr val="2563A6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38" name="b3_2_t"/>
          <p:cNvSpPr/>
          <p:nvPr/>
        </p:nvSpPr>
        <p:spPr>
          <a:xfrm>
            <a:off x="6245015" y="163769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39" name="b3_3"/>
          <p:cNvSpPr/>
          <p:nvPr/>
        </p:nvSpPr>
        <p:spPr>
          <a:xfrm>
            <a:off x="9619659" y="1646286"/>
            <a:ext cx="365760" cy="365760"/>
          </a:xfrm>
          <a:prstGeom prst="ellipse">
            <a:avLst/>
          </a:prstGeom>
          <a:solidFill>
            <a:srgbClr val="2563A6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40" name="b3_3_t"/>
          <p:cNvSpPr/>
          <p:nvPr/>
        </p:nvSpPr>
        <p:spPr>
          <a:xfrm>
            <a:off x="9619659" y="1646286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41" name="b3_4"/>
          <p:cNvSpPr/>
          <p:nvPr/>
        </p:nvSpPr>
        <p:spPr>
          <a:xfrm>
            <a:off x="9597634" y="5234849"/>
            <a:ext cx="365760" cy="365760"/>
          </a:xfrm>
          <a:prstGeom prst="ellipse">
            <a:avLst/>
          </a:prstGeom>
          <a:solidFill>
            <a:srgbClr val="2563A6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42" name="b3_4_t"/>
          <p:cNvSpPr/>
          <p:nvPr/>
        </p:nvSpPr>
        <p:spPr>
          <a:xfrm>
            <a:off x="9597634" y="5234849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43" name="Text 38"/>
          <p:cNvSpPr/>
          <p:nvPr/>
        </p:nvSpPr>
        <p:spPr>
          <a:xfrm>
            <a:off x="411480" y="6510528"/>
            <a:ext cx="4114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Nogor Shomadhan  ·  User Manual</a:t>
            </a:r>
            <a:endParaRPr lang="en-US" sz="1100" dirty="0"/>
          </a:p>
        </p:txBody>
      </p:sp>
      <p:sp>
        <p:nvSpPr>
          <p:cNvPr id="44" name="Text 39">
            <a:hlinkClick r:id="rId4" tooltip="1. Problem Statement" action="ppaction://hlinksldjump"/>
          </p:cNvPr>
          <p:cNvSpPr/>
          <p:nvPr/>
        </p:nvSpPr>
        <p:spPr>
          <a:xfrm>
            <a:off x="727222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action="ppaction://hlinksldjump" tooltip="1. Problem Stateme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5" name="Text 40">
            <a:hlinkClick r:id="rId5" tooltip="2. Stakeholders and Responsibilities" action="ppaction://hlinksldjump"/>
          </p:cNvPr>
          <p:cNvSpPr/>
          <p:nvPr/>
        </p:nvSpPr>
        <p:spPr>
          <a:xfrm>
            <a:off x="745510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action="ppaction://hlinksldjump" tooltip="2. Stakeholders and Responsibiliti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6" name="Text 41">
            <a:hlinkClick r:id="rId6" tooltip="3. Resident Account Registration" action="ppaction://hlinksldjump"/>
          </p:cNvPr>
          <p:cNvSpPr/>
          <p:nvPr/>
        </p:nvSpPr>
        <p:spPr>
          <a:xfrm>
            <a:off x="7637983" y="6528816"/>
            <a:ext cx="118872" cy="118872"/>
          </a:xfrm>
          <a:prstGeom prst="ellipse">
            <a:avLst/>
          </a:prstGeom>
          <a:solidFill>
            <a:srgbClr val="2563A6"/>
          </a:solidFill>
          <a:ln>
            <a:solidFill>
              <a:srgbClr val="2563A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 action="ppaction://hlinksldjump" tooltip="3. Resident Account Registra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7" name="Text 42">
            <a:hlinkClick r:id="rId7" tooltip="4. Registration Request Submitted" action="ppaction://hlinksldjump"/>
          </p:cNvPr>
          <p:cNvSpPr/>
          <p:nvPr/>
        </p:nvSpPr>
        <p:spPr>
          <a:xfrm>
            <a:off x="782086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 action="ppaction://hlinksldjump" tooltip="4. Registration Request Submit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8" name="Text 43">
            <a:hlinkClick r:id="rId8" tooltip="5. Admin Receives the Verification Request" action="ppaction://hlinksldjump"/>
          </p:cNvPr>
          <p:cNvSpPr/>
          <p:nvPr/>
        </p:nvSpPr>
        <p:spPr>
          <a:xfrm>
            <a:off x="800374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" action="ppaction://hlinksldjump" tooltip="5. Admin Receives the Verification Reques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9" name="Text 44">
            <a:hlinkClick r:id="rId9" tooltip="6. Admin Reviews and Approves the Account" action="ppaction://hlinksldjump"/>
          </p:cNvPr>
          <p:cNvSpPr/>
          <p:nvPr/>
        </p:nvSpPr>
        <p:spPr>
          <a:xfrm>
            <a:off x="818662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" action="ppaction://hlinksldjump" tooltip="6. Admin Reviews and Approves the Accou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0" name="Text 45">
            <a:hlinkClick r:id="rId10" tooltip="7. Account Verification Completed" action="ppaction://hlinksldjump"/>
          </p:cNvPr>
          <p:cNvSpPr/>
          <p:nvPr/>
        </p:nvSpPr>
        <p:spPr>
          <a:xfrm>
            <a:off x="836950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0" action="ppaction://hlinksldjump" tooltip="7. Account Verification Comple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1" name="Text 46">
            <a:hlinkClick r:id="rId11" tooltip="8. Create a New Complaint" action="ppaction://hlinksldjump"/>
          </p:cNvPr>
          <p:cNvSpPr/>
          <p:nvPr/>
        </p:nvSpPr>
        <p:spPr>
          <a:xfrm>
            <a:off x="855238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1" action="ppaction://hlinksldjump" tooltip="8. Create a New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2" name="Text 47">
            <a:hlinkClick r:id="rId12" tooltip="9. Add Evidence and Review the Category" action="ppaction://hlinksldjump"/>
          </p:cNvPr>
          <p:cNvSpPr/>
          <p:nvPr/>
        </p:nvSpPr>
        <p:spPr>
          <a:xfrm>
            <a:off x="873526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2" action="ppaction://hlinksldjump" tooltip="9. Add Evidence and Review the Categor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3" name="Text 48">
            <a:hlinkClick r:id="rId13" tooltip="10. Confirm the Complaint Submission" action="ppaction://hlinksldjump"/>
          </p:cNvPr>
          <p:cNvSpPr/>
          <p:nvPr/>
        </p:nvSpPr>
        <p:spPr>
          <a:xfrm>
            <a:off x="891814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3" action="ppaction://hlinksldjump" tooltip="10. Confirm the Complaint Submiss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4" name="Text 49">
            <a:hlinkClick r:id="rId14" tooltip="11. Admin Opens the Review Queue" action="ppaction://hlinksldjump"/>
          </p:cNvPr>
          <p:cNvSpPr/>
          <p:nvPr/>
        </p:nvSpPr>
        <p:spPr>
          <a:xfrm>
            <a:off x="910102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4" action="ppaction://hlinksldjump" tooltip="11. Admin Opens the Review Queu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5" name="Text 50">
            <a:hlinkClick r:id="rId15" tooltip="12. Complaint Check and Duplicate Comparison" action="ppaction://hlinksldjump"/>
          </p:cNvPr>
          <p:cNvSpPr/>
          <p:nvPr/>
        </p:nvSpPr>
        <p:spPr>
          <a:xfrm>
            <a:off x="928390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5" action="ppaction://hlinksldjump" tooltip="12. Complaint Check and Duplicate Compari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6" name="Text 51">
            <a:hlinkClick r:id="rId16" tooltip="13. Duplicate Review Outcomes" action="ppaction://hlinksldjump"/>
          </p:cNvPr>
          <p:cNvSpPr/>
          <p:nvPr/>
        </p:nvSpPr>
        <p:spPr>
          <a:xfrm>
            <a:off x="946678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6" action="ppaction://hlinksldjump" tooltip="13. Duplicate Review Outcom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7" name="Text 52">
            <a:hlinkClick r:id="rId17" tooltip="14. Pending Complaint Visibility" action="ppaction://hlinksldjump"/>
          </p:cNvPr>
          <p:cNvSpPr/>
          <p:nvPr/>
        </p:nvSpPr>
        <p:spPr>
          <a:xfrm>
            <a:off x="964966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7" action="ppaction://hlinksldjump" tooltip="14. Pending Complaint Visibilit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8" name="Text 53">
            <a:hlinkClick r:id="rId18" tooltip="15. Authority Opens the Complaint" action="ppaction://hlinksldjump"/>
          </p:cNvPr>
          <p:cNvSpPr/>
          <p:nvPr/>
        </p:nvSpPr>
        <p:spPr>
          <a:xfrm>
            <a:off x="983254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8" action="ppaction://hlinksldjump" tooltip="15. Authority Opens the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9" name="Text 54">
            <a:hlinkClick r:id="rId19" tooltip="16. Assign a Contractor and Start Work" action="ppaction://hlinksldjump"/>
          </p:cNvPr>
          <p:cNvSpPr/>
          <p:nvPr/>
        </p:nvSpPr>
        <p:spPr>
          <a:xfrm>
            <a:off x="1001542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9" action="ppaction://hlinksldjump" tooltip="16. Assign a Contractor and Start Work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0" name="Text 55">
            <a:hlinkClick r:id="rId20" tooltip="17. The Complaint Moves to In Progress" action="ppaction://hlinksldjump"/>
          </p:cNvPr>
          <p:cNvSpPr/>
          <p:nvPr/>
        </p:nvSpPr>
        <p:spPr>
          <a:xfrm>
            <a:off x="1019830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0" action="ppaction://hlinksldjump" tooltip="17. The Complaint Moves to In Progres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1" name="Text 56">
            <a:hlinkClick r:id="rId21" tooltip="18. Residents See the Progress Update" action="ppaction://hlinksldjump"/>
          </p:cNvPr>
          <p:cNvSpPr/>
          <p:nvPr/>
        </p:nvSpPr>
        <p:spPr>
          <a:xfrm>
            <a:off x="1038118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1" action="ppaction://hlinksldjump" tooltip="18. Residents See the Progress Updat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2" name="Text 57">
            <a:hlinkClick r:id="rId22" tooltip="19. Resident Starts a Forum Discussion" action="ppaction://hlinksldjump"/>
          </p:cNvPr>
          <p:cNvSpPr/>
          <p:nvPr/>
        </p:nvSpPr>
        <p:spPr>
          <a:xfrm>
            <a:off x="1056406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2" action="ppaction://hlinksldjump" tooltip="19. Resident Starts a Forum Discuss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3" name="Text 58">
            <a:hlinkClick r:id="rId23" tooltip="20. Everyone Is Notified" action="ppaction://hlinksldjump"/>
          </p:cNvPr>
          <p:cNvSpPr/>
          <p:nvPr/>
        </p:nvSpPr>
        <p:spPr>
          <a:xfrm>
            <a:off x="1074694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3" action="ppaction://hlinksldjump" tooltip="20. Everyone Is Notifi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4" name="Text 59">
            <a:hlinkClick r:id="rId24" tooltip="21. Open the Post and Discuss" action="ppaction://hlinksldjump"/>
          </p:cNvPr>
          <p:cNvSpPr/>
          <p:nvPr/>
        </p:nvSpPr>
        <p:spPr>
          <a:xfrm>
            <a:off x="1092982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4" action="ppaction://hlinksldjump" tooltip="21. Open the Post and Discus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5" name="Text 60">
            <a:hlinkClick r:id="rId25" tooltip="22. Authority Updates the Work" action="ppaction://hlinksldjump"/>
          </p:cNvPr>
          <p:cNvSpPr/>
          <p:nvPr/>
        </p:nvSpPr>
        <p:spPr>
          <a:xfrm>
            <a:off x="1111270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5" action="ppaction://hlinksldjump" tooltip="22. Authority Updates the Work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6" name="Text 61">
            <a:hlinkClick r:id="rId26" tooltip="23. Authority Resolves the Complaint" action="ppaction://hlinksldjump"/>
          </p:cNvPr>
          <p:cNvSpPr/>
          <p:nvPr/>
        </p:nvSpPr>
        <p:spPr>
          <a:xfrm>
            <a:off x="1129558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6" action="ppaction://hlinksldjump" tooltip="23. Authority Resolves the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7" name="Text 62">
            <a:hlinkClick r:id="rId27" tooltip="24. Residents Give Feedback" action="ppaction://hlinksldjump"/>
          </p:cNvPr>
          <p:cNvSpPr/>
          <p:nvPr/>
        </p:nvSpPr>
        <p:spPr>
          <a:xfrm>
            <a:off x="1147846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7" action="ppaction://hlinksldjump" tooltip="24. Residents Give Feedback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8" name="Text 63">
            <a:hlinkClick r:id="rId28" tooltip="25. Feedback Is Public and Answered" action="ppaction://hlinksldjump"/>
          </p:cNvPr>
          <p:cNvSpPr/>
          <p:nvPr/>
        </p:nvSpPr>
        <p:spPr>
          <a:xfrm>
            <a:off x="1166134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8" action="ppaction://hlinksldjump" tooltip="25. Feedback Is Public and Answer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9" name="Text 64"/>
          <p:cNvSpPr/>
          <p:nvPr/>
        </p:nvSpPr>
        <p:spPr>
          <a:xfrm>
            <a:off x="6449263" y="6510528"/>
            <a:ext cx="7132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25</a:t>
            </a:r>
            <a:endParaRPr lang="en-US" sz="11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2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2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2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2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2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2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2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2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2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2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475467"/>
          </a:solidFill>
          <a:ln/>
        </p:spPr>
      </p:sp>
      <p:sp>
        <p:nvSpPr>
          <p:cNvPr id="3" name="Shape 1"/>
          <p:cNvSpPr/>
          <p:nvPr/>
        </p:nvSpPr>
        <p:spPr>
          <a:xfrm>
            <a:off x="411480" y="329184"/>
            <a:ext cx="621792" cy="621792"/>
          </a:xfrm>
          <a:prstGeom prst="roundRect">
            <a:avLst>
              <a:gd name="adj" fmla="val 23529"/>
            </a:avLst>
          </a:prstGeom>
          <a:solidFill>
            <a:srgbClr val="475467"/>
          </a:solidFill>
          <a:ln w="12700">
            <a:solidFill>
              <a:srgbClr val="475467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411480" y="329184"/>
            <a:ext cx="62179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1188720" y="329184"/>
            <a:ext cx="768096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4754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 ·  ACCOUNT REGISTRATION AND VERIFICATION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52144" y="548640"/>
            <a:ext cx="8321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Registration Request Submitted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10975543" y="475488"/>
            <a:ext cx="804672" cy="420624"/>
          </a:xfrm>
          <a:prstGeom prst="roundRect">
            <a:avLst>
              <a:gd name="adj" fmla="val 50000"/>
            </a:avLst>
          </a:prstGeom>
          <a:solidFill>
            <a:srgbClr val="B86A12"/>
          </a:solidFill>
          <a:ln w="12700">
            <a:solidFill>
              <a:srgbClr val="B86A12"/>
            </a:solidFill>
            <a:prstDash val="solid"/>
          </a:ln>
          <a:effectLst>
            <a:outerShdw sx="100000" sy="100000" kx="0" ky="0" algn="bl" rotWithShape="0" blurRad="76200" dist="12700" dir="5400000">
              <a:srgbClr val="0B2239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0975543" y="475488"/>
            <a:ext cx="80467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9728302" y="475488"/>
            <a:ext cx="1100938" cy="420624"/>
          </a:xfrm>
          <a:prstGeom prst="roundRect">
            <a:avLst>
              <a:gd name="adj" fmla="val 50000"/>
            </a:avLst>
          </a:prstGeom>
          <a:solidFill>
            <a:srgbClr val="2563A6"/>
          </a:solidFill>
          <a:ln w="12700">
            <a:solidFill>
              <a:srgbClr val="2563A6"/>
            </a:solidFill>
            <a:prstDash val="solid"/>
          </a:ln>
          <a:effectLst>
            <a:outerShdw sx="100000" sy="100000" kx="0" ky="0" algn="bl" rotWithShape="0" blurRad="76200" dist="12700" dir="5400000">
              <a:srgbClr val="0B2239">
                <a:alpha val="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9728302" y="475488"/>
            <a:ext cx="110093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11480" y="1216152"/>
            <a:ext cx="11368735" cy="18288"/>
          </a:xfrm>
          <a:prstGeom prst="rect">
            <a:avLst/>
          </a:prstGeom>
          <a:solidFill>
            <a:srgbClr val="DDE1E7"/>
          </a:solidFill>
          <a:ln/>
        </p:spPr>
      </p:sp>
      <p:sp>
        <p:nvSpPr>
          <p:cNvPr id="12" name="Shape 10"/>
          <p:cNvSpPr/>
          <p:nvPr/>
        </p:nvSpPr>
        <p:spPr>
          <a:xfrm>
            <a:off x="411480" y="1417320"/>
            <a:ext cx="3383280" cy="4636008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 w="12700">
            <a:solidFill>
              <a:srgbClr val="DDE1E7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13" name="p4_1_c"/>
          <p:cNvSpPr/>
          <p:nvPr/>
        </p:nvSpPr>
        <p:spPr>
          <a:xfrm>
            <a:off x="667512" y="1773936"/>
            <a:ext cx="347472" cy="347472"/>
          </a:xfrm>
          <a:prstGeom prst="ellipse">
            <a:avLst/>
          </a:prstGeom>
          <a:solidFill>
            <a:srgbClr val="2563A6"/>
          </a:solidFill>
          <a:ln>
            <a:solidFill>
              <a:srgbClr val="2563A6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4" name="p4_1_t"/>
          <p:cNvSpPr/>
          <p:nvPr/>
        </p:nvSpPr>
        <p:spPr>
          <a:xfrm>
            <a:off x="1216152" y="1755648"/>
            <a:ext cx="2322576" cy="87345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resident submits the completed registration form.</a:t>
            </a:r>
            <a:endParaRPr lang="en-US" sz="1800" dirty="0"/>
          </a:p>
        </p:txBody>
      </p:sp>
      <p:sp>
        <p:nvSpPr>
          <p:cNvPr id="15" name="p4_2_c"/>
          <p:cNvSpPr/>
          <p:nvPr/>
        </p:nvSpPr>
        <p:spPr>
          <a:xfrm>
            <a:off x="667512" y="2757119"/>
            <a:ext cx="347472" cy="347472"/>
          </a:xfrm>
          <a:prstGeom prst="ellipse">
            <a:avLst/>
          </a:prstGeom>
          <a:solidFill>
            <a:srgbClr val="2563A6"/>
          </a:solidFill>
          <a:ln>
            <a:solidFill>
              <a:srgbClr val="2563A6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6" name="p4_2_t"/>
          <p:cNvSpPr/>
          <p:nvPr/>
        </p:nvSpPr>
        <p:spPr>
          <a:xfrm>
            <a:off x="1216152" y="2738831"/>
            <a:ext cx="2322576" cy="114696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 creates the account with an unverified status.</a:t>
            </a:r>
            <a:endParaRPr lang="en-US" sz="1800" dirty="0"/>
          </a:p>
        </p:txBody>
      </p:sp>
      <p:sp>
        <p:nvSpPr>
          <p:cNvPr id="17" name="p4_3_c"/>
          <p:cNvSpPr/>
          <p:nvPr/>
        </p:nvSpPr>
        <p:spPr>
          <a:xfrm>
            <a:off x="667512" y="4013809"/>
            <a:ext cx="347472" cy="347472"/>
          </a:xfrm>
          <a:prstGeom prst="ellipse">
            <a:avLst/>
          </a:prstGeom>
          <a:solidFill>
            <a:srgbClr val="2563A6"/>
          </a:solidFill>
          <a:ln>
            <a:solidFill>
              <a:srgbClr val="2563A6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p4_3_t"/>
          <p:cNvSpPr/>
          <p:nvPr/>
        </p:nvSpPr>
        <p:spPr>
          <a:xfrm>
            <a:off x="1216152" y="3995521"/>
            <a:ext cx="2322576" cy="87345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resident sees an awaiting-verification confirmation.</a:t>
            </a:r>
            <a:endParaRPr lang="en-US" sz="1800" dirty="0"/>
          </a:p>
        </p:txBody>
      </p:sp>
      <p:sp>
        <p:nvSpPr>
          <p:cNvPr id="19" name="p4_4_c"/>
          <p:cNvSpPr/>
          <p:nvPr/>
        </p:nvSpPr>
        <p:spPr>
          <a:xfrm>
            <a:off x="667512" y="4996993"/>
            <a:ext cx="347472" cy="347472"/>
          </a:xfrm>
          <a:prstGeom prst="ellipse">
            <a:avLst/>
          </a:prstGeom>
          <a:solidFill>
            <a:srgbClr val="B86A12"/>
          </a:solidFill>
          <a:ln>
            <a:solidFill>
              <a:srgbClr val="B86A12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0" name="p4_4_t"/>
          <p:cNvSpPr/>
          <p:nvPr/>
        </p:nvSpPr>
        <p:spPr>
          <a:xfrm>
            <a:off x="1216152" y="4978705"/>
            <a:ext cx="2322576" cy="87345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admin dashboard displays a new pending account.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4114800" y="1417320"/>
            <a:ext cx="3383280" cy="4636008"/>
          </a:xfrm>
          <a:prstGeom prst="roundRect">
            <a:avLst>
              <a:gd name="adj" fmla="val 3243"/>
            </a:avLst>
          </a:prstGeom>
          <a:solidFill>
            <a:srgbClr val="F2F8FD"/>
          </a:solidFill>
          <a:ln w="12700">
            <a:solidFill>
              <a:srgbClr val="CFE3F4"/>
            </a:solidFill>
            <a:prstDash val="solid"/>
          </a:ln>
          <a:effectLst>
            <a:outerShdw sx="100000" sy="100000" kx="0" ky="0" algn="bl" rotWithShape="0" blurRad="76200" dist="12700" dir="5400000">
              <a:srgbClr val="0B2239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334256" y="1536192"/>
            <a:ext cx="1320394" cy="347472"/>
          </a:xfrm>
          <a:prstGeom prst="roundRect">
            <a:avLst>
              <a:gd name="adj" fmla="val 50000"/>
            </a:avLst>
          </a:prstGeom>
          <a:solidFill>
            <a:srgbClr val="2563A6"/>
          </a:solidFill>
          <a:ln w="12700">
            <a:solidFill>
              <a:srgbClr val="2563A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334256" y="1536192"/>
            <a:ext cx="132039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8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8396935" y="1417320"/>
            <a:ext cx="3383280" cy="4636008"/>
          </a:xfrm>
          <a:prstGeom prst="roundRect">
            <a:avLst>
              <a:gd name="adj" fmla="val 3243"/>
            </a:avLst>
          </a:prstGeom>
          <a:solidFill>
            <a:srgbClr val="FFFAF2"/>
          </a:solidFill>
          <a:ln w="12700">
            <a:solidFill>
              <a:srgbClr val="F2DBBB"/>
            </a:solidFill>
            <a:prstDash val="solid"/>
          </a:ln>
          <a:effectLst>
            <a:outerShdw sx="100000" sy="100000" kx="0" ky="0" algn="bl" rotWithShape="0" blurRad="76200" dist="12700" dir="5400000">
              <a:srgbClr val="0B2239">
                <a:alpha val="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616391" y="1536192"/>
            <a:ext cx="996696" cy="347472"/>
          </a:xfrm>
          <a:prstGeom prst="roundRect">
            <a:avLst>
              <a:gd name="adj" fmla="val 50000"/>
            </a:avLst>
          </a:prstGeom>
          <a:solidFill>
            <a:srgbClr val="B86A12"/>
          </a:solidFill>
          <a:ln w="12700">
            <a:solidFill>
              <a:srgbClr val="B86A1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616391" y="1536192"/>
            <a:ext cx="9966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8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4742499" y="1924812"/>
            <a:ext cx="2127882" cy="4032504"/>
          </a:xfrm>
          <a:prstGeom prst="roundRect">
            <a:avLst>
              <a:gd name="adj" fmla="val 3438"/>
            </a:avLst>
          </a:prstGeom>
          <a:solidFill>
            <a:srgbClr val="FFFFFF"/>
          </a:solidFill>
          <a:ln w="12700">
            <a:solidFill>
              <a:srgbClr val="CFE3F4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28" name="Image 0" descr="C:/NogorShomadhan/User Manual/Phase 1/registration/04-registration-success-awaiting-admin-verification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92791" y="1975104"/>
            <a:ext cx="2027298" cy="3931920"/>
          </a:xfrm>
          <a:prstGeom prst="rect">
            <a:avLst/>
          </a:prstGeom>
        </p:spPr>
      </p:pic>
      <p:sp>
        <p:nvSpPr>
          <p:cNvPr id="29" name="Shape 26"/>
          <p:cNvSpPr/>
          <p:nvPr/>
        </p:nvSpPr>
        <p:spPr>
          <a:xfrm>
            <a:off x="9046456" y="1924812"/>
            <a:ext cx="2084238" cy="4032504"/>
          </a:xfrm>
          <a:prstGeom prst="roundRect">
            <a:avLst>
              <a:gd name="adj" fmla="val 3510"/>
            </a:avLst>
          </a:prstGeom>
          <a:solidFill>
            <a:srgbClr val="FFFFFF"/>
          </a:solidFill>
          <a:ln w="12700">
            <a:solidFill>
              <a:srgbClr val="F2DBBB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30" name="Image 1" descr="C:/NogorShomadhan/User Manual/Phase 1/admin verification/05-admin-dashboard-new-account-alert.jpe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96748" y="1975104"/>
            <a:ext cx="1983654" cy="3931920"/>
          </a:xfrm>
          <a:prstGeom prst="rect">
            <a:avLst/>
          </a:prstGeom>
        </p:spPr>
      </p:pic>
      <p:sp>
        <p:nvSpPr>
          <p:cNvPr id="31" name="Shape 27"/>
          <p:cNvSpPr/>
          <p:nvPr/>
        </p:nvSpPr>
        <p:spPr>
          <a:xfrm>
            <a:off x="5060394" y="2572756"/>
            <a:ext cx="158129" cy="106162"/>
          </a:xfrm>
          <a:prstGeom prst="roundRect">
            <a:avLst>
              <a:gd name="adj" fmla="val 43066"/>
            </a:avLst>
          </a:prstGeom>
          <a:solidFill>
            <a:srgbClr val="A9B4C2"/>
          </a:solidFill>
          <a:ln w="12700">
            <a:solidFill>
              <a:srgbClr val="A9B4C2"/>
            </a:solidFill>
            <a:prstDash val="solid"/>
          </a:ln>
        </p:spPr>
      </p:sp>
      <p:sp>
        <p:nvSpPr>
          <p:cNvPr id="32" name="arrow4"/>
          <p:cNvSpPr/>
          <p:nvPr/>
        </p:nvSpPr>
        <p:spPr>
          <a:xfrm>
            <a:off x="7626096" y="3675888"/>
            <a:ext cx="642823" cy="530352"/>
          </a:xfrm>
          <a:prstGeom prst="rightArrow">
            <a:avLst/>
          </a:prstGeom>
          <a:solidFill>
            <a:srgbClr val="475467"/>
          </a:solidFill>
          <a:ln w="12700">
            <a:solidFill>
              <a:srgbClr val="475467"/>
            </a:solidFill>
            <a:prstDash val="solid"/>
          </a:ln>
          <a:effectLst>
            <a:outerShdw sx="100000" sy="100000" kx="0" ky="0" algn="bl" rotWithShape="0" blurRad="76200" dist="12700" dir="5400000">
              <a:srgbClr val="0B2239">
                <a:alpha val="8000"/>
              </a:srgbClr>
            </a:outerShdw>
          </a:effectLst>
        </p:spPr>
      </p:sp>
      <p:sp>
        <p:nvSpPr>
          <p:cNvPr id="33" name="arrow4t"/>
          <p:cNvSpPr/>
          <p:nvPr/>
        </p:nvSpPr>
        <p:spPr>
          <a:xfrm>
            <a:off x="7516368" y="3054096"/>
            <a:ext cx="862279" cy="51206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spc="60" kern="0" dirty="0">
                <a:solidFill>
                  <a:srgbClr val="4754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 OVER TO</a:t>
            </a:r>
            <a:endParaRPr lang="en-US" sz="1200" dirty="0"/>
          </a:p>
        </p:txBody>
      </p:sp>
      <p:sp>
        <p:nvSpPr>
          <p:cNvPr id="34" name="h4_3"/>
          <p:cNvSpPr/>
          <p:nvPr/>
        </p:nvSpPr>
        <p:spPr>
          <a:xfrm>
            <a:off x="5230687" y="1986900"/>
            <a:ext cx="1524528" cy="424647"/>
          </a:xfrm>
          <a:prstGeom prst="roundRect">
            <a:avLst>
              <a:gd name="adj" fmla="val 12920"/>
            </a:avLst>
          </a:prstGeom>
          <a:ln w="28575">
            <a:solidFill>
              <a:srgbClr val="2563A6"/>
            </a:solidFill>
            <a:prstDash val="solid"/>
          </a:ln>
        </p:spPr>
      </p:sp>
      <p:sp>
        <p:nvSpPr>
          <p:cNvPr id="35" name="b4_3"/>
          <p:cNvSpPr/>
          <p:nvPr/>
        </p:nvSpPr>
        <p:spPr>
          <a:xfrm>
            <a:off x="4731549" y="2008480"/>
            <a:ext cx="365760" cy="365760"/>
          </a:xfrm>
          <a:prstGeom prst="ellipse">
            <a:avLst/>
          </a:prstGeom>
          <a:solidFill>
            <a:srgbClr val="2563A6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36" name="b4_3_t"/>
          <p:cNvSpPr/>
          <p:nvPr/>
        </p:nvSpPr>
        <p:spPr>
          <a:xfrm>
            <a:off x="4731549" y="20084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37" name="h4_4"/>
          <p:cNvSpPr/>
          <p:nvPr/>
        </p:nvSpPr>
        <p:spPr>
          <a:xfrm>
            <a:off x="9168160" y="2218883"/>
            <a:ext cx="1836863" cy="562265"/>
          </a:xfrm>
          <a:prstGeom prst="roundRect">
            <a:avLst>
              <a:gd name="adj" fmla="val 9758"/>
            </a:avLst>
          </a:prstGeom>
          <a:ln w="28575">
            <a:solidFill>
              <a:srgbClr val="B86A12"/>
            </a:solidFill>
            <a:prstDash val="solid"/>
          </a:ln>
        </p:spPr>
      </p:sp>
      <p:sp>
        <p:nvSpPr>
          <p:cNvPr id="38" name="b4_4"/>
          <p:cNvSpPr/>
          <p:nvPr/>
        </p:nvSpPr>
        <p:spPr>
          <a:xfrm>
            <a:off x="8973378" y="2146097"/>
            <a:ext cx="365760" cy="365760"/>
          </a:xfrm>
          <a:prstGeom prst="ellipse">
            <a:avLst/>
          </a:prstGeom>
          <a:solidFill>
            <a:srgbClr val="B86A12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39" name="b4_4_t"/>
          <p:cNvSpPr/>
          <p:nvPr/>
        </p:nvSpPr>
        <p:spPr>
          <a:xfrm>
            <a:off x="8973378" y="2146097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40" name="Text 36"/>
          <p:cNvSpPr/>
          <p:nvPr/>
        </p:nvSpPr>
        <p:spPr>
          <a:xfrm>
            <a:off x="411480" y="6510528"/>
            <a:ext cx="4114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Nogor Shomadhan  ·  User Manual</a:t>
            </a:r>
            <a:endParaRPr lang="en-US" sz="1100" dirty="0"/>
          </a:p>
        </p:txBody>
      </p:sp>
      <p:sp>
        <p:nvSpPr>
          <p:cNvPr id="41" name="Text 37">
            <a:hlinkClick r:id="rId3" tooltip="1. Problem Statement" action="ppaction://hlinksldjump"/>
          </p:cNvPr>
          <p:cNvSpPr/>
          <p:nvPr/>
        </p:nvSpPr>
        <p:spPr>
          <a:xfrm>
            <a:off x="727222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action="ppaction://hlinksldjump" tooltip="1. Problem Stateme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2" name="Text 38">
            <a:hlinkClick r:id="rId4" tooltip="2. Stakeholders and Responsibilities" action="ppaction://hlinksldjump"/>
          </p:cNvPr>
          <p:cNvSpPr/>
          <p:nvPr/>
        </p:nvSpPr>
        <p:spPr>
          <a:xfrm>
            <a:off x="745510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action="ppaction://hlinksldjump" tooltip="2. Stakeholders and Responsibiliti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3" name="Text 39">
            <a:hlinkClick r:id="rId5" tooltip="3. Resident Account Registration" action="ppaction://hlinksldjump"/>
          </p:cNvPr>
          <p:cNvSpPr/>
          <p:nvPr/>
        </p:nvSpPr>
        <p:spPr>
          <a:xfrm>
            <a:off x="763798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action="ppaction://hlinksldjump" tooltip="3. Resident Account Registra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4" name="Text 40">
            <a:hlinkClick r:id="rId6" tooltip="4. Registration Request Submitted" action="ppaction://hlinksldjump"/>
          </p:cNvPr>
          <p:cNvSpPr/>
          <p:nvPr/>
        </p:nvSpPr>
        <p:spPr>
          <a:xfrm>
            <a:off x="7820863" y="6528816"/>
            <a:ext cx="118872" cy="118872"/>
          </a:xfrm>
          <a:prstGeom prst="ellipse">
            <a:avLst/>
          </a:prstGeom>
          <a:solidFill>
            <a:srgbClr val="475467"/>
          </a:solidFill>
          <a:ln>
            <a:solidFill>
              <a:srgbClr val="4754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 action="ppaction://hlinksldjump" tooltip="4. Registration Request Submit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5" name="Text 41">
            <a:hlinkClick r:id="rId7" tooltip="5. Admin Receives the Verification Request" action="ppaction://hlinksldjump"/>
          </p:cNvPr>
          <p:cNvSpPr/>
          <p:nvPr/>
        </p:nvSpPr>
        <p:spPr>
          <a:xfrm>
            <a:off x="800374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 action="ppaction://hlinksldjump" tooltip="5. Admin Receives the Verification Reques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6" name="Text 42">
            <a:hlinkClick r:id="rId8" tooltip="6. Admin Reviews and Approves the Account" action="ppaction://hlinksldjump"/>
          </p:cNvPr>
          <p:cNvSpPr/>
          <p:nvPr/>
        </p:nvSpPr>
        <p:spPr>
          <a:xfrm>
            <a:off x="818662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" action="ppaction://hlinksldjump" tooltip="6. Admin Reviews and Approves the Accou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7" name="Text 43">
            <a:hlinkClick r:id="rId9" tooltip="7. Account Verification Completed" action="ppaction://hlinksldjump"/>
          </p:cNvPr>
          <p:cNvSpPr/>
          <p:nvPr/>
        </p:nvSpPr>
        <p:spPr>
          <a:xfrm>
            <a:off x="836950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" action="ppaction://hlinksldjump" tooltip="7. Account Verification Comple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8" name="Text 44">
            <a:hlinkClick r:id="rId10" tooltip="8. Create a New Complaint" action="ppaction://hlinksldjump"/>
          </p:cNvPr>
          <p:cNvSpPr/>
          <p:nvPr/>
        </p:nvSpPr>
        <p:spPr>
          <a:xfrm>
            <a:off x="855238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0" action="ppaction://hlinksldjump" tooltip="8. Create a New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9" name="Text 45">
            <a:hlinkClick r:id="rId11" tooltip="9. Add Evidence and Review the Category" action="ppaction://hlinksldjump"/>
          </p:cNvPr>
          <p:cNvSpPr/>
          <p:nvPr/>
        </p:nvSpPr>
        <p:spPr>
          <a:xfrm>
            <a:off x="873526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1" action="ppaction://hlinksldjump" tooltip="9. Add Evidence and Review the Categor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0" name="Text 46">
            <a:hlinkClick r:id="rId12" tooltip="10. Confirm the Complaint Submission" action="ppaction://hlinksldjump"/>
          </p:cNvPr>
          <p:cNvSpPr/>
          <p:nvPr/>
        </p:nvSpPr>
        <p:spPr>
          <a:xfrm>
            <a:off x="891814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2" action="ppaction://hlinksldjump" tooltip="10. Confirm the Complaint Submiss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1" name="Text 47">
            <a:hlinkClick r:id="rId13" tooltip="11. Admin Opens the Review Queue" action="ppaction://hlinksldjump"/>
          </p:cNvPr>
          <p:cNvSpPr/>
          <p:nvPr/>
        </p:nvSpPr>
        <p:spPr>
          <a:xfrm>
            <a:off x="910102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3" action="ppaction://hlinksldjump" tooltip="11. Admin Opens the Review Queu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2" name="Text 48">
            <a:hlinkClick r:id="rId14" tooltip="12. Complaint Check and Duplicate Comparison" action="ppaction://hlinksldjump"/>
          </p:cNvPr>
          <p:cNvSpPr/>
          <p:nvPr/>
        </p:nvSpPr>
        <p:spPr>
          <a:xfrm>
            <a:off x="928390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4" action="ppaction://hlinksldjump" tooltip="12. Complaint Check and Duplicate Compari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3" name="Text 49">
            <a:hlinkClick r:id="rId15" tooltip="13. Duplicate Review Outcomes" action="ppaction://hlinksldjump"/>
          </p:cNvPr>
          <p:cNvSpPr/>
          <p:nvPr/>
        </p:nvSpPr>
        <p:spPr>
          <a:xfrm>
            <a:off x="946678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5" action="ppaction://hlinksldjump" tooltip="13. Duplicate Review Outcom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4" name="Text 50">
            <a:hlinkClick r:id="rId16" tooltip="14. Pending Complaint Visibility" action="ppaction://hlinksldjump"/>
          </p:cNvPr>
          <p:cNvSpPr/>
          <p:nvPr/>
        </p:nvSpPr>
        <p:spPr>
          <a:xfrm>
            <a:off x="964966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6" action="ppaction://hlinksldjump" tooltip="14. Pending Complaint Visibilit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5" name="Text 51">
            <a:hlinkClick r:id="rId17" tooltip="15. Authority Opens the Complaint" action="ppaction://hlinksldjump"/>
          </p:cNvPr>
          <p:cNvSpPr/>
          <p:nvPr/>
        </p:nvSpPr>
        <p:spPr>
          <a:xfrm>
            <a:off x="983254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7" action="ppaction://hlinksldjump" tooltip="15. Authority Opens the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6" name="Text 52">
            <a:hlinkClick r:id="rId18" tooltip="16. Assign a Contractor and Start Work" action="ppaction://hlinksldjump"/>
          </p:cNvPr>
          <p:cNvSpPr/>
          <p:nvPr/>
        </p:nvSpPr>
        <p:spPr>
          <a:xfrm>
            <a:off x="1001542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8" action="ppaction://hlinksldjump" tooltip="16. Assign a Contractor and Start Work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7" name="Text 53">
            <a:hlinkClick r:id="rId19" tooltip="17. The Complaint Moves to In Progress" action="ppaction://hlinksldjump"/>
          </p:cNvPr>
          <p:cNvSpPr/>
          <p:nvPr/>
        </p:nvSpPr>
        <p:spPr>
          <a:xfrm>
            <a:off x="1019830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9" action="ppaction://hlinksldjump" tooltip="17. The Complaint Moves to In Progres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8" name="Text 54">
            <a:hlinkClick r:id="rId20" tooltip="18. Residents See the Progress Update" action="ppaction://hlinksldjump"/>
          </p:cNvPr>
          <p:cNvSpPr/>
          <p:nvPr/>
        </p:nvSpPr>
        <p:spPr>
          <a:xfrm>
            <a:off x="1038118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0" action="ppaction://hlinksldjump" tooltip="18. Residents See the Progress Updat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9" name="Text 55">
            <a:hlinkClick r:id="rId21" tooltip="19. Resident Starts a Forum Discussion" action="ppaction://hlinksldjump"/>
          </p:cNvPr>
          <p:cNvSpPr/>
          <p:nvPr/>
        </p:nvSpPr>
        <p:spPr>
          <a:xfrm>
            <a:off x="1056406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1" action="ppaction://hlinksldjump" tooltip="19. Resident Starts a Forum Discuss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0" name="Text 56">
            <a:hlinkClick r:id="rId22" tooltip="20. Everyone Is Notified" action="ppaction://hlinksldjump"/>
          </p:cNvPr>
          <p:cNvSpPr/>
          <p:nvPr/>
        </p:nvSpPr>
        <p:spPr>
          <a:xfrm>
            <a:off x="1074694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2" action="ppaction://hlinksldjump" tooltip="20. Everyone Is Notifi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1" name="Text 57">
            <a:hlinkClick r:id="rId23" tooltip="21. Open the Post and Discuss" action="ppaction://hlinksldjump"/>
          </p:cNvPr>
          <p:cNvSpPr/>
          <p:nvPr/>
        </p:nvSpPr>
        <p:spPr>
          <a:xfrm>
            <a:off x="1092982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3" action="ppaction://hlinksldjump" tooltip="21. Open the Post and Discus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2" name="Text 58">
            <a:hlinkClick r:id="rId24" tooltip="22. Authority Updates the Work" action="ppaction://hlinksldjump"/>
          </p:cNvPr>
          <p:cNvSpPr/>
          <p:nvPr/>
        </p:nvSpPr>
        <p:spPr>
          <a:xfrm>
            <a:off x="1111270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4" action="ppaction://hlinksldjump" tooltip="22. Authority Updates the Work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3" name="Text 59">
            <a:hlinkClick r:id="rId25" tooltip="23. Authority Resolves the Complaint" action="ppaction://hlinksldjump"/>
          </p:cNvPr>
          <p:cNvSpPr/>
          <p:nvPr/>
        </p:nvSpPr>
        <p:spPr>
          <a:xfrm>
            <a:off x="1129558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5" action="ppaction://hlinksldjump" tooltip="23. Authority Resolves the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4" name="Text 60">
            <a:hlinkClick r:id="rId26" tooltip="24. Residents Give Feedback" action="ppaction://hlinksldjump"/>
          </p:cNvPr>
          <p:cNvSpPr/>
          <p:nvPr/>
        </p:nvSpPr>
        <p:spPr>
          <a:xfrm>
            <a:off x="1147846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6" action="ppaction://hlinksldjump" tooltip="24. Residents Give Feedback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5" name="Text 61">
            <a:hlinkClick r:id="rId27" tooltip="25. Feedback Is Public and Answered" action="ppaction://hlinksldjump"/>
          </p:cNvPr>
          <p:cNvSpPr/>
          <p:nvPr/>
        </p:nvSpPr>
        <p:spPr>
          <a:xfrm>
            <a:off x="1166134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7" action="ppaction://hlinksldjump" tooltip="25. Feedback Is Public and Answer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6" name="Text 62"/>
          <p:cNvSpPr/>
          <p:nvPr/>
        </p:nvSpPr>
        <p:spPr>
          <a:xfrm>
            <a:off x="6449263" y="6510528"/>
            <a:ext cx="7132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25</a:t>
            </a:r>
            <a:endParaRPr lang="en-US" sz="11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2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2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2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2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2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2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2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42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4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B86A12"/>
          </a:solidFill>
          <a:ln/>
        </p:spPr>
      </p:sp>
      <p:sp>
        <p:nvSpPr>
          <p:cNvPr id="3" name="Shape 1"/>
          <p:cNvSpPr/>
          <p:nvPr/>
        </p:nvSpPr>
        <p:spPr>
          <a:xfrm>
            <a:off x="411480" y="329184"/>
            <a:ext cx="621792" cy="621792"/>
          </a:xfrm>
          <a:prstGeom prst="roundRect">
            <a:avLst>
              <a:gd name="adj" fmla="val 23529"/>
            </a:avLst>
          </a:prstGeom>
          <a:solidFill>
            <a:srgbClr val="B86A12"/>
          </a:solidFill>
          <a:ln w="12700">
            <a:solidFill>
              <a:srgbClr val="B86A12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411480" y="329184"/>
            <a:ext cx="62179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1188720" y="329184"/>
            <a:ext cx="768096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B86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 ·  ACCOUNT REGISTRATION AND VERIFICATION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52144" y="548640"/>
            <a:ext cx="8321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Receives the Verification Request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10975543" y="475488"/>
            <a:ext cx="804672" cy="420624"/>
          </a:xfrm>
          <a:prstGeom prst="roundRect">
            <a:avLst>
              <a:gd name="adj" fmla="val 50000"/>
            </a:avLst>
          </a:prstGeom>
          <a:solidFill>
            <a:srgbClr val="B86A12"/>
          </a:solidFill>
          <a:ln w="12700">
            <a:solidFill>
              <a:srgbClr val="B86A12"/>
            </a:solidFill>
            <a:prstDash val="solid"/>
          </a:ln>
          <a:effectLst>
            <a:outerShdw sx="100000" sy="100000" kx="0" ky="0" algn="bl" rotWithShape="0" blurRad="76200" dist="12700" dir="5400000">
              <a:srgbClr val="0B2239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0975543" y="475488"/>
            <a:ext cx="80467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11480" y="1216152"/>
            <a:ext cx="11368735" cy="18288"/>
          </a:xfrm>
          <a:prstGeom prst="rect">
            <a:avLst/>
          </a:prstGeom>
          <a:solidFill>
            <a:srgbClr val="F2DBBB"/>
          </a:solidFill>
          <a:ln/>
        </p:spPr>
      </p:sp>
      <p:sp>
        <p:nvSpPr>
          <p:cNvPr id="10" name="Shape 8"/>
          <p:cNvSpPr/>
          <p:nvPr/>
        </p:nvSpPr>
        <p:spPr>
          <a:xfrm>
            <a:off x="411480" y="1417320"/>
            <a:ext cx="3931920" cy="4636008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F2DBBB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11" name="p5_1_c"/>
          <p:cNvSpPr/>
          <p:nvPr/>
        </p:nvSpPr>
        <p:spPr>
          <a:xfrm>
            <a:off x="685800" y="1801368"/>
            <a:ext cx="347472" cy="347472"/>
          </a:xfrm>
          <a:prstGeom prst="ellipse">
            <a:avLst/>
          </a:prstGeom>
          <a:solidFill>
            <a:srgbClr val="B86A12"/>
          </a:solidFill>
          <a:ln>
            <a:solidFill>
              <a:srgbClr val="B86A12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2" name="p5_1_t"/>
          <p:cNvSpPr/>
          <p:nvPr/>
        </p:nvSpPr>
        <p:spPr>
          <a:xfrm>
            <a:off x="1234440" y="1783080"/>
            <a:ext cx="2834640" cy="9052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admin receives a new resident account notification.</a:t>
            </a:r>
            <a:endParaRPr lang="en-US" sz="1800" dirty="0"/>
          </a:p>
        </p:txBody>
      </p:sp>
      <p:sp>
        <p:nvSpPr>
          <p:cNvPr id="13" name="p5_2_c"/>
          <p:cNvSpPr/>
          <p:nvPr/>
        </p:nvSpPr>
        <p:spPr>
          <a:xfrm>
            <a:off x="685800" y="2886456"/>
            <a:ext cx="347472" cy="347472"/>
          </a:xfrm>
          <a:prstGeom prst="ellipse">
            <a:avLst/>
          </a:prstGeom>
          <a:solidFill>
            <a:srgbClr val="B86A12"/>
          </a:solidFill>
          <a:ln>
            <a:solidFill>
              <a:srgbClr val="B86A12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p5_2_t"/>
          <p:cNvSpPr/>
          <p:nvPr/>
        </p:nvSpPr>
        <p:spPr>
          <a:xfrm>
            <a:off x="1234440" y="2868168"/>
            <a:ext cx="2834640" cy="9052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Selecting the notification opens Pending Accounts.</a:t>
            </a:r>
            <a:endParaRPr lang="en-US" sz="1800" dirty="0"/>
          </a:p>
        </p:txBody>
      </p:sp>
      <p:sp>
        <p:nvSpPr>
          <p:cNvPr id="15" name="p5_3_c"/>
          <p:cNvSpPr/>
          <p:nvPr/>
        </p:nvSpPr>
        <p:spPr>
          <a:xfrm>
            <a:off x="685800" y="3971544"/>
            <a:ext cx="347472" cy="347472"/>
          </a:xfrm>
          <a:prstGeom prst="ellipse">
            <a:avLst/>
          </a:prstGeom>
          <a:solidFill>
            <a:srgbClr val="B86A12"/>
          </a:solidFill>
          <a:ln>
            <a:solidFill>
              <a:srgbClr val="B86A12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p5_3_t"/>
          <p:cNvSpPr/>
          <p:nvPr/>
        </p:nvSpPr>
        <p:spPr>
          <a:xfrm>
            <a:off x="1234440" y="3953256"/>
            <a:ext cx="2834640" cy="9052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new resident appears in the verification queue.</a:t>
            </a:r>
            <a:endParaRPr lang="en-US" sz="1800" dirty="0"/>
          </a:p>
        </p:txBody>
      </p:sp>
      <p:sp>
        <p:nvSpPr>
          <p:cNvPr id="17" name="p5_4_c"/>
          <p:cNvSpPr/>
          <p:nvPr/>
        </p:nvSpPr>
        <p:spPr>
          <a:xfrm>
            <a:off x="685800" y="5056632"/>
            <a:ext cx="347472" cy="347472"/>
          </a:xfrm>
          <a:prstGeom prst="ellipse">
            <a:avLst/>
          </a:prstGeom>
          <a:solidFill>
            <a:srgbClr val="B86A12"/>
          </a:solidFill>
          <a:ln>
            <a:solidFill>
              <a:srgbClr val="B86A12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p5_4_t"/>
          <p:cNvSpPr/>
          <p:nvPr/>
        </p:nvSpPr>
        <p:spPr>
          <a:xfrm>
            <a:off x="1234440" y="5038344"/>
            <a:ext cx="2834640" cy="9052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admin can review, approve, or reject the request.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685800" y="6144768"/>
            <a:ext cx="3566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details masked for this presentation.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017564" y="1367028"/>
            <a:ext cx="2589438" cy="4690872"/>
          </a:xfrm>
          <a:prstGeom prst="roundRect">
            <a:avLst>
              <a:gd name="adj" fmla="val 2825"/>
            </a:avLst>
          </a:prstGeom>
          <a:solidFill>
            <a:srgbClr val="FFFFFF"/>
          </a:solidFill>
          <a:ln w="12700">
            <a:solidFill>
              <a:srgbClr val="F2DBBB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21" name="Image 0" descr="C:/NogorShomadhan/User Manual/Phase 1/admin verification/06-admin-notification-new-resident-account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67856" y="1417320"/>
            <a:ext cx="2488854" cy="4590288"/>
          </a:xfrm>
          <a:prstGeom prst="rect">
            <a:avLst/>
          </a:prstGeom>
        </p:spPr>
      </p:pic>
      <p:sp>
        <p:nvSpPr>
          <p:cNvPr id="22" name="Text 19"/>
          <p:cNvSpPr/>
          <p:nvPr/>
        </p:nvSpPr>
        <p:spPr>
          <a:xfrm>
            <a:off x="4747816" y="6117336"/>
            <a:ext cx="312893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notification inbox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8996890" y="1367028"/>
            <a:ext cx="2420057" cy="4690872"/>
          </a:xfrm>
          <a:prstGeom prst="roundRect">
            <a:avLst>
              <a:gd name="adj" fmla="val 3023"/>
            </a:avLst>
          </a:prstGeom>
          <a:solidFill>
            <a:srgbClr val="FFFFFF"/>
          </a:solidFill>
          <a:ln w="12700">
            <a:solidFill>
              <a:srgbClr val="F2DBBB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24" name="Image 1" descr="C:/NogorShomadhan/User Manual/Phase 1/admin verification/07-admin-pending-account-verification-list.jpe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47182" y="1417320"/>
            <a:ext cx="2319473" cy="4590288"/>
          </a:xfrm>
          <a:prstGeom prst="rect">
            <a:avLst/>
          </a:prstGeom>
        </p:spPr>
      </p:pic>
      <p:sp>
        <p:nvSpPr>
          <p:cNvPr id="25" name="Text 21"/>
          <p:cNvSpPr/>
          <p:nvPr/>
        </p:nvSpPr>
        <p:spPr>
          <a:xfrm>
            <a:off x="8727142" y="6117336"/>
            <a:ext cx="2959553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 account verifications</a:t>
            </a:r>
            <a:endParaRPr lang="en-US" sz="1600" dirty="0"/>
          </a:p>
        </p:txBody>
      </p:sp>
      <p:sp>
        <p:nvSpPr>
          <p:cNvPr id="26" name="arrow5"/>
          <p:cNvSpPr/>
          <p:nvPr/>
        </p:nvSpPr>
        <p:spPr>
          <a:xfrm>
            <a:off x="7867606" y="3456432"/>
            <a:ext cx="868680" cy="512064"/>
          </a:xfrm>
          <a:prstGeom prst="rightArrow">
            <a:avLst/>
          </a:prstGeom>
          <a:solidFill>
            <a:srgbClr val="B86A12"/>
          </a:solidFill>
          <a:ln w="12700">
            <a:solidFill>
              <a:srgbClr val="B86A12"/>
            </a:solidFill>
            <a:prstDash val="solid"/>
          </a:ln>
          <a:effectLst>
            <a:outerShdw sx="100000" sy="100000" kx="0" ky="0" algn="bl" rotWithShape="0" blurRad="76200" dist="12700" dir="5400000">
              <a:srgbClr val="0B2239">
                <a:alpha val="8000"/>
              </a:srgbClr>
            </a:outerShdw>
          </a:effectLst>
        </p:spPr>
      </p:sp>
      <p:sp>
        <p:nvSpPr>
          <p:cNvPr id="27" name="arrow5t"/>
          <p:cNvSpPr/>
          <p:nvPr/>
        </p:nvSpPr>
        <p:spPr>
          <a:xfrm>
            <a:off x="7684726" y="3072384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86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9824206" y="4107229"/>
            <a:ext cx="405908" cy="128528"/>
          </a:xfrm>
          <a:prstGeom prst="roundRect">
            <a:avLst>
              <a:gd name="adj" fmla="val 35572"/>
            </a:avLst>
          </a:prstGeom>
          <a:solidFill>
            <a:srgbClr val="A9B4C2"/>
          </a:solidFill>
          <a:ln w="12700">
            <a:solidFill>
              <a:srgbClr val="A9B4C2"/>
            </a:solidFill>
            <a:prstDash val="solid"/>
          </a:ln>
        </p:spPr>
      </p:sp>
      <p:sp>
        <p:nvSpPr>
          <p:cNvPr id="29" name="h5_1"/>
          <p:cNvSpPr/>
          <p:nvPr/>
        </p:nvSpPr>
        <p:spPr>
          <a:xfrm>
            <a:off x="5157455" y="3280977"/>
            <a:ext cx="2309657" cy="550835"/>
          </a:xfrm>
          <a:prstGeom prst="roundRect">
            <a:avLst>
              <a:gd name="adj" fmla="val 9960"/>
            </a:avLst>
          </a:prstGeom>
          <a:ln w="28575">
            <a:solidFill>
              <a:srgbClr val="B86A12"/>
            </a:solidFill>
            <a:prstDash val="solid"/>
          </a:ln>
        </p:spPr>
      </p:sp>
      <p:sp>
        <p:nvSpPr>
          <p:cNvPr id="30" name="b5_1"/>
          <p:cNvSpPr/>
          <p:nvPr/>
        </p:nvSpPr>
        <p:spPr>
          <a:xfrm>
            <a:off x="4959642" y="3098097"/>
            <a:ext cx="365760" cy="365760"/>
          </a:xfrm>
          <a:prstGeom prst="ellipse">
            <a:avLst/>
          </a:prstGeom>
          <a:solidFill>
            <a:srgbClr val="B86A12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31" name="b5_1_t"/>
          <p:cNvSpPr/>
          <p:nvPr/>
        </p:nvSpPr>
        <p:spPr>
          <a:xfrm>
            <a:off x="4959642" y="3098097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32" name="h5_3"/>
          <p:cNvSpPr/>
          <p:nvPr/>
        </p:nvSpPr>
        <p:spPr>
          <a:xfrm>
            <a:off x="9126044" y="3840992"/>
            <a:ext cx="2157109" cy="587557"/>
          </a:xfrm>
          <a:prstGeom prst="roundRect">
            <a:avLst>
              <a:gd name="adj" fmla="val 9338"/>
            </a:avLst>
          </a:prstGeom>
          <a:ln w="28575">
            <a:solidFill>
              <a:srgbClr val="B86A12"/>
            </a:solidFill>
            <a:prstDash val="solid"/>
          </a:ln>
        </p:spPr>
      </p:sp>
      <p:sp>
        <p:nvSpPr>
          <p:cNvPr id="33" name="b5_3"/>
          <p:cNvSpPr/>
          <p:nvPr/>
        </p:nvSpPr>
        <p:spPr>
          <a:xfrm>
            <a:off x="8933887" y="3667293"/>
            <a:ext cx="365760" cy="365760"/>
          </a:xfrm>
          <a:prstGeom prst="ellipse">
            <a:avLst/>
          </a:prstGeom>
          <a:solidFill>
            <a:srgbClr val="B86A12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34" name="b5_3_t"/>
          <p:cNvSpPr/>
          <p:nvPr/>
        </p:nvSpPr>
        <p:spPr>
          <a:xfrm>
            <a:off x="8933887" y="3667293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35" name="h5_4"/>
          <p:cNvSpPr/>
          <p:nvPr/>
        </p:nvSpPr>
        <p:spPr>
          <a:xfrm>
            <a:off x="9139961" y="4456091"/>
            <a:ext cx="2133915" cy="229514"/>
          </a:xfrm>
          <a:prstGeom prst="roundRect">
            <a:avLst>
              <a:gd name="adj" fmla="val 23904"/>
            </a:avLst>
          </a:prstGeom>
          <a:ln w="28575">
            <a:solidFill>
              <a:srgbClr val="B86A12"/>
            </a:solidFill>
            <a:prstDash val="solid"/>
          </a:ln>
        </p:spPr>
      </p:sp>
      <p:sp>
        <p:nvSpPr>
          <p:cNvPr id="36" name="b5_4"/>
          <p:cNvSpPr/>
          <p:nvPr/>
        </p:nvSpPr>
        <p:spPr>
          <a:xfrm>
            <a:off x="10024039" y="4732239"/>
            <a:ext cx="365760" cy="365760"/>
          </a:xfrm>
          <a:prstGeom prst="ellipse">
            <a:avLst/>
          </a:prstGeom>
          <a:solidFill>
            <a:srgbClr val="B86A12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37" name="b5_4_t"/>
          <p:cNvSpPr/>
          <p:nvPr/>
        </p:nvSpPr>
        <p:spPr>
          <a:xfrm>
            <a:off x="10024039" y="4732239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38" name="b5_2"/>
          <p:cNvSpPr/>
          <p:nvPr/>
        </p:nvSpPr>
        <p:spPr>
          <a:xfrm>
            <a:off x="8119066" y="2956072"/>
            <a:ext cx="365760" cy="365760"/>
          </a:xfrm>
          <a:prstGeom prst="ellipse">
            <a:avLst/>
          </a:prstGeom>
          <a:solidFill>
            <a:srgbClr val="B86A12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39" name="b5_2_t"/>
          <p:cNvSpPr/>
          <p:nvPr/>
        </p:nvSpPr>
        <p:spPr>
          <a:xfrm>
            <a:off x="8119066" y="2956072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40" name="Text 36"/>
          <p:cNvSpPr/>
          <p:nvPr/>
        </p:nvSpPr>
        <p:spPr>
          <a:xfrm>
            <a:off x="411480" y="6510528"/>
            <a:ext cx="4114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Nogor Shomadhan  ·  User Manual</a:t>
            </a:r>
            <a:endParaRPr lang="en-US" sz="1100" dirty="0"/>
          </a:p>
        </p:txBody>
      </p:sp>
      <p:sp>
        <p:nvSpPr>
          <p:cNvPr id="41" name="Text 37">
            <a:hlinkClick r:id="rId3" tooltip="1. Problem Statement" action="ppaction://hlinksldjump"/>
          </p:cNvPr>
          <p:cNvSpPr/>
          <p:nvPr/>
        </p:nvSpPr>
        <p:spPr>
          <a:xfrm>
            <a:off x="7272223" y="6528816"/>
            <a:ext cx="118872" cy="118872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action="ppaction://hlinksldjump" tooltip="1. Problem Stateme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2" name="Text 38">
            <a:hlinkClick r:id="rId4" tooltip="2. Stakeholders and Responsibilities" action="ppaction://hlinksldjump"/>
          </p:cNvPr>
          <p:cNvSpPr/>
          <p:nvPr/>
        </p:nvSpPr>
        <p:spPr>
          <a:xfrm>
            <a:off x="7455103" y="6528816"/>
            <a:ext cx="118872" cy="118872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action="ppaction://hlinksldjump" tooltip="2. Stakeholders and Responsibiliti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3" name="Text 39">
            <a:hlinkClick r:id="rId5" tooltip="3. Resident Account Registration" action="ppaction://hlinksldjump"/>
          </p:cNvPr>
          <p:cNvSpPr/>
          <p:nvPr/>
        </p:nvSpPr>
        <p:spPr>
          <a:xfrm>
            <a:off x="7637983" y="6528816"/>
            <a:ext cx="118872" cy="118872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action="ppaction://hlinksldjump" tooltip="3. Resident Account Registra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4" name="Text 40">
            <a:hlinkClick r:id="rId6" tooltip="4. Registration Request Submitted" action="ppaction://hlinksldjump"/>
          </p:cNvPr>
          <p:cNvSpPr/>
          <p:nvPr/>
        </p:nvSpPr>
        <p:spPr>
          <a:xfrm>
            <a:off x="7820863" y="6528816"/>
            <a:ext cx="118872" cy="118872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 action="ppaction://hlinksldjump" tooltip="4. Registration Request Submit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5" name="Text 41">
            <a:hlinkClick r:id="rId7" tooltip="5. Admin Receives the Verification Request" action="ppaction://hlinksldjump"/>
          </p:cNvPr>
          <p:cNvSpPr/>
          <p:nvPr/>
        </p:nvSpPr>
        <p:spPr>
          <a:xfrm>
            <a:off x="8003743" y="6528816"/>
            <a:ext cx="118872" cy="118872"/>
          </a:xfrm>
          <a:prstGeom prst="ellipse">
            <a:avLst/>
          </a:prstGeom>
          <a:solidFill>
            <a:srgbClr val="B86A12"/>
          </a:solidFill>
          <a:ln>
            <a:solidFill>
              <a:srgbClr val="B86A1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 action="ppaction://hlinksldjump" tooltip="5. Admin Receives the Verification Reques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6" name="Text 42">
            <a:hlinkClick r:id="rId8" tooltip="6. Admin Reviews and Approves the Account" action="ppaction://hlinksldjump"/>
          </p:cNvPr>
          <p:cNvSpPr/>
          <p:nvPr/>
        </p:nvSpPr>
        <p:spPr>
          <a:xfrm>
            <a:off x="8186623" y="6528816"/>
            <a:ext cx="118872" cy="118872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" action="ppaction://hlinksldjump" tooltip="6. Admin Reviews and Approves the Accou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7" name="Text 43">
            <a:hlinkClick r:id="rId9" tooltip="7. Account Verification Completed" action="ppaction://hlinksldjump"/>
          </p:cNvPr>
          <p:cNvSpPr/>
          <p:nvPr/>
        </p:nvSpPr>
        <p:spPr>
          <a:xfrm>
            <a:off x="8369503" y="6528816"/>
            <a:ext cx="118872" cy="118872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" action="ppaction://hlinksldjump" tooltip="7. Account Verification Comple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8" name="Text 44">
            <a:hlinkClick r:id="rId10" tooltip="8. Create a New Complaint" action="ppaction://hlinksldjump"/>
          </p:cNvPr>
          <p:cNvSpPr/>
          <p:nvPr/>
        </p:nvSpPr>
        <p:spPr>
          <a:xfrm>
            <a:off x="8552383" y="6528816"/>
            <a:ext cx="118872" cy="118872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0" action="ppaction://hlinksldjump" tooltip="8. Create a New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9" name="Text 45">
            <a:hlinkClick r:id="rId11" tooltip="9. Add Evidence and Review the Category" action="ppaction://hlinksldjump"/>
          </p:cNvPr>
          <p:cNvSpPr/>
          <p:nvPr/>
        </p:nvSpPr>
        <p:spPr>
          <a:xfrm>
            <a:off x="8735263" y="6528816"/>
            <a:ext cx="118872" cy="118872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1" action="ppaction://hlinksldjump" tooltip="9. Add Evidence and Review the Categor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0" name="Text 46">
            <a:hlinkClick r:id="rId12" tooltip="10. Confirm the Complaint Submission" action="ppaction://hlinksldjump"/>
          </p:cNvPr>
          <p:cNvSpPr/>
          <p:nvPr/>
        </p:nvSpPr>
        <p:spPr>
          <a:xfrm>
            <a:off x="8918143" y="6528816"/>
            <a:ext cx="118872" cy="118872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2" action="ppaction://hlinksldjump" tooltip="10. Confirm the Complaint Submiss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1" name="Text 47">
            <a:hlinkClick r:id="rId13" tooltip="11. Admin Opens the Review Queue" action="ppaction://hlinksldjump"/>
          </p:cNvPr>
          <p:cNvSpPr/>
          <p:nvPr/>
        </p:nvSpPr>
        <p:spPr>
          <a:xfrm>
            <a:off x="9101023" y="6528816"/>
            <a:ext cx="118872" cy="118872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3" action="ppaction://hlinksldjump" tooltip="11. Admin Opens the Review Queu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2" name="Text 48">
            <a:hlinkClick r:id="rId14" tooltip="12. Complaint Check and Duplicate Comparison" action="ppaction://hlinksldjump"/>
          </p:cNvPr>
          <p:cNvSpPr/>
          <p:nvPr/>
        </p:nvSpPr>
        <p:spPr>
          <a:xfrm>
            <a:off x="9283903" y="6528816"/>
            <a:ext cx="118872" cy="118872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4" action="ppaction://hlinksldjump" tooltip="12. Complaint Check and Duplicate Compari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3" name="Text 49">
            <a:hlinkClick r:id="rId15" tooltip="13. Duplicate Review Outcomes" action="ppaction://hlinksldjump"/>
          </p:cNvPr>
          <p:cNvSpPr/>
          <p:nvPr/>
        </p:nvSpPr>
        <p:spPr>
          <a:xfrm>
            <a:off x="9466783" y="6528816"/>
            <a:ext cx="118872" cy="118872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5" action="ppaction://hlinksldjump" tooltip="13. Duplicate Review Outcom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4" name="Text 50">
            <a:hlinkClick r:id="rId16" tooltip="14. Pending Complaint Visibility" action="ppaction://hlinksldjump"/>
          </p:cNvPr>
          <p:cNvSpPr/>
          <p:nvPr/>
        </p:nvSpPr>
        <p:spPr>
          <a:xfrm>
            <a:off x="9649663" y="6528816"/>
            <a:ext cx="118872" cy="118872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6" action="ppaction://hlinksldjump" tooltip="14. Pending Complaint Visibilit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5" name="Text 51">
            <a:hlinkClick r:id="rId17" tooltip="15. Authority Opens the Complaint" action="ppaction://hlinksldjump"/>
          </p:cNvPr>
          <p:cNvSpPr/>
          <p:nvPr/>
        </p:nvSpPr>
        <p:spPr>
          <a:xfrm>
            <a:off x="9832543" y="6528816"/>
            <a:ext cx="118872" cy="118872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7" action="ppaction://hlinksldjump" tooltip="15. Authority Opens the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6" name="Text 52">
            <a:hlinkClick r:id="rId18" tooltip="16. Assign a Contractor and Start Work" action="ppaction://hlinksldjump"/>
          </p:cNvPr>
          <p:cNvSpPr/>
          <p:nvPr/>
        </p:nvSpPr>
        <p:spPr>
          <a:xfrm>
            <a:off x="10015423" y="6528816"/>
            <a:ext cx="118872" cy="118872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8" action="ppaction://hlinksldjump" tooltip="16. Assign a Contractor and Start Work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7" name="Text 53">
            <a:hlinkClick r:id="rId19" tooltip="17. The Complaint Moves to In Progress" action="ppaction://hlinksldjump"/>
          </p:cNvPr>
          <p:cNvSpPr/>
          <p:nvPr/>
        </p:nvSpPr>
        <p:spPr>
          <a:xfrm>
            <a:off x="10198303" y="6528816"/>
            <a:ext cx="118872" cy="118872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9" action="ppaction://hlinksldjump" tooltip="17. The Complaint Moves to In Progres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8" name="Text 54">
            <a:hlinkClick r:id="rId20" tooltip="18. Residents See the Progress Update" action="ppaction://hlinksldjump"/>
          </p:cNvPr>
          <p:cNvSpPr/>
          <p:nvPr/>
        </p:nvSpPr>
        <p:spPr>
          <a:xfrm>
            <a:off x="10381183" y="6528816"/>
            <a:ext cx="118872" cy="118872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0" action="ppaction://hlinksldjump" tooltip="18. Residents See the Progress Updat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9" name="Text 55">
            <a:hlinkClick r:id="rId21" tooltip="19. Resident Starts a Forum Discussion" action="ppaction://hlinksldjump"/>
          </p:cNvPr>
          <p:cNvSpPr/>
          <p:nvPr/>
        </p:nvSpPr>
        <p:spPr>
          <a:xfrm>
            <a:off x="10564063" y="6528816"/>
            <a:ext cx="118872" cy="118872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1" action="ppaction://hlinksldjump" tooltip="19. Resident Starts a Forum Discuss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0" name="Text 56">
            <a:hlinkClick r:id="rId22" tooltip="20. Everyone Is Notified" action="ppaction://hlinksldjump"/>
          </p:cNvPr>
          <p:cNvSpPr/>
          <p:nvPr/>
        </p:nvSpPr>
        <p:spPr>
          <a:xfrm>
            <a:off x="10746943" y="6528816"/>
            <a:ext cx="118872" cy="118872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2" action="ppaction://hlinksldjump" tooltip="20. Everyone Is Notifi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1" name="Text 57">
            <a:hlinkClick r:id="rId23" tooltip="21. Open the Post and Discuss" action="ppaction://hlinksldjump"/>
          </p:cNvPr>
          <p:cNvSpPr/>
          <p:nvPr/>
        </p:nvSpPr>
        <p:spPr>
          <a:xfrm>
            <a:off x="10929823" y="6528816"/>
            <a:ext cx="118872" cy="118872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3" action="ppaction://hlinksldjump" tooltip="21. Open the Post and Discus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2" name="Text 58">
            <a:hlinkClick r:id="rId24" tooltip="22. Authority Updates the Work" action="ppaction://hlinksldjump"/>
          </p:cNvPr>
          <p:cNvSpPr/>
          <p:nvPr/>
        </p:nvSpPr>
        <p:spPr>
          <a:xfrm>
            <a:off x="11112703" y="6528816"/>
            <a:ext cx="118872" cy="118872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4" action="ppaction://hlinksldjump" tooltip="22. Authority Updates the Work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3" name="Text 59">
            <a:hlinkClick r:id="rId25" tooltip="23. Authority Resolves the Complaint" action="ppaction://hlinksldjump"/>
          </p:cNvPr>
          <p:cNvSpPr/>
          <p:nvPr/>
        </p:nvSpPr>
        <p:spPr>
          <a:xfrm>
            <a:off x="11295583" y="6528816"/>
            <a:ext cx="118872" cy="118872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5" action="ppaction://hlinksldjump" tooltip="23. Authority Resolves the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4" name="Text 60">
            <a:hlinkClick r:id="rId26" tooltip="24. Residents Give Feedback" action="ppaction://hlinksldjump"/>
          </p:cNvPr>
          <p:cNvSpPr/>
          <p:nvPr/>
        </p:nvSpPr>
        <p:spPr>
          <a:xfrm>
            <a:off x="11478463" y="6528816"/>
            <a:ext cx="118872" cy="118872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6" action="ppaction://hlinksldjump" tooltip="24. Residents Give Feedback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5" name="Text 61">
            <a:hlinkClick r:id="rId27" tooltip="25. Feedback Is Public and Answered" action="ppaction://hlinksldjump"/>
          </p:cNvPr>
          <p:cNvSpPr/>
          <p:nvPr/>
        </p:nvSpPr>
        <p:spPr>
          <a:xfrm>
            <a:off x="11661343" y="6528816"/>
            <a:ext cx="118872" cy="118872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7" action="ppaction://hlinksldjump" tooltip="25. Feedback Is Public and Answer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6" name="Text 62"/>
          <p:cNvSpPr/>
          <p:nvPr/>
        </p:nvSpPr>
        <p:spPr>
          <a:xfrm>
            <a:off x="6449263" y="6510528"/>
            <a:ext cx="7132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25</a:t>
            </a:r>
            <a:endParaRPr lang="en-US" sz="11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2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2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2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2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2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2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2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2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2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2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2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2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2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4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B86A12"/>
          </a:solidFill>
          <a:ln/>
        </p:spPr>
      </p:sp>
      <p:sp>
        <p:nvSpPr>
          <p:cNvPr id="3" name="Shape 1"/>
          <p:cNvSpPr/>
          <p:nvPr/>
        </p:nvSpPr>
        <p:spPr>
          <a:xfrm>
            <a:off x="411480" y="329184"/>
            <a:ext cx="621792" cy="621792"/>
          </a:xfrm>
          <a:prstGeom prst="roundRect">
            <a:avLst>
              <a:gd name="adj" fmla="val 23529"/>
            </a:avLst>
          </a:prstGeom>
          <a:solidFill>
            <a:srgbClr val="B86A12"/>
          </a:solidFill>
          <a:ln w="12700">
            <a:solidFill>
              <a:srgbClr val="B86A12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411480" y="329184"/>
            <a:ext cx="62179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1188720" y="329184"/>
            <a:ext cx="768096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B86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 ·  ACCOUNT REGISTRATION AND VERIFICATION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52144" y="548640"/>
            <a:ext cx="8321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Reviews and Approves the Account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10975543" y="475488"/>
            <a:ext cx="804672" cy="420624"/>
          </a:xfrm>
          <a:prstGeom prst="roundRect">
            <a:avLst>
              <a:gd name="adj" fmla="val 50000"/>
            </a:avLst>
          </a:prstGeom>
          <a:solidFill>
            <a:srgbClr val="B86A12"/>
          </a:solidFill>
          <a:ln w="12700">
            <a:solidFill>
              <a:srgbClr val="B86A12"/>
            </a:solidFill>
            <a:prstDash val="solid"/>
          </a:ln>
          <a:effectLst>
            <a:outerShdw sx="100000" sy="100000" kx="0" ky="0" algn="bl" rotWithShape="0" blurRad="76200" dist="12700" dir="5400000">
              <a:srgbClr val="0B2239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0975543" y="475488"/>
            <a:ext cx="80467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11480" y="1216152"/>
            <a:ext cx="11368735" cy="18288"/>
          </a:xfrm>
          <a:prstGeom prst="rect">
            <a:avLst/>
          </a:prstGeom>
          <a:solidFill>
            <a:srgbClr val="F2DBBB"/>
          </a:solidFill>
          <a:ln/>
        </p:spPr>
      </p:sp>
      <p:sp>
        <p:nvSpPr>
          <p:cNvPr id="10" name="Shape 8"/>
          <p:cNvSpPr/>
          <p:nvPr/>
        </p:nvSpPr>
        <p:spPr>
          <a:xfrm>
            <a:off x="411480" y="1417320"/>
            <a:ext cx="4343400" cy="4636008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F2DBBB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11" name="p6_1_c"/>
          <p:cNvSpPr/>
          <p:nvPr/>
        </p:nvSpPr>
        <p:spPr>
          <a:xfrm>
            <a:off x="704088" y="1828800"/>
            <a:ext cx="347472" cy="347472"/>
          </a:xfrm>
          <a:prstGeom prst="ellipse">
            <a:avLst/>
          </a:prstGeom>
          <a:solidFill>
            <a:srgbClr val="B86A12"/>
          </a:solidFill>
          <a:ln>
            <a:solidFill>
              <a:srgbClr val="B86A12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2" name="p6_1_t"/>
          <p:cNvSpPr/>
          <p:nvPr/>
        </p:nvSpPr>
        <p:spPr>
          <a:xfrm>
            <a:off x="1252728" y="1810512"/>
            <a:ext cx="3209544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the resident’s submitted account information.</a:t>
            </a:r>
            <a:endParaRPr lang="en-US" sz="1800" dirty="0"/>
          </a:p>
        </p:txBody>
      </p:sp>
      <p:sp>
        <p:nvSpPr>
          <p:cNvPr id="13" name="p6_2_c"/>
          <p:cNvSpPr/>
          <p:nvPr/>
        </p:nvSpPr>
        <p:spPr>
          <a:xfrm>
            <a:off x="704088" y="2834640"/>
            <a:ext cx="347472" cy="347472"/>
          </a:xfrm>
          <a:prstGeom prst="ellipse">
            <a:avLst/>
          </a:prstGeom>
          <a:solidFill>
            <a:srgbClr val="B86A12"/>
          </a:solidFill>
          <a:ln>
            <a:solidFill>
              <a:srgbClr val="B86A12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p6_2_t"/>
          <p:cNvSpPr/>
          <p:nvPr/>
        </p:nvSpPr>
        <p:spPr>
          <a:xfrm>
            <a:off x="1252728" y="2816352"/>
            <a:ext cx="3209544" cy="9052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that the identity and address details are valid.</a:t>
            </a:r>
            <a:endParaRPr lang="en-US" sz="1800" dirty="0"/>
          </a:p>
        </p:txBody>
      </p:sp>
      <p:sp>
        <p:nvSpPr>
          <p:cNvPr id="15" name="p6_3_c"/>
          <p:cNvSpPr/>
          <p:nvPr/>
        </p:nvSpPr>
        <p:spPr>
          <a:xfrm>
            <a:off x="704088" y="4123944"/>
            <a:ext cx="347472" cy="347472"/>
          </a:xfrm>
          <a:prstGeom prst="ellipse">
            <a:avLst/>
          </a:prstGeom>
          <a:solidFill>
            <a:srgbClr val="B86A12"/>
          </a:solidFill>
          <a:ln>
            <a:solidFill>
              <a:srgbClr val="B86A12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p6_3_t"/>
          <p:cNvSpPr/>
          <p:nvPr/>
        </p:nvSpPr>
        <p:spPr>
          <a:xfrm>
            <a:off x="1252728" y="4105656"/>
            <a:ext cx="3209544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Approve for a valid registration.</a:t>
            </a:r>
            <a:endParaRPr lang="en-US" sz="1800" dirty="0"/>
          </a:p>
        </p:txBody>
      </p:sp>
      <p:sp>
        <p:nvSpPr>
          <p:cNvPr id="17" name="p6_4_c"/>
          <p:cNvSpPr/>
          <p:nvPr/>
        </p:nvSpPr>
        <p:spPr>
          <a:xfrm>
            <a:off x="704088" y="5129784"/>
            <a:ext cx="347472" cy="347472"/>
          </a:xfrm>
          <a:prstGeom prst="ellipse">
            <a:avLst/>
          </a:prstGeom>
          <a:solidFill>
            <a:srgbClr val="B86A12"/>
          </a:solidFill>
          <a:ln>
            <a:solidFill>
              <a:srgbClr val="B86A12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p6_4_t"/>
          <p:cNvSpPr/>
          <p:nvPr/>
        </p:nvSpPr>
        <p:spPr>
          <a:xfrm>
            <a:off x="1252728" y="5111496"/>
            <a:ext cx="3209544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the approval action.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704088" y="6144768"/>
            <a:ext cx="394106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details masked for this presentation.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734991" y="1367028"/>
            <a:ext cx="2434745" cy="4690872"/>
          </a:xfrm>
          <a:prstGeom prst="roundRect">
            <a:avLst>
              <a:gd name="adj" fmla="val 3005"/>
            </a:avLst>
          </a:prstGeom>
          <a:solidFill>
            <a:srgbClr val="FFFFFF"/>
          </a:solidFill>
          <a:ln w="12700">
            <a:solidFill>
              <a:srgbClr val="F2DBBB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21" name="Image 0" descr="C:/NogorShomadhan/User Manual/Phase 1/admin verification/08-admin-review-resident-account-details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85283" y="1417320"/>
            <a:ext cx="2334161" cy="4590288"/>
          </a:xfrm>
          <a:prstGeom prst="rect">
            <a:avLst/>
          </a:prstGeom>
        </p:spPr>
      </p:pic>
      <p:sp>
        <p:nvSpPr>
          <p:cNvPr id="22" name="Text 19"/>
          <p:cNvSpPr/>
          <p:nvPr/>
        </p:nvSpPr>
        <p:spPr>
          <a:xfrm>
            <a:off x="5465243" y="6117336"/>
            <a:ext cx="2974241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account details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8709232" y="1367028"/>
            <a:ext cx="2420057" cy="4690872"/>
          </a:xfrm>
          <a:prstGeom prst="roundRect">
            <a:avLst>
              <a:gd name="adj" fmla="val 3023"/>
            </a:avLst>
          </a:prstGeom>
          <a:solidFill>
            <a:srgbClr val="FFFFFF"/>
          </a:solidFill>
          <a:ln w="12700">
            <a:solidFill>
              <a:srgbClr val="F2DBBB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24" name="Image 1" descr="C:/NogorShomadhan/User Manual/Phase 1/admin verification/09-admin-approve-account-confirmation.jpe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59524" y="1417320"/>
            <a:ext cx="2319473" cy="4590288"/>
          </a:xfrm>
          <a:prstGeom prst="rect">
            <a:avLst/>
          </a:prstGeom>
        </p:spPr>
      </p:pic>
      <p:sp>
        <p:nvSpPr>
          <p:cNvPr id="25" name="Text 21"/>
          <p:cNvSpPr/>
          <p:nvPr/>
        </p:nvSpPr>
        <p:spPr>
          <a:xfrm>
            <a:off x="8439484" y="6117336"/>
            <a:ext cx="2959553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 confirmation</a:t>
            </a:r>
            <a:endParaRPr lang="en-US" sz="1600" dirty="0"/>
          </a:p>
        </p:txBody>
      </p:sp>
      <p:sp>
        <p:nvSpPr>
          <p:cNvPr id="26" name="Shape 22"/>
          <p:cNvSpPr/>
          <p:nvPr/>
        </p:nvSpPr>
        <p:spPr>
          <a:xfrm>
            <a:off x="6147078" y="2867851"/>
            <a:ext cx="396807" cy="119347"/>
          </a:xfrm>
          <a:prstGeom prst="roundRect">
            <a:avLst>
              <a:gd name="adj" fmla="val 38308"/>
            </a:avLst>
          </a:prstGeom>
          <a:solidFill>
            <a:srgbClr val="A9B4C2"/>
          </a:solidFill>
          <a:ln w="12700">
            <a:solidFill>
              <a:srgbClr val="A9B4C2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6147078" y="3170810"/>
            <a:ext cx="816957" cy="119347"/>
          </a:xfrm>
          <a:prstGeom prst="roundRect">
            <a:avLst>
              <a:gd name="adj" fmla="val 38308"/>
            </a:avLst>
          </a:prstGeom>
          <a:solidFill>
            <a:srgbClr val="A9B4C2"/>
          </a:solidFill>
          <a:ln w="12700">
            <a:solidFill>
              <a:srgbClr val="A9B4C2"/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6182090" y="3492130"/>
            <a:ext cx="326783" cy="119347"/>
          </a:xfrm>
          <a:prstGeom prst="roundRect">
            <a:avLst>
              <a:gd name="adj" fmla="val 38308"/>
            </a:avLst>
          </a:prstGeom>
          <a:solidFill>
            <a:srgbClr val="A9B4C2"/>
          </a:solidFill>
          <a:ln w="12700">
            <a:solidFill>
              <a:srgbClr val="A9B4C2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5990689" y="3795089"/>
            <a:ext cx="175062" cy="110167"/>
          </a:xfrm>
          <a:prstGeom prst="roundRect">
            <a:avLst>
              <a:gd name="adj" fmla="val 41501"/>
            </a:avLst>
          </a:prstGeom>
          <a:solidFill>
            <a:srgbClr val="A9B4C2"/>
          </a:solidFill>
          <a:ln w="12700">
            <a:solidFill>
              <a:srgbClr val="A9B4C2"/>
            </a:solidFill>
            <a:prstDash val="solid"/>
          </a:ln>
        </p:spPr>
      </p:sp>
      <p:sp>
        <p:nvSpPr>
          <p:cNvPr id="30" name="h6_1"/>
          <p:cNvSpPr/>
          <p:nvPr/>
        </p:nvSpPr>
        <p:spPr>
          <a:xfrm>
            <a:off x="5948674" y="2427183"/>
            <a:ext cx="1984037" cy="1156753"/>
          </a:xfrm>
          <a:prstGeom prst="roundRect">
            <a:avLst>
              <a:gd name="adj" fmla="val 4743"/>
            </a:avLst>
          </a:prstGeom>
          <a:ln w="28575">
            <a:solidFill>
              <a:srgbClr val="B86A12"/>
            </a:solidFill>
            <a:prstDash val="solid"/>
          </a:ln>
        </p:spPr>
      </p:sp>
      <p:sp>
        <p:nvSpPr>
          <p:cNvPr id="31" name="b6_1"/>
          <p:cNvSpPr/>
          <p:nvPr/>
        </p:nvSpPr>
        <p:spPr>
          <a:xfrm>
            <a:off x="5730781" y="2244303"/>
            <a:ext cx="365760" cy="365760"/>
          </a:xfrm>
          <a:prstGeom prst="ellipse">
            <a:avLst/>
          </a:prstGeom>
          <a:solidFill>
            <a:srgbClr val="B86A12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32" name="b6_1_t"/>
          <p:cNvSpPr/>
          <p:nvPr/>
        </p:nvSpPr>
        <p:spPr>
          <a:xfrm>
            <a:off x="5730781" y="2244303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33" name="h6_2"/>
          <p:cNvSpPr/>
          <p:nvPr/>
        </p:nvSpPr>
        <p:spPr>
          <a:xfrm>
            <a:off x="5948674" y="3611478"/>
            <a:ext cx="1984037" cy="973141"/>
          </a:xfrm>
          <a:prstGeom prst="roundRect">
            <a:avLst>
              <a:gd name="adj" fmla="val 5638"/>
            </a:avLst>
          </a:prstGeom>
          <a:ln w="28575">
            <a:solidFill>
              <a:srgbClr val="B86A12"/>
            </a:solidFill>
            <a:prstDash val="solid"/>
          </a:ln>
        </p:spPr>
      </p:sp>
      <p:sp>
        <p:nvSpPr>
          <p:cNvPr id="34" name="b6_2"/>
          <p:cNvSpPr/>
          <p:nvPr/>
        </p:nvSpPr>
        <p:spPr>
          <a:xfrm>
            <a:off x="5730781" y="3428598"/>
            <a:ext cx="365760" cy="365760"/>
          </a:xfrm>
          <a:prstGeom prst="ellipse">
            <a:avLst/>
          </a:prstGeom>
          <a:solidFill>
            <a:srgbClr val="B86A12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35" name="b6_2_t"/>
          <p:cNvSpPr/>
          <p:nvPr/>
        </p:nvSpPr>
        <p:spPr>
          <a:xfrm>
            <a:off x="5730781" y="342859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36" name="h6_3"/>
          <p:cNvSpPr/>
          <p:nvPr/>
        </p:nvSpPr>
        <p:spPr>
          <a:xfrm>
            <a:off x="10341404" y="4483632"/>
            <a:ext cx="579868" cy="183612"/>
          </a:xfrm>
          <a:prstGeom prst="roundRect">
            <a:avLst>
              <a:gd name="adj" fmla="val 29880"/>
            </a:avLst>
          </a:prstGeom>
          <a:ln w="28575">
            <a:solidFill>
              <a:srgbClr val="B86A12"/>
            </a:solidFill>
            <a:prstDash val="solid"/>
          </a:ln>
        </p:spPr>
      </p:sp>
      <p:sp>
        <p:nvSpPr>
          <p:cNvPr id="37" name="b6_3"/>
          <p:cNvSpPr/>
          <p:nvPr/>
        </p:nvSpPr>
        <p:spPr>
          <a:xfrm>
            <a:off x="10432222" y="4667975"/>
            <a:ext cx="365760" cy="365760"/>
          </a:xfrm>
          <a:prstGeom prst="ellipse">
            <a:avLst/>
          </a:prstGeom>
          <a:solidFill>
            <a:srgbClr val="B86A12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38" name="b6_3_t"/>
          <p:cNvSpPr/>
          <p:nvPr/>
        </p:nvSpPr>
        <p:spPr>
          <a:xfrm>
            <a:off x="10432222" y="4667975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39" name="h6_4"/>
          <p:cNvSpPr/>
          <p:nvPr/>
        </p:nvSpPr>
        <p:spPr>
          <a:xfrm>
            <a:off x="9942455" y="3932798"/>
            <a:ext cx="777023" cy="252466"/>
          </a:xfrm>
          <a:prstGeom prst="roundRect">
            <a:avLst>
              <a:gd name="adj" fmla="val 21731"/>
            </a:avLst>
          </a:prstGeom>
          <a:ln w="28575">
            <a:solidFill>
              <a:srgbClr val="B86A12"/>
            </a:solidFill>
            <a:prstDash val="solid"/>
          </a:ln>
        </p:spPr>
      </p:sp>
      <p:sp>
        <p:nvSpPr>
          <p:cNvPr id="40" name="b6_4"/>
          <p:cNvSpPr/>
          <p:nvPr/>
        </p:nvSpPr>
        <p:spPr>
          <a:xfrm>
            <a:off x="10606183" y="3873856"/>
            <a:ext cx="365760" cy="365760"/>
          </a:xfrm>
          <a:prstGeom prst="ellipse">
            <a:avLst/>
          </a:prstGeom>
          <a:solidFill>
            <a:srgbClr val="B86A12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41" name="b6_4_t"/>
          <p:cNvSpPr/>
          <p:nvPr/>
        </p:nvSpPr>
        <p:spPr>
          <a:xfrm>
            <a:off x="10606183" y="3873856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42" name="Text 38"/>
          <p:cNvSpPr/>
          <p:nvPr/>
        </p:nvSpPr>
        <p:spPr>
          <a:xfrm>
            <a:off x="411480" y="6510528"/>
            <a:ext cx="4114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Nogor Shomadhan  ·  User Manual</a:t>
            </a:r>
            <a:endParaRPr lang="en-US" sz="1100" dirty="0"/>
          </a:p>
        </p:txBody>
      </p:sp>
      <p:sp>
        <p:nvSpPr>
          <p:cNvPr id="43" name="Text 39">
            <a:hlinkClick r:id="rId3" tooltip="1. Problem Statement" action="ppaction://hlinksldjump"/>
          </p:cNvPr>
          <p:cNvSpPr/>
          <p:nvPr/>
        </p:nvSpPr>
        <p:spPr>
          <a:xfrm>
            <a:off x="7272223" y="6528816"/>
            <a:ext cx="118872" cy="118872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action="ppaction://hlinksldjump" tooltip="1. Problem Stateme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4" name="Text 40">
            <a:hlinkClick r:id="rId4" tooltip="2. Stakeholders and Responsibilities" action="ppaction://hlinksldjump"/>
          </p:cNvPr>
          <p:cNvSpPr/>
          <p:nvPr/>
        </p:nvSpPr>
        <p:spPr>
          <a:xfrm>
            <a:off x="7455103" y="6528816"/>
            <a:ext cx="118872" cy="118872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action="ppaction://hlinksldjump" tooltip="2. Stakeholders and Responsibiliti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5" name="Text 41">
            <a:hlinkClick r:id="rId5" tooltip="3. Resident Account Registration" action="ppaction://hlinksldjump"/>
          </p:cNvPr>
          <p:cNvSpPr/>
          <p:nvPr/>
        </p:nvSpPr>
        <p:spPr>
          <a:xfrm>
            <a:off x="7637983" y="6528816"/>
            <a:ext cx="118872" cy="118872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action="ppaction://hlinksldjump" tooltip="3. Resident Account Registra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6" name="Text 42">
            <a:hlinkClick r:id="rId6" tooltip="4. Registration Request Submitted" action="ppaction://hlinksldjump"/>
          </p:cNvPr>
          <p:cNvSpPr/>
          <p:nvPr/>
        </p:nvSpPr>
        <p:spPr>
          <a:xfrm>
            <a:off x="7820863" y="6528816"/>
            <a:ext cx="118872" cy="118872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 action="ppaction://hlinksldjump" tooltip="4. Registration Request Submit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7" name="Text 43">
            <a:hlinkClick r:id="rId7" tooltip="5. Admin Receives the Verification Request" action="ppaction://hlinksldjump"/>
          </p:cNvPr>
          <p:cNvSpPr/>
          <p:nvPr/>
        </p:nvSpPr>
        <p:spPr>
          <a:xfrm>
            <a:off x="8003743" y="6528816"/>
            <a:ext cx="118872" cy="118872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 action="ppaction://hlinksldjump" tooltip="5. Admin Receives the Verification Reques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8" name="Text 44">
            <a:hlinkClick r:id="rId8" tooltip="6. Admin Reviews and Approves the Account" action="ppaction://hlinksldjump"/>
          </p:cNvPr>
          <p:cNvSpPr/>
          <p:nvPr/>
        </p:nvSpPr>
        <p:spPr>
          <a:xfrm>
            <a:off x="8186623" y="6528816"/>
            <a:ext cx="118872" cy="118872"/>
          </a:xfrm>
          <a:prstGeom prst="ellipse">
            <a:avLst/>
          </a:prstGeom>
          <a:solidFill>
            <a:srgbClr val="B86A12"/>
          </a:solidFill>
          <a:ln>
            <a:solidFill>
              <a:srgbClr val="B86A1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" action="ppaction://hlinksldjump" tooltip="6. Admin Reviews and Approves the Accou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9" name="Text 45">
            <a:hlinkClick r:id="rId9" tooltip="7. Account Verification Completed" action="ppaction://hlinksldjump"/>
          </p:cNvPr>
          <p:cNvSpPr/>
          <p:nvPr/>
        </p:nvSpPr>
        <p:spPr>
          <a:xfrm>
            <a:off x="8369503" y="6528816"/>
            <a:ext cx="118872" cy="118872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" action="ppaction://hlinksldjump" tooltip="7. Account Verification Comple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0" name="Text 46">
            <a:hlinkClick r:id="rId10" tooltip="8. Create a New Complaint" action="ppaction://hlinksldjump"/>
          </p:cNvPr>
          <p:cNvSpPr/>
          <p:nvPr/>
        </p:nvSpPr>
        <p:spPr>
          <a:xfrm>
            <a:off x="8552383" y="6528816"/>
            <a:ext cx="118872" cy="118872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0" action="ppaction://hlinksldjump" tooltip="8. Create a New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1" name="Text 47">
            <a:hlinkClick r:id="rId11" tooltip="9. Add Evidence and Review the Category" action="ppaction://hlinksldjump"/>
          </p:cNvPr>
          <p:cNvSpPr/>
          <p:nvPr/>
        </p:nvSpPr>
        <p:spPr>
          <a:xfrm>
            <a:off x="8735263" y="6528816"/>
            <a:ext cx="118872" cy="118872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1" action="ppaction://hlinksldjump" tooltip="9. Add Evidence and Review the Categor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2" name="Text 48">
            <a:hlinkClick r:id="rId12" tooltip="10. Confirm the Complaint Submission" action="ppaction://hlinksldjump"/>
          </p:cNvPr>
          <p:cNvSpPr/>
          <p:nvPr/>
        </p:nvSpPr>
        <p:spPr>
          <a:xfrm>
            <a:off x="8918143" y="6528816"/>
            <a:ext cx="118872" cy="118872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2" action="ppaction://hlinksldjump" tooltip="10. Confirm the Complaint Submiss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3" name="Text 49">
            <a:hlinkClick r:id="rId13" tooltip="11. Admin Opens the Review Queue" action="ppaction://hlinksldjump"/>
          </p:cNvPr>
          <p:cNvSpPr/>
          <p:nvPr/>
        </p:nvSpPr>
        <p:spPr>
          <a:xfrm>
            <a:off x="9101023" y="6528816"/>
            <a:ext cx="118872" cy="118872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3" action="ppaction://hlinksldjump" tooltip="11. Admin Opens the Review Queu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4" name="Text 50">
            <a:hlinkClick r:id="rId14" tooltip="12. Complaint Check and Duplicate Comparison" action="ppaction://hlinksldjump"/>
          </p:cNvPr>
          <p:cNvSpPr/>
          <p:nvPr/>
        </p:nvSpPr>
        <p:spPr>
          <a:xfrm>
            <a:off x="9283903" y="6528816"/>
            <a:ext cx="118872" cy="118872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4" action="ppaction://hlinksldjump" tooltip="12. Complaint Check and Duplicate Compari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5" name="Text 51">
            <a:hlinkClick r:id="rId15" tooltip="13. Duplicate Review Outcomes" action="ppaction://hlinksldjump"/>
          </p:cNvPr>
          <p:cNvSpPr/>
          <p:nvPr/>
        </p:nvSpPr>
        <p:spPr>
          <a:xfrm>
            <a:off x="9466783" y="6528816"/>
            <a:ext cx="118872" cy="118872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5" action="ppaction://hlinksldjump" tooltip="13. Duplicate Review Outcom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6" name="Text 52">
            <a:hlinkClick r:id="rId16" tooltip="14. Pending Complaint Visibility" action="ppaction://hlinksldjump"/>
          </p:cNvPr>
          <p:cNvSpPr/>
          <p:nvPr/>
        </p:nvSpPr>
        <p:spPr>
          <a:xfrm>
            <a:off x="9649663" y="6528816"/>
            <a:ext cx="118872" cy="118872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6" action="ppaction://hlinksldjump" tooltip="14. Pending Complaint Visibilit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7" name="Text 53">
            <a:hlinkClick r:id="rId17" tooltip="15. Authority Opens the Complaint" action="ppaction://hlinksldjump"/>
          </p:cNvPr>
          <p:cNvSpPr/>
          <p:nvPr/>
        </p:nvSpPr>
        <p:spPr>
          <a:xfrm>
            <a:off x="9832543" y="6528816"/>
            <a:ext cx="118872" cy="118872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7" action="ppaction://hlinksldjump" tooltip="15. Authority Opens the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8" name="Text 54">
            <a:hlinkClick r:id="rId18" tooltip="16. Assign a Contractor and Start Work" action="ppaction://hlinksldjump"/>
          </p:cNvPr>
          <p:cNvSpPr/>
          <p:nvPr/>
        </p:nvSpPr>
        <p:spPr>
          <a:xfrm>
            <a:off x="10015423" y="6528816"/>
            <a:ext cx="118872" cy="118872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8" action="ppaction://hlinksldjump" tooltip="16. Assign a Contractor and Start Work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9" name="Text 55">
            <a:hlinkClick r:id="rId19" tooltip="17. The Complaint Moves to In Progress" action="ppaction://hlinksldjump"/>
          </p:cNvPr>
          <p:cNvSpPr/>
          <p:nvPr/>
        </p:nvSpPr>
        <p:spPr>
          <a:xfrm>
            <a:off x="10198303" y="6528816"/>
            <a:ext cx="118872" cy="118872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9" action="ppaction://hlinksldjump" tooltip="17. The Complaint Moves to In Progres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0" name="Text 56">
            <a:hlinkClick r:id="rId20" tooltip="18. Residents See the Progress Update" action="ppaction://hlinksldjump"/>
          </p:cNvPr>
          <p:cNvSpPr/>
          <p:nvPr/>
        </p:nvSpPr>
        <p:spPr>
          <a:xfrm>
            <a:off x="10381183" y="6528816"/>
            <a:ext cx="118872" cy="118872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0" action="ppaction://hlinksldjump" tooltip="18. Residents See the Progress Updat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1" name="Text 57">
            <a:hlinkClick r:id="rId21" tooltip="19. Resident Starts a Forum Discussion" action="ppaction://hlinksldjump"/>
          </p:cNvPr>
          <p:cNvSpPr/>
          <p:nvPr/>
        </p:nvSpPr>
        <p:spPr>
          <a:xfrm>
            <a:off x="10564063" y="6528816"/>
            <a:ext cx="118872" cy="118872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1" action="ppaction://hlinksldjump" tooltip="19. Resident Starts a Forum Discuss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2" name="Text 58">
            <a:hlinkClick r:id="rId22" tooltip="20. Everyone Is Notified" action="ppaction://hlinksldjump"/>
          </p:cNvPr>
          <p:cNvSpPr/>
          <p:nvPr/>
        </p:nvSpPr>
        <p:spPr>
          <a:xfrm>
            <a:off x="10746943" y="6528816"/>
            <a:ext cx="118872" cy="118872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2" action="ppaction://hlinksldjump" tooltip="20. Everyone Is Notifi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3" name="Text 59">
            <a:hlinkClick r:id="rId23" tooltip="21. Open the Post and Discuss" action="ppaction://hlinksldjump"/>
          </p:cNvPr>
          <p:cNvSpPr/>
          <p:nvPr/>
        </p:nvSpPr>
        <p:spPr>
          <a:xfrm>
            <a:off x="10929823" y="6528816"/>
            <a:ext cx="118872" cy="118872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3" action="ppaction://hlinksldjump" tooltip="21. Open the Post and Discus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4" name="Text 60">
            <a:hlinkClick r:id="rId24" tooltip="22. Authority Updates the Work" action="ppaction://hlinksldjump"/>
          </p:cNvPr>
          <p:cNvSpPr/>
          <p:nvPr/>
        </p:nvSpPr>
        <p:spPr>
          <a:xfrm>
            <a:off x="11112703" y="6528816"/>
            <a:ext cx="118872" cy="118872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4" action="ppaction://hlinksldjump" tooltip="22. Authority Updates the Work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5" name="Text 61">
            <a:hlinkClick r:id="rId25" tooltip="23. Authority Resolves the Complaint" action="ppaction://hlinksldjump"/>
          </p:cNvPr>
          <p:cNvSpPr/>
          <p:nvPr/>
        </p:nvSpPr>
        <p:spPr>
          <a:xfrm>
            <a:off x="11295583" y="6528816"/>
            <a:ext cx="118872" cy="118872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5" action="ppaction://hlinksldjump" tooltip="23. Authority Resolves the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6" name="Text 62">
            <a:hlinkClick r:id="rId26" tooltip="24. Residents Give Feedback" action="ppaction://hlinksldjump"/>
          </p:cNvPr>
          <p:cNvSpPr/>
          <p:nvPr/>
        </p:nvSpPr>
        <p:spPr>
          <a:xfrm>
            <a:off x="11478463" y="6528816"/>
            <a:ext cx="118872" cy="118872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6" action="ppaction://hlinksldjump" tooltip="24. Residents Give Feedback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7" name="Text 63">
            <a:hlinkClick r:id="rId27" tooltip="25. Feedback Is Public and Answered" action="ppaction://hlinksldjump"/>
          </p:cNvPr>
          <p:cNvSpPr/>
          <p:nvPr/>
        </p:nvSpPr>
        <p:spPr>
          <a:xfrm>
            <a:off x="11661343" y="6528816"/>
            <a:ext cx="118872" cy="118872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7" action="ppaction://hlinksldjump" tooltip="25. Feedback Is Public and Answer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8" name="Text 64"/>
          <p:cNvSpPr/>
          <p:nvPr/>
        </p:nvSpPr>
        <p:spPr>
          <a:xfrm>
            <a:off x="6449263" y="6510528"/>
            <a:ext cx="7132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25</a:t>
            </a:r>
            <a:endParaRPr lang="en-US" sz="11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2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2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2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2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2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2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2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2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2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2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2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2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475467"/>
          </a:solidFill>
          <a:ln/>
        </p:spPr>
      </p:sp>
      <p:sp>
        <p:nvSpPr>
          <p:cNvPr id="3" name="Shape 1"/>
          <p:cNvSpPr/>
          <p:nvPr/>
        </p:nvSpPr>
        <p:spPr>
          <a:xfrm>
            <a:off x="411480" y="329184"/>
            <a:ext cx="621792" cy="621792"/>
          </a:xfrm>
          <a:prstGeom prst="roundRect">
            <a:avLst>
              <a:gd name="adj" fmla="val 23529"/>
            </a:avLst>
          </a:prstGeom>
          <a:solidFill>
            <a:srgbClr val="475467"/>
          </a:solidFill>
          <a:ln w="12700">
            <a:solidFill>
              <a:srgbClr val="475467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411480" y="329184"/>
            <a:ext cx="62179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1188720" y="329184"/>
            <a:ext cx="768096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4754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 ·  ACCOUNT REGISTRATION AND VERIFICATION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52144" y="548640"/>
            <a:ext cx="8321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Verification Completed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10975543" y="475488"/>
            <a:ext cx="804672" cy="420624"/>
          </a:xfrm>
          <a:prstGeom prst="roundRect">
            <a:avLst>
              <a:gd name="adj" fmla="val 50000"/>
            </a:avLst>
          </a:prstGeom>
          <a:solidFill>
            <a:srgbClr val="B86A12"/>
          </a:solidFill>
          <a:ln w="12700">
            <a:solidFill>
              <a:srgbClr val="B86A12"/>
            </a:solidFill>
            <a:prstDash val="solid"/>
          </a:ln>
          <a:effectLst>
            <a:outerShdw sx="100000" sy="100000" kx="0" ky="0" algn="bl" rotWithShape="0" blurRad="76200" dist="12700" dir="5400000">
              <a:srgbClr val="0B2239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0975543" y="475488"/>
            <a:ext cx="80467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9728302" y="475488"/>
            <a:ext cx="1100938" cy="420624"/>
          </a:xfrm>
          <a:prstGeom prst="roundRect">
            <a:avLst>
              <a:gd name="adj" fmla="val 50000"/>
            </a:avLst>
          </a:prstGeom>
          <a:solidFill>
            <a:srgbClr val="2563A6"/>
          </a:solidFill>
          <a:ln w="12700">
            <a:solidFill>
              <a:srgbClr val="2563A6"/>
            </a:solidFill>
            <a:prstDash val="solid"/>
          </a:ln>
          <a:effectLst>
            <a:outerShdw sx="100000" sy="100000" kx="0" ky="0" algn="bl" rotWithShape="0" blurRad="76200" dist="12700" dir="5400000">
              <a:srgbClr val="0B2239">
                <a:alpha val="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9728302" y="475488"/>
            <a:ext cx="110093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11480" y="1216152"/>
            <a:ext cx="11368735" cy="18288"/>
          </a:xfrm>
          <a:prstGeom prst="rect">
            <a:avLst/>
          </a:prstGeom>
          <a:solidFill>
            <a:srgbClr val="DDE1E7"/>
          </a:solidFill>
          <a:ln/>
        </p:spPr>
      </p:sp>
      <p:sp>
        <p:nvSpPr>
          <p:cNvPr id="12" name="Shape 10"/>
          <p:cNvSpPr/>
          <p:nvPr/>
        </p:nvSpPr>
        <p:spPr>
          <a:xfrm>
            <a:off x="411480" y="1417320"/>
            <a:ext cx="4754880" cy="32004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DDE1E7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13" name="p7_1_c"/>
          <p:cNvSpPr/>
          <p:nvPr/>
        </p:nvSpPr>
        <p:spPr>
          <a:xfrm>
            <a:off x="685800" y="1664208"/>
            <a:ext cx="347472" cy="347472"/>
          </a:xfrm>
          <a:prstGeom prst="ellipse">
            <a:avLst/>
          </a:prstGeom>
          <a:solidFill>
            <a:srgbClr val="2563A6"/>
          </a:solidFill>
          <a:ln>
            <a:solidFill>
              <a:srgbClr val="2563A6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4" name="p7_1_t"/>
          <p:cNvSpPr/>
          <p:nvPr/>
        </p:nvSpPr>
        <p:spPr>
          <a:xfrm>
            <a:off x="1234440" y="1645920"/>
            <a:ext cx="365760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resident receives an SMS confirming account approval.</a:t>
            </a:r>
            <a:endParaRPr lang="en-US" sz="1800" dirty="0"/>
          </a:p>
        </p:txBody>
      </p:sp>
      <p:sp>
        <p:nvSpPr>
          <p:cNvPr id="15" name="p7_2_c"/>
          <p:cNvSpPr/>
          <p:nvPr/>
        </p:nvSpPr>
        <p:spPr>
          <a:xfrm>
            <a:off x="685800" y="2417064"/>
            <a:ext cx="347472" cy="347472"/>
          </a:xfrm>
          <a:prstGeom prst="ellipse">
            <a:avLst/>
          </a:prstGeom>
          <a:solidFill>
            <a:srgbClr val="B86A12"/>
          </a:solidFill>
          <a:ln>
            <a:solidFill>
              <a:srgbClr val="B86A12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6" name="p7_2_t"/>
          <p:cNvSpPr/>
          <p:nvPr/>
        </p:nvSpPr>
        <p:spPr>
          <a:xfrm>
            <a:off x="1234440" y="2398776"/>
            <a:ext cx="365760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Registered Accounts to view all approved profiles.</a:t>
            </a:r>
            <a:endParaRPr lang="en-US" sz="1800" dirty="0"/>
          </a:p>
        </p:txBody>
      </p:sp>
      <p:sp>
        <p:nvSpPr>
          <p:cNvPr id="17" name="p7_3_c"/>
          <p:cNvSpPr/>
          <p:nvPr/>
        </p:nvSpPr>
        <p:spPr>
          <a:xfrm>
            <a:off x="685800" y="3169920"/>
            <a:ext cx="347472" cy="347472"/>
          </a:xfrm>
          <a:prstGeom prst="ellipse">
            <a:avLst/>
          </a:prstGeom>
          <a:solidFill>
            <a:srgbClr val="B86A12"/>
          </a:solidFill>
          <a:ln>
            <a:solidFill>
              <a:srgbClr val="B86A12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p7_3_t"/>
          <p:cNvSpPr/>
          <p:nvPr/>
        </p:nvSpPr>
        <p:spPr>
          <a:xfrm>
            <a:off x="1234440" y="3151632"/>
            <a:ext cx="365760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account appears in the Registered Accounts list.</a:t>
            </a:r>
            <a:endParaRPr lang="en-US" sz="1800" dirty="0"/>
          </a:p>
        </p:txBody>
      </p:sp>
      <p:sp>
        <p:nvSpPr>
          <p:cNvPr id="19" name="p7_4_c"/>
          <p:cNvSpPr/>
          <p:nvPr/>
        </p:nvSpPr>
        <p:spPr>
          <a:xfrm>
            <a:off x="685800" y="3922776"/>
            <a:ext cx="347472" cy="347472"/>
          </a:xfrm>
          <a:prstGeom prst="ellipse">
            <a:avLst/>
          </a:prstGeom>
          <a:solidFill>
            <a:srgbClr val="B86A12"/>
          </a:solidFill>
          <a:ln>
            <a:solidFill>
              <a:srgbClr val="B86A12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0" name="p7_4_t"/>
          <p:cNvSpPr/>
          <p:nvPr/>
        </p:nvSpPr>
        <p:spPr>
          <a:xfrm>
            <a:off x="1234440" y="3904488"/>
            <a:ext cx="365760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account status changes to Verified.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411480" y="4727448"/>
            <a:ext cx="4754880" cy="1216152"/>
          </a:xfrm>
          <a:prstGeom prst="roundRect">
            <a:avLst>
              <a:gd name="adj" fmla="val 9023"/>
            </a:avLst>
          </a:prstGeom>
          <a:solidFill>
            <a:srgbClr val="F2F8FD"/>
          </a:solidFill>
          <a:ln w="12700">
            <a:solidFill>
              <a:srgbClr val="CFE3F4"/>
            </a:solidFill>
            <a:prstDash val="solid"/>
          </a:ln>
          <a:effectLst>
            <a:outerShdw sx="100000" sy="100000" kx="0" ky="0" algn="bl" rotWithShape="0" blurRad="76200" dist="12700" dir="5400000">
              <a:srgbClr val="0B2239">
                <a:alpha val="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30936" y="4782312"/>
            <a:ext cx="43159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56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SMS TO THE RESIDENT</a:t>
            </a:r>
            <a:endParaRPr lang="en-US" sz="1200" dirty="0"/>
          </a:p>
        </p:txBody>
      </p:sp>
      <p:sp>
        <p:nvSpPr>
          <p:cNvPr id="23" name="s7_sms_f"/>
          <p:cNvSpPr/>
          <p:nvPr/>
        </p:nvSpPr>
        <p:spPr>
          <a:xfrm>
            <a:off x="1120140" y="4965192"/>
            <a:ext cx="3337560" cy="1004888"/>
          </a:xfrm>
          <a:prstGeom prst="roundRect">
            <a:avLst>
              <a:gd name="adj" fmla="val 6370"/>
            </a:avLst>
          </a:prstGeom>
          <a:solidFill>
            <a:srgbClr val="FFFFFF"/>
          </a:solidFill>
          <a:ln w="12700">
            <a:solidFill>
              <a:srgbClr val="CFE3F4"/>
            </a:solidFill>
            <a:prstDash val="solid"/>
          </a:ln>
          <a:effectLst>
            <a:outerShdw sx="100000" sy="100000" kx="0" ky="0" algn="bl" rotWithShape="0" blurRad="76200" dist="12700" dir="5400000">
              <a:srgbClr val="0B2239">
                <a:alpha val="8000"/>
              </a:srgbClr>
            </a:outerShdw>
          </a:effectLst>
        </p:spPr>
      </p:sp>
      <p:pic>
        <p:nvPicPr>
          <p:cNvPr id="24" name="s7_sms" descr="C:/NogorShomadhan/User Manual/Phase 1/admin verification/10-resident-account-approved-sms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65860" y="5010912"/>
            <a:ext cx="3246120" cy="913448"/>
          </a:xfrm>
          <a:prstGeom prst="rect">
            <a:avLst/>
          </a:prstGeom>
        </p:spPr>
      </p:pic>
      <p:sp>
        <p:nvSpPr>
          <p:cNvPr id="25" name="Shape 22"/>
          <p:cNvSpPr/>
          <p:nvPr/>
        </p:nvSpPr>
        <p:spPr>
          <a:xfrm>
            <a:off x="5486400" y="1417320"/>
            <a:ext cx="6293815" cy="4526280"/>
          </a:xfrm>
          <a:prstGeom prst="roundRect">
            <a:avLst>
              <a:gd name="adj" fmla="val 2424"/>
            </a:avLst>
          </a:prstGeom>
          <a:solidFill>
            <a:srgbClr val="FFFAF2"/>
          </a:solidFill>
          <a:ln w="12700">
            <a:solidFill>
              <a:srgbClr val="F2DBBB"/>
            </a:solidFill>
            <a:prstDash val="solid"/>
          </a:ln>
          <a:effectLst>
            <a:outerShdw sx="100000" sy="100000" kx="0" ky="0" algn="bl" rotWithShape="0" blurRad="76200" dist="12700" dir="5400000">
              <a:srgbClr val="0B2239">
                <a:alpha val="8000"/>
              </a:srgbClr>
            </a:outerShdw>
          </a:effectLst>
        </p:spPr>
      </p:sp>
      <p:sp>
        <p:nvSpPr>
          <p:cNvPr id="26" name="Text 23"/>
          <p:cNvSpPr/>
          <p:nvPr/>
        </p:nvSpPr>
        <p:spPr>
          <a:xfrm>
            <a:off x="5661402" y="1517904"/>
            <a:ext cx="252228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dashboard</a:t>
            </a:r>
            <a:endParaRPr lang="en-US" sz="1600" dirty="0"/>
          </a:p>
        </p:txBody>
      </p:sp>
      <p:sp>
        <p:nvSpPr>
          <p:cNvPr id="27" name="Text 24"/>
          <p:cNvSpPr/>
          <p:nvPr/>
        </p:nvSpPr>
        <p:spPr>
          <a:xfrm>
            <a:off x="9079798" y="1517904"/>
            <a:ext cx="252541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Registered accounts</a:t>
            </a:r>
            <a:endParaRPr lang="en-US" sz="1600" dirty="0"/>
          </a:p>
        </p:txBody>
      </p:sp>
      <p:sp>
        <p:nvSpPr>
          <p:cNvPr id="28" name="Shape 25"/>
          <p:cNvSpPr/>
          <p:nvPr/>
        </p:nvSpPr>
        <p:spPr>
          <a:xfrm>
            <a:off x="5885430" y="1906524"/>
            <a:ext cx="2074229" cy="4014216"/>
          </a:xfrm>
          <a:prstGeom prst="roundRect">
            <a:avLst>
              <a:gd name="adj" fmla="val 3527"/>
            </a:avLst>
          </a:prstGeom>
          <a:solidFill>
            <a:srgbClr val="FFFFFF"/>
          </a:solidFill>
          <a:ln w="12700">
            <a:solidFill>
              <a:srgbClr val="F2DBBB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29" name="Image 1" descr="C:/NogorShomadhan/User Manual/Phase 1/admin registration accounts view/11-admin-dashboard-showing-registeredaccounts-option.jpe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5722" y="1956816"/>
            <a:ext cx="1973645" cy="3913632"/>
          </a:xfrm>
          <a:prstGeom prst="rect">
            <a:avLst/>
          </a:prstGeom>
        </p:spPr>
      </p:pic>
      <p:sp>
        <p:nvSpPr>
          <p:cNvPr id="30" name="Shape 26"/>
          <p:cNvSpPr/>
          <p:nvPr/>
        </p:nvSpPr>
        <p:spPr>
          <a:xfrm>
            <a:off x="9303826" y="1906524"/>
            <a:ext cx="2077360" cy="4014216"/>
          </a:xfrm>
          <a:prstGeom prst="roundRect">
            <a:avLst>
              <a:gd name="adj" fmla="val 3521"/>
            </a:avLst>
          </a:prstGeom>
          <a:solidFill>
            <a:srgbClr val="FFFFFF"/>
          </a:solidFill>
          <a:ln w="12700">
            <a:solidFill>
              <a:srgbClr val="F2DBBB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31" name="Image 2" descr="C:/NogorShomadhan/User Manual/Phase 1/admin registration accounts view/12-admin-registered-account-verified-list.jpe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54118" y="1956816"/>
            <a:ext cx="1976776" cy="3913632"/>
          </a:xfrm>
          <a:prstGeom prst="rect">
            <a:avLst/>
          </a:prstGeom>
        </p:spPr>
      </p:pic>
      <p:sp>
        <p:nvSpPr>
          <p:cNvPr id="32" name="arrow7"/>
          <p:cNvSpPr/>
          <p:nvPr/>
        </p:nvSpPr>
        <p:spPr>
          <a:xfrm>
            <a:off x="8220262" y="3657600"/>
            <a:ext cx="822960" cy="512064"/>
          </a:xfrm>
          <a:prstGeom prst="rightArrow">
            <a:avLst/>
          </a:prstGeom>
          <a:solidFill>
            <a:srgbClr val="B86A12"/>
          </a:solidFill>
          <a:ln w="12700">
            <a:solidFill>
              <a:srgbClr val="B86A12"/>
            </a:solidFill>
            <a:prstDash val="solid"/>
          </a:ln>
          <a:effectLst>
            <a:outerShdw sx="100000" sy="100000" kx="0" ky="0" algn="bl" rotWithShape="0" blurRad="76200" dist="12700" dir="5400000">
              <a:srgbClr val="0B2239">
                <a:alpha val="8000"/>
              </a:srgbClr>
            </a:outerShdw>
          </a:effectLst>
        </p:spPr>
      </p:sp>
      <p:sp>
        <p:nvSpPr>
          <p:cNvPr id="33" name="Shape 28"/>
          <p:cNvSpPr/>
          <p:nvPr/>
        </p:nvSpPr>
        <p:spPr>
          <a:xfrm>
            <a:off x="9660518" y="4737452"/>
            <a:ext cx="711639" cy="93927"/>
          </a:xfrm>
          <a:prstGeom prst="roundRect">
            <a:avLst>
              <a:gd name="adj" fmla="val 48676"/>
            </a:avLst>
          </a:prstGeom>
          <a:solidFill>
            <a:srgbClr val="A9B4C2"/>
          </a:solidFill>
          <a:ln w="12700">
            <a:solidFill>
              <a:srgbClr val="A9B4C2"/>
            </a:solidFill>
            <a:prstDash val="solid"/>
          </a:ln>
        </p:spPr>
      </p:sp>
      <p:sp>
        <p:nvSpPr>
          <p:cNvPr id="34" name="Shape 29"/>
          <p:cNvSpPr/>
          <p:nvPr/>
        </p:nvSpPr>
        <p:spPr>
          <a:xfrm>
            <a:off x="9660518" y="5034888"/>
            <a:ext cx="256981" cy="93927"/>
          </a:xfrm>
          <a:prstGeom prst="roundRect">
            <a:avLst>
              <a:gd name="adj" fmla="val 48676"/>
            </a:avLst>
          </a:prstGeom>
          <a:solidFill>
            <a:srgbClr val="A9B4C2"/>
          </a:solidFill>
          <a:ln w="12700">
            <a:solidFill>
              <a:srgbClr val="A9B4C2"/>
            </a:solidFill>
            <a:prstDash val="solid"/>
          </a:ln>
        </p:spPr>
      </p:sp>
      <p:sp>
        <p:nvSpPr>
          <p:cNvPr id="35" name="h7_2"/>
          <p:cNvSpPr/>
          <p:nvPr/>
        </p:nvSpPr>
        <p:spPr>
          <a:xfrm>
            <a:off x="6006773" y="4864645"/>
            <a:ext cx="1831542" cy="461809"/>
          </a:xfrm>
          <a:prstGeom prst="roundRect">
            <a:avLst>
              <a:gd name="adj" fmla="val 11880"/>
            </a:avLst>
          </a:prstGeom>
          <a:ln w="28575">
            <a:solidFill>
              <a:srgbClr val="B86A12"/>
            </a:solidFill>
            <a:prstDash val="solid"/>
          </a:ln>
        </p:spPr>
      </p:sp>
      <p:sp>
        <p:nvSpPr>
          <p:cNvPr id="36" name="b7_2"/>
          <p:cNvSpPr/>
          <p:nvPr/>
        </p:nvSpPr>
        <p:spPr>
          <a:xfrm>
            <a:off x="5812051" y="4681765"/>
            <a:ext cx="365760" cy="365760"/>
          </a:xfrm>
          <a:prstGeom prst="ellipse">
            <a:avLst/>
          </a:prstGeom>
          <a:solidFill>
            <a:srgbClr val="B86A12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37" name="b7_2_t"/>
          <p:cNvSpPr/>
          <p:nvPr/>
        </p:nvSpPr>
        <p:spPr>
          <a:xfrm>
            <a:off x="5812051" y="4681765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38" name="h7_3"/>
          <p:cNvSpPr/>
          <p:nvPr/>
        </p:nvSpPr>
        <p:spPr>
          <a:xfrm>
            <a:off x="9425282" y="4140623"/>
            <a:ext cx="1834448" cy="1260190"/>
          </a:xfrm>
          <a:prstGeom prst="roundRect">
            <a:avLst>
              <a:gd name="adj" fmla="val 4354"/>
            </a:avLst>
          </a:prstGeom>
          <a:ln w="28575">
            <a:solidFill>
              <a:srgbClr val="B86A12"/>
            </a:solidFill>
            <a:prstDash val="solid"/>
          </a:ln>
        </p:spPr>
      </p:sp>
      <p:sp>
        <p:nvSpPr>
          <p:cNvPr id="39" name="b7_3"/>
          <p:cNvSpPr/>
          <p:nvPr/>
        </p:nvSpPr>
        <p:spPr>
          <a:xfrm>
            <a:off x="9230541" y="3957743"/>
            <a:ext cx="365760" cy="365760"/>
          </a:xfrm>
          <a:prstGeom prst="ellipse">
            <a:avLst/>
          </a:prstGeom>
          <a:solidFill>
            <a:srgbClr val="B86A12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40" name="b7_3_t"/>
          <p:cNvSpPr/>
          <p:nvPr/>
        </p:nvSpPr>
        <p:spPr>
          <a:xfrm>
            <a:off x="9230541" y="3957743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41" name="h7_4"/>
          <p:cNvSpPr/>
          <p:nvPr/>
        </p:nvSpPr>
        <p:spPr>
          <a:xfrm>
            <a:off x="10840653" y="4234550"/>
            <a:ext cx="365703" cy="117409"/>
          </a:xfrm>
          <a:prstGeom prst="roundRect">
            <a:avLst>
              <a:gd name="adj" fmla="val 46729"/>
            </a:avLst>
          </a:prstGeom>
          <a:ln w="28575">
            <a:solidFill>
              <a:srgbClr val="B86A12"/>
            </a:solidFill>
            <a:prstDash val="solid"/>
          </a:ln>
        </p:spPr>
      </p:sp>
      <p:sp>
        <p:nvSpPr>
          <p:cNvPr id="42" name="b7_4"/>
          <p:cNvSpPr/>
          <p:nvPr/>
        </p:nvSpPr>
        <p:spPr>
          <a:xfrm>
            <a:off x="10466026" y="4036015"/>
            <a:ext cx="365760" cy="365760"/>
          </a:xfrm>
          <a:prstGeom prst="ellipse">
            <a:avLst/>
          </a:prstGeom>
          <a:solidFill>
            <a:srgbClr val="B86A12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43" name="b7_4_t"/>
          <p:cNvSpPr/>
          <p:nvPr/>
        </p:nvSpPr>
        <p:spPr>
          <a:xfrm>
            <a:off x="10466026" y="4036015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44" name="b7_1"/>
          <p:cNvSpPr/>
          <p:nvPr/>
        </p:nvSpPr>
        <p:spPr>
          <a:xfrm>
            <a:off x="804443" y="5284756"/>
            <a:ext cx="365760" cy="365760"/>
          </a:xfrm>
          <a:prstGeom prst="ellipse">
            <a:avLst/>
          </a:prstGeom>
          <a:solidFill>
            <a:srgbClr val="2563A6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45" name="b7_1_t"/>
          <p:cNvSpPr/>
          <p:nvPr/>
        </p:nvSpPr>
        <p:spPr>
          <a:xfrm>
            <a:off x="804443" y="5284756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6" name="out7_bg"/>
          <p:cNvSpPr/>
          <p:nvPr/>
        </p:nvSpPr>
        <p:spPr>
          <a:xfrm>
            <a:off x="411480" y="6035040"/>
            <a:ext cx="11368735" cy="457200"/>
          </a:xfrm>
          <a:prstGeom prst="roundRect">
            <a:avLst>
              <a:gd name="adj" fmla="val 20000"/>
            </a:avLst>
          </a:prstGeom>
          <a:solidFill>
            <a:srgbClr val="17324D"/>
          </a:solidFill>
          <a:ln w="12700">
            <a:solidFill>
              <a:srgbClr val="17324D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47" name="out7_tx"/>
          <p:cNvSpPr/>
          <p:nvPr/>
        </p:nvSpPr>
        <p:spPr>
          <a:xfrm>
            <a:off x="411480" y="6035040"/>
            <a:ext cx="1136873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resident can now sign in and begin reporting community problems.</a:t>
            </a:r>
            <a:endParaRPr lang="en-US" sz="1850" dirty="0"/>
          </a:p>
        </p:txBody>
      </p:sp>
      <p:sp>
        <p:nvSpPr>
          <p:cNvPr id="48" name="Text 43"/>
          <p:cNvSpPr/>
          <p:nvPr/>
        </p:nvSpPr>
        <p:spPr>
          <a:xfrm>
            <a:off x="411480" y="6510528"/>
            <a:ext cx="4114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Nogor Shomadhan  ·  User Manual</a:t>
            </a:r>
            <a:endParaRPr lang="en-US" sz="1100" dirty="0"/>
          </a:p>
        </p:txBody>
      </p:sp>
      <p:sp>
        <p:nvSpPr>
          <p:cNvPr id="49" name="Text 44">
            <a:hlinkClick r:id="rId4" tooltip="1. Problem Statement" action="ppaction://hlinksldjump"/>
          </p:cNvPr>
          <p:cNvSpPr/>
          <p:nvPr/>
        </p:nvSpPr>
        <p:spPr>
          <a:xfrm>
            <a:off x="727222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action="ppaction://hlinksldjump" tooltip="1. Problem Stateme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0" name="Text 45">
            <a:hlinkClick r:id="rId5" tooltip="2. Stakeholders and Responsibilities" action="ppaction://hlinksldjump"/>
          </p:cNvPr>
          <p:cNvSpPr/>
          <p:nvPr/>
        </p:nvSpPr>
        <p:spPr>
          <a:xfrm>
            <a:off x="745510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action="ppaction://hlinksldjump" tooltip="2. Stakeholders and Responsibiliti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1" name="Text 46">
            <a:hlinkClick r:id="rId6" tooltip="3. Resident Account Registration" action="ppaction://hlinksldjump"/>
          </p:cNvPr>
          <p:cNvSpPr/>
          <p:nvPr/>
        </p:nvSpPr>
        <p:spPr>
          <a:xfrm>
            <a:off x="763798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 action="ppaction://hlinksldjump" tooltip="3. Resident Account Registra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2" name="Text 47">
            <a:hlinkClick r:id="rId7" tooltip="4. Registration Request Submitted" action="ppaction://hlinksldjump"/>
          </p:cNvPr>
          <p:cNvSpPr/>
          <p:nvPr/>
        </p:nvSpPr>
        <p:spPr>
          <a:xfrm>
            <a:off x="782086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 action="ppaction://hlinksldjump" tooltip="4. Registration Request Submit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3" name="Text 48">
            <a:hlinkClick r:id="rId8" tooltip="5. Admin Receives the Verification Request" action="ppaction://hlinksldjump"/>
          </p:cNvPr>
          <p:cNvSpPr/>
          <p:nvPr/>
        </p:nvSpPr>
        <p:spPr>
          <a:xfrm>
            <a:off x="800374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" action="ppaction://hlinksldjump" tooltip="5. Admin Receives the Verification Reques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4" name="Text 49">
            <a:hlinkClick r:id="rId9" tooltip="6. Admin Reviews and Approves the Account" action="ppaction://hlinksldjump"/>
          </p:cNvPr>
          <p:cNvSpPr/>
          <p:nvPr/>
        </p:nvSpPr>
        <p:spPr>
          <a:xfrm>
            <a:off x="818662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" action="ppaction://hlinksldjump" tooltip="6. Admin Reviews and Approves the Accou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5" name="Text 50">
            <a:hlinkClick r:id="rId10" tooltip="7. Account Verification Completed" action="ppaction://hlinksldjump"/>
          </p:cNvPr>
          <p:cNvSpPr/>
          <p:nvPr/>
        </p:nvSpPr>
        <p:spPr>
          <a:xfrm>
            <a:off x="8369503" y="6528816"/>
            <a:ext cx="118872" cy="118872"/>
          </a:xfrm>
          <a:prstGeom prst="ellipse">
            <a:avLst/>
          </a:prstGeom>
          <a:solidFill>
            <a:srgbClr val="475467"/>
          </a:solidFill>
          <a:ln>
            <a:solidFill>
              <a:srgbClr val="4754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0" action="ppaction://hlinksldjump" tooltip="7. Account Verification Comple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6" name="Text 51">
            <a:hlinkClick r:id="rId11" tooltip="8. Create a New Complaint" action="ppaction://hlinksldjump"/>
          </p:cNvPr>
          <p:cNvSpPr/>
          <p:nvPr/>
        </p:nvSpPr>
        <p:spPr>
          <a:xfrm>
            <a:off x="855238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1" action="ppaction://hlinksldjump" tooltip="8. Create a New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7" name="Text 52">
            <a:hlinkClick r:id="rId12" tooltip="9. Add Evidence and Review the Category" action="ppaction://hlinksldjump"/>
          </p:cNvPr>
          <p:cNvSpPr/>
          <p:nvPr/>
        </p:nvSpPr>
        <p:spPr>
          <a:xfrm>
            <a:off x="873526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2" action="ppaction://hlinksldjump" tooltip="9. Add Evidence and Review the Categor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8" name="Text 53">
            <a:hlinkClick r:id="rId13" tooltip="10. Confirm the Complaint Submission" action="ppaction://hlinksldjump"/>
          </p:cNvPr>
          <p:cNvSpPr/>
          <p:nvPr/>
        </p:nvSpPr>
        <p:spPr>
          <a:xfrm>
            <a:off x="891814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3" action="ppaction://hlinksldjump" tooltip="10. Confirm the Complaint Submiss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9" name="Text 54">
            <a:hlinkClick r:id="rId14" tooltip="11. Admin Opens the Review Queue" action="ppaction://hlinksldjump"/>
          </p:cNvPr>
          <p:cNvSpPr/>
          <p:nvPr/>
        </p:nvSpPr>
        <p:spPr>
          <a:xfrm>
            <a:off x="910102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4" action="ppaction://hlinksldjump" tooltip="11. Admin Opens the Review Queu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0" name="Text 55">
            <a:hlinkClick r:id="rId15" tooltip="12. Complaint Check and Duplicate Comparison" action="ppaction://hlinksldjump"/>
          </p:cNvPr>
          <p:cNvSpPr/>
          <p:nvPr/>
        </p:nvSpPr>
        <p:spPr>
          <a:xfrm>
            <a:off x="928390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5" action="ppaction://hlinksldjump" tooltip="12. Complaint Check and Duplicate Compari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1" name="Text 56">
            <a:hlinkClick r:id="rId16" tooltip="13. Duplicate Review Outcomes" action="ppaction://hlinksldjump"/>
          </p:cNvPr>
          <p:cNvSpPr/>
          <p:nvPr/>
        </p:nvSpPr>
        <p:spPr>
          <a:xfrm>
            <a:off x="946678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6" action="ppaction://hlinksldjump" tooltip="13. Duplicate Review Outcom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2" name="Text 57">
            <a:hlinkClick r:id="rId17" tooltip="14. Pending Complaint Visibility" action="ppaction://hlinksldjump"/>
          </p:cNvPr>
          <p:cNvSpPr/>
          <p:nvPr/>
        </p:nvSpPr>
        <p:spPr>
          <a:xfrm>
            <a:off x="964966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7" action="ppaction://hlinksldjump" tooltip="14. Pending Complaint Visibilit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3" name="Text 58">
            <a:hlinkClick r:id="rId18" tooltip="15. Authority Opens the Complaint" action="ppaction://hlinksldjump"/>
          </p:cNvPr>
          <p:cNvSpPr/>
          <p:nvPr/>
        </p:nvSpPr>
        <p:spPr>
          <a:xfrm>
            <a:off x="983254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8" action="ppaction://hlinksldjump" tooltip="15. Authority Opens the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4" name="Text 59">
            <a:hlinkClick r:id="rId19" tooltip="16. Assign a Contractor and Start Work" action="ppaction://hlinksldjump"/>
          </p:cNvPr>
          <p:cNvSpPr/>
          <p:nvPr/>
        </p:nvSpPr>
        <p:spPr>
          <a:xfrm>
            <a:off x="1001542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9" action="ppaction://hlinksldjump" tooltip="16. Assign a Contractor and Start Work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5" name="Text 60">
            <a:hlinkClick r:id="rId20" tooltip="17. The Complaint Moves to In Progress" action="ppaction://hlinksldjump"/>
          </p:cNvPr>
          <p:cNvSpPr/>
          <p:nvPr/>
        </p:nvSpPr>
        <p:spPr>
          <a:xfrm>
            <a:off x="1019830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0" action="ppaction://hlinksldjump" tooltip="17. The Complaint Moves to In Progres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6" name="Text 61">
            <a:hlinkClick r:id="rId21" tooltip="18. Residents See the Progress Update" action="ppaction://hlinksldjump"/>
          </p:cNvPr>
          <p:cNvSpPr/>
          <p:nvPr/>
        </p:nvSpPr>
        <p:spPr>
          <a:xfrm>
            <a:off x="1038118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1" action="ppaction://hlinksldjump" tooltip="18. Residents See the Progress Updat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7" name="Text 62">
            <a:hlinkClick r:id="rId22" tooltip="19. Resident Starts a Forum Discussion" action="ppaction://hlinksldjump"/>
          </p:cNvPr>
          <p:cNvSpPr/>
          <p:nvPr/>
        </p:nvSpPr>
        <p:spPr>
          <a:xfrm>
            <a:off x="1056406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2" action="ppaction://hlinksldjump" tooltip="19. Resident Starts a Forum Discuss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8" name="Text 63">
            <a:hlinkClick r:id="rId23" tooltip="20. Everyone Is Notified" action="ppaction://hlinksldjump"/>
          </p:cNvPr>
          <p:cNvSpPr/>
          <p:nvPr/>
        </p:nvSpPr>
        <p:spPr>
          <a:xfrm>
            <a:off x="1074694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3" action="ppaction://hlinksldjump" tooltip="20. Everyone Is Notifi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9" name="Text 64">
            <a:hlinkClick r:id="rId24" tooltip="21. Open the Post and Discuss" action="ppaction://hlinksldjump"/>
          </p:cNvPr>
          <p:cNvSpPr/>
          <p:nvPr/>
        </p:nvSpPr>
        <p:spPr>
          <a:xfrm>
            <a:off x="1092982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4" action="ppaction://hlinksldjump" tooltip="21. Open the Post and Discus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70" name="Text 65">
            <a:hlinkClick r:id="rId25" tooltip="22. Authority Updates the Work" action="ppaction://hlinksldjump"/>
          </p:cNvPr>
          <p:cNvSpPr/>
          <p:nvPr/>
        </p:nvSpPr>
        <p:spPr>
          <a:xfrm>
            <a:off x="1111270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5" action="ppaction://hlinksldjump" tooltip="22. Authority Updates the Work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71" name="Text 66">
            <a:hlinkClick r:id="rId26" tooltip="23. Authority Resolves the Complaint" action="ppaction://hlinksldjump"/>
          </p:cNvPr>
          <p:cNvSpPr/>
          <p:nvPr/>
        </p:nvSpPr>
        <p:spPr>
          <a:xfrm>
            <a:off x="1129558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6" action="ppaction://hlinksldjump" tooltip="23. Authority Resolves the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72" name="Text 67">
            <a:hlinkClick r:id="rId27" tooltip="24. Residents Give Feedback" action="ppaction://hlinksldjump"/>
          </p:cNvPr>
          <p:cNvSpPr/>
          <p:nvPr/>
        </p:nvSpPr>
        <p:spPr>
          <a:xfrm>
            <a:off x="1147846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7" action="ppaction://hlinksldjump" tooltip="24. Residents Give Feedback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73" name="Text 68">
            <a:hlinkClick r:id="rId28" tooltip="25. Feedback Is Public and Answered" action="ppaction://hlinksldjump"/>
          </p:cNvPr>
          <p:cNvSpPr/>
          <p:nvPr/>
        </p:nvSpPr>
        <p:spPr>
          <a:xfrm>
            <a:off x="1166134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8" action="ppaction://hlinksldjump" tooltip="25. Feedback Is Public and Answer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74" name="Text 69"/>
          <p:cNvSpPr/>
          <p:nvPr/>
        </p:nvSpPr>
        <p:spPr>
          <a:xfrm>
            <a:off x="6449263" y="6510528"/>
            <a:ext cx="7132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25</a:t>
            </a:r>
            <a:endParaRPr lang="en-US" sz="11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2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2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2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2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2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2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2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2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2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2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2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2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2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42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42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2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AF4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2563A6"/>
          </a:solidFill>
          <a:ln/>
        </p:spPr>
      </p:sp>
      <p:sp>
        <p:nvSpPr>
          <p:cNvPr id="3" name="Shape 1"/>
          <p:cNvSpPr/>
          <p:nvPr/>
        </p:nvSpPr>
        <p:spPr>
          <a:xfrm>
            <a:off x="411480" y="329184"/>
            <a:ext cx="621792" cy="621792"/>
          </a:xfrm>
          <a:prstGeom prst="roundRect">
            <a:avLst>
              <a:gd name="adj" fmla="val 23529"/>
            </a:avLst>
          </a:prstGeom>
          <a:solidFill>
            <a:srgbClr val="2563A6"/>
          </a:solidFill>
          <a:ln w="12700">
            <a:solidFill>
              <a:srgbClr val="2563A6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411480" y="329184"/>
            <a:ext cx="62179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1188720" y="329184"/>
            <a:ext cx="768096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256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 ·  RESIDENT SUBMITS A COMPLAINT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52144" y="548640"/>
            <a:ext cx="8321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 New Complaint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10679278" y="475488"/>
            <a:ext cx="1100938" cy="420624"/>
          </a:xfrm>
          <a:prstGeom prst="roundRect">
            <a:avLst>
              <a:gd name="adj" fmla="val 50000"/>
            </a:avLst>
          </a:prstGeom>
          <a:solidFill>
            <a:srgbClr val="2563A6"/>
          </a:solidFill>
          <a:ln w="12700">
            <a:solidFill>
              <a:srgbClr val="2563A6"/>
            </a:solidFill>
            <a:prstDash val="solid"/>
          </a:ln>
          <a:effectLst>
            <a:outerShdw sx="100000" sy="100000" kx="0" ky="0" algn="bl" rotWithShape="0" blurRad="76200" dist="12700" dir="5400000">
              <a:srgbClr val="0B2239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0679278" y="475488"/>
            <a:ext cx="110093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11480" y="1216152"/>
            <a:ext cx="11368735" cy="18288"/>
          </a:xfrm>
          <a:prstGeom prst="rect">
            <a:avLst/>
          </a:prstGeom>
          <a:solidFill>
            <a:srgbClr val="CFE3F4"/>
          </a:solidFill>
          <a:ln/>
        </p:spPr>
      </p:sp>
      <p:sp>
        <p:nvSpPr>
          <p:cNvPr id="10" name="Shape 8"/>
          <p:cNvSpPr/>
          <p:nvPr/>
        </p:nvSpPr>
        <p:spPr>
          <a:xfrm>
            <a:off x="411480" y="1389888"/>
            <a:ext cx="11368735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CFE3F4"/>
            </a:solidFill>
            <a:prstDash val="solid"/>
          </a:ln>
          <a:effectLst>
            <a:outerShdw sx="100000" sy="100000" kx="0" ky="0" algn="bl" rotWithShape="0" blurRad="76200" dist="12700" dir="5400000">
              <a:srgbClr val="0B2239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11480" y="1389888"/>
            <a:ext cx="82296" cy="694944"/>
          </a:xfrm>
          <a:prstGeom prst="rect">
            <a:avLst/>
          </a:prstGeom>
          <a:solidFill>
            <a:srgbClr val="2563A6"/>
          </a:solidFill>
          <a:ln/>
        </p:spPr>
      </p:sp>
      <p:sp>
        <p:nvSpPr>
          <p:cNvPr id="12" name="Text 10"/>
          <p:cNvSpPr/>
          <p:nvPr/>
        </p:nvSpPr>
        <p:spPr>
          <a:xfrm>
            <a:off x="704088" y="1389888"/>
            <a:ext cx="10783519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resident opens the complaint form and provides clear information about the community issue and its location.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411480" y="2176272"/>
            <a:ext cx="3474720" cy="4151376"/>
          </a:xfrm>
          <a:prstGeom prst="roundRect">
            <a:avLst>
              <a:gd name="adj" fmla="val 2632"/>
            </a:avLst>
          </a:prstGeom>
          <a:solidFill>
            <a:srgbClr val="FFFFFF"/>
          </a:solidFill>
          <a:ln w="12700">
            <a:solidFill>
              <a:srgbClr val="CFE3F4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14" name="p8_1_c"/>
          <p:cNvSpPr/>
          <p:nvPr/>
        </p:nvSpPr>
        <p:spPr>
          <a:xfrm>
            <a:off x="667512" y="2505456"/>
            <a:ext cx="347472" cy="347472"/>
          </a:xfrm>
          <a:prstGeom prst="ellipse">
            <a:avLst/>
          </a:prstGeom>
          <a:solidFill>
            <a:srgbClr val="2563A6"/>
          </a:solidFill>
          <a:ln>
            <a:solidFill>
              <a:srgbClr val="2563A6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5" name="p8_1_t"/>
          <p:cNvSpPr/>
          <p:nvPr/>
        </p:nvSpPr>
        <p:spPr>
          <a:xfrm>
            <a:off x="1216152" y="2487168"/>
            <a:ext cx="2414016" cy="9052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Complaints from the Resident Dashboard.</a:t>
            </a:r>
            <a:endParaRPr lang="en-US" sz="1800" dirty="0"/>
          </a:p>
        </p:txBody>
      </p:sp>
      <p:sp>
        <p:nvSpPr>
          <p:cNvPr id="16" name="p8_2_c"/>
          <p:cNvSpPr/>
          <p:nvPr/>
        </p:nvSpPr>
        <p:spPr>
          <a:xfrm>
            <a:off x="667512" y="3589020"/>
            <a:ext cx="347472" cy="347472"/>
          </a:xfrm>
          <a:prstGeom prst="ellipse">
            <a:avLst/>
          </a:prstGeom>
          <a:solidFill>
            <a:srgbClr val="2563A6"/>
          </a:solidFill>
          <a:ln>
            <a:solidFill>
              <a:srgbClr val="2563A6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7" name="p8_2_t"/>
          <p:cNvSpPr/>
          <p:nvPr/>
        </p:nvSpPr>
        <p:spPr>
          <a:xfrm>
            <a:off x="1216152" y="3570732"/>
            <a:ext cx="2414016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New Complaint tab.</a:t>
            </a:r>
            <a:endParaRPr lang="en-US" sz="1800" dirty="0"/>
          </a:p>
        </p:txBody>
      </p:sp>
      <p:sp>
        <p:nvSpPr>
          <p:cNvPr id="18" name="p8_3_c"/>
          <p:cNvSpPr/>
          <p:nvPr/>
        </p:nvSpPr>
        <p:spPr>
          <a:xfrm>
            <a:off x="667512" y="4389120"/>
            <a:ext cx="347472" cy="347472"/>
          </a:xfrm>
          <a:prstGeom prst="ellipse">
            <a:avLst/>
          </a:prstGeom>
          <a:solidFill>
            <a:srgbClr val="2563A6"/>
          </a:solidFill>
          <a:ln>
            <a:solidFill>
              <a:srgbClr val="2563A6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p8_3_t"/>
          <p:cNvSpPr/>
          <p:nvPr/>
        </p:nvSpPr>
        <p:spPr>
          <a:xfrm>
            <a:off x="1216152" y="4370832"/>
            <a:ext cx="2414016" cy="17556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 the complaint title, description, incident address, nearby landmark, and additional location details.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4480768" y="2125980"/>
            <a:ext cx="2228164" cy="4251960"/>
          </a:xfrm>
          <a:prstGeom prst="roundRect">
            <a:avLst>
              <a:gd name="adj" fmla="val 3283"/>
            </a:avLst>
          </a:prstGeom>
          <a:solidFill>
            <a:srgbClr val="FFFFFF"/>
          </a:solidFill>
          <a:ln w="12700">
            <a:solidFill>
              <a:srgbClr val="CFE3F4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21" name="Image 0" descr="C:/NogorShomadhan/User Manual/Phase 2/resident submits complaint/13-resident-dashboard selecting-complaint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31060" y="2176272"/>
            <a:ext cx="2127580" cy="4151376"/>
          </a:xfrm>
          <a:prstGeom prst="rect">
            <a:avLst/>
          </a:prstGeom>
        </p:spPr>
      </p:pic>
      <p:sp>
        <p:nvSpPr>
          <p:cNvPr id="22" name="Shape 19"/>
          <p:cNvSpPr/>
          <p:nvPr/>
        </p:nvSpPr>
        <p:spPr>
          <a:xfrm>
            <a:off x="6882669" y="2125980"/>
            <a:ext cx="2218616" cy="4251960"/>
          </a:xfrm>
          <a:prstGeom prst="roundRect">
            <a:avLst>
              <a:gd name="adj" fmla="val 3297"/>
            </a:avLst>
          </a:prstGeom>
          <a:solidFill>
            <a:srgbClr val="FFFFFF"/>
          </a:solidFill>
          <a:ln w="12700">
            <a:solidFill>
              <a:srgbClr val="CFE3F4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23" name="Image 1" descr="C:/NogorShomadhan/User Manual/Phase 2/resident submits complaint/14-resident-opens-submit-complain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32961" y="2176272"/>
            <a:ext cx="2118032" cy="4151376"/>
          </a:xfrm>
          <a:prstGeom prst="rect">
            <a:avLst/>
          </a:prstGeom>
        </p:spPr>
      </p:pic>
      <p:sp>
        <p:nvSpPr>
          <p:cNvPr id="24" name="Shape 20"/>
          <p:cNvSpPr/>
          <p:nvPr/>
        </p:nvSpPr>
        <p:spPr>
          <a:xfrm>
            <a:off x="9275021" y="2125980"/>
            <a:ext cx="2221522" cy="4251960"/>
          </a:xfrm>
          <a:prstGeom prst="roundRect">
            <a:avLst>
              <a:gd name="adj" fmla="val 3293"/>
            </a:avLst>
          </a:prstGeom>
          <a:solidFill>
            <a:srgbClr val="FFFFFF"/>
          </a:solidFill>
          <a:ln w="12700">
            <a:solidFill>
              <a:srgbClr val="CFE3F4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25" name="Image 2" descr="C:/NogorShomadhan/User Manual/Phase 2/resident submits complaint/15-add-title-description-addres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5313" y="2176272"/>
            <a:ext cx="2120938" cy="4151376"/>
          </a:xfrm>
          <a:prstGeom prst="rect">
            <a:avLst/>
          </a:prstGeom>
        </p:spPr>
      </p:pic>
      <p:sp>
        <p:nvSpPr>
          <p:cNvPr id="26" name="Shape 21"/>
          <p:cNvSpPr/>
          <p:nvPr/>
        </p:nvSpPr>
        <p:spPr>
          <a:xfrm>
            <a:off x="6686073" y="4078224"/>
            <a:ext cx="219456" cy="347472"/>
          </a:xfrm>
          <a:prstGeom prst="chevron">
            <a:avLst/>
          </a:prstGeom>
          <a:solidFill>
            <a:srgbClr val="2563A6"/>
          </a:solidFill>
          <a:ln w="12700">
            <a:solidFill>
              <a:srgbClr val="2563A6"/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9078425" y="4078224"/>
            <a:ext cx="219456" cy="347472"/>
          </a:xfrm>
          <a:prstGeom prst="chevron">
            <a:avLst/>
          </a:prstGeom>
          <a:solidFill>
            <a:srgbClr val="2563A6"/>
          </a:solidFill>
          <a:ln w="12700">
            <a:solidFill>
              <a:srgbClr val="2563A6"/>
            </a:solidFill>
            <a:prstDash val="solid"/>
          </a:ln>
        </p:spPr>
      </p:sp>
      <p:sp>
        <p:nvSpPr>
          <p:cNvPr id="28" name="h8_1"/>
          <p:cNvSpPr/>
          <p:nvPr/>
        </p:nvSpPr>
        <p:spPr>
          <a:xfrm>
            <a:off x="5158697" y="6095171"/>
            <a:ext cx="372327" cy="190963"/>
          </a:xfrm>
          <a:prstGeom prst="roundRect">
            <a:avLst>
              <a:gd name="adj" fmla="val 28730"/>
            </a:avLst>
          </a:prstGeom>
          <a:ln w="28575">
            <a:solidFill>
              <a:srgbClr val="2563A6"/>
            </a:solidFill>
            <a:prstDash val="solid"/>
          </a:ln>
        </p:spPr>
      </p:sp>
      <p:sp>
        <p:nvSpPr>
          <p:cNvPr id="29" name="b8_1"/>
          <p:cNvSpPr/>
          <p:nvPr/>
        </p:nvSpPr>
        <p:spPr>
          <a:xfrm>
            <a:off x="5163044" y="5721328"/>
            <a:ext cx="365760" cy="365760"/>
          </a:xfrm>
          <a:prstGeom prst="ellipse">
            <a:avLst/>
          </a:prstGeom>
          <a:solidFill>
            <a:srgbClr val="2563A6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30" name="b8_1_t"/>
          <p:cNvSpPr/>
          <p:nvPr/>
        </p:nvSpPr>
        <p:spPr>
          <a:xfrm>
            <a:off x="5163044" y="572132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31" name="h8_2"/>
          <p:cNvSpPr/>
          <p:nvPr/>
        </p:nvSpPr>
        <p:spPr>
          <a:xfrm>
            <a:off x="7021918" y="2641226"/>
            <a:ext cx="677770" cy="224174"/>
          </a:xfrm>
          <a:prstGeom prst="roundRect">
            <a:avLst>
              <a:gd name="adj" fmla="val 24474"/>
            </a:avLst>
          </a:prstGeom>
          <a:ln w="28575">
            <a:solidFill>
              <a:srgbClr val="2563A6"/>
            </a:solidFill>
            <a:prstDash val="solid"/>
          </a:ln>
        </p:spPr>
      </p:sp>
      <p:sp>
        <p:nvSpPr>
          <p:cNvPr id="32" name="b8_2"/>
          <p:cNvSpPr/>
          <p:nvPr/>
        </p:nvSpPr>
        <p:spPr>
          <a:xfrm>
            <a:off x="6881399" y="2890089"/>
            <a:ext cx="365760" cy="365760"/>
          </a:xfrm>
          <a:prstGeom prst="ellipse">
            <a:avLst/>
          </a:prstGeom>
          <a:solidFill>
            <a:srgbClr val="2563A6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33" name="b8_2_t"/>
          <p:cNvSpPr/>
          <p:nvPr/>
        </p:nvSpPr>
        <p:spPr>
          <a:xfrm>
            <a:off x="6881399" y="2890089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34" name="h8_3a"/>
          <p:cNvSpPr/>
          <p:nvPr/>
        </p:nvSpPr>
        <p:spPr>
          <a:xfrm>
            <a:off x="9431360" y="3155997"/>
            <a:ext cx="1908844" cy="896697"/>
          </a:xfrm>
          <a:prstGeom prst="roundRect">
            <a:avLst>
              <a:gd name="adj" fmla="val 6118"/>
            </a:avLst>
          </a:prstGeom>
          <a:ln w="28575">
            <a:solidFill>
              <a:srgbClr val="2563A6"/>
            </a:solidFill>
            <a:prstDash val="solid"/>
          </a:ln>
        </p:spPr>
      </p:sp>
      <p:sp>
        <p:nvSpPr>
          <p:cNvPr id="35" name="h8_3b"/>
          <p:cNvSpPr/>
          <p:nvPr/>
        </p:nvSpPr>
        <p:spPr>
          <a:xfrm>
            <a:off x="9431360" y="4119116"/>
            <a:ext cx="1908844" cy="1619037"/>
          </a:xfrm>
          <a:prstGeom prst="roundRect">
            <a:avLst>
              <a:gd name="adj" fmla="val 3389"/>
            </a:avLst>
          </a:prstGeom>
          <a:ln w="28575">
            <a:solidFill>
              <a:srgbClr val="2563A6"/>
            </a:solidFill>
            <a:prstDash val="solid"/>
          </a:ln>
        </p:spPr>
      </p:sp>
      <p:sp>
        <p:nvSpPr>
          <p:cNvPr id="36" name="b8_3"/>
          <p:cNvSpPr/>
          <p:nvPr/>
        </p:nvSpPr>
        <p:spPr>
          <a:xfrm>
            <a:off x="9248480" y="3936236"/>
            <a:ext cx="365760" cy="365760"/>
          </a:xfrm>
          <a:prstGeom prst="ellipse">
            <a:avLst/>
          </a:prstGeom>
          <a:solidFill>
            <a:srgbClr val="2563A6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37" name="b8_3_t"/>
          <p:cNvSpPr/>
          <p:nvPr/>
        </p:nvSpPr>
        <p:spPr>
          <a:xfrm>
            <a:off x="9248480" y="3936236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38" name="Text 33"/>
          <p:cNvSpPr/>
          <p:nvPr/>
        </p:nvSpPr>
        <p:spPr>
          <a:xfrm>
            <a:off x="411480" y="6510528"/>
            <a:ext cx="4114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Nogor Shomadhan  ·  User Manual</a:t>
            </a:r>
            <a:endParaRPr lang="en-US" sz="1100" dirty="0"/>
          </a:p>
        </p:txBody>
      </p:sp>
      <p:sp>
        <p:nvSpPr>
          <p:cNvPr id="39" name="Text 34">
            <a:hlinkClick r:id="rId4" tooltip="1. Problem Statement" action="ppaction://hlinksldjump"/>
          </p:cNvPr>
          <p:cNvSpPr/>
          <p:nvPr/>
        </p:nvSpPr>
        <p:spPr>
          <a:xfrm>
            <a:off x="727222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action="ppaction://hlinksldjump" tooltip="1. Problem Stateme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0" name="Text 35">
            <a:hlinkClick r:id="rId5" tooltip="2. Stakeholders and Responsibilities" action="ppaction://hlinksldjump"/>
          </p:cNvPr>
          <p:cNvSpPr/>
          <p:nvPr/>
        </p:nvSpPr>
        <p:spPr>
          <a:xfrm>
            <a:off x="745510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action="ppaction://hlinksldjump" tooltip="2. Stakeholders and Responsibiliti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1" name="Text 36">
            <a:hlinkClick r:id="rId6" tooltip="3. Resident Account Registration" action="ppaction://hlinksldjump"/>
          </p:cNvPr>
          <p:cNvSpPr/>
          <p:nvPr/>
        </p:nvSpPr>
        <p:spPr>
          <a:xfrm>
            <a:off x="763798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 action="ppaction://hlinksldjump" tooltip="3. Resident Account Registra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2" name="Text 37">
            <a:hlinkClick r:id="rId7" tooltip="4. Registration Request Submitted" action="ppaction://hlinksldjump"/>
          </p:cNvPr>
          <p:cNvSpPr/>
          <p:nvPr/>
        </p:nvSpPr>
        <p:spPr>
          <a:xfrm>
            <a:off x="782086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 action="ppaction://hlinksldjump" tooltip="4. Registration Request Submit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3" name="Text 38">
            <a:hlinkClick r:id="rId8" tooltip="5. Admin Receives the Verification Request" action="ppaction://hlinksldjump"/>
          </p:cNvPr>
          <p:cNvSpPr/>
          <p:nvPr/>
        </p:nvSpPr>
        <p:spPr>
          <a:xfrm>
            <a:off x="800374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" action="ppaction://hlinksldjump" tooltip="5. Admin Receives the Verification Reques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4" name="Text 39">
            <a:hlinkClick r:id="rId9" tooltip="6. Admin Reviews and Approves the Account" action="ppaction://hlinksldjump"/>
          </p:cNvPr>
          <p:cNvSpPr/>
          <p:nvPr/>
        </p:nvSpPr>
        <p:spPr>
          <a:xfrm>
            <a:off x="818662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" action="ppaction://hlinksldjump" tooltip="6. Admin Reviews and Approves the Accou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5" name="Text 40">
            <a:hlinkClick r:id="rId10" tooltip="7. Account Verification Completed" action="ppaction://hlinksldjump"/>
          </p:cNvPr>
          <p:cNvSpPr/>
          <p:nvPr/>
        </p:nvSpPr>
        <p:spPr>
          <a:xfrm>
            <a:off x="836950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0" action="ppaction://hlinksldjump" tooltip="7. Account Verification Comple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6" name="Text 41">
            <a:hlinkClick r:id="rId11" tooltip="8. Create a New Complaint" action="ppaction://hlinksldjump"/>
          </p:cNvPr>
          <p:cNvSpPr/>
          <p:nvPr/>
        </p:nvSpPr>
        <p:spPr>
          <a:xfrm>
            <a:off x="8552383" y="6528816"/>
            <a:ext cx="118872" cy="118872"/>
          </a:xfrm>
          <a:prstGeom prst="ellipse">
            <a:avLst/>
          </a:prstGeom>
          <a:solidFill>
            <a:srgbClr val="2563A6"/>
          </a:solidFill>
          <a:ln>
            <a:solidFill>
              <a:srgbClr val="2563A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1" action="ppaction://hlinksldjump" tooltip="8. Create a New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7" name="Text 42">
            <a:hlinkClick r:id="rId12" tooltip="9. Add Evidence and Review the Category" action="ppaction://hlinksldjump"/>
          </p:cNvPr>
          <p:cNvSpPr/>
          <p:nvPr/>
        </p:nvSpPr>
        <p:spPr>
          <a:xfrm>
            <a:off x="873526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2" action="ppaction://hlinksldjump" tooltip="9. Add Evidence and Review the Categor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8" name="Text 43">
            <a:hlinkClick r:id="rId13" tooltip="10. Confirm the Complaint Submission" action="ppaction://hlinksldjump"/>
          </p:cNvPr>
          <p:cNvSpPr/>
          <p:nvPr/>
        </p:nvSpPr>
        <p:spPr>
          <a:xfrm>
            <a:off x="891814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3" action="ppaction://hlinksldjump" tooltip="10. Confirm the Complaint Submiss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9" name="Text 44">
            <a:hlinkClick r:id="rId14" tooltip="11. Admin Opens the Review Queue" action="ppaction://hlinksldjump"/>
          </p:cNvPr>
          <p:cNvSpPr/>
          <p:nvPr/>
        </p:nvSpPr>
        <p:spPr>
          <a:xfrm>
            <a:off x="910102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4" action="ppaction://hlinksldjump" tooltip="11. Admin Opens the Review Queu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0" name="Text 45">
            <a:hlinkClick r:id="rId15" tooltip="12. Complaint Check and Duplicate Comparison" action="ppaction://hlinksldjump"/>
          </p:cNvPr>
          <p:cNvSpPr/>
          <p:nvPr/>
        </p:nvSpPr>
        <p:spPr>
          <a:xfrm>
            <a:off x="928390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5" action="ppaction://hlinksldjump" tooltip="12. Complaint Check and Duplicate Compari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1" name="Text 46">
            <a:hlinkClick r:id="rId16" tooltip="13. Duplicate Review Outcomes" action="ppaction://hlinksldjump"/>
          </p:cNvPr>
          <p:cNvSpPr/>
          <p:nvPr/>
        </p:nvSpPr>
        <p:spPr>
          <a:xfrm>
            <a:off x="946678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6" action="ppaction://hlinksldjump" tooltip="13. Duplicate Review Outcom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2" name="Text 47">
            <a:hlinkClick r:id="rId17" tooltip="14. Pending Complaint Visibility" action="ppaction://hlinksldjump"/>
          </p:cNvPr>
          <p:cNvSpPr/>
          <p:nvPr/>
        </p:nvSpPr>
        <p:spPr>
          <a:xfrm>
            <a:off x="964966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7" action="ppaction://hlinksldjump" tooltip="14. Pending Complaint Visibilit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3" name="Text 48">
            <a:hlinkClick r:id="rId18" tooltip="15. Authority Opens the Complaint" action="ppaction://hlinksldjump"/>
          </p:cNvPr>
          <p:cNvSpPr/>
          <p:nvPr/>
        </p:nvSpPr>
        <p:spPr>
          <a:xfrm>
            <a:off x="983254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8" action="ppaction://hlinksldjump" tooltip="15. Authority Opens the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4" name="Text 49">
            <a:hlinkClick r:id="rId19" tooltip="16. Assign a Contractor and Start Work" action="ppaction://hlinksldjump"/>
          </p:cNvPr>
          <p:cNvSpPr/>
          <p:nvPr/>
        </p:nvSpPr>
        <p:spPr>
          <a:xfrm>
            <a:off x="1001542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9" action="ppaction://hlinksldjump" tooltip="16. Assign a Contractor and Start Work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5" name="Text 50">
            <a:hlinkClick r:id="rId20" tooltip="17. The Complaint Moves to In Progress" action="ppaction://hlinksldjump"/>
          </p:cNvPr>
          <p:cNvSpPr/>
          <p:nvPr/>
        </p:nvSpPr>
        <p:spPr>
          <a:xfrm>
            <a:off x="1019830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0" action="ppaction://hlinksldjump" tooltip="17. The Complaint Moves to In Progres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6" name="Text 51">
            <a:hlinkClick r:id="rId21" tooltip="18. Residents See the Progress Update" action="ppaction://hlinksldjump"/>
          </p:cNvPr>
          <p:cNvSpPr/>
          <p:nvPr/>
        </p:nvSpPr>
        <p:spPr>
          <a:xfrm>
            <a:off x="1038118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1" action="ppaction://hlinksldjump" tooltip="18. Residents See the Progress Updat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7" name="Text 52">
            <a:hlinkClick r:id="rId22" tooltip="19. Resident Starts a Forum Discussion" action="ppaction://hlinksldjump"/>
          </p:cNvPr>
          <p:cNvSpPr/>
          <p:nvPr/>
        </p:nvSpPr>
        <p:spPr>
          <a:xfrm>
            <a:off x="1056406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2" action="ppaction://hlinksldjump" tooltip="19. Resident Starts a Forum Discuss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8" name="Text 53">
            <a:hlinkClick r:id="rId23" tooltip="20. Everyone Is Notified" action="ppaction://hlinksldjump"/>
          </p:cNvPr>
          <p:cNvSpPr/>
          <p:nvPr/>
        </p:nvSpPr>
        <p:spPr>
          <a:xfrm>
            <a:off x="1074694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3" action="ppaction://hlinksldjump" tooltip="20. Everyone Is Notifi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9" name="Text 54">
            <a:hlinkClick r:id="rId24" tooltip="21. Open the Post and Discuss" action="ppaction://hlinksldjump"/>
          </p:cNvPr>
          <p:cNvSpPr/>
          <p:nvPr/>
        </p:nvSpPr>
        <p:spPr>
          <a:xfrm>
            <a:off x="1092982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4" action="ppaction://hlinksldjump" tooltip="21. Open the Post and Discus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0" name="Text 55">
            <a:hlinkClick r:id="rId25" tooltip="22. Authority Updates the Work" action="ppaction://hlinksldjump"/>
          </p:cNvPr>
          <p:cNvSpPr/>
          <p:nvPr/>
        </p:nvSpPr>
        <p:spPr>
          <a:xfrm>
            <a:off x="1111270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5" action="ppaction://hlinksldjump" tooltip="22. Authority Updates the Work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1" name="Text 56">
            <a:hlinkClick r:id="rId26" tooltip="23. Authority Resolves the Complaint" action="ppaction://hlinksldjump"/>
          </p:cNvPr>
          <p:cNvSpPr/>
          <p:nvPr/>
        </p:nvSpPr>
        <p:spPr>
          <a:xfrm>
            <a:off x="1129558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6" action="ppaction://hlinksldjump" tooltip="23. Authority Resolves the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2" name="Text 57">
            <a:hlinkClick r:id="rId27" tooltip="24. Residents Give Feedback" action="ppaction://hlinksldjump"/>
          </p:cNvPr>
          <p:cNvSpPr/>
          <p:nvPr/>
        </p:nvSpPr>
        <p:spPr>
          <a:xfrm>
            <a:off x="1147846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7" action="ppaction://hlinksldjump" tooltip="24. Residents Give Feedback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3" name="Text 58">
            <a:hlinkClick r:id="rId28" tooltip="25. Feedback Is Public and Answered" action="ppaction://hlinksldjump"/>
          </p:cNvPr>
          <p:cNvSpPr/>
          <p:nvPr/>
        </p:nvSpPr>
        <p:spPr>
          <a:xfrm>
            <a:off x="1166134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8" action="ppaction://hlinksldjump" tooltip="25. Feedback Is Public and Answer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4" name="Text 59"/>
          <p:cNvSpPr/>
          <p:nvPr/>
        </p:nvSpPr>
        <p:spPr>
          <a:xfrm>
            <a:off x="6449263" y="6510528"/>
            <a:ext cx="7132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25</a:t>
            </a:r>
            <a:endParaRPr lang="en-US" sz="11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2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2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2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2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2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2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2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2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2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2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AF4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2563A6"/>
          </a:solidFill>
          <a:ln/>
        </p:spPr>
      </p:sp>
      <p:sp>
        <p:nvSpPr>
          <p:cNvPr id="3" name="Shape 1"/>
          <p:cNvSpPr/>
          <p:nvPr/>
        </p:nvSpPr>
        <p:spPr>
          <a:xfrm>
            <a:off x="411480" y="329184"/>
            <a:ext cx="621792" cy="621792"/>
          </a:xfrm>
          <a:prstGeom prst="roundRect">
            <a:avLst>
              <a:gd name="adj" fmla="val 23529"/>
            </a:avLst>
          </a:prstGeom>
          <a:solidFill>
            <a:srgbClr val="2563A6"/>
          </a:solidFill>
          <a:ln w="12700">
            <a:solidFill>
              <a:srgbClr val="2563A6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411480" y="329184"/>
            <a:ext cx="62179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1188720" y="329184"/>
            <a:ext cx="768096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256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 ·  RESIDENT SUBMITS A COMPLAINT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52144" y="548640"/>
            <a:ext cx="8321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Evidence and Review the Category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10679278" y="475488"/>
            <a:ext cx="1100938" cy="420624"/>
          </a:xfrm>
          <a:prstGeom prst="roundRect">
            <a:avLst>
              <a:gd name="adj" fmla="val 50000"/>
            </a:avLst>
          </a:prstGeom>
          <a:solidFill>
            <a:srgbClr val="2563A6"/>
          </a:solidFill>
          <a:ln w="12700">
            <a:solidFill>
              <a:srgbClr val="2563A6"/>
            </a:solidFill>
            <a:prstDash val="solid"/>
          </a:ln>
          <a:effectLst>
            <a:outerShdw sx="100000" sy="100000" kx="0" ky="0" algn="bl" rotWithShape="0" blurRad="76200" dist="12700" dir="5400000">
              <a:srgbClr val="0B2239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0679278" y="475488"/>
            <a:ext cx="110093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11480" y="1216152"/>
            <a:ext cx="11368735" cy="18288"/>
          </a:xfrm>
          <a:prstGeom prst="rect">
            <a:avLst/>
          </a:prstGeom>
          <a:solidFill>
            <a:srgbClr val="CFE3F4"/>
          </a:solidFill>
          <a:ln/>
        </p:spPr>
      </p:sp>
      <p:sp>
        <p:nvSpPr>
          <p:cNvPr id="10" name="Shape 8"/>
          <p:cNvSpPr/>
          <p:nvPr/>
        </p:nvSpPr>
        <p:spPr>
          <a:xfrm>
            <a:off x="411480" y="1389888"/>
            <a:ext cx="11368735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CFE3F4"/>
            </a:solidFill>
            <a:prstDash val="solid"/>
          </a:ln>
          <a:effectLst>
            <a:outerShdw sx="100000" sy="100000" kx="0" ky="0" algn="bl" rotWithShape="0" blurRad="76200" dist="12700" dir="5400000">
              <a:srgbClr val="0B2239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11480" y="1389888"/>
            <a:ext cx="82296" cy="694944"/>
          </a:xfrm>
          <a:prstGeom prst="rect">
            <a:avLst/>
          </a:prstGeom>
          <a:solidFill>
            <a:srgbClr val="2563A6"/>
          </a:solidFill>
          <a:ln/>
        </p:spPr>
      </p:sp>
      <p:sp>
        <p:nvSpPr>
          <p:cNvPr id="12" name="Text 10"/>
          <p:cNvSpPr/>
          <p:nvPr/>
        </p:nvSpPr>
        <p:spPr>
          <a:xfrm>
            <a:off x="704088" y="1389888"/>
            <a:ext cx="10783519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 evidence is optional. The system suggests a category from the complaint information, but the resident can change it before submission.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411480" y="2176272"/>
            <a:ext cx="3931920" cy="4151376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CFE3F4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14" name="p9_1_c"/>
          <p:cNvSpPr/>
          <p:nvPr/>
        </p:nvSpPr>
        <p:spPr>
          <a:xfrm>
            <a:off x="685800" y="2523744"/>
            <a:ext cx="347472" cy="347472"/>
          </a:xfrm>
          <a:prstGeom prst="ellipse">
            <a:avLst/>
          </a:prstGeom>
          <a:solidFill>
            <a:srgbClr val="2563A6"/>
          </a:solidFill>
          <a:ln>
            <a:solidFill>
              <a:srgbClr val="2563A6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5" name="p9_1_t"/>
          <p:cNvSpPr/>
          <p:nvPr/>
        </p:nvSpPr>
        <p:spPr>
          <a:xfrm>
            <a:off x="1234440" y="2505456"/>
            <a:ext cx="2834640" cy="9052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Optionally attach photo evidence using the camera or gallery.</a:t>
            </a:r>
            <a:endParaRPr lang="en-US" sz="1800" dirty="0"/>
          </a:p>
        </p:txBody>
      </p:sp>
      <p:sp>
        <p:nvSpPr>
          <p:cNvPr id="16" name="p9_2_c"/>
          <p:cNvSpPr/>
          <p:nvPr/>
        </p:nvSpPr>
        <p:spPr>
          <a:xfrm>
            <a:off x="685800" y="3739896"/>
            <a:ext cx="347472" cy="347472"/>
          </a:xfrm>
          <a:prstGeom prst="ellipse">
            <a:avLst/>
          </a:prstGeom>
          <a:solidFill>
            <a:srgbClr val="2563A6"/>
          </a:solidFill>
          <a:ln>
            <a:solidFill>
              <a:srgbClr val="2563A6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7" name="p9_2_t"/>
          <p:cNvSpPr/>
          <p:nvPr/>
        </p:nvSpPr>
        <p:spPr>
          <a:xfrm>
            <a:off x="1234440" y="3721608"/>
            <a:ext cx="2834640" cy="9052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the category automatically suggested by the AI.</a:t>
            </a:r>
            <a:endParaRPr lang="en-US" sz="1800" dirty="0"/>
          </a:p>
        </p:txBody>
      </p:sp>
      <p:sp>
        <p:nvSpPr>
          <p:cNvPr id="18" name="p9_3_c"/>
          <p:cNvSpPr/>
          <p:nvPr/>
        </p:nvSpPr>
        <p:spPr>
          <a:xfrm>
            <a:off x="685800" y="4956048"/>
            <a:ext cx="347472" cy="347472"/>
          </a:xfrm>
          <a:prstGeom prst="ellipse">
            <a:avLst/>
          </a:prstGeom>
          <a:solidFill>
            <a:srgbClr val="2563A6"/>
          </a:solidFill>
          <a:ln>
            <a:solidFill>
              <a:srgbClr val="2563A6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p9_3_t"/>
          <p:cNvSpPr/>
          <p:nvPr/>
        </p:nvSpPr>
        <p:spPr>
          <a:xfrm>
            <a:off x="1234440" y="4937760"/>
            <a:ext cx="283464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necessary, open the category menu and select a more appropriate category manually.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5347935" y="2125980"/>
            <a:ext cx="2185820" cy="4251960"/>
          </a:xfrm>
          <a:prstGeom prst="roundRect">
            <a:avLst>
              <a:gd name="adj" fmla="val 3347"/>
            </a:avLst>
          </a:prstGeom>
          <a:solidFill>
            <a:srgbClr val="FFFFFF"/>
          </a:solidFill>
          <a:ln w="12700">
            <a:solidFill>
              <a:srgbClr val="CFE3F4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21" name="Image 0" descr="C:/NogorShomadhan/User Manual/Phase 2/resident submits complaint/16-add-photo-evidence-if-desir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98227" y="2176272"/>
            <a:ext cx="2085236" cy="4151376"/>
          </a:xfrm>
          <a:prstGeom prst="rect">
            <a:avLst/>
          </a:prstGeom>
        </p:spPr>
      </p:pic>
      <p:sp>
        <p:nvSpPr>
          <p:cNvPr id="22" name="Shape 19"/>
          <p:cNvSpPr/>
          <p:nvPr/>
        </p:nvSpPr>
        <p:spPr>
          <a:xfrm>
            <a:off x="8877923" y="2125980"/>
            <a:ext cx="2208653" cy="4251960"/>
          </a:xfrm>
          <a:prstGeom prst="roundRect">
            <a:avLst>
              <a:gd name="adj" fmla="val 3312"/>
            </a:avLst>
          </a:prstGeom>
          <a:solidFill>
            <a:srgbClr val="FFFFFF"/>
          </a:solidFill>
          <a:ln w="12700">
            <a:solidFill>
              <a:srgbClr val="CFE3F4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23" name="Image 1" descr="C:/NogorShomadhan/User Manual/Phase 2/categorization/19-choose-from-category optio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28215" y="2176272"/>
            <a:ext cx="2108069" cy="4151376"/>
          </a:xfrm>
          <a:prstGeom prst="rect">
            <a:avLst/>
          </a:prstGeom>
        </p:spPr>
      </p:pic>
      <p:sp>
        <p:nvSpPr>
          <p:cNvPr id="24" name="arrow9"/>
          <p:cNvSpPr/>
          <p:nvPr/>
        </p:nvSpPr>
        <p:spPr>
          <a:xfrm>
            <a:off x="7794359" y="3995928"/>
            <a:ext cx="822960" cy="512064"/>
          </a:xfrm>
          <a:prstGeom prst="rightArrow">
            <a:avLst/>
          </a:prstGeom>
          <a:solidFill>
            <a:srgbClr val="2563A6"/>
          </a:solidFill>
          <a:ln w="12700">
            <a:solidFill>
              <a:srgbClr val="2563A6"/>
            </a:solidFill>
            <a:prstDash val="solid"/>
          </a:ln>
          <a:effectLst>
            <a:outerShdw sx="100000" sy="100000" kx="0" ky="0" algn="bl" rotWithShape="0" blurRad="76200" dist="12700" dir="5400000">
              <a:srgbClr val="0B2239">
                <a:alpha val="8000"/>
              </a:srgbClr>
            </a:outerShdw>
          </a:effectLst>
        </p:spPr>
      </p:sp>
      <p:sp>
        <p:nvSpPr>
          <p:cNvPr id="25" name="arrow9t"/>
          <p:cNvSpPr/>
          <p:nvPr/>
        </p:nvSpPr>
        <p:spPr>
          <a:xfrm>
            <a:off x="7611479" y="3593592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56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</a:t>
            </a:r>
            <a:endParaRPr lang="en-US" sz="1300" dirty="0"/>
          </a:p>
        </p:txBody>
      </p:sp>
      <p:sp>
        <p:nvSpPr>
          <p:cNvPr id="26" name="h9_1a"/>
          <p:cNvSpPr/>
          <p:nvPr/>
        </p:nvSpPr>
        <p:spPr>
          <a:xfrm>
            <a:off x="5585898" y="3629254"/>
            <a:ext cx="1709894" cy="855183"/>
          </a:xfrm>
          <a:prstGeom prst="roundRect">
            <a:avLst>
              <a:gd name="adj" fmla="val 6415"/>
            </a:avLst>
          </a:prstGeom>
          <a:ln w="28575">
            <a:solidFill>
              <a:srgbClr val="2563A6"/>
            </a:solidFill>
            <a:prstDash val="solid"/>
          </a:ln>
        </p:spPr>
      </p:sp>
      <p:sp>
        <p:nvSpPr>
          <p:cNvPr id="27" name="h9_1b"/>
          <p:cNvSpPr/>
          <p:nvPr/>
        </p:nvSpPr>
        <p:spPr>
          <a:xfrm>
            <a:off x="5577557" y="4501043"/>
            <a:ext cx="471263" cy="489862"/>
          </a:xfrm>
          <a:prstGeom prst="roundRect">
            <a:avLst>
              <a:gd name="adj" fmla="val 11642"/>
            </a:avLst>
          </a:prstGeom>
          <a:ln w="28575">
            <a:solidFill>
              <a:srgbClr val="2563A6"/>
            </a:solidFill>
            <a:prstDash val="solid"/>
          </a:ln>
        </p:spPr>
      </p:sp>
      <p:sp>
        <p:nvSpPr>
          <p:cNvPr id="28" name="b9_1"/>
          <p:cNvSpPr/>
          <p:nvPr/>
        </p:nvSpPr>
        <p:spPr>
          <a:xfrm>
            <a:off x="5267478" y="3446374"/>
            <a:ext cx="365760" cy="365760"/>
          </a:xfrm>
          <a:prstGeom prst="ellipse">
            <a:avLst/>
          </a:prstGeom>
          <a:solidFill>
            <a:srgbClr val="2563A6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29" name="b9_1_t"/>
          <p:cNvSpPr/>
          <p:nvPr/>
        </p:nvSpPr>
        <p:spPr>
          <a:xfrm>
            <a:off x="5267478" y="3446374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30" name="h9_2a"/>
          <p:cNvSpPr/>
          <p:nvPr/>
        </p:nvSpPr>
        <p:spPr>
          <a:xfrm>
            <a:off x="5585898" y="5347923"/>
            <a:ext cx="1709894" cy="315505"/>
          </a:xfrm>
          <a:prstGeom prst="roundRect">
            <a:avLst>
              <a:gd name="adj" fmla="val 17389"/>
            </a:avLst>
          </a:prstGeom>
          <a:ln w="28575">
            <a:solidFill>
              <a:srgbClr val="2563A6"/>
            </a:solidFill>
            <a:prstDash val="solid"/>
          </a:ln>
        </p:spPr>
      </p:sp>
      <p:sp>
        <p:nvSpPr>
          <p:cNvPr id="31" name="h9_2b"/>
          <p:cNvSpPr/>
          <p:nvPr/>
        </p:nvSpPr>
        <p:spPr>
          <a:xfrm>
            <a:off x="5573387" y="5646822"/>
            <a:ext cx="1634825" cy="157752"/>
          </a:xfrm>
          <a:prstGeom prst="roundRect">
            <a:avLst>
              <a:gd name="adj" fmla="val 34779"/>
            </a:avLst>
          </a:prstGeom>
          <a:ln w="28575">
            <a:solidFill>
              <a:srgbClr val="2563A6"/>
            </a:solidFill>
            <a:prstDash val="solid"/>
          </a:ln>
        </p:spPr>
      </p:sp>
      <p:sp>
        <p:nvSpPr>
          <p:cNvPr id="32" name="b9_2"/>
          <p:cNvSpPr/>
          <p:nvPr/>
        </p:nvSpPr>
        <p:spPr>
          <a:xfrm>
            <a:off x="5267478" y="5314493"/>
            <a:ext cx="365760" cy="365760"/>
          </a:xfrm>
          <a:prstGeom prst="ellipse">
            <a:avLst/>
          </a:prstGeom>
          <a:solidFill>
            <a:srgbClr val="2563A6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33" name="b9_2_t"/>
          <p:cNvSpPr/>
          <p:nvPr/>
        </p:nvSpPr>
        <p:spPr>
          <a:xfrm>
            <a:off x="5267478" y="5314493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34" name="h9_3"/>
          <p:cNvSpPr/>
          <p:nvPr/>
        </p:nvSpPr>
        <p:spPr>
          <a:xfrm>
            <a:off x="9160103" y="2857098"/>
            <a:ext cx="1644294" cy="273991"/>
          </a:xfrm>
          <a:prstGeom prst="roundRect">
            <a:avLst>
              <a:gd name="adj" fmla="val 20024"/>
            </a:avLst>
          </a:prstGeom>
          <a:ln w="28575">
            <a:solidFill>
              <a:srgbClr val="2563A6"/>
            </a:solidFill>
            <a:prstDash val="solid"/>
          </a:ln>
        </p:spPr>
      </p:sp>
      <p:sp>
        <p:nvSpPr>
          <p:cNvPr id="35" name="b9_3"/>
          <p:cNvSpPr/>
          <p:nvPr/>
        </p:nvSpPr>
        <p:spPr>
          <a:xfrm>
            <a:off x="8888684" y="2811213"/>
            <a:ext cx="365760" cy="365760"/>
          </a:xfrm>
          <a:prstGeom prst="ellipse">
            <a:avLst/>
          </a:prstGeom>
          <a:solidFill>
            <a:srgbClr val="2563A6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36" name="b9_3_t"/>
          <p:cNvSpPr/>
          <p:nvPr/>
        </p:nvSpPr>
        <p:spPr>
          <a:xfrm>
            <a:off x="8888684" y="2811213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37" name="Text 33"/>
          <p:cNvSpPr/>
          <p:nvPr/>
        </p:nvSpPr>
        <p:spPr>
          <a:xfrm>
            <a:off x="411480" y="6510528"/>
            <a:ext cx="4114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Nogor Shomadhan  ·  User Manual</a:t>
            </a:r>
            <a:endParaRPr lang="en-US" sz="1100" dirty="0"/>
          </a:p>
        </p:txBody>
      </p:sp>
      <p:sp>
        <p:nvSpPr>
          <p:cNvPr id="38" name="Text 34">
            <a:hlinkClick r:id="rId3" tooltip="1. Problem Statement" action="ppaction://hlinksldjump"/>
          </p:cNvPr>
          <p:cNvSpPr/>
          <p:nvPr/>
        </p:nvSpPr>
        <p:spPr>
          <a:xfrm>
            <a:off x="727222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action="ppaction://hlinksldjump" tooltip="1. Problem Stateme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39" name="Text 35">
            <a:hlinkClick r:id="rId4" tooltip="2. Stakeholders and Responsibilities" action="ppaction://hlinksldjump"/>
          </p:cNvPr>
          <p:cNvSpPr/>
          <p:nvPr/>
        </p:nvSpPr>
        <p:spPr>
          <a:xfrm>
            <a:off x="745510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action="ppaction://hlinksldjump" tooltip="2. Stakeholders and Responsibiliti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0" name="Text 36">
            <a:hlinkClick r:id="rId5" tooltip="3. Resident Account Registration" action="ppaction://hlinksldjump"/>
          </p:cNvPr>
          <p:cNvSpPr/>
          <p:nvPr/>
        </p:nvSpPr>
        <p:spPr>
          <a:xfrm>
            <a:off x="763798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action="ppaction://hlinksldjump" tooltip="3. Resident Account Registra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1" name="Text 37">
            <a:hlinkClick r:id="rId6" tooltip="4. Registration Request Submitted" action="ppaction://hlinksldjump"/>
          </p:cNvPr>
          <p:cNvSpPr/>
          <p:nvPr/>
        </p:nvSpPr>
        <p:spPr>
          <a:xfrm>
            <a:off x="782086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 action="ppaction://hlinksldjump" tooltip="4. Registration Request Submit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2" name="Text 38">
            <a:hlinkClick r:id="rId7" tooltip="5. Admin Receives the Verification Request" action="ppaction://hlinksldjump"/>
          </p:cNvPr>
          <p:cNvSpPr/>
          <p:nvPr/>
        </p:nvSpPr>
        <p:spPr>
          <a:xfrm>
            <a:off x="800374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 action="ppaction://hlinksldjump" tooltip="5. Admin Receives the Verification Reques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3" name="Text 39">
            <a:hlinkClick r:id="rId8" tooltip="6. Admin Reviews and Approves the Account" action="ppaction://hlinksldjump"/>
          </p:cNvPr>
          <p:cNvSpPr/>
          <p:nvPr/>
        </p:nvSpPr>
        <p:spPr>
          <a:xfrm>
            <a:off x="818662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" action="ppaction://hlinksldjump" tooltip="6. Admin Reviews and Approves the Accou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4" name="Text 40">
            <a:hlinkClick r:id="rId9" tooltip="7. Account Verification Completed" action="ppaction://hlinksldjump"/>
          </p:cNvPr>
          <p:cNvSpPr/>
          <p:nvPr/>
        </p:nvSpPr>
        <p:spPr>
          <a:xfrm>
            <a:off x="836950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" action="ppaction://hlinksldjump" tooltip="7. Account Verification Comple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5" name="Text 41">
            <a:hlinkClick r:id="rId10" tooltip="8. Create a New Complaint" action="ppaction://hlinksldjump"/>
          </p:cNvPr>
          <p:cNvSpPr/>
          <p:nvPr/>
        </p:nvSpPr>
        <p:spPr>
          <a:xfrm>
            <a:off x="855238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0" action="ppaction://hlinksldjump" tooltip="8. Create a New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6" name="Text 42">
            <a:hlinkClick r:id="rId11" tooltip="9. Add Evidence and Review the Category" action="ppaction://hlinksldjump"/>
          </p:cNvPr>
          <p:cNvSpPr/>
          <p:nvPr/>
        </p:nvSpPr>
        <p:spPr>
          <a:xfrm>
            <a:off x="8735263" y="6528816"/>
            <a:ext cx="118872" cy="118872"/>
          </a:xfrm>
          <a:prstGeom prst="ellipse">
            <a:avLst/>
          </a:prstGeom>
          <a:solidFill>
            <a:srgbClr val="2563A6"/>
          </a:solidFill>
          <a:ln>
            <a:solidFill>
              <a:srgbClr val="2563A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1" action="ppaction://hlinksldjump" tooltip="9. Add Evidence and Review the Categor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7" name="Text 43">
            <a:hlinkClick r:id="rId12" tooltip="10. Confirm the Complaint Submission" action="ppaction://hlinksldjump"/>
          </p:cNvPr>
          <p:cNvSpPr/>
          <p:nvPr/>
        </p:nvSpPr>
        <p:spPr>
          <a:xfrm>
            <a:off x="891814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2" action="ppaction://hlinksldjump" tooltip="10. Confirm the Complaint Submiss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8" name="Text 44">
            <a:hlinkClick r:id="rId13" tooltip="11. Admin Opens the Review Queue" action="ppaction://hlinksldjump"/>
          </p:cNvPr>
          <p:cNvSpPr/>
          <p:nvPr/>
        </p:nvSpPr>
        <p:spPr>
          <a:xfrm>
            <a:off x="910102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3" action="ppaction://hlinksldjump" tooltip="11. Admin Opens the Review Queu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9" name="Text 45">
            <a:hlinkClick r:id="rId14" tooltip="12. Complaint Check and Duplicate Comparison" action="ppaction://hlinksldjump"/>
          </p:cNvPr>
          <p:cNvSpPr/>
          <p:nvPr/>
        </p:nvSpPr>
        <p:spPr>
          <a:xfrm>
            <a:off x="928390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4" action="ppaction://hlinksldjump" tooltip="12. Complaint Check and Duplicate Compari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0" name="Text 46">
            <a:hlinkClick r:id="rId15" tooltip="13. Duplicate Review Outcomes" action="ppaction://hlinksldjump"/>
          </p:cNvPr>
          <p:cNvSpPr/>
          <p:nvPr/>
        </p:nvSpPr>
        <p:spPr>
          <a:xfrm>
            <a:off x="946678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5" action="ppaction://hlinksldjump" tooltip="13. Duplicate Review Outcom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1" name="Text 47">
            <a:hlinkClick r:id="rId16" tooltip="14. Pending Complaint Visibility" action="ppaction://hlinksldjump"/>
          </p:cNvPr>
          <p:cNvSpPr/>
          <p:nvPr/>
        </p:nvSpPr>
        <p:spPr>
          <a:xfrm>
            <a:off x="964966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6" action="ppaction://hlinksldjump" tooltip="14. Pending Complaint Visibilit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2" name="Text 48">
            <a:hlinkClick r:id="rId17" tooltip="15. Authority Opens the Complaint" action="ppaction://hlinksldjump"/>
          </p:cNvPr>
          <p:cNvSpPr/>
          <p:nvPr/>
        </p:nvSpPr>
        <p:spPr>
          <a:xfrm>
            <a:off x="983254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7" action="ppaction://hlinksldjump" tooltip="15. Authority Opens the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3" name="Text 49">
            <a:hlinkClick r:id="rId18" tooltip="16. Assign a Contractor and Start Work" action="ppaction://hlinksldjump"/>
          </p:cNvPr>
          <p:cNvSpPr/>
          <p:nvPr/>
        </p:nvSpPr>
        <p:spPr>
          <a:xfrm>
            <a:off x="1001542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8" action="ppaction://hlinksldjump" tooltip="16. Assign a Contractor and Start Work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4" name="Text 50">
            <a:hlinkClick r:id="rId19" tooltip="17. The Complaint Moves to In Progress" action="ppaction://hlinksldjump"/>
          </p:cNvPr>
          <p:cNvSpPr/>
          <p:nvPr/>
        </p:nvSpPr>
        <p:spPr>
          <a:xfrm>
            <a:off x="1019830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9" action="ppaction://hlinksldjump" tooltip="17. The Complaint Moves to In Progres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5" name="Text 51">
            <a:hlinkClick r:id="rId20" tooltip="18. Residents See the Progress Update" action="ppaction://hlinksldjump"/>
          </p:cNvPr>
          <p:cNvSpPr/>
          <p:nvPr/>
        </p:nvSpPr>
        <p:spPr>
          <a:xfrm>
            <a:off x="1038118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0" action="ppaction://hlinksldjump" tooltip="18. Residents See the Progress Updat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6" name="Text 52">
            <a:hlinkClick r:id="rId21" tooltip="19. Resident Starts a Forum Discussion" action="ppaction://hlinksldjump"/>
          </p:cNvPr>
          <p:cNvSpPr/>
          <p:nvPr/>
        </p:nvSpPr>
        <p:spPr>
          <a:xfrm>
            <a:off x="1056406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1" action="ppaction://hlinksldjump" tooltip="19. Resident Starts a Forum Discuss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7" name="Text 53">
            <a:hlinkClick r:id="rId22" tooltip="20. Everyone Is Notified" action="ppaction://hlinksldjump"/>
          </p:cNvPr>
          <p:cNvSpPr/>
          <p:nvPr/>
        </p:nvSpPr>
        <p:spPr>
          <a:xfrm>
            <a:off x="1074694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2" action="ppaction://hlinksldjump" tooltip="20. Everyone Is Notifi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8" name="Text 54">
            <a:hlinkClick r:id="rId23" tooltip="21. Open the Post and Discuss" action="ppaction://hlinksldjump"/>
          </p:cNvPr>
          <p:cNvSpPr/>
          <p:nvPr/>
        </p:nvSpPr>
        <p:spPr>
          <a:xfrm>
            <a:off x="1092982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3" action="ppaction://hlinksldjump" tooltip="21. Open the Post and Discus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9" name="Text 55">
            <a:hlinkClick r:id="rId24" tooltip="22. Authority Updates the Work" action="ppaction://hlinksldjump"/>
          </p:cNvPr>
          <p:cNvSpPr/>
          <p:nvPr/>
        </p:nvSpPr>
        <p:spPr>
          <a:xfrm>
            <a:off x="1111270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4" action="ppaction://hlinksldjump" tooltip="22. Authority Updates the Work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0" name="Text 56">
            <a:hlinkClick r:id="rId25" tooltip="23. Authority Resolves the Complaint" action="ppaction://hlinksldjump"/>
          </p:cNvPr>
          <p:cNvSpPr/>
          <p:nvPr/>
        </p:nvSpPr>
        <p:spPr>
          <a:xfrm>
            <a:off x="1129558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5" action="ppaction://hlinksldjump" tooltip="23. Authority Resolves the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1" name="Text 57">
            <a:hlinkClick r:id="rId26" tooltip="24. Residents Give Feedback" action="ppaction://hlinksldjump"/>
          </p:cNvPr>
          <p:cNvSpPr/>
          <p:nvPr/>
        </p:nvSpPr>
        <p:spPr>
          <a:xfrm>
            <a:off x="1147846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6" action="ppaction://hlinksldjump" tooltip="24. Residents Give Feedback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2" name="Text 58">
            <a:hlinkClick r:id="rId27" tooltip="25. Feedback Is Public and Answered" action="ppaction://hlinksldjump"/>
          </p:cNvPr>
          <p:cNvSpPr/>
          <p:nvPr/>
        </p:nvSpPr>
        <p:spPr>
          <a:xfrm>
            <a:off x="1166134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7" action="ppaction://hlinksldjump" tooltip="25. Feedback Is Public and Answer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3" name="Text 59"/>
          <p:cNvSpPr/>
          <p:nvPr/>
        </p:nvSpPr>
        <p:spPr>
          <a:xfrm>
            <a:off x="6449263" y="6510528"/>
            <a:ext cx="7132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25</a:t>
            </a:r>
            <a:endParaRPr lang="en-US" sz="11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2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2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2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2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2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2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2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2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2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2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2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2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2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AF4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2563A6"/>
          </a:solidFill>
          <a:ln/>
        </p:spPr>
      </p:sp>
      <p:sp>
        <p:nvSpPr>
          <p:cNvPr id="3" name="Shape 1"/>
          <p:cNvSpPr/>
          <p:nvPr/>
        </p:nvSpPr>
        <p:spPr>
          <a:xfrm>
            <a:off x="411480" y="329184"/>
            <a:ext cx="621792" cy="621792"/>
          </a:xfrm>
          <a:prstGeom prst="roundRect">
            <a:avLst>
              <a:gd name="adj" fmla="val 23529"/>
            </a:avLst>
          </a:prstGeom>
          <a:solidFill>
            <a:srgbClr val="2563A6"/>
          </a:solidFill>
          <a:ln w="12700">
            <a:solidFill>
              <a:srgbClr val="2563A6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411480" y="329184"/>
            <a:ext cx="62179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1188720" y="329184"/>
            <a:ext cx="768096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256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 ·  RESIDENT SUBMITS A COMPLAINT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52144" y="548640"/>
            <a:ext cx="8321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the Complaint Submission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10679278" y="475488"/>
            <a:ext cx="1100938" cy="420624"/>
          </a:xfrm>
          <a:prstGeom prst="roundRect">
            <a:avLst>
              <a:gd name="adj" fmla="val 50000"/>
            </a:avLst>
          </a:prstGeom>
          <a:solidFill>
            <a:srgbClr val="2563A6"/>
          </a:solidFill>
          <a:ln w="12700">
            <a:solidFill>
              <a:srgbClr val="2563A6"/>
            </a:solidFill>
            <a:prstDash val="solid"/>
          </a:ln>
          <a:effectLst>
            <a:outerShdw sx="100000" sy="100000" kx="0" ky="0" algn="bl" rotWithShape="0" blurRad="76200" dist="12700" dir="5400000">
              <a:srgbClr val="0B2239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0679278" y="475488"/>
            <a:ext cx="110093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11480" y="1216152"/>
            <a:ext cx="11368735" cy="18288"/>
          </a:xfrm>
          <a:prstGeom prst="rect">
            <a:avLst/>
          </a:prstGeom>
          <a:solidFill>
            <a:srgbClr val="CFE3F4"/>
          </a:solidFill>
          <a:ln/>
        </p:spPr>
      </p:sp>
      <p:sp>
        <p:nvSpPr>
          <p:cNvPr id="10" name="Shape 8"/>
          <p:cNvSpPr/>
          <p:nvPr/>
        </p:nvSpPr>
        <p:spPr>
          <a:xfrm>
            <a:off x="411480" y="1389888"/>
            <a:ext cx="11368735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CFE3F4"/>
            </a:solidFill>
            <a:prstDash val="solid"/>
          </a:ln>
          <a:effectLst>
            <a:outerShdw sx="100000" sy="100000" kx="0" ky="0" algn="bl" rotWithShape="0" blurRad="76200" dist="12700" dir="5400000">
              <a:srgbClr val="0B2239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11480" y="1389888"/>
            <a:ext cx="82296" cy="694944"/>
          </a:xfrm>
          <a:prstGeom prst="rect">
            <a:avLst/>
          </a:prstGeom>
          <a:solidFill>
            <a:srgbClr val="2563A6"/>
          </a:solidFill>
          <a:ln/>
        </p:spPr>
      </p:sp>
      <p:sp>
        <p:nvSpPr>
          <p:cNvPr id="12" name="Text 10"/>
          <p:cNvSpPr/>
          <p:nvPr/>
        </p:nvSpPr>
        <p:spPr>
          <a:xfrm>
            <a:off x="704088" y="1389888"/>
            <a:ext cx="10783519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complaint is submitted successfully and placed in the review queue. Administrative processing continues in Phase 3.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411480" y="2176272"/>
            <a:ext cx="4480560" cy="3584448"/>
          </a:xfrm>
          <a:prstGeom prst="roundRect">
            <a:avLst>
              <a:gd name="adj" fmla="val 2551"/>
            </a:avLst>
          </a:prstGeom>
          <a:solidFill>
            <a:srgbClr val="FFFFFF"/>
          </a:solidFill>
          <a:ln w="12700">
            <a:solidFill>
              <a:srgbClr val="CFE3F4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14" name="p10_1_c"/>
          <p:cNvSpPr/>
          <p:nvPr/>
        </p:nvSpPr>
        <p:spPr>
          <a:xfrm>
            <a:off x="685800" y="2468880"/>
            <a:ext cx="347472" cy="347472"/>
          </a:xfrm>
          <a:prstGeom prst="ellipse">
            <a:avLst/>
          </a:prstGeom>
          <a:solidFill>
            <a:srgbClr val="2563A6"/>
          </a:solidFill>
          <a:ln>
            <a:solidFill>
              <a:srgbClr val="2563A6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5" name="p10_1_t"/>
          <p:cNvSpPr/>
          <p:nvPr/>
        </p:nvSpPr>
        <p:spPr>
          <a:xfrm>
            <a:off x="1234440" y="2450592"/>
            <a:ext cx="33832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Tap Submit Complaint.</a:t>
            </a:r>
            <a:endParaRPr lang="en-US" sz="1800" dirty="0"/>
          </a:p>
        </p:txBody>
      </p:sp>
      <p:sp>
        <p:nvSpPr>
          <p:cNvPr id="16" name="p10_2_c"/>
          <p:cNvSpPr/>
          <p:nvPr/>
        </p:nvSpPr>
        <p:spPr>
          <a:xfrm>
            <a:off x="685800" y="2958084"/>
            <a:ext cx="347472" cy="347472"/>
          </a:xfrm>
          <a:prstGeom prst="ellipse">
            <a:avLst/>
          </a:prstGeom>
          <a:solidFill>
            <a:srgbClr val="2563A6"/>
          </a:solidFill>
          <a:ln>
            <a:solidFill>
              <a:srgbClr val="2563A6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7" name="p10_2_t"/>
          <p:cNvSpPr/>
          <p:nvPr/>
        </p:nvSpPr>
        <p:spPr>
          <a:xfrm>
            <a:off x="1234440" y="2939796"/>
            <a:ext cx="338328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the confirmation prompt and select Yes.</a:t>
            </a:r>
            <a:endParaRPr lang="en-US" sz="1800" dirty="0"/>
          </a:p>
        </p:txBody>
      </p:sp>
      <p:sp>
        <p:nvSpPr>
          <p:cNvPr id="18" name="p10_3_c"/>
          <p:cNvSpPr/>
          <p:nvPr/>
        </p:nvSpPr>
        <p:spPr>
          <a:xfrm>
            <a:off x="685800" y="3721608"/>
            <a:ext cx="347472" cy="347472"/>
          </a:xfrm>
          <a:prstGeom prst="ellipse">
            <a:avLst/>
          </a:prstGeom>
          <a:solidFill>
            <a:srgbClr val="2563A6"/>
          </a:solidFill>
          <a:ln>
            <a:solidFill>
              <a:srgbClr val="2563A6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p10_3_t"/>
          <p:cNvSpPr/>
          <p:nvPr/>
        </p:nvSpPr>
        <p:spPr>
          <a:xfrm>
            <a:off x="1234440" y="3703320"/>
            <a:ext cx="3383280" cy="9052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success message confirms the complaint was logged and queued for review.</a:t>
            </a:r>
            <a:endParaRPr lang="en-US" sz="1800" dirty="0"/>
          </a:p>
        </p:txBody>
      </p:sp>
      <p:sp>
        <p:nvSpPr>
          <p:cNvPr id="20" name="note10_bg"/>
          <p:cNvSpPr/>
          <p:nvPr/>
        </p:nvSpPr>
        <p:spPr>
          <a:xfrm>
            <a:off x="667512" y="4700016"/>
            <a:ext cx="3968496" cy="987552"/>
          </a:xfrm>
          <a:prstGeom prst="roundRect">
            <a:avLst>
              <a:gd name="adj" fmla="val 7407"/>
            </a:avLst>
          </a:prstGeom>
          <a:solidFill>
            <a:srgbClr val="F2F8FD"/>
          </a:solidFill>
          <a:ln w="12700">
            <a:solidFill>
              <a:srgbClr val="CFE3F4"/>
            </a:solidFill>
            <a:prstDash val="solid"/>
          </a:ln>
        </p:spPr>
      </p:sp>
      <p:sp>
        <p:nvSpPr>
          <p:cNvPr id="21" name="note10_tx"/>
          <p:cNvSpPr/>
          <p:nvPr/>
        </p:nvSpPr>
        <p:spPr>
          <a:xfrm>
            <a:off x="813816" y="4700016"/>
            <a:ext cx="3675888" cy="987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56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
</a:t>
            </a:r>
            <a:pPr indent="0" marL="0">
              <a:buNone/>
            </a:pPr>
            <a:r>
              <a:rPr lang="en-US" sz="16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empty form behind the message is the reset form, ready for the next complaint.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256599" y="2125980"/>
            <a:ext cx="1928652" cy="3685032"/>
          </a:xfrm>
          <a:prstGeom prst="roundRect">
            <a:avLst>
              <a:gd name="adj" fmla="val 3793"/>
            </a:avLst>
          </a:prstGeom>
          <a:solidFill>
            <a:srgbClr val="FFFFFF"/>
          </a:solidFill>
          <a:ln w="12700">
            <a:solidFill>
              <a:srgbClr val="CFE3F4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23" name="Image 0" descr="C:/NogorShomadhan/User Manual/Phase 2/final submit/20-confirm-submiss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6891" y="2176272"/>
            <a:ext cx="1828068" cy="3584448"/>
          </a:xfrm>
          <a:prstGeom prst="rect">
            <a:avLst/>
          </a:prstGeom>
        </p:spPr>
      </p:pic>
      <p:sp>
        <p:nvSpPr>
          <p:cNvPr id="24" name="Shape 21"/>
          <p:cNvSpPr/>
          <p:nvPr/>
        </p:nvSpPr>
        <p:spPr>
          <a:xfrm>
            <a:off x="8816188" y="2125980"/>
            <a:ext cx="1928652" cy="3685032"/>
          </a:xfrm>
          <a:prstGeom prst="roundRect">
            <a:avLst>
              <a:gd name="adj" fmla="val 3793"/>
            </a:avLst>
          </a:prstGeom>
          <a:solidFill>
            <a:srgbClr val="FFFFFF"/>
          </a:solidFill>
          <a:ln w="12700">
            <a:solidFill>
              <a:srgbClr val="CFE3F4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25" name="Image 1" descr="C:/NogorShomadhan/User Manual/Phase 2/final submit/21-queue-for-revie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6480" y="2176272"/>
            <a:ext cx="1828068" cy="3584448"/>
          </a:xfrm>
          <a:prstGeom prst="rect">
            <a:avLst/>
          </a:prstGeom>
        </p:spPr>
      </p:pic>
      <p:sp>
        <p:nvSpPr>
          <p:cNvPr id="26" name="h10_1"/>
          <p:cNvSpPr/>
          <p:nvPr/>
        </p:nvSpPr>
        <p:spPr>
          <a:xfrm>
            <a:off x="6390982" y="4721230"/>
            <a:ext cx="1656230" cy="279587"/>
          </a:xfrm>
          <a:prstGeom prst="roundRect">
            <a:avLst>
              <a:gd name="adj" fmla="val 19623"/>
            </a:avLst>
          </a:prstGeom>
          <a:ln w="28575">
            <a:solidFill>
              <a:srgbClr val="2563A6"/>
            </a:solidFill>
            <a:prstDash val="solid"/>
          </a:ln>
        </p:spPr>
      </p:sp>
      <p:sp>
        <p:nvSpPr>
          <p:cNvPr id="27" name="b10_1"/>
          <p:cNvSpPr/>
          <p:nvPr/>
        </p:nvSpPr>
        <p:spPr>
          <a:xfrm>
            <a:off x="6178853" y="4678144"/>
            <a:ext cx="365760" cy="365760"/>
          </a:xfrm>
          <a:prstGeom prst="ellipse">
            <a:avLst/>
          </a:prstGeom>
          <a:solidFill>
            <a:srgbClr val="2563A6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28" name="b10_1_t"/>
          <p:cNvSpPr/>
          <p:nvPr/>
        </p:nvSpPr>
        <p:spPr>
          <a:xfrm>
            <a:off x="6178853" y="4678144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29" name="h10_2"/>
          <p:cNvSpPr/>
          <p:nvPr/>
        </p:nvSpPr>
        <p:spPr>
          <a:xfrm>
            <a:off x="7239206" y="4190732"/>
            <a:ext cx="676385" cy="236574"/>
          </a:xfrm>
          <a:prstGeom prst="roundRect">
            <a:avLst>
              <a:gd name="adj" fmla="val 23191"/>
            </a:avLst>
          </a:prstGeom>
          <a:ln w="28575">
            <a:solidFill>
              <a:srgbClr val="2563A6"/>
            </a:solidFill>
            <a:prstDash val="solid"/>
          </a:ln>
        </p:spPr>
      </p:sp>
      <p:sp>
        <p:nvSpPr>
          <p:cNvPr id="30" name="b10_2"/>
          <p:cNvSpPr/>
          <p:nvPr/>
        </p:nvSpPr>
        <p:spPr>
          <a:xfrm>
            <a:off x="7403659" y="4344790"/>
            <a:ext cx="365760" cy="365760"/>
          </a:xfrm>
          <a:prstGeom prst="ellipse">
            <a:avLst/>
          </a:prstGeom>
          <a:solidFill>
            <a:srgbClr val="2563A6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31" name="b10_2_t"/>
          <p:cNvSpPr/>
          <p:nvPr/>
        </p:nvSpPr>
        <p:spPr>
          <a:xfrm>
            <a:off x="7403659" y="434479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32" name="h10_3"/>
          <p:cNvSpPr/>
          <p:nvPr/>
        </p:nvSpPr>
        <p:spPr>
          <a:xfrm>
            <a:off x="9109613" y="3022202"/>
            <a:ext cx="1502672" cy="480316"/>
          </a:xfrm>
          <a:prstGeom prst="roundRect">
            <a:avLst>
              <a:gd name="adj" fmla="val 11422"/>
            </a:avLst>
          </a:prstGeom>
          <a:ln w="28575">
            <a:solidFill>
              <a:srgbClr val="2563A6"/>
            </a:solidFill>
            <a:prstDash val="solid"/>
          </a:ln>
        </p:spPr>
      </p:sp>
      <p:sp>
        <p:nvSpPr>
          <p:cNvPr id="33" name="b10_3"/>
          <p:cNvSpPr/>
          <p:nvPr/>
        </p:nvSpPr>
        <p:spPr>
          <a:xfrm>
            <a:off x="8873719" y="2839322"/>
            <a:ext cx="365760" cy="365760"/>
          </a:xfrm>
          <a:prstGeom prst="ellipse">
            <a:avLst/>
          </a:prstGeom>
          <a:solidFill>
            <a:srgbClr val="2563A6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34" name="b10_3_t"/>
          <p:cNvSpPr/>
          <p:nvPr/>
        </p:nvSpPr>
        <p:spPr>
          <a:xfrm>
            <a:off x="8873719" y="2839322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35" name="flow10_bg"/>
          <p:cNvSpPr/>
          <p:nvPr/>
        </p:nvSpPr>
        <p:spPr>
          <a:xfrm>
            <a:off x="411480" y="5870448"/>
            <a:ext cx="11368735" cy="566928"/>
          </a:xfrm>
          <a:prstGeom prst="roundRect">
            <a:avLst>
              <a:gd name="adj" fmla="val 16129"/>
            </a:avLst>
          </a:prstGeom>
          <a:solidFill>
            <a:srgbClr val="F2F8FD"/>
          </a:solidFill>
          <a:ln w="12700">
            <a:solidFill>
              <a:srgbClr val="CFE3F4"/>
            </a:solidFill>
            <a:prstDash val="solid"/>
          </a:ln>
        </p:spPr>
      </p:sp>
      <p:sp>
        <p:nvSpPr>
          <p:cNvPr id="36" name="flow10_p0"/>
          <p:cNvSpPr/>
          <p:nvPr/>
        </p:nvSpPr>
        <p:spPr>
          <a:xfrm>
            <a:off x="547268" y="5961888"/>
            <a:ext cx="1978762" cy="384048"/>
          </a:xfrm>
          <a:prstGeom prst="roundRect">
            <a:avLst>
              <a:gd name="adj" fmla="val 50000"/>
            </a:avLst>
          </a:prstGeom>
          <a:solidFill>
            <a:srgbClr val="2563A6"/>
          </a:solidFill>
          <a:ln w="12700">
            <a:solidFill>
              <a:srgbClr val="2563A6"/>
            </a:solidFill>
            <a:prstDash val="solid"/>
          </a:ln>
        </p:spPr>
      </p:sp>
      <p:sp>
        <p:nvSpPr>
          <p:cNvPr id="37" name="flow10_p0_t"/>
          <p:cNvSpPr/>
          <p:nvPr/>
        </p:nvSpPr>
        <p:spPr>
          <a:xfrm>
            <a:off x="547268" y="5961888"/>
            <a:ext cx="197876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 Details</a:t>
            </a:r>
            <a:endParaRPr lang="en-US" sz="1600" dirty="0"/>
          </a:p>
        </p:txBody>
      </p:sp>
      <p:sp>
        <p:nvSpPr>
          <p:cNvPr id="38" name="flow10_c0"/>
          <p:cNvSpPr/>
          <p:nvPr/>
        </p:nvSpPr>
        <p:spPr>
          <a:xfrm>
            <a:off x="2626614" y="6044184"/>
            <a:ext cx="274320" cy="219456"/>
          </a:xfrm>
          <a:prstGeom prst="chevron">
            <a:avLst/>
          </a:prstGeom>
          <a:solidFill>
            <a:srgbClr val="2563A6"/>
          </a:solidFill>
          <a:ln w="12700">
            <a:solidFill>
              <a:srgbClr val="2563A6"/>
            </a:solidFill>
            <a:prstDash val="solid"/>
          </a:ln>
        </p:spPr>
      </p:sp>
      <p:sp>
        <p:nvSpPr>
          <p:cNvPr id="39" name="flow10_p1"/>
          <p:cNvSpPr/>
          <p:nvPr/>
        </p:nvSpPr>
        <p:spPr>
          <a:xfrm>
            <a:off x="3001518" y="5961888"/>
            <a:ext cx="2915107" cy="384048"/>
          </a:xfrm>
          <a:prstGeom prst="roundRect">
            <a:avLst>
              <a:gd name="adj" fmla="val 50000"/>
            </a:avLst>
          </a:prstGeom>
          <a:solidFill>
            <a:srgbClr val="2563A6"/>
          </a:solidFill>
          <a:ln w="12700">
            <a:solidFill>
              <a:srgbClr val="2563A6"/>
            </a:solidFill>
            <a:prstDash val="solid"/>
          </a:ln>
        </p:spPr>
      </p:sp>
      <p:sp>
        <p:nvSpPr>
          <p:cNvPr id="40" name="flow10_p1_t"/>
          <p:cNvSpPr/>
          <p:nvPr/>
        </p:nvSpPr>
        <p:spPr>
          <a:xfrm>
            <a:off x="3001518" y="5961888"/>
            <a:ext cx="291510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Optional Evidence</a:t>
            </a:r>
            <a:endParaRPr lang="en-US" sz="1600" dirty="0"/>
          </a:p>
        </p:txBody>
      </p:sp>
      <p:sp>
        <p:nvSpPr>
          <p:cNvPr id="41" name="flow10_c1"/>
          <p:cNvSpPr/>
          <p:nvPr/>
        </p:nvSpPr>
        <p:spPr>
          <a:xfrm>
            <a:off x="6017209" y="6044184"/>
            <a:ext cx="274320" cy="219456"/>
          </a:xfrm>
          <a:prstGeom prst="chevron">
            <a:avLst/>
          </a:prstGeom>
          <a:solidFill>
            <a:srgbClr val="2563A6"/>
          </a:solidFill>
          <a:ln w="12700">
            <a:solidFill>
              <a:srgbClr val="2563A6"/>
            </a:solidFill>
            <a:prstDash val="solid"/>
          </a:ln>
        </p:spPr>
      </p:sp>
      <p:sp>
        <p:nvSpPr>
          <p:cNvPr id="42" name="flow10_p2"/>
          <p:cNvSpPr/>
          <p:nvPr/>
        </p:nvSpPr>
        <p:spPr>
          <a:xfrm>
            <a:off x="6392113" y="5961888"/>
            <a:ext cx="2212848" cy="384048"/>
          </a:xfrm>
          <a:prstGeom prst="roundRect">
            <a:avLst>
              <a:gd name="adj" fmla="val 50000"/>
            </a:avLst>
          </a:prstGeom>
          <a:solidFill>
            <a:srgbClr val="2563A6"/>
          </a:solidFill>
          <a:ln w="12700">
            <a:solidFill>
              <a:srgbClr val="2563A6"/>
            </a:solidFill>
            <a:prstDash val="solid"/>
          </a:ln>
        </p:spPr>
      </p:sp>
      <p:sp>
        <p:nvSpPr>
          <p:cNvPr id="43" name="flow10_p2_t"/>
          <p:cNvSpPr/>
          <p:nvPr/>
        </p:nvSpPr>
        <p:spPr>
          <a:xfrm>
            <a:off x="6392113" y="5961888"/>
            <a:ext cx="2212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Category</a:t>
            </a:r>
            <a:endParaRPr lang="en-US" sz="1600" dirty="0"/>
          </a:p>
        </p:txBody>
      </p:sp>
      <p:sp>
        <p:nvSpPr>
          <p:cNvPr id="44" name="flow10_c2"/>
          <p:cNvSpPr/>
          <p:nvPr/>
        </p:nvSpPr>
        <p:spPr>
          <a:xfrm>
            <a:off x="8705545" y="6044184"/>
            <a:ext cx="274320" cy="219456"/>
          </a:xfrm>
          <a:prstGeom prst="chevron">
            <a:avLst/>
          </a:prstGeom>
          <a:solidFill>
            <a:srgbClr val="2563A6"/>
          </a:solidFill>
          <a:ln w="12700">
            <a:solidFill>
              <a:srgbClr val="2563A6"/>
            </a:solidFill>
            <a:prstDash val="solid"/>
          </a:ln>
        </p:spPr>
      </p:sp>
      <p:sp>
        <p:nvSpPr>
          <p:cNvPr id="45" name="flow10_p3"/>
          <p:cNvSpPr/>
          <p:nvPr/>
        </p:nvSpPr>
        <p:spPr>
          <a:xfrm>
            <a:off x="9080449" y="5961888"/>
            <a:ext cx="2563978" cy="384048"/>
          </a:xfrm>
          <a:prstGeom prst="roundRect">
            <a:avLst>
              <a:gd name="adj" fmla="val 50000"/>
            </a:avLst>
          </a:prstGeom>
          <a:solidFill>
            <a:srgbClr val="2563A6"/>
          </a:solidFill>
          <a:ln w="12700">
            <a:solidFill>
              <a:srgbClr val="2563A6"/>
            </a:solidFill>
            <a:prstDash val="solid"/>
          </a:ln>
        </p:spPr>
      </p:sp>
      <p:sp>
        <p:nvSpPr>
          <p:cNvPr id="46" name="flow10_p3_t"/>
          <p:cNvSpPr/>
          <p:nvPr/>
        </p:nvSpPr>
        <p:spPr>
          <a:xfrm>
            <a:off x="9080449" y="5961888"/>
            <a:ext cx="256397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Submission</a:t>
            </a:r>
            <a:endParaRPr lang="en-US" sz="1600" dirty="0"/>
          </a:p>
        </p:txBody>
      </p:sp>
      <p:sp>
        <p:nvSpPr>
          <p:cNvPr id="47" name="Text 43"/>
          <p:cNvSpPr/>
          <p:nvPr/>
        </p:nvSpPr>
        <p:spPr>
          <a:xfrm>
            <a:off x="411480" y="6510528"/>
            <a:ext cx="4114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Nogor Shomadhan  ·  User Manual</a:t>
            </a:r>
            <a:endParaRPr lang="en-US" sz="1100" dirty="0"/>
          </a:p>
        </p:txBody>
      </p:sp>
      <p:sp>
        <p:nvSpPr>
          <p:cNvPr id="48" name="Text 44">
            <a:hlinkClick r:id="rId3" tooltip="1. Problem Statement" action="ppaction://hlinksldjump"/>
          </p:cNvPr>
          <p:cNvSpPr/>
          <p:nvPr/>
        </p:nvSpPr>
        <p:spPr>
          <a:xfrm>
            <a:off x="727222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action="ppaction://hlinksldjump" tooltip="1. Problem Stateme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9" name="Text 45">
            <a:hlinkClick r:id="rId4" tooltip="2. Stakeholders and Responsibilities" action="ppaction://hlinksldjump"/>
          </p:cNvPr>
          <p:cNvSpPr/>
          <p:nvPr/>
        </p:nvSpPr>
        <p:spPr>
          <a:xfrm>
            <a:off x="745510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action="ppaction://hlinksldjump" tooltip="2. Stakeholders and Responsibiliti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0" name="Text 46">
            <a:hlinkClick r:id="rId5" tooltip="3. Resident Account Registration" action="ppaction://hlinksldjump"/>
          </p:cNvPr>
          <p:cNvSpPr/>
          <p:nvPr/>
        </p:nvSpPr>
        <p:spPr>
          <a:xfrm>
            <a:off x="763798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action="ppaction://hlinksldjump" tooltip="3. Resident Account Registra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1" name="Text 47">
            <a:hlinkClick r:id="rId6" tooltip="4. Registration Request Submitted" action="ppaction://hlinksldjump"/>
          </p:cNvPr>
          <p:cNvSpPr/>
          <p:nvPr/>
        </p:nvSpPr>
        <p:spPr>
          <a:xfrm>
            <a:off x="782086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 action="ppaction://hlinksldjump" tooltip="4. Registration Request Submit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2" name="Text 48">
            <a:hlinkClick r:id="rId7" tooltip="5. Admin Receives the Verification Request" action="ppaction://hlinksldjump"/>
          </p:cNvPr>
          <p:cNvSpPr/>
          <p:nvPr/>
        </p:nvSpPr>
        <p:spPr>
          <a:xfrm>
            <a:off x="800374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 action="ppaction://hlinksldjump" tooltip="5. Admin Receives the Verification Reques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3" name="Text 49">
            <a:hlinkClick r:id="rId8" tooltip="6. Admin Reviews and Approves the Account" action="ppaction://hlinksldjump"/>
          </p:cNvPr>
          <p:cNvSpPr/>
          <p:nvPr/>
        </p:nvSpPr>
        <p:spPr>
          <a:xfrm>
            <a:off x="818662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" action="ppaction://hlinksldjump" tooltip="6. Admin Reviews and Approves the Accou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4" name="Text 50">
            <a:hlinkClick r:id="rId9" tooltip="7. Account Verification Completed" action="ppaction://hlinksldjump"/>
          </p:cNvPr>
          <p:cNvSpPr/>
          <p:nvPr/>
        </p:nvSpPr>
        <p:spPr>
          <a:xfrm>
            <a:off x="836950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" action="ppaction://hlinksldjump" tooltip="7. Account Verification Comple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5" name="Text 51">
            <a:hlinkClick r:id="rId10" tooltip="8. Create a New Complaint" action="ppaction://hlinksldjump"/>
          </p:cNvPr>
          <p:cNvSpPr/>
          <p:nvPr/>
        </p:nvSpPr>
        <p:spPr>
          <a:xfrm>
            <a:off x="855238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0" action="ppaction://hlinksldjump" tooltip="8. Create a New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6" name="Text 52">
            <a:hlinkClick r:id="rId11" tooltip="9. Add Evidence and Review the Category" action="ppaction://hlinksldjump"/>
          </p:cNvPr>
          <p:cNvSpPr/>
          <p:nvPr/>
        </p:nvSpPr>
        <p:spPr>
          <a:xfrm>
            <a:off x="873526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1" action="ppaction://hlinksldjump" tooltip="9. Add Evidence and Review the Categor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7" name="Text 53">
            <a:hlinkClick r:id="rId12" tooltip="10. Confirm the Complaint Submission" action="ppaction://hlinksldjump"/>
          </p:cNvPr>
          <p:cNvSpPr/>
          <p:nvPr/>
        </p:nvSpPr>
        <p:spPr>
          <a:xfrm>
            <a:off x="8918143" y="6528816"/>
            <a:ext cx="118872" cy="118872"/>
          </a:xfrm>
          <a:prstGeom prst="ellipse">
            <a:avLst/>
          </a:prstGeom>
          <a:solidFill>
            <a:srgbClr val="2563A6"/>
          </a:solidFill>
          <a:ln>
            <a:solidFill>
              <a:srgbClr val="2563A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2" action="ppaction://hlinksldjump" tooltip="10. Confirm the Complaint Submiss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8" name="Text 54">
            <a:hlinkClick r:id="rId13" tooltip="11. Admin Opens the Review Queue" action="ppaction://hlinksldjump"/>
          </p:cNvPr>
          <p:cNvSpPr/>
          <p:nvPr/>
        </p:nvSpPr>
        <p:spPr>
          <a:xfrm>
            <a:off x="910102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3" action="ppaction://hlinksldjump" tooltip="11. Admin Opens the Review Queu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9" name="Text 55">
            <a:hlinkClick r:id="rId14" tooltip="12. Complaint Check and Duplicate Comparison" action="ppaction://hlinksldjump"/>
          </p:cNvPr>
          <p:cNvSpPr/>
          <p:nvPr/>
        </p:nvSpPr>
        <p:spPr>
          <a:xfrm>
            <a:off x="928390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4" action="ppaction://hlinksldjump" tooltip="12. Complaint Check and Duplicate Compari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0" name="Text 56">
            <a:hlinkClick r:id="rId15" tooltip="13. Duplicate Review Outcomes" action="ppaction://hlinksldjump"/>
          </p:cNvPr>
          <p:cNvSpPr/>
          <p:nvPr/>
        </p:nvSpPr>
        <p:spPr>
          <a:xfrm>
            <a:off x="946678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5" action="ppaction://hlinksldjump" tooltip="13. Duplicate Review Outcom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1" name="Text 57">
            <a:hlinkClick r:id="rId16" tooltip="14. Pending Complaint Visibility" action="ppaction://hlinksldjump"/>
          </p:cNvPr>
          <p:cNvSpPr/>
          <p:nvPr/>
        </p:nvSpPr>
        <p:spPr>
          <a:xfrm>
            <a:off x="964966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6" action="ppaction://hlinksldjump" tooltip="14. Pending Complaint Visibilit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2" name="Text 58">
            <a:hlinkClick r:id="rId17" tooltip="15. Authority Opens the Complaint" action="ppaction://hlinksldjump"/>
          </p:cNvPr>
          <p:cNvSpPr/>
          <p:nvPr/>
        </p:nvSpPr>
        <p:spPr>
          <a:xfrm>
            <a:off x="983254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7" action="ppaction://hlinksldjump" tooltip="15. Authority Opens the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3" name="Text 59">
            <a:hlinkClick r:id="rId18" tooltip="16. Assign a Contractor and Start Work" action="ppaction://hlinksldjump"/>
          </p:cNvPr>
          <p:cNvSpPr/>
          <p:nvPr/>
        </p:nvSpPr>
        <p:spPr>
          <a:xfrm>
            <a:off x="1001542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8" action="ppaction://hlinksldjump" tooltip="16. Assign a Contractor and Start Work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4" name="Text 60">
            <a:hlinkClick r:id="rId19" tooltip="17. The Complaint Moves to In Progress" action="ppaction://hlinksldjump"/>
          </p:cNvPr>
          <p:cNvSpPr/>
          <p:nvPr/>
        </p:nvSpPr>
        <p:spPr>
          <a:xfrm>
            <a:off x="1019830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9" action="ppaction://hlinksldjump" tooltip="17. The Complaint Moves to In Progres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5" name="Text 61">
            <a:hlinkClick r:id="rId20" tooltip="18. Residents See the Progress Update" action="ppaction://hlinksldjump"/>
          </p:cNvPr>
          <p:cNvSpPr/>
          <p:nvPr/>
        </p:nvSpPr>
        <p:spPr>
          <a:xfrm>
            <a:off x="1038118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0" action="ppaction://hlinksldjump" tooltip="18. Residents See the Progress Updat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6" name="Text 62">
            <a:hlinkClick r:id="rId21" tooltip="19. Resident Starts a Forum Discussion" action="ppaction://hlinksldjump"/>
          </p:cNvPr>
          <p:cNvSpPr/>
          <p:nvPr/>
        </p:nvSpPr>
        <p:spPr>
          <a:xfrm>
            <a:off x="1056406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1" action="ppaction://hlinksldjump" tooltip="19. Resident Starts a Forum Discuss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7" name="Text 63">
            <a:hlinkClick r:id="rId22" tooltip="20. Everyone Is Notified" action="ppaction://hlinksldjump"/>
          </p:cNvPr>
          <p:cNvSpPr/>
          <p:nvPr/>
        </p:nvSpPr>
        <p:spPr>
          <a:xfrm>
            <a:off x="1074694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2" action="ppaction://hlinksldjump" tooltip="20. Everyone Is Notifi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8" name="Text 64">
            <a:hlinkClick r:id="rId23" tooltip="21. Open the Post and Discuss" action="ppaction://hlinksldjump"/>
          </p:cNvPr>
          <p:cNvSpPr/>
          <p:nvPr/>
        </p:nvSpPr>
        <p:spPr>
          <a:xfrm>
            <a:off x="1092982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3" action="ppaction://hlinksldjump" tooltip="21. Open the Post and Discus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9" name="Text 65">
            <a:hlinkClick r:id="rId24" tooltip="22. Authority Updates the Work" action="ppaction://hlinksldjump"/>
          </p:cNvPr>
          <p:cNvSpPr/>
          <p:nvPr/>
        </p:nvSpPr>
        <p:spPr>
          <a:xfrm>
            <a:off x="1111270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4" action="ppaction://hlinksldjump" tooltip="22. Authority Updates the Work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70" name="Text 66">
            <a:hlinkClick r:id="rId25" tooltip="23. Authority Resolves the Complaint" action="ppaction://hlinksldjump"/>
          </p:cNvPr>
          <p:cNvSpPr/>
          <p:nvPr/>
        </p:nvSpPr>
        <p:spPr>
          <a:xfrm>
            <a:off x="1129558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5" action="ppaction://hlinksldjump" tooltip="23. Authority Resolves the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71" name="Text 67">
            <a:hlinkClick r:id="rId26" tooltip="24. Residents Give Feedback" action="ppaction://hlinksldjump"/>
          </p:cNvPr>
          <p:cNvSpPr/>
          <p:nvPr/>
        </p:nvSpPr>
        <p:spPr>
          <a:xfrm>
            <a:off x="1147846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6" action="ppaction://hlinksldjump" tooltip="24. Residents Give Feedback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72" name="Text 68">
            <a:hlinkClick r:id="rId27" tooltip="25. Feedback Is Public and Answered" action="ppaction://hlinksldjump"/>
          </p:cNvPr>
          <p:cNvSpPr/>
          <p:nvPr/>
        </p:nvSpPr>
        <p:spPr>
          <a:xfrm>
            <a:off x="1166134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7" action="ppaction://hlinksldjump" tooltip="25. Feedback Is Public and Answer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73" name="Text 69"/>
          <p:cNvSpPr/>
          <p:nvPr/>
        </p:nvSpPr>
        <p:spPr>
          <a:xfrm>
            <a:off x="6449263" y="6510528"/>
            <a:ext cx="7132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25</a:t>
            </a:r>
            <a:endParaRPr lang="en-US" sz="11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2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2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2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2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2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2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2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2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2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2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2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2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2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42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42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42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42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42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42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42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132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42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grpId="0" nodeType="withEffect">
                                  <p:stCondLst>
                                    <p:cond delay="144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42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42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grpId="0" nodeType="withEffect">
                                  <p:stCondLst>
                                    <p:cond delay="168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42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42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4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B86A12"/>
          </a:solidFill>
          <a:ln/>
        </p:spPr>
      </p:sp>
      <p:sp>
        <p:nvSpPr>
          <p:cNvPr id="3" name="Shape 1"/>
          <p:cNvSpPr/>
          <p:nvPr/>
        </p:nvSpPr>
        <p:spPr>
          <a:xfrm>
            <a:off x="411480" y="329184"/>
            <a:ext cx="621792" cy="621792"/>
          </a:xfrm>
          <a:prstGeom prst="roundRect">
            <a:avLst>
              <a:gd name="adj" fmla="val 23529"/>
            </a:avLst>
          </a:prstGeom>
          <a:solidFill>
            <a:srgbClr val="B86A12"/>
          </a:solidFill>
          <a:ln w="12700">
            <a:solidFill>
              <a:srgbClr val="B86A12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411480" y="329184"/>
            <a:ext cx="62179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1188720" y="329184"/>
            <a:ext cx="768096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B86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 ·  ADMIN COMPLAINT VERIFICATION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52144" y="548640"/>
            <a:ext cx="8321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Opens the Review Queue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10975543" y="475488"/>
            <a:ext cx="804672" cy="420624"/>
          </a:xfrm>
          <a:prstGeom prst="roundRect">
            <a:avLst>
              <a:gd name="adj" fmla="val 50000"/>
            </a:avLst>
          </a:prstGeom>
          <a:solidFill>
            <a:srgbClr val="B86A12"/>
          </a:solidFill>
          <a:ln w="12700">
            <a:solidFill>
              <a:srgbClr val="B86A12"/>
            </a:solidFill>
            <a:prstDash val="solid"/>
          </a:ln>
          <a:effectLst>
            <a:outerShdw sx="100000" sy="100000" kx="0" ky="0" algn="bl" rotWithShape="0" blurRad="76200" dist="12700" dir="5400000">
              <a:srgbClr val="0B2239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0975543" y="475488"/>
            <a:ext cx="80467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11480" y="1216152"/>
            <a:ext cx="11368735" cy="18288"/>
          </a:xfrm>
          <a:prstGeom prst="rect">
            <a:avLst/>
          </a:prstGeom>
          <a:solidFill>
            <a:srgbClr val="F2DBBB"/>
          </a:solidFill>
          <a:ln/>
        </p:spPr>
      </p:sp>
      <p:sp>
        <p:nvSpPr>
          <p:cNvPr id="10" name="Shape 8"/>
          <p:cNvSpPr/>
          <p:nvPr/>
        </p:nvSpPr>
        <p:spPr>
          <a:xfrm>
            <a:off x="411480" y="1417320"/>
            <a:ext cx="3474720" cy="4910328"/>
          </a:xfrm>
          <a:prstGeom prst="roundRect">
            <a:avLst>
              <a:gd name="adj" fmla="val 2632"/>
            </a:avLst>
          </a:prstGeom>
          <a:solidFill>
            <a:srgbClr val="FFFFFF"/>
          </a:solidFill>
          <a:ln w="12700">
            <a:solidFill>
              <a:srgbClr val="F2DBBB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11" name="p11_1_c"/>
          <p:cNvSpPr/>
          <p:nvPr/>
        </p:nvSpPr>
        <p:spPr>
          <a:xfrm>
            <a:off x="667512" y="1746504"/>
            <a:ext cx="347472" cy="347472"/>
          </a:xfrm>
          <a:prstGeom prst="ellipse">
            <a:avLst/>
          </a:prstGeom>
          <a:solidFill>
            <a:srgbClr val="B86A12"/>
          </a:solidFill>
          <a:ln>
            <a:solidFill>
              <a:srgbClr val="B86A12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2" name="p11_1_t"/>
          <p:cNvSpPr/>
          <p:nvPr/>
        </p:nvSpPr>
        <p:spPr>
          <a:xfrm>
            <a:off x="1216152" y="1728216"/>
            <a:ext cx="2414016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— </a:t>
            </a:r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admin opens Review Complaints from Administrative Actions.</a:t>
            </a:r>
            <a:endParaRPr lang="en-US" sz="1800" dirty="0"/>
          </a:p>
        </p:txBody>
      </p:sp>
      <p:sp>
        <p:nvSpPr>
          <p:cNvPr id="13" name="p11_2_c"/>
          <p:cNvSpPr/>
          <p:nvPr/>
        </p:nvSpPr>
        <p:spPr>
          <a:xfrm>
            <a:off x="667512" y="3305556"/>
            <a:ext cx="347472" cy="347472"/>
          </a:xfrm>
          <a:prstGeom prst="ellipse">
            <a:avLst/>
          </a:prstGeom>
          <a:solidFill>
            <a:srgbClr val="B86A12"/>
          </a:solidFill>
          <a:ln>
            <a:solidFill>
              <a:srgbClr val="B86A12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p11_2_t"/>
          <p:cNvSpPr/>
          <p:nvPr/>
        </p:nvSpPr>
        <p:spPr>
          <a:xfrm>
            <a:off x="1216152" y="3287268"/>
            <a:ext cx="2414016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Notifications — </a:t>
            </a:r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complaints and possible duplicates are listed.</a:t>
            </a:r>
            <a:endParaRPr lang="en-US" sz="1800" dirty="0"/>
          </a:p>
        </p:txBody>
      </p:sp>
      <p:sp>
        <p:nvSpPr>
          <p:cNvPr id="15" name="p11_3_c"/>
          <p:cNvSpPr/>
          <p:nvPr/>
        </p:nvSpPr>
        <p:spPr>
          <a:xfrm>
            <a:off x="667512" y="4864608"/>
            <a:ext cx="347472" cy="347472"/>
          </a:xfrm>
          <a:prstGeom prst="ellipse">
            <a:avLst/>
          </a:prstGeom>
          <a:solidFill>
            <a:srgbClr val="B86A12"/>
          </a:solidFill>
          <a:ln>
            <a:solidFill>
              <a:srgbClr val="B86A12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p11_3_t"/>
          <p:cNvSpPr/>
          <p:nvPr/>
        </p:nvSpPr>
        <p:spPr>
          <a:xfrm>
            <a:off x="1216152" y="4846320"/>
            <a:ext cx="2414016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Queue — </a:t>
            </a:r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complaint appears with an Unverified status.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4181524" y="1367028"/>
            <a:ext cx="2392240" cy="4626864"/>
          </a:xfrm>
          <a:prstGeom prst="roundRect">
            <a:avLst>
              <a:gd name="adj" fmla="val 3058"/>
            </a:avLst>
          </a:prstGeom>
          <a:solidFill>
            <a:srgbClr val="FFFFFF"/>
          </a:solidFill>
          <a:ln w="12700">
            <a:solidFill>
              <a:srgbClr val="F2DBBB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18" name="Image 0" descr="C:/NogorShomadhan/User Manual/Phase 3/review complaint/IMG_4442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31816" y="1417320"/>
            <a:ext cx="2291656" cy="4526280"/>
          </a:xfrm>
          <a:prstGeom prst="rect">
            <a:avLst/>
          </a:prstGeom>
        </p:spPr>
      </p:pic>
      <p:sp>
        <p:nvSpPr>
          <p:cNvPr id="19" name="Text 16"/>
          <p:cNvSpPr/>
          <p:nvPr/>
        </p:nvSpPr>
        <p:spPr>
          <a:xfrm>
            <a:off x="3911776" y="6053328"/>
            <a:ext cx="293173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dashboard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6747499" y="1367028"/>
            <a:ext cx="2468281" cy="4626864"/>
          </a:xfrm>
          <a:prstGeom prst="roundRect">
            <a:avLst>
              <a:gd name="adj" fmla="val 2964"/>
            </a:avLst>
          </a:prstGeom>
          <a:solidFill>
            <a:srgbClr val="FFFFFF"/>
          </a:solidFill>
          <a:ln w="12700">
            <a:solidFill>
              <a:srgbClr val="F2DBBB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21" name="Image 1" descr="C:/NogorShomadhan/User Manual/Phase 3/review complaint/IMG_4441.jpe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97791" y="1417320"/>
            <a:ext cx="2367697" cy="45262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6477751" y="6053328"/>
            <a:ext cx="3007777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notifications</a:t>
            </a:r>
            <a:endParaRPr lang="en-US" sz="1600" dirty="0"/>
          </a:p>
        </p:txBody>
      </p:sp>
      <p:sp>
        <p:nvSpPr>
          <p:cNvPr id="23" name="Shape 19"/>
          <p:cNvSpPr/>
          <p:nvPr/>
        </p:nvSpPr>
        <p:spPr>
          <a:xfrm>
            <a:off x="9389516" y="1367028"/>
            <a:ext cx="2406271" cy="4626864"/>
          </a:xfrm>
          <a:prstGeom prst="roundRect">
            <a:avLst>
              <a:gd name="adj" fmla="val 3040"/>
            </a:avLst>
          </a:prstGeom>
          <a:solidFill>
            <a:srgbClr val="FFFFFF"/>
          </a:solidFill>
          <a:ln w="12700">
            <a:solidFill>
              <a:srgbClr val="F2DBBB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24" name="Image 2" descr="C:/NogorShomadhan/User Manual/Phase 3/review complaint/22-complaint-in-admin-revie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39808" y="1417320"/>
            <a:ext cx="2305687" cy="4526280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9119768" y="6053328"/>
            <a:ext cx="2945767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queue</a:t>
            </a:r>
            <a:endParaRPr lang="en-US" sz="1600" dirty="0"/>
          </a:p>
        </p:txBody>
      </p:sp>
      <p:sp>
        <p:nvSpPr>
          <p:cNvPr id="26" name="Shape 21"/>
          <p:cNvSpPr/>
          <p:nvPr/>
        </p:nvSpPr>
        <p:spPr>
          <a:xfrm>
            <a:off x="6550903" y="3506724"/>
            <a:ext cx="219456" cy="347472"/>
          </a:xfrm>
          <a:prstGeom prst="chevron">
            <a:avLst/>
          </a:prstGeom>
          <a:solidFill>
            <a:srgbClr val="B86A12"/>
          </a:solidFill>
          <a:ln w="12700">
            <a:solidFill>
              <a:srgbClr val="B86A12"/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9192920" y="3506724"/>
            <a:ext cx="219456" cy="347472"/>
          </a:xfrm>
          <a:prstGeom prst="chevron">
            <a:avLst/>
          </a:prstGeom>
          <a:solidFill>
            <a:srgbClr val="B86A12"/>
          </a:solidFill>
          <a:ln w="12700">
            <a:solidFill>
              <a:srgbClr val="B86A12"/>
            </a:solidFill>
            <a:prstDash val="solid"/>
          </a:ln>
        </p:spPr>
      </p:sp>
      <p:sp>
        <p:nvSpPr>
          <p:cNvPr id="28" name="h11_1a"/>
          <p:cNvSpPr/>
          <p:nvPr/>
        </p:nvSpPr>
        <p:spPr>
          <a:xfrm>
            <a:off x="4314315" y="3336463"/>
            <a:ext cx="2126656" cy="488838"/>
          </a:xfrm>
          <a:prstGeom prst="roundRect">
            <a:avLst>
              <a:gd name="adj" fmla="val 11223"/>
            </a:avLst>
          </a:prstGeom>
          <a:ln w="28575">
            <a:solidFill>
              <a:srgbClr val="B86A12"/>
            </a:solidFill>
            <a:prstDash val="solid"/>
          </a:ln>
        </p:spPr>
      </p:sp>
      <p:sp>
        <p:nvSpPr>
          <p:cNvPr id="29" name="h11_1b"/>
          <p:cNvSpPr/>
          <p:nvPr/>
        </p:nvSpPr>
        <p:spPr>
          <a:xfrm>
            <a:off x="6042224" y="1462583"/>
            <a:ext cx="192499" cy="171999"/>
          </a:xfrm>
          <a:prstGeom prst="roundRect">
            <a:avLst>
              <a:gd name="adj" fmla="val 31898"/>
            </a:avLst>
          </a:prstGeom>
          <a:ln w="28575">
            <a:solidFill>
              <a:srgbClr val="B86A12"/>
            </a:solidFill>
            <a:prstDash val="solid"/>
          </a:ln>
        </p:spPr>
      </p:sp>
      <p:sp>
        <p:nvSpPr>
          <p:cNvPr id="30" name="b11_1"/>
          <p:cNvSpPr/>
          <p:nvPr/>
        </p:nvSpPr>
        <p:spPr>
          <a:xfrm>
            <a:off x="4117685" y="3153583"/>
            <a:ext cx="365760" cy="365760"/>
          </a:xfrm>
          <a:prstGeom prst="ellipse">
            <a:avLst/>
          </a:prstGeom>
          <a:solidFill>
            <a:srgbClr val="B86A12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31" name="b11_1_t"/>
          <p:cNvSpPr/>
          <p:nvPr/>
        </p:nvSpPr>
        <p:spPr>
          <a:xfrm>
            <a:off x="4117685" y="3153583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32" name="h11_2a"/>
          <p:cNvSpPr/>
          <p:nvPr/>
        </p:nvSpPr>
        <p:spPr>
          <a:xfrm>
            <a:off x="6887764" y="2883835"/>
            <a:ext cx="2201958" cy="534101"/>
          </a:xfrm>
          <a:prstGeom prst="roundRect">
            <a:avLst>
              <a:gd name="adj" fmla="val 10272"/>
            </a:avLst>
          </a:prstGeom>
          <a:ln w="28575">
            <a:solidFill>
              <a:srgbClr val="B86A12"/>
            </a:solidFill>
            <a:prstDash val="solid"/>
          </a:ln>
        </p:spPr>
      </p:sp>
      <p:sp>
        <p:nvSpPr>
          <p:cNvPr id="33" name="h11_2b"/>
          <p:cNvSpPr/>
          <p:nvPr/>
        </p:nvSpPr>
        <p:spPr>
          <a:xfrm>
            <a:off x="6887764" y="3408883"/>
            <a:ext cx="2201958" cy="452628"/>
          </a:xfrm>
          <a:prstGeom prst="roundRect">
            <a:avLst>
              <a:gd name="adj" fmla="val 12121"/>
            </a:avLst>
          </a:prstGeom>
          <a:ln w="28575">
            <a:solidFill>
              <a:srgbClr val="B86A12"/>
            </a:solidFill>
            <a:prstDash val="solid"/>
          </a:ln>
        </p:spPr>
      </p:sp>
      <p:sp>
        <p:nvSpPr>
          <p:cNvPr id="34" name="b11_2"/>
          <p:cNvSpPr/>
          <p:nvPr/>
        </p:nvSpPr>
        <p:spPr>
          <a:xfrm>
            <a:off x="6685942" y="2700955"/>
            <a:ext cx="365760" cy="365760"/>
          </a:xfrm>
          <a:prstGeom prst="ellipse">
            <a:avLst/>
          </a:prstGeom>
          <a:solidFill>
            <a:srgbClr val="B86A12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35" name="b11_2_t"/>
          <p:cNvSpPr/>
          <p:nvPr/>
        </p:nvSpPr>
        <p:spPr>
          <a:xfrm>
            <a:off x="6685942" y="2700955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36" name="h11_3a"/>
          <p:cNvSpPr/>
          <p:nvPr/>
        </p:nvSpPr>
        <p:spPr>
          <a:xfrm>
            <a:off x="11026121" y="2920045"/>
            <a:ext cx="548754" cy="181051"/>
          </a:xfrm>
          <a:prstGeom prst="roundRect">
            <a:avLst>
              <a:gd name="adj" fmla="val 30303"/>
            </a:avLst>
          </a:prstGeom>
          <a:ln w="28575">
            <a:solidFill>
              <a:srgbClr val="B4480A"/>
            </a:solidFill>
            <a:prstDash val="solid"/>
          </a:ln>
        </p:spPr>
      </p:sp>
      <p:sp>
        <p:nvSpPr>
          <p:cNvPr id="37" name="h11_3b"/>
          <p:cNvSpPr/>
          <p:nvPr/>
        </p:nvSpPr>
        <p:spPr>
          <a:xfrm>
            <a:off x="9619652" y="4839188"/>
            <a:ext cx="645592" cy="226314"/>
          </a:xfrm>
          <a:prstGeom prst="roundRect">
            <a:avLst>
              <a:gd name="adj" fmla="val 24242"/>
            </a:avLst>
          </a:prstGeom>
          <a:ln w="28575">
            <a:solidFill>
              <a:srgbClr val="B86A12"/>
            </a:solidFill>
            <a:prstDash val="solid"/>
          </a:ln>
        </p:spPr>
      </p:sp>
      <p:sp>
        <p:nvSpPr>
          <p:cNvPr id="38" name="b11_3"/>
          <p:cNvSpPr/>
          <p:nvPr/>
        </p:nvSpPr>
        <p:spPr>
          <a:xfrm>
            <a:off x="10732568" y="2583271"/>
            <a:ext cx="365760" cy="365760"/>
          </a:xfrm>
          <a:prstGeom prst="ellipse">
            <a:avLst/>
          </a:prstGeom>
          <a:solidFill>
            <a:srgbClr val="B86A12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39" name="b11_3_t"/>
          <p:cNvSpPr/>
          <p:nvPr/>
        </p:nvSpPr>
        <p:spPr>
          <a:xfrm>
            <a:off x="10732568" y="2583271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40" name="Text 35"/>
          <p:cNvSpPr/>
          <p:nvPr/>
        </p:nvSpPr>
        <p:spPr>
          <a:xfrm>
            <a:off x="411480" y="6510528"/>
            <a:ext cx="4114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Nogor Shomadhan  ·  User Manual</a:t>
            </a:r>
            <a:endParaRPr lang="en-US" sz="1100" dirty="0"/>
          </a:p>
        </p:txBody>
      </p:sp>
      <p:sp>
        <p:nvSpPr>
          <p:cNvPr id="41" name="Text 36">
            <a:hlinkClick r:id="rId4" tooltip="1. Problem Statement" action="ppaction://hlinksldjump"/>
          </p:cNvPr>
          <p:cNvSpPr/>
          <p:nvPr/>
        </p:nvSpPr>
        <p:spPr>
          <a:xfrm>
            <a:off x="7272223" y="6528816"/>
            <a:ext cx="118872" cy="118872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action="ppaction://hlinksldjump" tooltip="1. Problem Stateme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2" name="Text 37">
            <a:hlinkClick r:id="rId5" tooltip="2. Stakeholders and Responsibilities" action="ppaction://hlinksldjump"/>
          </p:cNvPr>
          <p:cNvSpPr/>
          <p:nvPr/>
        </p:nvSpPr>
        <p:spPr>
          <a:xfrm>
            <a:off x="7455103" y="6528816"/>
            <a:ext cx="118872" cy="118872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action="ppaction://hlinksldjump" tooltip="2. Stakeholders and Responsibiliti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3" name="Text 38">
            <a:hlinkClick r:id="rId6" tooltip="3. Resident Account Registration" action="ppaction://hlinksldjump"/>
          </p:cNvPr>
          <p:cNvSpPr/>
          <p:nvPr/>
        </p:nvSpPr>
        <p:spPr>
          <a:xfrm>
            <a:off x="7637983" y="6528816"/>
            <a:ext cx="118872" cy="118872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 action="ppaction://hlinksldjump" tooltip="3. Resident Account Registra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4" name="Text 39">
            <a:hlinkClick r:id="rId7" tooltip="4. Registration Request Submitted" action="ppaction://hlinksldjump"/>
          </p:cNvPr>
          <p:cNvSpPr/>
          <p:nvPr/>
        </p:nvSpPr>
        <p:spPr>
          <a:xfrm>
            <a:off x="7820863" y="6528816"/>
            <a:ext cx="118872" cy="118872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 action="ppaction://hlinksldjump" tooltip="4. Registration Request Submit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5" name="Text 40">
            <a:hlinkClick r:id="rId8" tooltip="5. Admin Receives the Verification Request" action="ppaction://hlinksldjump"/>
          </p:cNvPr>
          <p:cNvSpPr/>
          <p:nvPr/>
        </p:nvSpPr>
        <p:spPr>
          <a:xfrm>
            <a:off x="8003743" y="6528816"/>
            <a:ext cx="118872" cy="118872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" action="ppaction://hlinksldjump" tooltip="5. Admin Receives the Verification Reques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6" name="Text 41">
            <a:hlinkClick r:id="rId9" tooltip="6. Admin Reviews and Approves the Account" action="ppaction://hlinksldjump"/>
          </p:cNvPr>
          <p:cNvSpPr/>
          <p:nvPr/>
        </p:nvSpPr>
        <p:spPr>
          <a:xfrm>
            <a:off x="8186623" y="6528816"/>
            <a:ext cx="118872" cy="118872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" action="ppaction://hlinksldjump" tooltip="6. Admin Reviews and Approves the Accou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7" name="Text 42">
            <a:hlinkClick r:id="rId10" tooltip="7. Account Verification Completed" action="ppaction://hlinksldjump"/>
          </p:cNvPr>
          <p:cNvSpPr/>
          <p:nvPr/>
        </p:nvSpPr>
        <p:spPr>
          <a:xfrm>
            <a:off x="8369503" y="6528816"/>
            <a:ext cx="118872" cy="118872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0" action="ppaction://hlinksldjump" tooltip="7. Account Verification Comple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8" name="Text 43">
            <a:hlinkClick r:id="rId11" tooltip="8. Create a New Complaint" action="ppaction://hlinksldjump"/>
          </p:cNvPr>
          <p:cNvSpPr/>
          <p:nvPr/>
        </p:nvSpPr>
        <p:spPr>
          <a:xfrm>
            <a:off x="8552383" y="6528816"/>
            <a:ext cx="118872" cy="118872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1" action="ppaction://hlinksldjump" tooltip="8. Create a New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9" name="Text 44">
            <a:hlinkClick r:id="rId12" tooltip="9. Add Evidence and Review the Category" action="ppaction://hlinksldjump"/>
          </p:cNvPr>
          <p:cNvSpPr/>
          <p:nvPr/>
        </p:nvSpPr>
        <p:spPr>
          <a:xfrm>
            <a:off x="8735263" y="6528816"/>
            <a:ext cx="118872" cy="118872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2" action="ppaction://hlinksldjump" tooltip="9. Add Evidence and Review the Categor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0" name="Text 45">
            <a:hlinkClick r:id="rId13" tooltip="10. Confirm the Complaint Submission" action="ppaction://hlinksldjump"/>
          </p:cNvPr>
          <p:cNvSpPr/>
          <p:nvPr/>
        </p:nvSpPr>
        <p:spPr>
          <a:xfrm>
            <a:off x="8918143" y="6528816"/>
            <a:ext cx="118872" cy="118872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3" action="ppaction://hlinksldjump" tooltip="10. Confirm the Complaint Submiss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1" name="Text 46">
            <a:hlinkClick r:id="rId14" tooltip="11. Admin Opens the Review Queue" action="ppaction://hlinksldjump"/>
          </p:cNvPr>
          <p:cNvSpPr/>
          <p:nvPr/>
        </p:nvSpPr>
        <p:spPr>
          <a:xfrm>
            <a:off x="9101023" y="6528816"/>
            <a:ext cx="118872" cy="118872"/>
          </a:xfrm>
          <a:prstGeom prst="ellipse">
            <a:avLst/>
          </a:prstGeom>
          <a:solidFill>
            <a:srgbClr val="B86A12"/>
          </a:solidFill>
          <a:ln>
            <a:solidFill>
              <a:srgbClr val="B86A1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4" action="ppaction://hlinksldjump" tooltip="11. Admin Opens the Review Queu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2" name="Text 47">
            <a:hlinkClick r:id="rId15" tooltip="12. Complaint Check and Duplicate Comparison" action="ppaction://hlinksldjump"/>
          </p:cNvPr>
          <p:cNvSpPr/>
          <p:nvPr/>
        </p:nvSpPr>
        <p:spPr>
          <a:xfrm>
            <a:off x="9283903" y="6528816"/>
            <a:ext cx="118872" cy="118872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5" action="ppaction://hlinksldjump" tooltip="12. Complaint Check and Duplicate Compari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3" name="Text 48">
            <a:hlinkClick r:id="rId16" tooltip="13. Duplicate Review Outcomes" action="ppaction://hlinksldjump"/>
          </p:cNvPr>
          <p:cNvSpPr/>
          <p:nvPr/>
        </p:nvSpPr>
        <p:spPr>
          <a:xfrm>
            <a:off x="9466783" y="6528816"/>
            <a:ext cx="118872" cy="118872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6" action="ppaction://hlinksldjump" tooltip="13. Duplicate Review Outcom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4" name="Text 49">
            <a:hlinkClick r:id="rId17" tooltip="14. Pending Complaint Visibility" action="ppaction://hlinksldjump"/>
          </p:cNvPr>
          <p:cNvSpPr/>
          <p:nvPr/>
        </p:nvSpPr>
        <p:spPr>
          <a:xfrm>
            <a:off x="9649663" y="6528816"/>
            <a:ext cx="118872" cy="118872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7" action="ppaction://hlinksldjump" tooltip="14. Pending Complaint Visibilit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5" name="Text 50">
            <a:hlinkClick r:id="rId18" tooltip="15. Authority Opens the Complaint" action="ppaction://hlinksldjump"/>
          </p:cNvPr>
          <p:cNvSpPr/>
          <p:nvPr/>
        </p:nvSpPr>
        <p:spPr>
          <a:xfrm>
            <a:off x="9832543" y="6528816"/>
            <a:ext cx="118872" cy="118872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8" action="ppaction://hlinksldjump" tooltip="15. Authority Opens the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6" name="Text 51">
            <a:hlinkClick r:id="rId19" tooltip="16. Assign a Contractor and Start Work" action="ppaction://hlinksldjump"/>
          </p:cNvPr>
          <p:cNvSpPr/>
          <p:nvPr/>
        </p:nvSpPr>
        <p:spPr>
          <a:xfrm>
            <a:off x="10015423" y="6528816"/>
            <a:ext cx="118872" cy="118872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9" action="ppaction://hlinksldjump" tooltip="16. Assign a Contractor and Start Work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7" name="Text 52">
            <a:hlinkClick r:id="rId20" tooltip="17. The Complaint Moves to In Progress" action="ppaction://hlinksldjump"/>
          </p:cNvPr>
          <p:cNvSpPr/>
          <p:nvPr/>
        </p:nvSpPr>
        <p:spPr>
          <a:xfrm>
            <a:off x="10198303" y="6528816"/>
            <a:ext cx="118872" cy="118872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0" action="ppaction://hlinksldjump" tooltip="17. The Complaint Moves to In Progres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8" name="Text 53">
            <a:hlinkClick r:id="rId21" tooltip="18. Residents See the Progress Update" action="ppaction://hlinksldjump"/>
          </p:cNvPr>
          <p:cNvSpPr/>
          <p:nvPr/>
        </p:nvSpPr>
        <p:spPr>
          <a:xfrm>
            <a:off x="10381183" y="6528816"/>
            <a:ext cx="118872" cy="118872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1" action="ppaction://hlinksldjump" tooltip="18. Residents See the Progress Updat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9" name="Text 54">
            <a:hlinkClick r:id="rId22" tooltip="19. Resident Starts a Forum Discussion" action="ppaction://hlinksldjump"/>
          </p:cNvPr>
          <p:cNvSpPr/>
          <p:nvPr/>
        </p:nvSpPr>
        <p:spPr>
          <a:xfrm>
            <a:off x="10564063" y="6528816"/>
            <a:ext cx="118872" cy="118872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2" action="ppaction://hlinksldjump" tooltip="19. Resident Starts a Forum Discuss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0" name="Text 55">
            <a:hlinkClick r:id="rId23" tooltip="20. Everyone Is Notified" action="ppaction://hlinksldjump"/>
          </p:cNvPr>
          <p:cNvSpPr/>
          <p:nvPr/>
        </p:nvSpPr>
        <p:spPr>
          <a:xfrm>
            <a:off x="10746943" y="6528816"/>
            <a:ext cx="118872" cy="118872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3" action="ppaction://hlinksldjump" tooltip="20. Everyone Is Notifi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1" name="Text 56">
            <a:hlinkClick r:id="rId24" tooltip="21. Open the Post and Discuss" action="ppaction://hlinksldjump"/>
          </p:cNvPr>
          <p:cNvSpPr/>
          <p:nvPr/>
        </p:nvSpPr>
        <p:spPr>
          <a:xfrm>
            <a:off x="10929823" y="6528816"/>
            <a:ext cx="118872" cy="118872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4" action="ppaction://hlinksldjump" tooltip="21. Open the Post and Discus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2" name="Text 57">
            <a:hlinkClick r:id="rId25" tooltip="22. Authority Updates the Work" action="ppaction://hlinksldjump"/>
          </p:cNvPr>
          <p:cNvSpPr/>
          <p:nvPr/>
        </p:nvSpPr>
        <p:spPr>
          <a:xfrm>
            <a:off x="11112703" y="6528816"/>
            <a:ext cx="118872" cy="118872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5" action="ppaction://hlinksldjump" tooltip="22. Authority Updates the Work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3" name="Text 58">
            <a:hlinkClick r:id="rId26" tooltip="23. Authority Resolves the Complaint" action="ppaction://hlinksldjump"/>
          </p:cNvPr>
          <p:cNvSpPr/>
          <p:nvPr/>
        </p:nvSpPr>
        <p:spPr>
          <a:xfrm>
            <a:off x="11295583" y="6528816"/>
            <a:ext cx="118872" cy="118872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6" action="ppaction://hlinksldjump" tooltip="23. Authority Resolves the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4" name="Text 59">
            <a:hlinkClick r:id="rId27" tooltip="24. Residents Give Feedback" action="ppaction://hlinksldjump"/>
          </p:cNvPr>
          <p:cNvSpPr/>
          <p:nvPr/>
        </p:nvSpPr>
        <p:spPr>
          <a:xfrm>
            <a:off x="11478463" y="6528816"/>
            <a:ext cx="118872" cy="118872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7" action="ppaction://hlinksldjump" tooltip="24. Residents Give Feedback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5" name="Text 60">
            <a:hlinkClick r:id="rId28" tooltip="25. Feedback Is Public and Answered" action="ppaction://hlinksldjump"/>
          </p:cNvPr>
          <p:cNvSpPr/>
          <p:nvPr/>
        </p:nvSpPr>
        <p:spPr>
          <a:xfrm>
            <a:off x="11661343" y="6528816"/>
            <a:ext cx="118872" cy="118872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8" action="ppaction://hlinksldjump" tooltip="25. Feedback Is Public and Answer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6" name="Text 61"/>
          <p:cNvSpPr/>
          <p:nvPr/>
        </p:nvSpPr>
        <p:spPr>
          <a:xfrm>
            <a:off x="6449263" y="6510528"/>
            <a:ext cx="7132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25</a:t>
            </a:r>
            <a:endParaRPr lang="en-US" sz="11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2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2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2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2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2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2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2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2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2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2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2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2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4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B86A12"/>
          </a:solidFill>
          <a:ln/>
        </p:spPr>
      </p:sp>
      <p:sp>
        <p:nvSpPr>
          <p:cNvPr id="3" name="Shape 1"/>
          <p:cNvSpPr/>
          <p:nvPr/>
        </p:nvSpPr>
        <p:spPr>
          <a:xfrm>
            <a:off x="411480" y="329184"/>
            <a:ext cx="621792" cy="621792"/>
          </a:xfrm>
          <a:prstGeom prst="roundRect">
            <a:avLst>
              <a:gd name="adj" fmla="val 23529"/>
            </a:avLst>
          </a:prstGeom>
          <a:solidFill>
            <a:srgbClr val="B86A12"/>
          </a:solidFill>
          <a:ln w="12700">
            <a:solidFill>
              <a:srgbClr val="B86A12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411480" y="329184"/>
            <a:ext cx="62179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1188720" y="329184"/>
            <a:ext cx="768096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B86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 ·  ADMIN COMPLAINT VERIFICATION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52144" y="548640"/>
            <a:ext cx="8321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Complaint Check and Duplicate Comparison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10975543" y="475488"/>
            <a:ext cx="804672" cy="420624"/>
          </a:xfrm>
          <a:prstGeom prst="roundRect">
            <a:avLst>
              <a:gd name="adj" fmla="val 50000"/>
            </a:avLst>
          </a:prstGeom>
          <a:solidFill>
            <a:srgbClr val="B86A12"/>
          </a:solidFill>
          <a:ln w="12700">
            <a:solidFill>
              <a:srgbClr val="B86A12"/>
            </a:solidFill>
            <a:prstDash val="solid"/>
          </a:ln>
          <a:effectLst>
            <a:outerShdw sx="100000" sy="100000" kx="0" ky="0" algn="bl" rotWithShape="0" blurRad="76200" dist="12700" dir="5400000">
              <a:srgbClr val="0B2239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0975543" y="475488"/>
            <a:ext cx="80467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11480" y="1216152"/>
            <a:ext cx="11368735" cy="18288"/>
          </a:xfrm>
          <a:prstGeom prst="rect">
            <a:avLst/>
          </a:prstGeom>
          <a:solidFill>
            <a:srgbClr val="F2DBBB"/>
          </a:solidFill>
          <a:ln/>
        </p:spPr>
      </p:sp>
      <p:sp>
        <p:nvSpPr>
          <p:cNvPr id="10" name="Shape 8"/>
          <p:cNvSpPr/>
          <p:nvPr/>
        </p:nvSpPr>
        <p:spPr>
          <a:xfrm>
            <a:off x="411480" y="1417320"/>
            <a:ext cx="4754880" cy="265176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2700">
            <a:solidFill>
              <a:srgbClr val="F2DBBB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11" name="p12_4_c"/>
          <p:cNvSpPr/>
          <p:nvPr/>
        </p:nvSpPr>
        <p:spPr>
          <a:xfrm>
            <a:off x="685800" y="1728216"/>
            <a:ext cx="347472" cy="347472"/>
          </a:xfrm>
          <a:prstGeom prst="ellipse">
            <a:avLst/>
          </a:prstGeom>
          <a:solidFill>
            <a:srgbClr val="B86A12"/>
          </a:solidFill>
          <a:ln>
            <a:solidFill>
              <a:srgbClr val="B86A12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2" name="p12_4_t"/>
          <p:cNvSpPr/>
          <p:nvPr/>
        </p:nvSpPr>
        <p:spPr>
          <a:xfrm>
            <a:off x="1234440" y="1709928"/>
            <a:ext cx="3657600" cy="74530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Complaint Information — </a:t>
            </a:r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category, location, submitted, evidence.</a:t>
            </a:r>
            <a:endParaRPr lang="en-US" sz="1800" dirty="0"/>
          </a:p>
        </p:txBody>
      </p:sp>
      <p:sp>
        <p:nvSpPr>
          <p:cNvPr id="13" name="p12_5_c"/>
          <p:cNvSpPr/>
          <p:nvPr/>
        </p:nvSpPr>
        <p:spPr>
          <a:xfrm>
            <a:off x="685800" y="2583249"/>
            <a:ext cx="347472" cy="347472"/>
          </a:xfrm>
          <a:prstGeom prst="ellipse">
            <a:avLst/>
          </a:prstGeom>
          <a:solidFill>
            <a:srgbClr val="B86A12"/>
          </a:solidFill>
          <a:ln>
            <a:solidFill>
              <a:srgbClr val="B86A12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14" name="p12_5_t"/>
          <p:cNvSpPr/>
          <p:nvPr/>
        </p:nvSpPr>
        <p:spPr>
          <a:xfrm>
            <a:off x="1234440" y="2564961"/>
            <a:ext cx="3657600" cy="74530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Duplicate Warning — </a:t>
            </a:r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 score, reason, base complaint ID.</a:t>
            </a:r>
            <a:endParaRPr lang="en-US" sz="1800" dirty="0"/>
          </a:p>
        </p:txBody>
      </p:sp>
      <p:sp>
        <p:nvSpPr>
          <p:cNvPr id="15" name="p12_6_c"/>
          <p:cNvSpPr/>
          <p:nvPr/>
        </p:nvSpPr>
        <p:spPr>
          <a:xfrm>
            <a:off x="685800" y="3438282"/>
            <a:ext cx="347472" cy="347472"/>
          </a:xfrm>
          <a:prstGeom prst="ellipse">
            <a:avLst/>
          </a:prstGeom>
          <a:solidFill>
            <a:srgbClr val="B86A12"/>
          </a:solidFill>
          <a:ln>
            <a:solidFill>
              <a:srgbClr val="B86A12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16" name="p12_6_t"/>
          <p:cNvSpPr/>
          <p:nvPr/>
        </p:nvSpPr>
        <p:spPr>
          <a:xfrm>
            <a:off x="1234440" y="3419994"/>
            <a:ext cx="3657600" cy="51192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Decision — </a:t>
            </a:r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the duplicate, or reject it.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768096" y="4137660"/>
            <a:ext cx="4041648" cy="2167431"/>
          </a:xfrm>
          <a:prstGeom prst="roundRect">
            <a:avLst>
              <a:gd name="adj" fmla="val 3375"/>
            </a:avLst>
          </a:prstGeom>
          <a:solidFill>
            <a:srgbClr val="FFFFFF"/>
          </a:solidFill>
          <a:ln w="12700">
            <a:solidFill>
              <a:srgbClr val="F2DBBB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18" name="Image 0" descr="C:\Users\ASUS\AppData\Local\Temp\claude\C--NogorShomadhan\6d8323a9-c937-42c6-8eb9-13e28f50f09f\scratchpad\deck\crops/25-decis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8388" y="4187952"/>
            <a:ext cx="3941064" cy="2066847"/>
          </a:xfrm>
          <a:prstGeom prst="rect">
            <a:avLst/>
          </a:prstGeom>
        </p:spPr>
      </p:pic>
      <p:sp>
        <p:nvSpPr>
          <p:cNvPr id="19" name="Shape 16"/>
          <p:cNvSpPr/>
          <p:nvPr/>
        </p:nvSpPr>
        <p:spPr>
          <a:xfrm>
            <a:off x="5832854" y="1367028"/>
            <a:ext cx="2551820" cy="5010912"/>
          </a:xfrm>
          <a:prstGeom prst="roundRect">
            <a:avLst>
              <a:gd name="adj" fmla="val 2867"/>
            </a:avLst>
          </a:prstGeom>
          <a:solidFill>
            <a:srgbClr val="FFFFFF"/>
          </a:solidFill>
          <a:ln w="12700">
            <a:solidFill>
              <a:srgbClr val="F2DBBB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20" name="Image 1" descr="C:/NogorShomadhan/User Manual/Phase 3/review complaint/23-check-inf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3146" y="1417320"/>
            <a:ext cx="2451236" cy="4910328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8969890" y="1367028"/>
            <a:ext cx="2509591" cy="5010912"/>
          </a:xfrm>
          <a:prstGeom prst="roundRect">
            <a:avLst>
              <a:gd name="adj" fmla="val 2915"/>
            </a:avLst>
          </a:prstGeom>
          <a:solidFill>
            <a:srgbClr val="FFFFFF"/>
          </a:solidFill>
          <a:ln w="12700">
            <a:solidFill>
              <a:srgbClr val="F2DBBB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22" name="Image 2" descr="C:/NogorShomadhan/User Manual/Phase 3/review complaint/24-view-duplicacy-metric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20182" y="1417320"/>
            <a:ext cx="2409007" cy="4910328"/>
          </a:xfrm>
          <a:prstGeom prst="rect">
            <a:avLst/>
          </a:prstGeom>
        </p:spPr>
      </p:pic>
      <p:sp>
        <p:nvSpPr>
          <p:cNvPr id="23" name="arrow12"/>
          <p:cNvSpPr/>
          <p:nvPr/>
        </p:nvSpPr>
        <p:spPr>
          <a:xfrm>
            <a:off x="8425822" y="3634740"/>
            <a:ext cx="502920" cy="475488"/>
          </a:xfrm>
          <a:prstGeom prst="rightArrow">
            <a:avLst/>
          </a:prstGeom>
          <a:solidFill>
            <a:srgbClr val="B86A12"/>
          </a:solidFill>
          <a:ln w="12700">
            <a:solidFill>
              <a:srgbClr val="B86A12"/>
            </a:solidFill>
            <a:prstDash val="solid"/>
          </a:ln>
          <a:effectLst>
            <a:outerShdw sx="100000" sy="100000" kx="0" ky="0" algn="bl" rotWithShape="0" blurRad="76200" dist="12700" dir="5400000">
              <a:srgbClr val="0B2239">
                <a:alpha val="8000"/>
              </a:srgbClr>
            </a:outerShdw>
          </a:effectLst>
        </p:spPr>
      </p:sp>
      <p:sp>
        <p:nvSpPr>
          <p:cNvPr id="24" name="h12_4"/>
          <p:cNvSpPr/>
          <p:nvPr/>
        </p:nvSpPr>
        <p:spPr>
          <a:xfrm>
            <a:off x="5981196" y="2173511"/>
            <a:ext cx="2255137" cy="1404354"/>
          </a:xfrm>
          <a:prstGeom prst="roundRect">
            <a:avLst>
              <a:gd name="adj" fmla="val 3907"/>
            </a:avLst>
          </a:prstGeom>
          <a:ln w="28575">
            <a:solidFill>
              <a:srgbClr val="B86A12"/>
            </a:solidFill>
            <a:prstDash val="solid"/>
          </a:ln>
        </p:spPr>
      </p:sp>
      <p:sp>
        <p:nvSpPr>
          <p:cNvPr id="25" name="b12_4"/>
          <p:cNvSpPr/>
          <p:nvPr/>
        </p:nvSpPr>
        <p:spPr>
          <a:xfrm>
            <a:off x="5810572" y="2098658"/>
            <a:ext cx="365760" cy="365760"/>
          </a:xfrm>
          <a:prstGeom prst="ellipse">
            <a:avLst/>
          </a:prstGeom>
          <a:solidFill>
            <a:srgbClr val="B86A12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26" name="b12_4_t"/>
          <p:cNvSpPr/>
          <p:nvPr/>
        </p:nvSpPr>
        <p:spPr>
          <a:xfrm>
            <a:off x="5810572" y="209865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27" name="h12_5a"/>
          <p:cNvSpPr/>
          <p:nvPr/>
        </p:nvSpPr>
        <p:spPr>
          <a:xfrm>
            <a:off x="5981196" y="3607326"/>
            <a:ext cx="2255137" cy="2347137"/>
          </a:xfrm>
          <a:prstGeom prst="roundRect">
            <a:avLst>
              <a:gd name="adj" fmla="val 2433"/>
            </a:avLst>
          </a:prstGeom>
          <a:ln w="28575">
            <a:solidFill>
              <a:srgbClr val="B4480A"/>
            </a:solidFill>
            <a:prstDash val="solid"/>
          </a:ln>
        </p:spPr>
      </p:sp>
      <p:sp>
        <p:nvSpPr>
          <p:cNvPr id="28" name="h12_5b"/>
          <p:cNvSpPr/>
          <p:nvPr/>
        </p:nvSpPr>
        <p:spPr>
          <a:xfrm>
            <a:off x="6821970" y="4186745"/>
            <a:ext cx="416710" cy="147310"/>
          </a:xfrm>
          <a:prstGeom prst="roundRect">
            <a:avLst>
              <a:gd name="adj" fmla="val 37244"/>
            </a:avLst>
          </a:prstGeom>
          <a:ln w="28575">
            <a:solidFill>
              <a:srgbClr val="B4480A"/>
            </a:solidFill>
            <a:prstDash val="solid"/>
          </a:ln>
        </p:spPr>
      </p:sp>
      <p:sp>
        <p:nvSpPr>
          <p:cNvPr id="29" name="h12_5c"/>
          <p:cNvSpPr/>
          <p:nvPr/>
        </p:nvSpPr>
        <p:spPr>
          <a:xfrm>
            <a:off x="6569492" y="5738409"/>
            <a:ext cx="1093251" cy="157130"/>
          </a:xfrm>
          <a:prstGeom prst="roundRect">
            <a:avLst>
              <a:gd name="adj" fmla="val 34916"/>
            </a:avLst>
          </a:prstGeom>
          <a:ln w="28575">
            <a:solidFill>
              <a:srgbClr val="B86A12"/>
            </a:solidFill>
            <a:prstDash val="solid"/>
          </a:ln>
        </p:spPr>
      </p:sp>
      <p:sp>
        <p:nvSpPr>
          <p:cNvPr id="30" name="b12_5"/>
          <p:cNvSpPr/>
          <p:nvPr/>
        </p:nvSpPr>
        <p:spPr>
          <a:xfrm>
            <a:off x="5810572" y="3532474"/>
            <a:ext cx="365760" cy="365760"/>
          </a:xfrm>
          <a:prstGeom prst="ellipse">
            <a:avLst/>
          </a:prstGeom>
          <a:solidFill>
            <a:srgbClr val="B86A12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31" name="b12_5_t"/>
          <p:cNvSpPr/>
          <p:nvPr/>
        </p:nvSpPr>
        <p:spPr>
          <a:xfrm>
            <a:off x="5810572" y="3532474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32" name="h12_6a"/>
          <p:cNvSpPr/>
          <p:nvPr/>
        </p:nvSpPr>
        <p:spPr>
          <a:xfrm>
            <a:off x="10812483" y="1898532"/>
            <a:ext cx="529982" cy="363364"/>
          </a:xfrm>
          <a:prstGeom prst="roundRect">
            <a:avLst>
              <a:gd name="adj" fmla="val 15099"/>
            </a:avLst>
          </a:prstGeom>
          <a:ln w="28575">
            <a:solidFill>
              <a:srgbClr val="18835C"/>
            </a:solidFill>
            <a:prstDash val="solid"/>
          </a:ln>
        </p:spPr>
      </p:sp>
      <p:sp>
        <p:nvSpPr>
          <p:cNvPr id="33" name="h12_6b"/>
          <p:cNvSpPr/>
          <p:nvPr/>
        </p:nvSpPr>
        <p:spPr>
          <a:xfrm>
            <a:off x="9130996" y="3951049"/>
            <a:ext cx="1079235" cy="2327495"/>
          </a:xfrm>
          <a:prstGeom prst="roundRect">
            <a:avLst>
              <a:gd name="adj" fmla="val 5084"/>
            </a:avLst>
          </a:prstGeom>
          <a:ln w="28575">
            <a:solidFill>
              <a:srgbClr val="B4480A"/>
            </a:solidFill>
            <a:prstDash val="solid"/>
          </a:ln>
        </p:spPr>
      </p:sp>
      <p:sp>
        <p:nvSpPr>
          <p:cNvPr id="34" name="h12_6c"/>
          <p:cNvSpPr/>
          <p:nvPr/>
        </p:nvSpPr>
        <p:spPr>
          <a:xfrm>
            <a:off x="10248776" y="3951049"/>
            <a:ext cx="1084053" cy="2327495"/>
          </a:xfrm>
          <a:prstGeom prst="roundRect">
            <a:avLst>
              <a:gd name="adj" fmla="val 5061"/>
            </a:avLst>
          </a:prstGeom>
          <a:ln w="28575">
            <a:solidFill>
              <a:srgbClr val="B86A12"/>
            </a:solidFill>
            <a:prstDash val="solid"/>
          </a:ln>
        </p:spPr>
      </p:sp>
      <p:sp>
        <p:nvSpPr>
          <p:cNvPr id="35" name="h12_6d"/>
          <p:cNvSpPr/>
          <p:nvPr/>
        </p:nvSpPr>
        <p:spPr>
          <a:xfrm>
            <a:off x="1023323" y="5500400"/>
            <a:ext cx="3594250" cy="516712"/>
          </a:xfrm>
          <a:prstGeom prst="roundRect">
            <a:avLst>
              <a:gd name="adj" fmla="val 10618"/>
            </a:avLst>
          </a:prstGeom>
          <a:ln w="28575">
            <a:solidFill>
              <a:srgbClr val="B86A12"/>
            </a:solidFill>
            <a:prstDash val="solid"/>
          </a:ln>
        </p:spPr>
      </p:sp>
      <p:sp>
        <p:nvSpPr>
          <p:cNvPr id="36" name="b12_6"/>
          <p:cNvSpPr/>
          <p:nvPr/>
        </p:nvSpPr>
        <p:spPr>
          <a:xfrm>
            <a:off x="761622" y="4315099"/>
            <a:ext cx="365760" cy="365760"/>
          </a:xfrm>
          <a:prstGeom prst="ellipse">
            <a:avLst/>
          </a:prstGeom>
          <a:solidFill>
            <a:srgbClr val="B86A12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37" name="b12_6_t"/>
          <p:cNvSpPr/>
          <p:nvPr/>
        </p:nvSpPr>
        <p:spPr>
          <a:xfrm>
            <a:off x="761622" y="4315099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700" dirty="0"/>
          </a:p>
        </p:txBody>
      </p:sp>
      <p:sp>
        <p:nvSpPr>
          <p:cNvPr id="38" name="Text 33"/>
          <p:cNvSpPr/>
          <p:nvPr/>
        </p:nvSpPr>
        <p:spPr>
          <a:xfrm>
            <a:off x="411480" y="6510528"/>
            <a:ext cx="4114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Nogor Shomadhan  ·  User Manual</a:t>
            </a:r>
            <a:endParaRPr lang="en-US" sz="1100" dirty="0"/>
          </a:p>
        </p:txBody>
      </p:sp>
      <p:sp>
        <p:nvSpPr>
          <p:cNvPr id="39" name="Text 34">
            <a:hlinkClick r:id="rId4" tooltip="1. Problem Statement" action="ppaction://hlinksldjump"/>
          </p:cNvPr>
          <p:cNvSpPr/>
          <p:nvPr/>
        </p:nvSpPr>
        <p:spPr>
          <a:xfrm>
            <a:off x="7272223" y="6528816"/>
            <a:ext cx="118872" cy="118872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action="ppaction://hlinksldjump" tooltip="1. Problem Stateme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0" name="Text 35">
            <a:hlinkClick r:id="rId5" tooltip="2. Stakeholders and Responsibilities" action="ppaction://hlinksldjump"/>
          </p:cNvPr>
          <p:cNvSpPr/>
          <p:nvPr/>
        </p:nvSpPr>
        <p:spPr>
          <a:xfrm>
            <a:off x="7455103" y="6528816"/>
            <a:ext cx="118872" cy="118872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action="ppaction://hlinksldjump" tooltip="2. Stakeholders and Responsibiliti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1" name="Text 36">
            <a:hlinkClick r:id="rId6" tooltip="3. Resident Account Registration" action="ppaction://hlinksldjump"/>
          </p:cNvPr>
          <p:cNvSpPr/>
          <p:nvPr/>
        </p:nvSpPr>
        <p:spPr>
          <a:xfrm>
            <a:off x="7637983" y="6528816"/>
            <a:ext cx="118872" cy="118872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 action="ppaction://hlinksldjump" tooltip="3. Resident Account Registra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2" name="Text 37">
            <a:hlinkClick r:id="rId7" tooltip="4. Registration Request Submitted" action="ppaction://hlinksldjump"/>
          </p:cNvPr>
          <p:cNvSpPr/>
          <p:nvPr/>
        </p:nvSpPr>
        <p:spPr>
          <a:xfrm>
            <a:off x="7820863" y="6528816"/>
            <a:ext cx="118872" cy="118872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 action="ppaction://hlinksldjump" tooltip="4. Registration Request Submit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3" name="Text 38">
            <a:hlinkClick r:id="rId8" tooltip="5. Admin Receives the Verification Request" action="ppaction://hlinksldjump"/>
          </p:cNvPr>
          <p:cNvSpPr/>
          <p:nvPr/>
        </p:nvSpPr>
        <p:spPr>
          <a:xfrm>
            <a:off x="8003743" y="6528816"/>
            <a:ext cx="118872" cy="118872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" action="ppaction://hlinksldjump" tooltip="5. Admin Receives the Verification Reques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4" name="Text 39">
            <a:hlinkClick r:id="rId9" tooltip="6. Admin Reviews and Approves the Account" action="ppaction://hlinksldjump"/>
          </p:cNvPr>
          <p:cNvSpPr/>
          <p:nvPr/>
        </p:nvSpPr>
        <p:spPr>
          <a:xfrm>
            <a:off x="8186623" y="6528816"/>
            <a:ext cx="118872" cy="118872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" action="ppaction://hlinksldjump" tooltip="6. Admin Reviews and Approves the Accou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5" name="Text 40">
            <a:hlinkClick r:id="rId10" tooltip="7. Account Verification Completed" action="ppaction://hlinksldjump"/>
          </p:cNvPr>
          <p:cNvSpPr/>
          <p:nvPr/>
        </p:nvSpPr>
        <p:spPr>
          <a:xfrm>
            <a:off x="8369503" y="6528816"/>
            <a:ext cx="118872" cy="118872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0" action="ppaction://hlinksldjump" tooltip="7. Account Verification Comple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6" name="Text 41">
            <a:hlinkClick r:id="rId11" tooltip="8. Create a New Complaint" action="ppaction://hlinksldjump"/>
          </p:cNvPr>
          <p:cNvSpPr/>
          <p:nvPr/>
        </p:nvSpPr>
        <p:spPr>
          <a:xfrm>
            <a:off x="8552383" y="6528816"/>
            <a:ext cx="118872" cy="118872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1" action="ppaction://hlinksldjump" tooltip="8. Create a New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7" name="Text 42">
            <a:hlinkClick r:id="rId12" tooltip="9. Add Evidence and Review the Category" action="ppaction://hlinksldjump"/>
          </p:cNvPr>
          <p:cNvSpPr/>
          <p:nvPr/>
        </p:nvSpPr>
        <p:spPr>
          <a:xfrm>
            <a:off x="8735263" y="6528816"/>
            <a:ext cx="118872" cy="118872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2" action="ppaction://hlinksldjump" tooltip="9. Add Evidence and Review the Categor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8" name="Text 43">
            <a:hlinkClick r:id="rId13" tooltip="10. Confirm the Complaint Submission" action="ppaction://hlinksldjump"/>
          </p:cNvPr>
          <p:cNvSpPr/>
          <p:nvPr/>
        </p:nvSpPr>
        <p:spPr>
          <a:xfrm>
            <a:off x="8918143" y="6528816"/>
            <a:ext cx="118872" cy="118872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3" action="ppaction://hlinksldjump" tooltip="10. Confirm the Complaint Submiss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9" name="Text 44">
            <a:hlinkClick r:id="rId14" tooltip="11. Admin Opens the Review Queue" action="ppaction://hlinksldjump"/>
          </p:cNvPr>
          <p:cNvSpPr/>
          <p:nvPr/>
        </p:nvSpPr>
        <p:spPr>
          <a:xfrm>
            <a:off x="9101023" y="6528816"/>
            <a:ext cx="118872" cy="118872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4" action="ppaction://hlinksldjump" tooltip="11. Admin Opens the Review Queu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0" name="Text 45">
            <a:hlinkClick r:id="rId15" tooltip="12. Complaint Check and Duplicate Comparison" action="ppaction://hlinksldjump"/>
          </p:cNvPr>
          <p:cNvSpPr/>
          <p:nvPr/>
        </p:nvSpPr>
        <p:spPr>
          <a:xfrm>
            <a:off x="9283903" y="6528816"/>
            <a:ext cx="118872" cy="118872"/>
          </a:xfrm>
          <a:prstGeom prst="ellipse">
            <a:avLst/>
          </a:prstGeom>
          <a:solidFill>
            <a:srgbClr val="B86A12"/>
          </a:solidFill>
          <a:ln>
            <a:solidFill>
              <a:srgbClr val="B86A1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5" action="ppaction://hlinksldjump" tooltip="12. Complaint Check and Duplicate Compari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1" name="Text 46">
            <a:hlinkClick r:id="rId16" tooltip="13. Duplicate Review Outcomes" action="ppaction://hlinksldjump"/>
          </p:cNvPr>
          <p:cNvSpPr/>
          <p:nvPr/>
        </p:nvSpPr>
        <p:spPr>
          <a:xfrm>
            <a:off x="9466783" y="6528816"/>
            <a:ext cx="118872" cy="118872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6" action="ppaction://hlinksldjump" tooltip="13. Duplicate Review Outcom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2" name="Text 47">
            <a:hlinkClick r:id="rId17" tooltip="14. Pending Complaint Visibility" action="ppaction://hlinksldjump"/>
          </p:cNvPr>
          <p:cNvSpPr/>
          <p:nvPr/>
        </p:nvSpPr>
        <p:spPr>
          <a:xfrm>
            <a:off x="9649663" y="6528816"/>
            <a:ext cx="118872" cy="118872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7" action="ppaction://hlinksldjump" tooltip="14. Pending Complaint Visibilit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3" name="Text 48">
            <a:hlinkClick r:id="rId18" tooltip="15. Authority Opens the Complaint" action="ppaction://hlinksldjump"/>
          </p:cNvPr>
          <p:cNvSpPr/>
          <p:nvPr/>
        </p:nvSpPr>
        <p:spPr>
          <a:xfrm>
            <a:off x="9832543" y="6528816"/>
            <a:ext cx="118872" cy="118872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8" action="ppaction://hlinksldjump" tooltip="15. Authority Opens the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4" name="Text 49">
            <a:hlinkClick r:id="rId19" tooltip="16. Assign a Contractor and Start Work" action="ppaction://hlinksldjump"/>
          </p:cNvPr>
          <p:cNvSpPr/>
          <p:nvPr/>
        </p:nvSpPr>
        <p:spPr>
          <a:xfrm>
            <a:off x="10015423" y="6528816"/>
            <a:ext cx="118872" cy="118872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9" action="ppaction://hlinksldjump" tooltip="16. Assign a Contractor and Start Work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5" name="Text 50">
            <a:hlinkClick r:id="rId20" tooltip="17. The Complaint Moves to In Progress" action="ppaction://hlinksldjump"/>
          </p:cNvPr>
          <p:cNvSpPr/>
          <p:nvPr/>
        </p:nvSpPr>
        <p:spPr>
          <a:xfrm>
            <a:off x="10198303" y="6528816"/>
            <a:ext cx="118872" cy="118872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0" action="ppaction://hlinksldjump" tooltip="17. The Complaint Moves to In Progres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6" name="Text 51">
            <a:hlinkClick r:id="rId21" tooltip="18. Residents See the Progress Update" action="ppaction://hlinksldjump"/>
          </p:cNvPr>
          <p:cNvSpPr/>
          <p:nvPr/>
        </p:nvSpPr>
        <p:spPr>
          <a:xfrm>
            <a:off x="10381183" y="6528816"/>
            <a:ext cx="118872" cy="118872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1" action="ppaction://hlinksldjump" tooltip="18. Residents See the Progress Updat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7" name="Text 52">
            <a:hlinkClick r:id="rId22" tooltip="19. Resident Starts a Forum Discussion" action="ppaction://hlinksldjump"/>
          </p:cNvPr>
          <p:cNvSpPr/>
          <p:nvPr/>
        </p:nvSpPr>
        <p:spPr>
          <a:xfrm>
            <a:off x="10564063" y="6528816"/>
            <a:ext cx="118872" cy="118872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2" action="ppaction://hlinksldjump" tooltip="19. Resident Starts a Forum Discuss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8" name="Text 53">
            <a:hlinkClick r:id="rId23" tooltip="20. Everyone Is Notified" action="ppaction://hlinksldjump"/>
          </p:cNvPr>
          <p:cNvSpPr/>
          <p:nvPr/>
        </p:nvSpPr>
        <p:spPr>
          <a:xfrm>
            <a:off x="10746943" y="6528816"/>
            <a:ext cx="118872" cy="118872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3" action="ppaction://hlinksldjump" tooltip="20. Everyone Is Notifi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9" name="Text 54">
            <a:hlinkClick r:id="rId24" tooltip="21. Open the Post and Discuss" action="ppaction://hlinksldjump"/>
          </p:cNvPr>
          <p:cNvSpPr/>
          <p:nvPr/>
        </p:nvSpPr>
        <p:spPr>
          <a:xfrm>
            <a:off x="10929823" y="6528816"/>
            <a:ext cx="118872" cy="118872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4" action="ppaction://hlinksldjump" tooltip="21. Open the Post and Discus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0" name="Text 55">
            <a:hlinkClick r:id="rId25" tooltip="22. Authority Updates the Work" action="ppaction://hlinksldjump"/>
          </p:cNvPr>
          <p:cNvSpPr/>
          <p:nvPr/>
        </p:nvSpPr>
        <p:spPr>
          <a:xfrm>
            <a:off x="11112703" y="6528816"/>
            <a:ext cx="118872" cy="118872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5" action="ppaction://hlinksldjump" tooltip="22. Authority Updates the Work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1" name="Text 56">
            <a:hlinkClick r:id="rId26" tooltip="23. Authority Resolves the Complaint" action="ppaction://hlinksldjump"/>
          </p:cNvPr>
          <p:cNvSpPr/>
          <p:nvPr/>
        </p:nvSpPr>
        <p:spPr>
          <a:xfrm>
            <a:off x="11295583" y="6528816"/>
            <a:ext cx="118872" cy="118872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6" action="ppaction://hlinksldjump" tooltip="23. Authority Resolves the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2" name="Text 57">
            <a:hlinkClick r:id="rId27" tooltip="24. Residents Give Feedback" action="ppaction://hlinksldjump"/>
          </p:cNvPr>
          <p:cNvSpPr/>
          <p:nvPr/>
        </p:nvSpPr>
        <p:spPr>
          <a:xfrm>
            <a:off x="11478463" y="6528816"/>
            <a:ext cx="118872" cy="118872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7" action="ppaction://hlinksldjump" tooltip="24. Residents Give Feedback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3" name="Text 58">
            <a:hlinkClick r:id="rId28" tooltip="25. Feedback Is Public and Answered" action="ppaction://hlinksldjump"/>
          </p:cNvPr>
          <p:cNvSpPr/>
          <p:nvPr/>
        </p:nvSpPr>
        <p:spPr>
          <a:xfrm>
            <a:off x="11661343" y="6528816"/>
            <a:ext cx="118872" cy="118872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8" action="ppaction://hlinksldjump" tooltip="25. Feedback Is Public and Answer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4" name="Text 59"/>
          <p:cNvSpPr/>
          <p:nvPr/>
        </p:nvSpPr>
        <p:spPr>
          <a:xfrm>
            <a:off x="6449263" y="6510528"/>
            <a:ext cx="7132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25</a:t>
            </a:r>
            <a:endParaRPr lang="en-US" sz="11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2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2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2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2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2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2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2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2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2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2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2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2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2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42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2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475467"/>
          </a:solidFill>
          <a:ln/>
        </p:spPr>
      </p:sp>
      <p:sp>
        <p:nvSpPr>
          <p:cNvPr id="3" name="Shape 1"/>
          <p:cNvSpPr/>
          <p:nvPr/>
        </p:nvSpPr>
        <p:spPr>
          <a:xfrm>
            <a:off x="411480" y="329184"/>
            <a:ext cx="621792" cy="621792"/>
          </a:xfrm>
          <a:prstGeom prst="roundRect">
            <a:avLst>
              <a:gd name="adj" fmla="val 23529"/>
            </a:avLst>
          </a:prstGeom>
          <a:solidFill>
            <a:srgbClr val="475467"/>
          </a:solidFill>
          <a:ln w="12700">
            <a:solidFill>
              <a:srgbClr val="475467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411480" y="329184"/>
            <a:ext cx="62179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1188720" y="329184"/>
            <a:ext cx="768096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4754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 ·  ADMIN COMPLAINT VERIFICATION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52144" y="548640"/>
            <a:ext cx="8321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Duplicate Review Outcomes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10679278" y="475488"/>
            <a:ext cx="1100938" cy="420624"/>
          </a:xfrm>
          <a:prstGeom prst="roundRect">
            <a:avLst>
              <a:gd name="adj" fmla="val 50000"/>
            </a:avLst>
          </a:prstGeom>
          <a:solidFill>
            <a:srgbClr val="2563A6"/>
          </a:solidFill>
          <a:ln w="12700">
            <a:solidFill>
              <a:srgbClr val="2563A6"/>
            </a:solidFill>
            <a:prstDash val="solid"/>
          </a:ln>
          <a:effectLst>
            <a:outerShdw sx="100000" sy="100000" kx="0" ky="0" algn="bl" rotWithShape="0" blurRad="76200" dist="12700" dir="5400000">
              <a:srgbClr val="0B2239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0679278" y="475488"/>
            <a:ext cx="110093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9728302" y="475488"/>
            <a:ext cx="804672" cy="420624"/>
          </a:xfrm>
          <a:prstGeom prst="roundRect">
            <a:avLst>
              <a:gd name="adj" fmla="val 50000"/>
            </a:avLst>
          </a:prstGeom>
          <a:solidFill>
            <a:srgbClr val="B86A12"/>
          </a:solidFill>
          <a:ln w="12700">
            <a:solidFill>
              <a:srgbClr val="B86A12"/>
            </a:solidFill>
            <a:prstDash val="solid"/>
          </a:ln>
          <a:effectLst>
            <a:outerShdw sx="100000" sy="100000" kx="0" ky="0" algn="bl" rotWithShape="0" blurRad="76200" dist="12700" dir="5400000">
              <a:srgbClr val="0B2239">
                <a:alpha val="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9728302" y="475488"/>
            <a:ext cx="80467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11480" y="1216152"/>
            <a:ext cx="11368735" cy="18288"/>
          </a:xfrm>
          <a:prstGeom prst="rect">
            <a:avLst/>
          </a:prstGeom>
          <a:solidFill>
            <a:srgbClr val="DDE1E7"/>
          </a:solidFill>
          <a:ln/>
        </p:spPr>
      </p:sp>
      <p:sp>
        <p:nvSpPr>
          <p:cNvPr id="12" name="Shape 10"/>
          <p:cNvSpPr/>
          <p:nvPr/>
        </p:nvSpPr>
        <p:spPr>
          <a:xfrm>
            <a:off x="411480" y="1389888"/>
            <a:ext cx="5500116" cy="4901184"/>
          </a:xfrm>
          <a:prstGeom prst="roundRect">
            <a:avLst>
              <a:gd name="adj" fmla="val 2239"/>
            </a:avLst>
          </a:prstGeom>
          <a:solidFill>
            <a:srgbClr val="FFFFFF"/>
          </a:solidFill>
          <a:ln w="12700">
            <a:solidFill>
              <a:srgbClr val="EFD6BC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11480" y="1389888"/>
            <a:ext cx="5500116" cy="54864"/>
          </a:xfrm>
          <a:prstGeom prst="rect">
            <a:avLst/>
          </a:prstGeom>
          <a:solidFill>
            <a:srgbClr val="B4480A"/>
          </a:solidFill>
          <a:ln/>
        </p:spPr>
      </p:sp>
      <p:sp>
        <p:nvSpPr>
          <p:cNvPr id="14" name="Shape 12"/>
          <p:cNvSpPr/>
          <p:nvPr/>
        </p:nvSpPr>
        <p:spPr>
          <a:xfrm>
            <a:off x="667512" y="1517904"/>
            <a:ext cx="2507285" cy="347472"/>
          </a:xfrm>
          <a:prstGeom prst="roundRect">
            <a:avLst>
              <a:gd name="adj" fmla="val 50000"/>
            </a:avLst>
          </a:prstGeom>
          <a:solidFill>
            <a:srgbClr val="B4480A"/>
          </a:solidFill>
          <a:ln w="12700">
            <a:solidFill>
              <a:srgbClr val="B4480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67512" y="1517904"/>
            <a:ext cx="250728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8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DUPLICATE CONFIRMED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67512" y="1901952"/>
            <a:ext cx="49880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30" kern="0" dirty="0">
                <a:solidFill>
                  <a:srgbClr val="B86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DECISION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2054350" y="2107692"/>
            <a:ext cx="2214375" cy="1517904"/>
          </a:xfrm>
          <a:prstGeom prst="roundRect">
            <a:avLst>
              <a:gd name="adj" fmla="val 4819"/>
            </a:avLst>
          </a:prstGeom>
          <a:solidFill>
            <a:srgbClr val="FFFFFF"/>
          </a:solidFill>
          <a:ln w="12700">
            <a:solidFill>
              <a:srgbClr val="EFD6BC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18" name="Image 0" descr="C:\Users\ASUS\AppData\Local\Temp\claude\C--NogorShomadhan\6d8323a9-c937-42c6-8eb9-13e28f50f09f\scratchpad\deck\crops/26-cr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04642" y="2157984"/>
            <a:ext cx="2113791" cy="1417320"/>
          </a:xfrm>
          <a:prstGeom prst="rect">
            <a:avLst/>
          </a:prstGeom>
        </p:spPr>
      </p:pic>
      <p:sp>
        <p:nvSpPr>
          <p:cNvPr id="19" name="l13a_cap"/>
          <p:cNvSpPr/>
          <p:nvPr/>
        </p:nvSpPr>
        <p:spPr>
          <a:xfrm>
            <a:off x="667512" y="3630168"/>
            <a:ext cx="4988052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admin confirms the match. The submitted copy is deleted and linked to the base complaint.</a:t>
            </a:r>
            <a:endParaRPr lang="en-US" sz="1800" dirty="0"/>
          </a:p>
        </p:txBody>
      </p:sp>
      <p:sp>
        <p:nvSpPr>
          <p:cNvPr id="20" name="Text 17"/>
          <p:cNvSpPr/>
          <p:nvPr/>
        </p:nvSpPr>
        <p:spPr>
          <a:xfrm>
            <a:off x="667512" y="4297680"/>
            <a:ext cx="49880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30" kern="0" dirty="0">
                <a:solidFill>
                  <a:srgbClr val="256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 OUTCOME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1731862" y="4503420"/>
            <a:ext cx="2859352" cy="1152144"/>
          </a:xfrm>
          <a:prstGeom prst="roundRect">
            <a:avLst>
              <a:gd name="adj" fmla="val 6349"/>
            </a:avLst>
          </a:prstGeom>
          <a:solidFill>
            <a:srgbClr val="FFFFFF"/>
          </a:solidFill>
          <a:ln w="12700">
            <a:solidFill>
              <a:srgbClr val="EFD6BC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22" name="Image 1" descr="C:\Users\ASUS\AppData\Local\Temp\claude\C--NogorShomadhan\6d8323a9-c937-42c6-8eb9-13e28f50f09f\scratchpad\deck\crops/27-cro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2154" y="4553712"/>
            <a:ext cx="2758768" cy="1051560"/>
          </a:xfrm>
          <a:prstGeom prst="rect">
            <a:avLst/>
          </a:prstGeom>
        </p:spPr>
      </p:pic>
      <p:sp>
        <p:nvSpPr>
          <p:cNvPr id="23" name="l13b_cap"/>
          <p:cNvSpPr/>
          <p:nvPr/>
        </p:nvSpPr>
        <p:spPr>
          <a:xfrm>
            <a:off x="667512" y="5660136"/>
            <a:ext cx="4988052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resident is notified with both complaint IDs and follows the base complaint.</a:t>
            </a:r>
            <a:endParaRPr lang="en-US" sz="1800" dirty="0"/>
          </a:p>
        </p:txBody>
      </p:sp>
      <p:sp>
        <p:nvSpPr>
          <p:cNvPr id="24" name="Shape 20"/>
          <p:cNvSpPr/>
          <p:nvPr/>
        </p:nvSpPr>
        <p:spPr>
          <a:xfrm>
            <a:off x="6277356" y="1389888"/>
            <a:ext cx="5500116" cy="4901184"/>
          </a:xfrm>
          <a:prstGeom prst="roundRect">
            <a:avLst>
              <a:gd name="adj" fmla="val 2239"/>
            </a:avLst>
          </a:prstGeom>
          <a:solidFill>
            <a:srgbClr val="FFFFFF"/>
          </a:solidFill>
          <a:ln w="12700">
            <a:solidFill>
              <a:srgbClr val="C2E0D2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25" name="Shape 21"/>
          <p:cNvSpPr/>
          <p:nvPr/>
        </p:nvSpPr>
        <p:spPr>
          <a:xfrm>
            <a:off x="6277356" y="1389888"/>
            <a:ext cx="5500116" cy="54864"/>
          </a:xfrm>
          <a:prstGeom prst="rect">
            <a:avLst/>
          </a:prstGeom>
          <a:solidFill>
            <a:srgbClr val="18835C"/>
          </a:solidFill>
          <a:ln/>
        </p:spPr>
      </p:sp>
      <p:sp>
        <p:nvSpPr>
          <p:cNvPr id="26" name="Shape 22"/>
          <p:cNvSpPr/>
          <p:nvPr/>
        </p:nvSpPr>
        <p:spPr>
          <a:xfrm>
            <a:off x="6533388" y="1517904"/>
            <a:ext cx="2075688" cy="347472"/>
          </a:xfrm>
          <a:prstGeom prst="roundRect">
            <a:avLst>
              <a:gd name="adj" fmla="val 50000"/>
            </a:avLst>
          </a:prstGeom>
          <a:solidFill>
            <a:srgbClr val="18835C"/>
          </a:solidFill>
          <a:ln w="12700">
            <a:solidFill>
              <a:srgbClr val="18835C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6533388" y="1517904"/>
            <a:ext cx="20756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8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DUPLICATE</a:t>
            </a:r>
            <a:endParaRPr lang="en-US" sz="1400" dirty="0"/>
          </a:p>
        </p:txBody>
      </p:sp>
      <p:sp>
        <p:nvSpPr>
          <p:cNvPr id="28" name="Text 24"/>
          <p:cNvSpPr/>
          <p:nvPr/>
        </p:nvSpPr>
        <p:spPr>
          <a:xfrm>
            <a:off x="6533388" y="1901952"/>
            <a:ext cx="49880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30" kern="0" dirty="0">
                <a:solidFill>
                  <a:srgbClr val="B86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DECISION</a:t>
            </a:r>
            <a:endParaRPr lang="en-US" sz="1300" dirty="0"/>
          </a:p>
        </p:txBody>
      </p:sp>
      <p:sp>
        <p:nvSpPr>
          <p:cNvPr id="29" name="Shape 25"/>
          <p:cNvSpPr/>
          <p:nvPr/>
        </p:nvSpPr>
        <p:spPr>
          <a:xfrm>
            <a:off x="7802093" y="2107692"/>
            <a:ext cx="2450642" cy="1517904"/>
          </a:xfrm>
          <a:prstGeom prst="roundRect">
            <a:avLst>
              <a:gd name="adj" fmla="val 4819"/>
            </a:avLst>
          </a:prstGeom>
          <a:solidFill>
            <a:srgbClr val="FFFFFF"/>
          </a:solidFill>
          <a:ln w="12700">
            <a:solidFill>
              <a:srgbClr val="C2E0D2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30" name="Image 2" descr="C:\Users\ASUS\AppData\Local\Temp\claude\C--NogorShomadhan\6d8323a9-c937-42c6-8eb9-13e28f50f09f\scratchpad\deck\crops/28-cro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52385" y="2157984"/>
            <a:ext cx="2350058" cy="1417320"/>
          </a:xfrm>
          <a:prstGeom prst="rect">
            <a:avLst/>
          </a:prstGeom>
        </p:spPr>
      </p:pic>
      <p:sp>
        <p:nvSpPr>
          <p:cNvPr id="31" name="r13a_cap"/>
          <p:cNvSpPr/>
          <p:nvPr/>
        </p:nvSpPr>
        <p:spPr>
          <a:xfrm>
            <a:off x="6533388" y="3630168"/>
            <a:ext cx="4988052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admin rejects the duplicate suggestion, not the complaint. It is kept and set to Pending.</a:t>
            </a:r>
            <a:endParaRPr lang="en-US" sz="1800" dirty="0"/>
          </a:p>
        </p:txBody>
      </p:sp>
      <p:sp>
        <p:nvSpPr>
          <p:cNvPr id="32" name="Text 27"/>
          <p:cNvSpPr/>
          <p:nvPr/>
        </p:nvSpPr>
        <p:spPr>
          <a:xfrm>
            <a:off x="6533388" y="4297680"/>
            <a:ext cx="49880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30" kern="0" dirty="0">
                <a:solidFill>
                  <a:srgbClr val="256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 OUTCOME</a:t>
            </a:r>
            <a:endParaRPr lang="en-US" sz="1300" dirty="0"/>
          </a:p>
        </p:txBody>
      </p:sp>
      <p:sp>
        <p:nvSpPr>
          <p:cNvPr id="33" name="Shape 28"/>
          <p:cNvSpPr/>
          <p:nvPr/>
        </p:nvSpPr>
        <p:spPr>
          <a:xfrm>
            <a:off x="7191100" y="4503420"/>
            <a:ext cx="3672628" cy="1152144"/>
          </a:xfrm>
          <a:prstGeom prst="roundRect">
            <a:avLst>
              <a:gd name="adj" fmla="val 6349"/>
            </a:avLst>
          </a:prstGeom>
          <a:solidFill>
            <a:srgbClr val="FFFFFF"/>
          </a:solidFill>
          <a:ln w="12700">
            <a:solidFill>
              <a:srgbClr val="C2E0D2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34" name="Image 3" descr="C:\Users\ASUS\AppData\Local\Temp\claude\C--NogorShomadhan\6d8323a9-c937-42c6-8eb9-13e28f50f09f\scratchpad\deck\crops/29-crop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41392" y="4553712"/>
            <a:ext cx="3572044" cy="1051560"/>
          </a:xfrm>
          <a:prstGeom prst="rect">
            <a:avLst/>
          </a:prstGeom>
        </p:spPr>
      </p:pic>
      <p:sp>
        <p:nvSpPr>
          <p:cNvPr id="35" name="r13b_cap"/>
          <p:cNvSpPr/>
          <p:nvPr/>
        </p:nvSpPr>
        <p:spPr>
          <a:xfrm>
            <a:off x="6533388" y="5660136"/>
            <a:ext cx="4988052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resident is notified that the complaint was accepted and tracks it as Pending.</a:t>
            </a:r>
            <a:endParaRPr lang="en-US" sz="1800" dirty="0"/>
          </a:p>
        </p:txBody>
      </p:sp>
      <p:sp>
        <p:nvSpPr>
          <p:cNvPr id="36" name="Text 30"/>
          <p:cNvSpPr/>
          <p:nvPr/>
        </p:nvSpPr>
        <p:spPr>
          <a:xfrm>
            <a:off x="411480" y="6510528"/>
            <a:ext cx="4114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Nogor Shomadhan  ·  User Manual</a:t>
            </a:r>
            <a:endParaRPr lang="en-US" sz="1100" dirty="0"/>
          </a:p>
        </p:txBody>
      </p:sp>
      <p:sp>
        <p:nvSpPr>
          <p:cNvPr id="37" name="Text 31">
            <a:hlinkClick r:id="rId5" tooltip="1. Problem Statement" action="ppaction://hlinksldjump"/>
          </p:cNvPr>
          <p:cNvSpPr/>
          <p:nvPr/>
        </p:nvSpPr>
        <p:spPr>
          <a:xfrm>
            <a:off x="727222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action="ppaction://hlinksldjump" tooltip="1. Problem Stateme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38" name="Text 32">
            <a:hlinkClick r:id="rId6" tooltip="2. Stakeholders and Responsibilities" action="ppaction://hlinksldjump"/>
          </p:cNvPr>
          <p:cNvSpPr/>
          <p:nvPr/>
        </p:nvSpPr>
        <p:spPr>
          <a:xfrm>
            <a:off x="745510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 action="ppaction://hlinksldjump" tooltip="2. Stakeholders and Responsibiliti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39" name="Text 33">
            <a:hlinkClick r:id="rId7" tooltip="3. Resident Account Registration" action="ppaction://hlinksldjump"/>
          </p:cNvPr>
          <p:cNvSpPr/>
          <p:nvPr/>
        </p:nvSpPr>
        <p:spPr>
          <a:xfrm>
            <a:off x="763798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 action="ppaction://hlinksldjump" tooltip="3. Resident Account Registra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0" name="Text 34">
            <a:hlinkClick r:id="rId8" tooltip="4. Registration Request Submitted" action="ppaction://hlinksldjump"/>
          </p:cNvPr>
          <p:cNvSpPr/>
          <p:nvPr/>
        </p:nvSpPr>
        <p:spPr>
          <a:xfrm>
            <a:off x="782086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" action="ppaction://hlinksldjump" tooltip="4. Registration Request Submit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1" name="Text 35">
            <a:hlinkClick r:id="rId9" tooltip="5. Admin Receives the Verification Request" action="ppaction://hlinksldjump"/>
          </p:cNvPr>
          <p:cNvSpPr/>
          <p:nvPr/>
        </p:nvSpPr>
        <p:spPr>
          <a:xfrm>
            <a:off x="800374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" action="ppaction://hlinksldjump" tooltip="5. Admin Receives the Verification Reques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2" name="Text 36">
            <a:hlinkClick r:id="rId10" tooltip="6. Admin Reviews and Approves the Account" action="ppaction://hlinksldjump"/>
          </p:cNvPr>
          <p:cNvSpPr/>
          <p:nvPr/>
        </p:nvSpPr>
        <p:spPr>
          <a:xfrm>
            <a:off x="818662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0" action="ppaction://hlinksldjump" tooltip="6. Admin Reviews and Approves the Accou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3" name="Text 37">
            <a:hlinkClick r:id="rId11" tooltip="7. Account Verification Completed" action="ppaction://hlinksldjump"/>
          </p:cNvPr>
          <p:cNvSpPr/>
          <p:nvPr/>
        </p:nvSpPr>
        <p:spPr>
          <a:xfrm>
            <a:off x="836950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1" action="ppaction://hlinksldjump" tooltip="7. Account Verification Comple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4" name="Text 38">
            <a:hlinkClick r:id="rId12" tooltip="8. Create a New Complaint" action="ppaction://hlinksldjump"/>
          </p:cNvPr>
          <p:cNvSpPr/>
          <p:nvPr/>
        </p:nvSpPr>
        <p:spPr>
          <a:xfrm>
            <a:off x="855238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2" action="ppaction://hlinksldjump" tooltip="8. Create a New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5" name="Text 39">
            <a:hlinkClick r:id="rId13" tooltip="9. Add Evidence and Review the Category" action="ppaction://hlinksldjump"/>
          </p:cNvPr>
          <p:cNvSpPr/>
          <p:nvPr/>
        </p:nvSpPr>
        <p:spPr>
          <a:xfrm>
            <a:off x="873526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3" action="ppaction://hlinksldjump" tooltip="9. Add Evidence and Review the Categor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6" name="Text 40">
            <a:hlinkClick r:id="rId14" tooltip="10. Confirm the Complaint Submission" action="ppaction://hlinksldjump"/>
          </p:cNvPr>
          <p:cNvSpPr/>
          <p:nvPr/>
        </p:nvSpPr>
        <p:spPr>
          <a:xfrm>
            <a:off x="891814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4" action="ppaction://hlinksldjump" tooltip="10. Confirm the Complaint Submiss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7" name="Text 41">
            <a:hlinkClick r:id="rId15" tooltip="11. Admin Opens the Review Queue" action="ppaction://hlinksldjump"/>
          </p:cNvPr>
          <p:cNvSpPr/>
          <p:nvPr/>
        </p:nvSpPr>
        <p:spPr>
          <a:xfrm>
            <a:off x="910102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5" action="ppaction://hlinksldjump" tooltip="11. Admin Opens the Review Queu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8" name="Text 42">
            <a:hlinkClick r:id="rId16" tooltip="12. Complaint Check and Duplicate Comparison" action="ppaction://hlinksldjump"/>
          </p:cNvPr>
          <p:cNvSpPr/>
          <p:nvPr/>
        </p:nvSpPr>
        <p:spPr>
          <a:xfrm>
            <a:off x="928390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6" action="ppaction://hlinksldjump" tooltip="12. Complaint Check and Duplicate Compari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9" name="Text 43">
            <a:hlinkClick r:id="rId17" tooltip="13. Duplicate Review Outcomes" action="ppaction://hlinksldjump"/>
          </p:cNvPr>
          <p:cNvSpPr/>
          <p:nvPr/>
        </p:nvSpPr>
        <p:spPr>
          <a:xfrm>
            <a:off x="9466783" y="6528816"/>
            <a:ext cx="118872" cy="118872"/>
          </a:xfrm>
          <a:prstGeom prst="ellipse">
            <a:avLst/>
          </a:prstGeom>
          <a:solidFill>
            <a:srgbClr val="475467"/>
          </a:solidFill>
          <a:ln>
            <a:solidFill>
              <a:srgbClr val="4754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7" action="ppaction://hlinksldjump" tooltip="13. Duplicate Review Outcom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0" name="Text 44">
            <a:hlinkClick r:id="rId18" tooltip="14. Pending Complaint Visibility" action="ppaction://hlinksldjump"/>
          </p:cNvPr>
          <p:cNvSpPr/>
          <p:nvPr/>
        </p:nvSpPr>
        <p:spPr>
          <a:xfrm>
            <a:off x="964966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8" action="ppaction://hlinksldjump" tooltip="14. Pending Complaint Visibilit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1" name="Text 45">
            <a:hlinkClick r:id="rId19" tooltip="15. Authority Opens the Complaint" action="ppaction://hlinksldjump"/>
          </p:cNvPr>
          <p:cNvSpPr/>
          <p:nvPr/>
        </p:nvSpPr>
        <p:spPr>
          <a:xfrm>
            <a:off x="983254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9" action="ppaction://hlinksldjump" tooltip="15. Authority Opens the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2" name="Text 46">
            <a:hlinkClick r:id="rId20" tooltip="16. Assign a Contractor and Start Work" action="ppaction://hlinksldjump"/>
          </p:cNvPr>
          <p:cNvSpPr/>
          <p:nvPr/>
        </p:nvSpPr>
        <p:spPr>
          <a:xfrm>
            <a:off x="1001542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0" action="ppaction://hlinksldjump" tooltip="16. Assign a Contractor and Start Work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3" name="Text 47">
            <a:hlinkClick r:id="rId21" tooltip="17. The Complaint Moves to In Progress" action="ppaction://hlinksldjump"/>
          </p:cNvPr>
          <p:cNvSpPr/>
          <p:nvPr/>
        </p:nvSpPr>
        <p:spPr>
          <a:xfrm>
            <a:off x="1019830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1" action="ppaction://hlinksldjump" tooltip="17. The Complaint Moves to In Progres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4" name="Text 48">
            <a:hlinkClick r:id="rId22" tooltip="18. Residents See the Progress Update" action="ppaction://hlinksldjump"/>
          </p:cNvPr>
          <p:cNvSpPr/>
          <p:nvPr/>
        </p:nvSpPr>
        <p:spPr>
          <a:xfrm>
            <a:off x="1038118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2" action="ppaction://hlinksldjump" tooltip="18. Residents See the Progress Updat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5" name="Text 49">
            <a:hlinkClick r:id="rId23" tooltip="19. Resident Starts a Forum Discussion" action="ppaction://hlinksldjump"/>
          </p:cNvPr>
          <p:cNvSpPr/>
          <p:nvPr/>
        </p:nvSpPr>
        <p:spPr>
          <a:xfrm>
            <a:off x="1056406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3" action="ppaction://hlinksldjump" tooltip="19. Resident Starts a Forum Discuss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6" name="Text 50">
            <a:hlinkClick r:id="rId24" tooltip="20. Everyone Is Notified" action="ppaction://hlinksldjump"/>
          </p:cNvPr>
          <p:cNvSpPr/>
          <p:nvPr/>
        </p:nvSpPr>
        <p:spPr>
          <a:xfrm>
            <a:off x="1074694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4" action="ppaction://hlinksldjump" tooltip="20. Everyone Is Notifi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7" name="Text 51">
            <a:hlinkClick r:id="rId25" tooltip="21. Open the Post and Discuss" action="ppaction://hlinksldjump"/>
          </p:cNvPr>
          <p:cNvSpPr/>
          <p:nvPr/>
        </p:nvSpPr>
        <p:spPr>
          <a:xfrm>
            <a:off x="1092982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5" action="ppaction://hlinksldjump" tooltip="21. Open the Post and Discus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8" name="Text 52">
            <a:hlinkClick r:id="rId26" tooltip="22. Authority Updates the Work" action="ppaction://hlinksldjump"/>
          </p:cNvPr>
          <p:cNvSpPr/>
          <p:nvPr/>
        </p:nvSpPr>
        <p:spPr>
          <a:xfrm>
            <a:off x="1111270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6" action="ppaction://hlinksldjump" tooltip="22. Authority Updates the Work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9" name="Text 53">
            <a:hlinkClick r:id="rId27" tooltip="23. Authority Resolves the Complaint" action="ppaction://hlinksldjump"/>
          </p:cNvPr>
          <p:cNvSpPr/>
          <p:nvPr/>
        </p:nvSpPr>
        <p:spPr>
          <a:xfrm>
            <a:off x="1129558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7" action="ppaction://hlinksldjump" tooltip="23. Authority Resolves the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0" name="Text 54">
            <a:hlinkClick r:id="rId28" tooltip="24. Residents Give Feedback" action="ppaction://hlinksldjump"/>
          </p:cNvPr>
          <p:cNvSpPr/>
          <p:nvPr/>
        </p:nvSpPr>
        <p:spPr>
          <a:xfrm>
            <a:off x="1147846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8" action="ppaction://hlinksldjump" tooltip="24. Residents Give Feedback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1" name="Text 55">
            <a:hlinkClick r:id="rId29" tooltip="25. Feedback Is Public and Answered" action="ppaction://hlinksldjump"/>
          </p:cNvPr>
          <p:cNvSpPr/>
          <p:nvPr/>
        </p:nvSpPr>
        <p:spPr>
          <a:xfrm>
            <a:off x="1166134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9" action="ppaction://hlinksldjump" tooltip="25. Feedback Is Public and Answer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2" name="Text 56"/>
          <p:cNvSpPr/>
          <p:nvPr/>
        </p:nvSpPr>
        <p:spPr>
          <a:xfrm>
            <a:off x="6449263" y="6510528"/>
            <a:ext cx="7132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25</a:t>
            </a:r>
            <a:endParaRPr lang="en-US" sz="11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2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2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2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475467"/>
          </a:solidFill>
          <a:ln/>
        </p:spPr>
      </p:sp>
      <p:sp>
        <p:nvSpPr>
          <p:cNvPr id="3" name="Shape 1"/>
          <p:cNvSpPr/>
          <p:nvPr/>
        </p:nvSpPr>
        <p:spPr>
          <a:xfrm>
            <a:off x="411480" y="329184"/>
            <a:ext cx="621792" cy="621792"/>
          </a:xfrm>
          <a:prstGeom prst="roundRect">
            <a:avLst>
              <a:gd name="adj" fmla="val 23529"/>
            </a:avLst>
          </a:prstGeom>
          <a:solidFill>
            <a:srgbClr val="475467"/>
          </a:solidFill>
          <a:ln w="12700">
            <a:solidFill>
              <a:srgbClr val="475467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411480" y="329184"/>
            <a:ext cx="62179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1188720" y="329184"/>
            <a:ext cx="768096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4754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 ·  ADMIN COMPLAINT VERIFICATION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52144" y="548640"/>
            <a:ext cx="8321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 Complaint Visibility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9987991" y="475488"/>
            <a:ext cx="1792224" cy="420624"/>
          </a:xfrm>
          <a:prstGeom prst="roundRect">
            <a:avLst>
              <a:gd name="adj" fmla="val 50000"/>
            </a:avLst>
          </a:prstGeom>
          <a:solidFill>
            <a:srgbClr val="18835C"/>
          </a:solidFill>
          <a:ln w="12700">
            <a:solidFill>
              <a:srgbClr val="18835C"/>
            </a:solidFill>
            <a:prstDash val="solid"/>
          </a:ln>
          <a:effectLst>
            <a:outerShdw sx="100000" sy="100000" kx="0" ky="0" algn="bl" rotWithShape="0" blurRad="76200" dist="12700" dir="5400000">
              <a:srgbClr val="0B2239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9987991" y="475488"/>
            <a:ext cx="17922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duplicate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11480" y="1216152"/>
            <a:ext cx="11368735" cy="18288"/>
          </a:xfrm>
          <a:prstGeom prst="rect">
            <a:avLst/>
          </a:prstGeom>
          <a:solidFill>
            <a:srgbClr val="DDE1E7"/>
          </a:solidFill>
          <a:ln/>
        </p:spPr>
      </p:sp>
      <p:sp>
        <p:nvSpPr>
          <p:cNvPr id="10" name="Shape 8"/>
          <p:cNvSpPr/>
          <p:nvPr/>
        </p:nvSpPr>
        <p:spPr>
          <a:xfrm>
            <a:off x="1731279" y="1463040"/>
            <a:ext cx="996696" cy="347472"/>
          </a:xfrm>
          <a:prstGeom prst="roundRect">
            <a:avLst>
              <a:gd name="adj" fmla="val 50000"/>
            </a:avLst>
          </a:prstGeom>
          <a:solidFill>
            <a:srgbClr val="B86A12"/>
          </a:solidFill>
          <a:ln w="12700">
            <a:solidFill>
              <a:srgbClr val="B86A1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731279" y="1463040"/>
            <a:ext cx="9966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8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1376329" y="1815084"/>
            <a:ext cx="1706596" cy="3282696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F2DBBB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13" name="Image 0" descr="C:/NogorShomadhan/User Manual/Phase 3/post duplicate actions/30-added-in-all-complai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26621" y="1865376"/>
            <a:ext cx="1606012" cy="3182112"/>
          </a:xfrm>
          <a:prstGeom prst="rect">
            <a:avLst/>
          </a:prstGeom>
        </p:spPr>
      </p:pic>
      <p:sp>
        <p:nvSpPr>
          <p:cNvPr id="14" name="c14_a"/>
          <p:cNvSpPr/>
          <p:nvPr/>
        </p:nvSpPr>
        <p:spPr>
          <a:xfrm>
            <a:off x="502920" y="5120640"/>
            <a:ext cx="3453414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Appears in All Complaints with Pending status.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4932319" y="1463040"/>
            <a:ext cx="2507285" cy="347472"/>
          </a:xfrm>
          <a:prstGeom prst="roundRect">
            <a:avLst>
              <a:gd name="adj" fmla="val 50000"/>
            </a:avLst>
          </a:prstGeom>
          <a:solidFill>
            <a:srgbClr val="237A57"/>
          </a:solidFill>
          <a:ln w="12700">
            <a:solidFill>
              <a:srgbClr val="237A57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932319" y="1463040"/>
            <a:ext cx="250728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8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 AUTHORITY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5325186" y="1815084"/>
            <a:ext cx="1721552" cy="3282696"/>
          </a:xfrm>
          <a:prstGeom prst="roundRect">
            <a:avLst>
              <a:gd name="adj" fmla="val 4249"/>
            </a:avLst>
          </a:prstGeom>
          <a:solidFill>
            <a:srgbClr val="FFFFFF"/>
          </a:solidFill>
          <a:ln w="12700">
            <a:solidFill>
              <a:srgbClr val="C6E5D6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18" name="Image 1" descr="C:/NogorShomadhan/User Manual/Phase 3/post duplicate actions/31-available-in-authorit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5478" y="1865376"/>
            <a:ext cx="1620968" cy="3182112"/>
          </a:xfrm>
          <a:prstGeom prst="rect">
            <a:avLst/>
          </a:prstGeom>
        </p:spPr>
      </p:pic>
      <p:sp>
        <p:nvSpPr>
          <p:cNvPr id="19" name="c14_b"/>
          <p:cNvSpPr/>
          <p:nvPr/>
        </p:nvSpPr>
        <p:spPr>
          <a:xfrm>
            <a:off x="4459254" y="5120640"/>
            <a:ext cx="3453414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Available to the assigned authority for mitigation.</a:t>
            </a:r>
            <a:endParaRPr lang="en-US" sz="1800" dirty="0"/>
          </a:p>
        </p:txBody>
      </p:sp>
      <p:sp>
        <p:nvSpPr>
          <p:cNvPr id="20" name="Shape 16"/>
          <p:cNvSpPr/>
          <p:nvPr/>
        </p:nvSpPr>
        <p:spPr>
          <a:xfrm>
            <a:off x="9482099" y="1463040"/>
            <a:ext cx="1320394" cy="347472"/>
          </a:xfrm>
          <a:prstGeom prst="roundRect">
            <a:avLst>
              <a:gd name="adj" fmla="val 50000"/>
            </a:avLst>
          </a:prstGeom>
          <a:solidFill>
            <a:srgbClr val="2563A6"/>
          </a:solidFill>
          <a:ln w="12700">
            <a:solidFill>
              <a:srgbClr val="2563A6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9482099" y="1463040"/>
            <a:ext cx="132039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8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</a:t>
            </a:r>
            <a:endParaRPr lang="en-US" sz="1400" dirty="0"/>
          </a:p>
        </p:txBody>
      </p:sp>
      <p:sp>
        <p:nvSpPr>
          <p:cNvPr id="22" name="Shape 18"/>
          <p:cNvSpPr/>
          <p:nvPr/>
        </p:nvSpPr>
        <p:spPr>
          <a:xfrm>
            <a:off x="8904917" y="1815084"/>
            <a:ext cx="2474758" cy="3282696"/>
          </a:xfrm>
          <a:prstGeom prst="roundRect">
            <a:avLst>
              <a:gd name="adj" fmla="val 2956"/>
            </a:avLst>
          </a:prstGeom>
          <a:solidFill>
            <a:srgbClr val="FFFFFF"/>
          </a:solidFill>
          <a:ln w="12700">
            <a:solidFill>
              <a:srgbClr val="CFE3F4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23" name="Image 2" descr="C:/NogorShomadhan/User Manual/Phase 3/post duplicate actions/32-available-in-residen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55209" y="1865376"/>
            <a:ext cx="2374174" cy="3182112"/>
          </a:xfrm>
          <a:prstGeom prst="rect">
            <a:avLst/>
          </a:prstGeom>
        </p:spPr>
      </p:pic>
      <p:sp>
        <p:nvSpPr>
          <p:cNvPr id="24" name="c14_c"/>
          <p:cNvSpPr/>
          <p:nvPr/>
        </p:nvSpPr>
        <p:spPr>
          <a:xfrm>
            <a:off x="8415589" y="5120640"/>
            <a:ext cx="3453414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Visible in My Complaints with status and progress.</a:t>
            </a:r>
            <a:endParaRPr lang="en-US" sz="1800" dirty="0"/>
          </a:p>
        </p:txBody>
      </p:sp>
      <p:sp>
        <p:nvSpPr>
          <p:cNvPr id="25" name="Shape 20"/>
          <p:cNvSpPr/>
          <p:nvPr/>
        </p:nvSpPr>
        <p:spPr>
          <a:xfrm>
            <a:off x="1908425" y="4161270"/>
            <a:ext cx="305142" cy="66824"/>
          </a:xfrm>
          <a:prstGeom prst="roundRect">
            <a:avLst>
              <a:gd name="adj" fmla="val 68419"/>
            </a:avLst>
          </a:prstGeom>
          <a:solidFill>
            <a:srgbClr val="A9B4C2"/>
          </a:solidFill>
          <a:ln w="12700">
            <a:solidFill>
              <a:srgbClr val="A9B4C2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1796004" y="4361743"/>
            <a:ext cx="340475" cy="66824"/>
          </a:xfrm>
          <a:prstGeom prst="roundRect">
            <a:avLst>
              <a:gd name="adj" fmla="val 68419"/>
            </a:avLst>
          </a:prstGeom>
          <a:solidFill>
            <a:srgbClr val="A9B4C2"/>
          </a:solidFill>
          <a:ln w="12700">
            <a:solidFill>
              <a:srgbClr val="A9B4C2"/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1747824" y="4559034"/>
            <a:ext cx="369383" cy="66824"/>
          </a:xfrm>
          <a:prstGeom prst="roundRect">
            <a:avLst>
              <a:gd name="adj" fmla="val 68419"/>
            </a:avLst>
          </a:prstGeom>
          <a:solidFill>
            <a:srgbClr val="A9B4C2"/>
          </a:solidFill>
          <a:ln w="12700">
            <a:solidFill>
              <a:srgbClr val="A9B4C2"/>
            </a:solidFill>
            <a:prstDash val="solid"/>
          </a:ln>
        </p:spPr>
      </p:sp>
      <p:sp>
        <p:nvSpPr>
          <p:cNvPr id="28" name="Shape 23"/>
          <p:cNvSpPr/>
          <p:nvPr/>
        </p:nvSpPr>
        <p:spPr>
          <a:xfrm>
            <a:off x="1792792" y="4759507"/>
            <a:ext cx="224842" cy="66824"/>
          </a:xfrm>
          <a:prstGeom prst="roundRect">
            <a:avLst>
              <a:gd name="adj" fmla="val 68419"/>
            </a:avLst>
          </a:prstGeom>
          <a:solidFill>
            <a:srgbClr val="A9B4C2"/>
          </a:solidFill>
          <a:ln w="12700">
            <a:solidFill>
              <a:srgbClr val="A9B4C2"/>
            </a:solidFill>
            <a:prstDash val="solid"/>
          </a:ln>
        </p:spPr>
      </p:sp>
      <p:sp>
        <p:nvSpPr>
          <p:cNvPr id="29" name="h14_a"/>
          <p:cNvSpPr/>
          <p:nvPr/>
        </p:nvSpPr>
        <p:spPr>
          <a:xfrm>
            <a:off x="1558314" y="2412699"/>
            <a:ext cx="411139" cy="133649"/>
          </a:xfrm>
          <a:prstGeom prst="roundRect">
            <a:avLst>
              <a:gd name="adj" fmla="val 41051"/>
            </a:avLst>
          </a:prstGeom>
          <a:ln w="28575">
            <a:solidFill>
              <a:srgbClr val="B86A12"/>
            </a:solidFill>
            <a:prstDash val="solid"/>
          </a:ln>
        </p:spPr>
      </p:sp>
      <p:sp>
        <p:nvSpPr>
          <p:cNvPr id="30" name="h14_b"/>
          <p:cNvSpPr/>
          <p:nvPr/>
        </p:nvSpPr>
        <p:spPr>
          <a:xfrm>
            <a:off x="5505155" y="2279051"/>
            <a:ext cx="376065" cy="127284"/>
          </a:xfrm>
          <a:prstGeom prst="roundRect">
            <a:avLst>
              <a:gd name="adj" fmla="val 43104"/>
            </a:avLst>
          </a:prstGeom>
          <a:ln w="28575">
            <a:solidFill>
              <a:srgbClr val="237A57"/>
            </a:solidFill>
            <a:prstDash val="solid"/>
          </a:ln>
        </p:spPr>
      </p:sp>
      <p:sp>
        <p:nvSpPr>
          <p:cNvPr id="31" name="h14_c"/>
          <p:cNvSpPr/>
          <p:nvPr/>
        </p:nvSpPr>
        <p:spPr>
          <a:xfrm>
            <a:off x="10735840" y="3825557"/>
            <a:ext cx="389364" cy="133649"/>
          </a:xfrm>
          <a:prstGeom prst="roundRect">
            <a:avLst>
              <a:gd name="adj" fmla="val 41051"/>
            </a:avLst>
          </a:prstGeom>
          <a:ln w="28575">
            <a:solidFill>
              <a:srgbClr val="2563A6"/>
            </a:solidFill>
            <a:prstDash val="solid"/>
          </a:ln>
        </p:spPr>
      </p:sp>
      <p:sp>
        <p:nvSpPr>
          <p:cNvPr id="32" name="out14_bg"/>
          <p:cNvSpPr/>
          <p:nvPr/>
        </p:nvSpPr>
        <p:spPr>
          <a:xfrm>
            <a:off x="411480" y="5760720"/>
            <a:ext cx="11368735" cy="694944"/>
          </a:xfrm>
          <a:prstGeom prst="roundRect">
            <a:avLst>
              <a:gd name="adj" fmla="val 13158"/>
            </a:avLst>
          </a:prstGeom>
          <a:solidFill>
            <a:srgbClr val="17324D"/>
          </a:solidFill>
          <a:ln w="12700">
            <a:solidFill>
              <a:srgbClr val="17324D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33" name="out14_tx"/>
          <p:cNvSpPr/>
          <p:nvPr/>
        </p:nvSpPr>
        <p:spPr>
          <a:xfrm>
            <a:off x="685800" y="5760720"/>
            <a:ext cx="10820095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complaint that is not a duplicate continues as a separate Pending complaint and becomes visible to every relevant role.</a:t>
            </a:r>
            <a:endParaRPr lang="en-US" sz="1850" dirty="0"/>
          </a:p>
        </p:txBody>
      </p:sp>
      <p:sp>
        <p:nvSpPr>
          <p:cNvPr id="34" name="Text 29"/>
          <p:cNvSpPr/>
          <p:nvPr/>
        </p:nvSpPr>
        <p:spPr>
          <a:xfrm>
            <a:off x="411480" y="6510528"/>
            <a:ext cx="4114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Nogor Shomadhan  ·  User Manual</a:t>
            </a:r>
            <a:endParaRPr lang="en-US" sz="1100" dirty="0"/>
          </a:p>
        </p:txBody>
      </p:sp>
      <p:sp>
        <p:nvSpPr>
          <p:cNvPr id="35" name="Text 30">
            <a:hlinkClick r:id="rId4" tooltip="1. Problem Statement" action="ppaction://hlinksldjump"/>
          </p:cNvPr>
          <p:cNvSpPr/>
          <p:nvPr/>
        </p:nvSpPr>
        <p:spPr>
          <a:xfrm>
            <a:off x="727222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action="ppaction://hlinksldjump" tooltip="1. Problem Stateme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36" name="Text 31">
            <a:hlinkClick r:id="rId5" tooltip="2. Stakeholders and Responsibilities" action="ppaction://hlinksldjump"/>
          </p:cNvPr>
          <p:cNvSpPr/>
          <p:nvPr/>
        </p:nvSpPr>
        <p:spPr>
          <a:xfrm>
            <a:off x="745510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action="ppaction://hlinksldjump" tooltip="2. Stakeholders and Responsibiliti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37" name="Text 32">
            <a:hlinkClick r:id="rId6" tooltip="3. Resident Account Registration" action="ppaction://hlinksldjump"/>
          </p:cNvPr>
          <p:cNvSpPr/>
          <p:nvPr/>
        </p:nvSpPr>
        <p:spPr>
          <a:xfrm>
            <a:off x="763798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 action="ppaction://hlinksldjump" tooltip="3. Resident Account Registra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38" name="Text 33">
            <a:hlinkClick r:id="rId7" tooltip="4. Registration Request Submitted" action="ppaction://hlinksldjump"/>
          </p:cNvPr>
          <p:cNvSpPr/>
          <p:nvPr/>
        </p:nvSpPr>
        <p:spPr>
          <a:xfrm>
            <a:off x="782086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 action="ppaction://hlinksldjump" tooltip="4. Registration Request Submit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39" name="Text 34">
            <a:hlinkClick r:id="rId8" tooltip="5. Admin Receives the Verification Request" action="ppaction://hlinksldjump"/>
          </p:cNvPr>
          <p:cNvSpPr/>
          <p:nvPr/>
        </p:nvSpPr>
        <p:spPr>
          <a:xfrm>
            <a:off x="800374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" action="ppaction://hlinksldjump" tooltip="5. Admin Receives the Verification Reques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0" name="Text 35">
            <a:hlinkClick r:id="rId9" tooltip="6. Admin Reviews and Approves the Account" action="ppaction://hlinksldjump"/>
          </p:cNvPr>
          <p:cNvSpPr/>
          <p:nvPr/>
        </p:nvSpPr>
        <p:spPr>
          <a:xfrm>
            <a:off x="818662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" action="ppaction://hlinksldjump" tooltip="6. Admin Reviews and Approves the Accou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1" name="Text 36">
            <a:hlinkClick r:id="rId10" tooltip="7. Account Verification Completed" action="ppaction://hlinksldjump"/>
          </p:cNvPr>
          <p:cNvSpPr/>
          <p:nvPr/>
        </p:nvSpPr>
        <p:spPr>
          <a:xfrm>
            <a:off x="836950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0" action="ppaction://hlinksldjump" tooltip="7. Account Verification Comple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2" name="Text 37">
            <a:hlinkClick r:id="rId11" tooltip="8. Create a New Complaint" action="ppaction://hlinksldjump"/>
          </p:cNvPr>
          <p:cNvSpPr/>
          <p:nvPr/>
        </p:nvSpPr>
        <p:spPr>
          <a:xfrm>
            <a:off x="855238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1" action="ppaction://hlinksldjump" tooltip="8. Create a New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3" name="Text 38">
            <a:hlinkClick r:id="rId12" tooltip="9. Add Evidence and Review the Category" action="ppaction://hlinksldjump"/>
          </p:cNvPr>
          <p:cNvSpPr/>
          <p:nvPr/>
        </p:nvSpPr>
        <p:spPr>
          <a:xfrm>
            <a:off x="873526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2" action="ppaction://hlinksldjump" tooltip="9. Add Evidence and Review the Categor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4" name="Text 39">
            <a:hlinkClick r:id="rId13" tooltip="10. Confirm the Complaint Submission" action="ppaction://hlinksldjump"/>
          </p:cNvPr>
          <p:cNvSpPr/>
          <p:nvPr/>
        </p:nvSpPr>
        <p:spPr>
          <a:xfrm>
            <a:off x="891814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3" action="ppaction://hlinksldjump" tooltip="10. Confirm the Complaint Submiss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5" name="Text 40">
            <a:hlinkClick r:id="rId14" tooltip="11. Admin Opens the Review Queue" action="ppaction://hlinksldjump"/>
          </p:cNvPr>
          <p:cNvSpPr/>
          <p:nvPr/>
        </p:nvSpPr>
        <p:spPr>
          <a:xfrm>
            <a:off x="910102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4" action="ppaction://hlinksldjump" tooltip="11. Admin Opens the Review Queu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6" name="Text 41">
            <a:hlinkClick r:id="rId15" tooltip="12. Complaint Check and Duplicate Comparison" action="ppaction://hlinksldjump"/>
          </p:cNvPr>
          <p:cNvSpPr/>
          <p:nvPr/>
        </p:nvSpPr>
        <p:spPr>
          <a:xfrm>
            <a:off x="928390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5" action="ppaction://hlinksldjump" tooltip="12. Complaint Check and Duplicate Compari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7" name="Text 42">
            <a:hlinkClick r:id="rId16" tooltip="13. Duplicate Review Outcomes" action="ppaction://hlinksldjump"/>
          </p:cNvPr>
          <p:cNvSpPr/>
          <p:nvPr/>
        </p:nvSpPr>
        <p:spPr>
          <a:xfrm>
            <a:off x="946678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6" action="ppaction://hlinksldjump" tooltip="13. Duplicate Review Outcom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8" name="Text 43">
            <a:hlinkClick r:id="rId17" tooltip="14. Pending Complaint Visibility" action="ppaction://hlinksldjump"/>
          </p:cNvPr>
          <p:cNvSpPr/>
          <p:nvPr/>
        </p:nvSpPr>
        <p:spPr>
          <a:xfrm>
            <a:off x="9649663" y="6528816"/>
            <a:ext cx="118872" cy="118872"/>
          </a:xfrm>
          <a:prstGeom prst="ellipse">
            <a:avLst/>
          </a:prstGeom>
          <a:solidFill>
            <a:srgbClr val="475467"/>
          </a:solidFill>
          <a:ln>
            <a:solidFill>
              <a:srgbClr val="4754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7" action="ppaction://hlinksldjump" tooltip="14. Pending Complaint Visibilit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9" name="Text 44">
            <a:hlinkClick r:id="rId18" tooltip="15. Authority Opens the Complaint" action="ppaction://hlinksldjump"/>
          </p:cNvPr>
          <p:cNvSpPr/>
          <p:nvPr/>
        </p:nvSpPr>
        <p:spPr>
          <a:xfrm>
            <a:off x="983254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8" action="ppaction://hlinksldjump" tooltip="15. Authority Opens the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0" name="Text 45">
            <a:hlinkClick r:id="rId19" tooltip="16. Assign a Contractor and Start Work" action="ppaction://hlinksldjump"/>
          </p:cNvPr>
          <p:cNvSpPr/>
          <p:nvPr/>
        </p:nvSpPr>
        <p:spPr>
          <a:xfrm>
            <a:off x="1001542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9" action="ppaction://hlinksldjump" tooltip="16. Assign a Contractor and Start Work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1" name="Text 46">
            <a:hlinkClick r:id="rId20" tooltip="17. The Complaint Moves to In Progress" action="ppaction://hlinksldjump"/>
          </p:cNvPr>
          <p:cNvSpPr/>
          <p:nvPr/>
        </p:nvSpPr>
        <p:spPr>
          <a:xfrm>
            <a:off x="1019830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0" action="ppaction://hlinksldjump" tooltip="17. The Complaint Moves to In Progres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2" name="Text 47">
            <a:hlinkClick r:id="rId21" tooltip="18. Residents See the Progress Update" action="ppaction://hlinksldjump"/>
          </p:cNvPr>
          <p:cNvSpPr/>
          <p:nvPr/>
        </p:nvSpPr>
        <p:spPr>
          <a:xfrm>
            <a:off x="1038118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1" action="ppaction://hlinksldjump" tooltip="18. Residents See the Progress Updat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3" name="Text 48">
            <a:hlinkClick r:id="rId22" tooltip="19. Resident Starts a Forum Discussion" action="ppaction://hlinksldjump"/>
          </p:cNvPr>
          <p:cNvSpPr/>
          <p:nvPr/>
        </p:nvSpPr>
        <p:spPr>
          <a:xfrm>
            <a:off x="1056406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2" action="ppaction://hlinksldjump" tooltip="19. Resident Starts a Forum Discuss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4" name="Text 49">
            <a:hlinkClick r:id="rId23" tooltip="20. Everyone Is Notified" action="ppaction://hlinksldjump"/>
          </p:cNvPr>
          <p:cNvSpPr/>
          <p:nvPr/>
        </p:nvSpPr>
        <p:spPr>
          <a:xfrm>
            <a:off x="1074694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3" action="ppaction://hlinksldjump" tooltip="20. Everyone Is Notifi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5" name="Text 50">
            <a:hlinkClick r:id="rId24" tooltip="21. Open the Post and Discuss" action="ppaction://hlinksldjump"/>
          </p:cNvPr>
          <p:cNvSpPr/>
          <p:nvPr/>
        </p:nvSpPr>
        <p:spPr>
          <a:xfrm>
            <a:off x="1092982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4" action="ppaction://hlinksldjump" tooltip="21. Open the Post and Discus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6" name="Text 51">
            <a:hlinkClick r:id="rId25" tooltip="22. Authority Updates the Work" action="ppaction://hlinksldjump"/>
          </p:cNvPr>
          <p:cNvSpPr/>
          <p:nvPr/>
        </p:nvSpPr>
        <p:spPr>
          <a:xfrm>
            <a:off x="1111270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5" action="ppaction://hlinksldjump" tooltip="22. Authority Updates the Work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7" name="Text 52">
            <a:hlinkClick r:id="rId26" tooltip="23. Authority Resolves the Complaint" action="ppaction://hlinksldjump"/>
          </p:cNvPr>
          <p:cNvSpPr/>
          <p:nvPr/>
        </p:nvSpPr>
        <p:spPr>
          <a:xfrm>
            <a:off x="1129558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6" action="ppaction://hlinksldjump" tooltip="23. Authority Resolves the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8" name="Text 53">
            <a:hlinkClick r:id="rId27" tooltip="24. Residents Give Feedback" action="ppaction://hlinksldjump"/>
          </p:cNvPr>
          <p:cNvSpPr/>
          <p:nvPr/>
        </p:nvSpPr>
        <p:spPr>
          <a:xfrm>
            <a:off x="1147846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7" action="ppaction://hlinksldjump" tooltip="24. Residents Give Feedback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9" name="Text 54">
            <a:hlinkClick r:id="rId28" tooltip="25. Feedback Is Public and Answered" action="ppaction://hlinksldjump"/>
          </p:cNvPr>
          <p:cNvSpPr/>
          <p:nvPr/>
        </p:nvSpPr>
        <p:spPr>
          <a:xfrm>
            <a:off x="1166134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8" action="ppaction://hlinksldjump" tooltip="25. Feedback Is Public and Answer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0" name="Text 55"/>
          <p:cNvSpPr/>
          <p:nvPr/>
        </p:nvSpPr>
        <p:spPr>
          <a:xfrm>
            <a:off x="6449263" y="6510528"/>
            <a:ext cx="7132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25</a:t>
            </a:r>
            <a:endParaRPr lang="en-US" sz="11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2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2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2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2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2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2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A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237A57"/>
          </a:solidFill>
          <a:ln/>
        </p:spPr>
      </p:sp>
      <p:sp>
        <p:nvSpPr>
          <p:cNvPr id="3" name="Shape 1"/>
          <p:cNvSpPr/>
          <p:nvPr/>
        </p:nvSpPr>
        <p:spPr>
          <a:xfrm>
            <a:off x="411480" y="329184"/>
            <a:ext cx="621792" cy="621792"/>
          </a:xfrm>
          <a:prstGeom prst="roundRect">
            <a:avLst>
              <a:gd name="adj" fmla="val 23529"/>
            </a:avLst>
          </a:prstGeom>
          <a:solidFill>
            <a:srgbClr val="237A57"/>
          </a:solidFill>
          <a:ln w="12700">
            <a:solidFill>
              <a:srgbClr val="237A57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411480" y="329184"/>
            <a:ext cx="62179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1188720" y="329184"/>
            <a:ext cx="768096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237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  ·  AUTHORITY STARTS THE WORK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52144" y="548640"/>
            <a:ext cx="8321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Authority Opens the Complaint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10580522" y="475488"/>
            <a:ext cx="1199693" cy="420624"/>
          </a:xfrm>
          <a:prstGeom prst="roundRect">
            <a:avLst>
              <a:gd name="adj" fmla="val 50000"/>
            </a:avLst>
          </a:prstGeom>
          <a:solidFill>
            <a:srgbClr val="237A57"/>
          </a:solidFill>
          <a:ln w="12700">
            <a:solidFill>
              <a:srgbClr val="237A57"/>
            </a:solidFill>
            <a:prstDash val="solid"/>
          </a:ln>
          <a:effectLst>
            <a:outerShdw sx="100000" sy="100000" kx="0" ky="0" algn="bl" rotWithShape="0" blurRad="76200" dist="12700" dir="5400000">
              <a:srgbClr val="0B2239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0580522" y="475488"/>
            <a:ext cx="1199693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Authority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11480" y="1216152"/>
            <a:ext cx="11368735" cy="18288"/>
          </a:xfrm>
          <a:prstGeom prst="rect">
            <a:avLst/>
          </a:prstGeom>
          <a:solidFill>
            <a:srgbClr val="C6E5D6"/>
          </a:solidFill>
          <a:ln/>
        </p:spPr>
      </p:sp>
      <p:sp>
        <p:nvSpPr>
          <p:cNvPr id="10" name="Shape 8"/>
          <p:cNvSpPr/>
          <p:nvPr/>
        </p:nvSpPr>
        <p:spPr>
          <a:xfrm>
            <a:off x="1222549" y="1385316"/>
            <a:ext cx="2015040" cy="3895344"/>
          </a:xfrm>
          <a:prstGeom prst="roundRect">
            <a:avLst>
              <a:gd name="adj" fmla="val 3630"/>
            </a:avLst>
          </a:prstGeom>
          <a:solidFill>
            <a:srgbClr val="FFFFFF"/>
          </a:solidFill>
          <a:ln w="12700">
            <a:solidFill>
              <a:srgbClr val="C6E5D6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11" name="Image 0" descr="C:/NogorShomadhan/User Manual/Phase 4/Final/1-authority-dashboard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72841" y="1435608"/>
            <a:ext cx="1914456" cy="3794760"/>
          </a:xfrm>
          <a:prstGeom prst="rect">
            <a:avLst/>
          </a:prstGeom>
        </p:spPr>
      </p:pic>
      <p:sp>
        <p:nvSpPr>
          <p:cNvPr id="12" name="p15_ca"/>
          <p:cNvSpPr/>
          <p:nvPr/>
        </p:nvSpPr>
        <p:spPr>
          <a:xfrm>
            <a:off x="484632" y="5431536"/>
            <a:ext cx="3490874" cy="8961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dashboard shows complaint counts and a notification badge.</a:t>
            </a:r>
            <a:endParaRPr lang="en-US" sz="1800" dirty="0"/>
          </a:p>
        </p:txBody>
      </p:sp>
      <p:sp>
        <p:nvSpPr>
          <p:cNvPr id="13" name="p15_ta"/>
          <p:cNvSpPr/>
          <p:nvPr/>
        </p:nvSpPr>
        <p:spPr>
          <a:xfrm>
            <a:off x="1114245" y="1404518"/>
            <a:ext cx="585216" cy="365760"/>
          </a:xfrm>
          <a:prstGeom prst="roundRect">
            <a:avLst>
              <a:gd name="adj" fmla="val 37500"/>
            </a:avLst>
          </a:prstGeom>
          <a:solidFill>
            <a:srgbClr val="237A57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14" name="p15_ta_t"/>
          <p:cNvSpPr/>
          <p:nvPr/>
        </p:nvSpPr>
        <p:spPr>
          <a:xfrm>
            <a:off x="1114245" y="1404518"/>
            <a:ext cx="585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4053230" y="3159252"/>
            <a:ext cx="219456" cy="347472"/>
          </a:xfrm>
          <a:prstGeom prst="chevron">
            <a:avLst/>
          </a:prstGeom>
          <a:solidFill>
            <a:srgbClr val="237A57"/>
          </a:solidFill>
          <a:ln w="12700">
            <a:solidFill>
              <a:srgbClr val="237A57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579071" y="1385316"/>
            <a:ext cx="3033554" cy="3895344"/>
          </a:xfrm>
          <a:prstGeom prst="roundRect">
            <a:avLst>
              <a:gd name="adj" fmla="val 2411"/>
            </a:avLst>
          </a:prstGeom>
          <a:solidFill>
            <a:srgbClr val="FFFFFF"/>
          </a:solidFill>
          <a:ln w="12700">
            <a:solidFill>
              <a:srgbClr val="C6E5D6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17" name="Image 1" descr="C:/NogorShomadhan/User Manual/Phase 4/Final/2-choose-pothole.jpe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29363" y="1435608"/>
            <a:ext cx="2932970" cy="3794760"/>
          </a:xfrm>
          <a:prstGeom prst="rect">
            <a:avLst/>
          </a:prstGeom>
        </p:spPr>
      </p:pic>
      <p:sp>
        <p:nvSpPr>
          <p:cNvPr id="18" name="p15_cb"/>
          <p:cNvSpPr/>
          <p:nvPr/>
        </p:nvSpPr>
        <p:spPr>
          <a:xfrm>
            <a:off x="4350410" y="5431536"/>
            <a:ext cx="3490874" cy="8961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notification names the complaint that is ready for authority action.</a:t>
            </a:r>
            <a:endParaRPr lang="en-US" sz="1800" dirty="0"/>
          </a:p>
        </p:txBody>
      </p:sp>
      <p:sp>
        <p:nvSpPr>
          <p:cNvPr id="19" name="p15_tb"/>
          <p:cNvSpPr/>
          <p:nvPr/>
        </p:nvSpPr>
        <p:spPr>
          <a:xfrm>
            <a:off x="4542062" y="1404518"/>
            <a:ext cx="585216" cy="365760"/>
          </a:xfrm>
          <a:prstGeom prst="roundRect">
            <a:avLst>
              <a:gd name="adj" fmla="val 37500"/>
            </a:avLst>
          </a:prstGeom>
          <a:solidFill>
            <a:srgbClr val="237A57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20" name="p15_tb_t"/>
          <p:cNvSpPr/>
          <p:nvPr/>
        </p:nvSpPr>
        <p:spPr>
          <a:xfrm>
            <a:off x="4542062" y="1404518"/>
            <a:ext cx="585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7919009" y="3159252"/>
            <a:ext cx="219456" cy="347472"/>
          </a:xfrm>
          <a:prstGeom prst="chevron">
            <a:avLst/>
          </a:prstGeom>
          <a:solidFill>
            <a:srgbClr val="237A57"/>
          </a:solidFill>
          <a:ln w="12700">
            <a:solidFill>
              <a:srgbClr val="237A57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8938927" y="1385316"/>
            <a:ext cx="2045399" cy="3895344"/>
          </a:xfrm>
          <a:prstGeom prst="roundRect">
            <a:avLst>
              <a:gd name="adj" fmla="val 3576"/>
            </a:avLst>
          </a:prstGeom>
          <a:solidFill>
            <a:srgbClr val="FFFFFF"/>
          </a:solidFill>
          <a:ln w="12700">
            <a:solidFill>
              <a:srgbClr val="C6E5D6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23" name="Image 2" descr="C:/NogorShomadhan/User Manual/Phase 4/Final/3-seethe-complaints-detail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89219" y="1435608"/>
            <a:ext cx="1944815" cy="3794760"/>
          </a:xfrm>
          <a:prstGeom prst="rect">
            <a:avLst/>
          </a:prstGeom>
        </p:spPr>
      </p:pic>
      <p:sp>
        <p:nvSpPr>
          <p:cNvPr id="24" name="p15_cc"/>
          <p:cNvSpPr/>
          <p:nvPr/>
        </p:nvSpPr>
        <p:spPr>
          <a:xfrm>
            <a:off x="8216189" y="5431536"/>
            <a:ext cx="3490874" cy="8961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complaint to check its category, submission time, and location.</a:t>
            </a:r>
            <a:endParaRPr lang="en-US" sz="1800" dirty="0"/>
          </a:p>
        </p:txBody>
      </p:sp>
      <p:sp>
        <p:nvSpPr>
          <p:cNvPr id="25" name="p15_tc"/>
          <p:cNvSpPr/>
          <p:nvPr/>
        </p:nvSpPr>
        <p:spPr>
          <a:xfrm>
            <a:off x="8832748" y="1404518"/>
            <a:ext cx="585216" cy="365760"/>
          </a:xfrm>
          <a:prstGeom prst="roundRect">
            <a:avLst>
              <a:gd name="adj" fmla="val 37500"/>
            </a:avLst>
          </a:prstGeom>
          <a:solidFill>
            <a:srgbClr val="237A57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26" name="p15_tc_t"/>
          <p:cNvSpPr/>
          <p:nvPr/>
        </p:nvSpPr>
        <p:spPr>
          <a:xfrm>
            <a:off x="8832748" y="1404518"/>
            <a:ext cx="585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7" name="h15_a1"/>
          <p:cNvSpPr/>
          <p:nvPr/>
        </p:nvSpPr>
        <p:spPr>
          <a:xfrm>
            <a:off x="2674223" y="1473556"/>
            <a:ext cx="183788" cy="166969"/>
          </a:xfrm>
          <a:prstGeom prst="roundRect">
            <a:avLst>
              <a:gd name="adj" fmla="val 32859"/>
            </a:avLst>
          </a:prstGeom>
          <a:ln w="28575">
            <a:solidFill>
              <a:srgbClr val="237A57"/>
            </a:solidFill>
            <a:prstDash val="solid"/>
          </a:ln>
        </p:spPr>
      </p:sp>
      <p:sp>
        <p:nvSpPr>
          <p:cNvPr id="28" name="h15_a2"/>
          <p:cNvSpPr/>
          <p:nvPr/>
        </p:nvSpPr>
        <p:spPr>
          <a:xfrm>
            <a:off x="1334104" y="2536088"/>
            <a:ext cx="1784273" cy="1054943"/>
          </a:xfrm>
          <a:prstGeom prst="roundRect">
            <a:avLst>
              <a:gd name="adj" fmla="val 5201"/>
            </a:avLst>
          </a:prstGeom>
          <a:ln w="28575">
            <a:solidFill>
              <a:srgbClr val="237A57"/>
            </a:solidFill>
            <a:prstDash val="solid"/>
          </a:ln>
        </p:spPr>
      </p:sp>
      <p:sp>
        <p:nvSpPr>
          <p:cNvPr id="29" name="h15_b1"/>
          <p:cNvSpPr/>
          <p:nvPr/>
        </p:nvSpPr>
        <p:spPr>
          <a:xfrm>
            <a:off x="4740815" y="4528337"/>
            <a:ext cx="2710064" cy="614751"/>
          </a:xfrm>
          <a:prstGeom prst="roundRect">
            <a:avLst>
              <a:gd name="adj" fmla="val 8925"/>
            </a:avLst>
          </a:prstGeom>
          <a:ln w="28575">
            <a:solidFill>
              <a:srgbClr val="237A57"/>
            </a:solidFill>
            <a:prstDash val="solid"/>
          </a:ln>
        </p:spPr>
      </p:sp>
      <p:sp>
        <p:nvSpPr>
          <p:cNvPr id="30" name="h15_c1"/>
          <p:cNvSpPr/>
          <p:nvPr/>
        </p:nvSpPr>
        <p:spPr>
          <a:xfrm>
            <a:off x="9133135" y="1803700"/>
            <a:ext cx="427859" cy="121432"/>
          </a:xfrm>
          <a:prstGeom prst="roundRect">
            <a:avLst>
              <a:gd name="adj" fmla="val 45181"/>
            </a:avLst>
          </a:prstGeom>
          <a:ln w="28575">
            <a:solidFill>
              <a:srgbClr val="237A57"/>
            </a:solidFill>
            <a:prstDash val="solid"/>
          </a:ln>
        </p:spPr>
      </p:sp>
      <p:sp>
        <p:nvSpPr>
          <p:cNvPr id="31" name="h15_c2"/>
          <p:cNvSpPr/>
          <p:nvPr/>
        </p:nvSpPr>
        <p:spPr>
          <a:xfrm>
            <a:off x="9059232" y="2369119"/>
            <a:ext cx="1804788" cy="956280"/>
          </a:xfrm>
          <a:prstGeom prst="roundRect">
            <a:avLst>
              <a:gd name="adj" fmla="val 5737"/>
            </a:avLst>
          </a:prstGeom>
          <a:ln w="28575">
            <a:solidFill>
              <a:srgbClr val="237A57"/>
            </a:solidFill>
            <a:prstDash val="solid"/>
          </a:ln>
        </p:spPr>
      </p:sp>
      <p:sp>
        <p:nvSpPr>
          <p:cNvPr id="32" name="h15_c3"/>
          <p:cNvSpPr/>
          <p:nvPr/>
        </p:nvSpPr>
        <p:spPr>
          <a:xfrm>
            <a:off x="9059232" y="3386115"/>
            <a:ext cx="1804788" cy="1791127"/>
          </a:xfrm>
          <a:prstGeom prst="roundRect">
            <a:avLst>
              <a:gd name="adj" fmla="val 3063"/>
            </a:avLst>
          </a:prstGeom>
          <a:ln w="28575">
            <a:solidFill>
              <a:srgbClr val="237A57"/>
            </a:solidFill>
            <a:prstDash val="solid"/>
          </a:ln>
        </p:spPr>
      </p:sp>
      <p:sp>
        <p:nvSpPr>
          <p:cNvPr id="33" name="Text 28"/>
          <p:cNvSpPr/>
          <p:nvPr/>
        </p:nvSpPr>
        <p:spPr>
          <a:xfrm>
            <a:off x="411480" y="6510528"/>
            <a:ext cx="4114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Nogor Shomadhan  ·  User Manual</a:t>
            </a:r>
            <a:endParaRPr lang="en-US" sz="1100" dirty="0"/>
          </a:p>
        </p:txBody>
      </p:sp>
      <p:sp>
        <p:nvSpPr>
          <p:cNvPr id="34" name="Text 29">
            <a:hlinkClick r:id="rId4" tooltip="1. Problem Statement" action="ppaction://hlinksldjump"/>
          </p:cNvPr>
          <p:cNvSpPr/>
          <p:nvPr/>
        </p:nvSpPr>
        <p:spPr>
          <a:xfrm>
            <a:off x="7272223" y="6528816"/>
            <a:ext cx="118872" cy="118872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action="ppaction://hlinksldjump" tooltip="1. Problem Stateme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35" name="Text 30">
            <a:hlinkClick r:id="rId5" tooltip="2. Stakeholders and Responsibilities" action="ppaction://hlinksldjump"/>
          </p:cNvPr>
          <p:cNvSpPr/>
          <p:nvPr/>
        </p:nvSpPr>
        <p:spPr>
          <a:xfrm>
            <a:off x="7455103" y="6528816"/>
            <a:ext cx="118872" cy="118872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action="ppaction://hlinksldjump" tooltip="2. Stakeholders and Responsibiliti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36" name="Text 31">
            <a:hlinkClick r:id="rId6" tooltip="3. Resident Account Registration" action="ppaction://hlinksldjump"/>
          </p:cNvPr>
          <p:cNvSpPr/>
          <p:nvPr/>
        </p:nvSpPr>
        <p:spPr>
          <a:xfrm>
            <a:off x="7637983" y="6528816"/>
            <a:ext cx="118872" cy="118872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 action="ppaction://hlinksldjump" tooltip="3. Resident Account Registra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37" name="Text 32">
            <a:hlinkClick r:id="rId7" tooltip="4. Registration Request Submitted" action="ppaction://hlinksldjump"/>
          </p:cNvPr>
          <p:cNvSpPr/>
          <p:nvPr/>
        </p:nvSpPr>
        <p:spPr>
          <a:xfrm>
            <a:off x="7820863" y="6528816"/>
            <a:ext cx="118872" cy="118872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 action="ppaction://hlinksldjump" tooltip="4. Registration Request Submit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38" name="Text 33">
            <a:hlinkClick r:id="rId8" tooltip="5. Admin Receives the Verification Request" action="ppaction://hlinksldjump"/>
          </p:cNvPr>
          <p:cNvSpPr/>
          <p:nvPr/>
        </p:nvSpPr>
        <p:spPr>
          <a:xfrm>
            <a:off x="8003743" y="6528816"/>
            <a:ext cx="118872" cy="118872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" action="ppaction://hlinksldjump" tooltip="5. Admin Receives the Verification Reques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39" name="Text 34">
            <a:hlinkClick r:id="rId9" tooltip="6. Admin Reviews and Approves the Account" action="ppaction://hlinksldjump"/>
          </p:cNvPr>
          <p:cNvSpPr/>
          <p:nvPr/>
        </p:nvSpPr>
        <p:spPr>
          <a:xfrm>
            <a:off x="8186623" y="6528816"/>
            <a:ext cx="118872" cy="118872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" action="ppaction://hlinksldjump" tooltip="6. Admin Reviews and Approves the Accou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0" name="Text 35">
            <a:hlinkClick r:id="rId10" tooltip="7. Account Verification Completed" action="ppaction://hlinksldjump"/>
          </p:cNvPr>
          <p:cNvSpPr/>
          <p:nvPr/>
        </p:nvSpPr>
        <p:spPr>
          <a:xfrm>
            <a:off x="8369503" y="6528816"/>
            <a:ext cx="118872" cy="118872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0" action="ppaction://hlinksldjump" tooltip="7. Account Verification Comple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1" name="Text 36">
            <a:hlinkClick r:id="rId11" tooltip="8. Create a New Complaint" action="ppaction://hlinksldjump"/>
          </p:cNvPr>
          <p:cNvSpPr/>
          <p:nvPr/>
        </p:nvSpPr>
        <p:spPr>
          <a:xfrm>
            <a:off x="8552383" y="6528816"/>
            <a:ext cx="118872" cy="118872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1" action="ppaction://hlinksldjump" tooltip="8. Create a New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2" name="Text 37">
            <a:hlinkClick r:id="rId12" tooltip="9. Add Evidence and Review the Category" action="ppaction://hlinksldjump"/>
          </p:cNvPr>
          <p:cNvSpPr/>
          <p:nvPr/>
        </p:nvSpPr>
        <p:spPr>
          <a:xfrm>
            <a:off x="8735263" y="6528816"/>
            <a:ext cx="118872" cy="118872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2" action="ppaction://hlinksldjump" tooltip="9. Add Evidence and Review the Categor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3" name="Text 38">
            <a:hlinkClick r:id="rId13" tooltip="10. Confirm the Complaint Submission" action="ppaction://hlinksldjump"/>
          </p:cNvPr>
          <p:cNvSpPr/>
          <p:nvPr/>
        </p:nvSpPr>
        <p:spPr>
          <a:xfrm>
            <a:off x="8918143" y="6528816"/>
            <a:ext cx="118872" cy="118872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3" action="ppaction://hlinksldjump" tooltip="10. Confirm the Complaint Submiss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4" name="Text 39">
            <a:hlinkClick r:id="rId14" tooltip="11. Admin Opens the Review Queue" action="ppaction://hlinksldjump"/>
          </p:cNvPr>
          <p:cNvSpPr/>
          <p:nvPr/>
        </p:nvSpPr>
        <p:spPr>
          <a:xfrm>
            <a:off x="9101023" y="6528816"/>
            <a:ext cx="118872" cy="118872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4" action="ppaction://hlinksldjump" tooltip="11. Admin Opens the Review Queu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5" name="Text 40">
            <a:hlinkClick r:id="rId15" tooltip="12. Complaint Check and Duplicate Comparison" action="ppaction://hlinksldjump"/>
          </p:cNvPr>
          <p:cNvSpPr/>
          <p:nvPr/>
        </p:nvSpPr>
        <p:spPr>
          <a:xfrm>
            <a:off x="9283903" y="6528816"/>
            <a:ext cx="118872" cy="118872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5" action="ppaction://hlinksldjump" tooltip="12. Complaint Check and Duplicate Compari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6" name="Text 41">
            <a:hlinkClick r:id="rId16" tooltip="13. Duplicate Review Outcomes" action="ppaction://hlinksldjump"/>
          </p:cNvPr>
          <p:cNvSpPr/>
          <p:nvPr/>
        </p:nvSpPr>
        <p:spPr>
          <a:xfrm>
            <a:off x="9466783" y="6528816"/>
            <a:ext cx="118872" cy="118872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6" action="ppaction://hlinksldjump" tooltip="13. Duplicate Review Outcom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7" name="Text 42">
            <a:hlinkClick r:id="rId17" tooltip="14. Pending Complaint Visibility" action="ppaction://hlinksldjump"/>
          </p:cNvPr>
          <p:cNvSpPr/>
          <p:nvPr/>
        </p:nvSpPr>
        <p:spPr>
          <a:xfrm>
            <a:off x="9649663" y="6528816"/>
            <a:ext cx="118872" cy="118872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7" action="ppaction://hlinksldjump" tooltip="14. Pending Complaint Visibilit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8" name="Text 43">
            <a:hlinkClick r:id="rId18" tooltip="15. Authority Opens the Complaint" action="ppaction://hlinksldjump"/>
          </p:cNvPr>
          <p:cNvSpPr/>
          <p:nvPr/>
        </p:nvSpPr>
        <p:spPr>
          <a:xfrm>
            <a:off x="9832543" y="6528816"/>
            <a:ext cx="118872" cy="118872"/>
          </a:xfrm>
          <a:prstGeom prst="ellipse">
            <a:avLst/>
          </a:prstGeom>
          <a:solidFill>
            <a:srgbClr val="237A57"/>
          </a:solidFill>
          <a:ln>
            <a:solidFill>
              <a:srgbClr val="237A5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8" action="ppaction://hlinksldjump" tooltip="15. Authority Opens the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9" name="Text 44">
            <a:hlinkClick r:id="rId19" tooltip="16. Assign a Contractor and Start Work" action="ppaction://hlinksldjump"/>
          </p:cNvPr>
          <p:cNvSpPr/>
          <p:nvPr/>
        </p:nvSpPr>
        <p:spPr>
          <a:xfrm>
            <a:off x="10015423" y="6528816"/>
            <a:ext cx="118872" cy="118872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9" action="ppaction://hlinksldjump" tooltip="16. Assign a Contractor and Start Work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0" name="Text 45">
            <a:hlinkClick r:id="rId20" tooltip="17. The Complaint Moves to In Progress" action="ppaction://hlinksldjump"/>
          </p:cNvPr>
          <p:cNvSpPr/>
          <p:nvPr/>
        </p:nvSpPr>
        <p:spPr>
          <a:xfrm>
            <a:off x="10198303" y="6528816"/>
            <a:ext cx="118872" cy="118872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0" action="ppaction://hlinksldjump" tooltip="17. The Complaint Moves to In Progres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1" name="Text 46">
            <a:hlinkClick r:id="rId21" tooltip="18. Residents See the Progress Update" action="ppaction://hlinksldjump"/>
          </p:cNvPr>
          <p:cNvSpPr/>
          <p:nvPr/>
        </p:nvSpPr>
        <p:spPr>
          <a:xfrm>
            <a:off x="10381183" y="6528816"/>
            <a:ext cx="118872" cy="118872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1" action="ppaction://hlinksldjump" tooltip="18. Residents See the Progress Updat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2" name="Text 47">
            <a:hlinkClick r:id="rId22" tooltip="19. Resident Starts a Forum Discussion" action="ppaction://hlinksldjump"/>
          </p:cNvPr>
          <p:cNvSpPr/>
          <p:nvPr/>
        </p:nvSpPr>
        <p:spPr>
          <a:xfrm>
            <a:off x="10564063" y="6528816"/>
            <a:ext cx="118872" cy="118872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2" action="ppaction://hlinksldjump" tooltip="19. Resident Starts a Forum Discuss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3" name="Text 48">
            <a:hlinkClick r:id="rId23" tooltip="20. Everyone Is Notified" action="ppaction://hlinksldjump"/>
          </p:cNvPr>
          <p:cNvSpPr/>
          <p:nvPr/>
        </p:nvSpPr>
        <p:spPr>
          <a:xfrm>
            <a:off x="10746943" y="6528816"/>
            <a:ext cx="118872" cy="118872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3" action="ppaction://hlinksldjump" tooltip="20. Everyone Is Notifi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4" name="Text 49">
            <a:hlinkClick r:id="rId24" tooltip="21. Open the Post and Discuss" action="ppaction://hlinksldjump"/>
          </p:cNvPr>
          <p:cNvSpPr/>
          <p:nvPr/>
        </p:nvSpPr>
        <p:spPr>
          <a:xfrm>
            <a:off x="10929823" y="6528816"/>
            <a:ext cx="118872" cy="118872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4" action="ppaction://hlinksldjump" tooltip="21. Open the Post and Discus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5" name="Text 50">
            <a:hlinkClick r:id="rId25" tooltip="22. Authority Updates the Work" action="ppaction://hlinksldjump"/>
          </p:cNvPr>
          <p:cNvSpPr/>
          <p:nvPr/>
        </p:nvSpPr>
        <p:spPr>
          <a:xfrm>
            <a:off x="11112703" y="6528816"/>
            <a:ext cx="118872" cy="118872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5" action="ppaction://hlinksldjump" tooltip="22. Authority Updates the Work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6" name="Text 51">
            <a:hlinkClick r:id="rId26" tooltip="23. Authority Resolves the Complaint" action="ppaction://hlinksldjump"/>
          </p:cNvPr>
          <p:cNvSpPr/>
          <p:nvPr/>
        </p:nvSpPr>
        <p:spPr>
          <a:xfrm>
            <a:off x="11295583" y="6528816"/>
            <a:ext cx="118872" cy="118872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6" action="ppaction://hlinksldjump" tooltip="23. Authority Resolves the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7" name="Text 52">
            <a:hlinkClick r:id="rId27" tooltip="24. Residents Give Feedback" action="ppaction://hlinksldjump"/>
          </p:cNvPr>
          <p:cNvSpPr/>
          <p:nvPr/>
        </p:nvSpPr>
        <p:spPr>
          <a:xfrm>
            <a:off x="11478463" y="6528816"/>
            <a:ext cx="118872" cy="118872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7" action="ppaction://hlinksldjump" tooltip="24. Residents Give Feedback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8" name="Text 53">
            <a:hlinkClick r:id="rId28" tooltip="25. Feedback Is Public and Answered" action="ppaction://hlinksldjump"/>
          </p:cNvPr>
          <p:cNvSpPr/>
          <p:nvPr/>
        </p:nvSpPr>
        <p:spPr>
          <a:xfrm>
            <a:off x="11661343" y="6528816"/>
            <a:ext cx="118872" cy="118872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8" action="ppaction://hlinksldjump" tooltip="25. Feedback Is Public and Answer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9" name="Text 54"/>
          <p:cNvSpPr/>
          <p:nvPr/>
        </p:nvSpPr>
        <p:spPr>
          <a:xfrm>
            <a:off x="6449263" y="6510528"/>
            <a:ext cx="7132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25</a:t>
            </a:r>
            <a:endParaRPr lang="en-US" sz="11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2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2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2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2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2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2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2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2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2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A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237A57"/>
          </a:solidFill>
          <a:ln/>
        </p:spPr>
      </p:sp>
      <p:sp>
        <p:nvSpPr>
          <p:cNvPr id="3" name="Shape 1"/>
          <p:cNvSpPr/>
          <p:nvPr/>
        </p:nvSpPr>
        <p:spPr>
          <a:xfrm>
            <a:off x="411480" y="329184"/>
            <a:ext cx="621792" cy="621792"/>
          </a:xfrm>
          <a:prstGeom prst="roundRect">
            <a:avLst>
              <a:gd name="adj" fmla="val 23529"/>
            </a:avLst>
          </a:prstGeom>
          <a:solidFill>
            <a:srgbClr val="237A57"/>
          </a:solidFill>
          <a:ln w="12700">
            <a:solidFill>
              <a:srgbClr val="237A57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411480" y="329184"/>
            <a:ext cx="62179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1188720" y="329184"/>
            <a:ext cx="768096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237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  ·  AUTHORITY STARTS THE WORK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52144" y="548640"/>
            <a:ext cx="8321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 a Contractor and Start Work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10580522" y="475488"/>
            <a:ext cx="1199693" cy="420624"/>
          </a:xfrm>
          <a:prstGeom prst="roundRect">
            <a:avLst>
              <a:gd name="adj" fmla="val 50000"/>
            </a:avLst>
          </a:prstGeom>
          <a:solidFill>
            <a:srgbClr val="237A57"/>
          </a:solidFill>
          <a:ln w="12700">
            <a:solidFill>
              <a:srgbClr val="237A57"/>
            </a:solidFill>
            <a:prstDash val="solid"/>
          </a:ln>
          <a:effectLst>
            <a:outerShdw sx="100000" sy="100000" kx="0" ky="0" algn="bl" rotWithShape="0" blurRad="76200" dist="12700" dir="5400000">
              <a:srgbClr val="0B2239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0580522" y="475488"/>
            <a:ext cx="1199693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Authority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11480" y="1216152"/>
            <a:ext cx="11368735" cy="18288"/>
          </a:xfrm>
          <a:prstGeom prst="rect">
            <a:avLst/>
          </a:prstGeom>
          <a:solidFill>
            <a:srgbClr val="C6E5D6"/>
          </a:solidFill>
          <a:ln/>
        </p:spPr>
      </p:sp>
      <p:sp>
        <p:nvSpPr>
          <p:cNvPr id="10" name="Shape 8"/>
          <p:cNvSpPr/>
          <p:nvPr/>
        </p:nvSpPr>
        <p:spPr>
          <a:xfrm>
            <a:off x="1207370" y="1385316"/>
            <a:ext cx="2045399" cy="3895344"/>
          </a:xfrm>
          <a:prstGeom prst="roundRect">
            <a:avLst>
              <a:gd name="adj" fmla="val 3576"/>
            </a:avLst>
          </a:prstGeom>
          <a:solidFill>
            <a:srgbClr val="FFFFFF"/>
          </a:solidFill>
          <a:ln w="12700">
            <a:solidFill>
              <a:srgbClr val="C6E5D6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11" name="Image 0" descr="C:/NogorShomadhan/User Manual/Phase 4/Final/4-allthereporters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57662" y="1435608"/>
            <a:ext cx="1944815" cy="3794760"/>
          </a:xfrm>
          <a:prstGeom prst="rect">
            <a:avLst/>
          </a:prstGeom>
        </p:spPr>
      </p:pic>
      <p:sp>
        <p:nvSpPr>
          <p:cNvPr id="12" name="p16_ca"/>
          <p:cNvSpPr/>
          <p:nvPr/>
        </p:nvSpPr>
        <p:spPr>
          <a:xfrm>
            <a:off x="484632" y="5431536"/>
            <a:ext cx="3490874" cy="8961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the primary reporter and the other residents who reported the same issue.</a:t>
            </a:r>
            <a:endParaRPr lang="en-US" sz="1800" dirty="0"/>
          </a:p>
        </p:txBody>
      </p:sp>
      <p:sp>
        <p:nvSpPr>
          <p:cNvPr id="13" name="p16_ta"/>
          <p:cNvSpPr/>
          <p:nvPr/>
        </p:nvSpPr>
        <p:spPr>
          <a:xfrm>
            <a:off x="1101191" y="1404518"/>
            <a:ext cx="585216" cy="365760"/>
          </a:xfrm>
          <a:prstGeom prst="roundRect">
            <a:avLst>
              <a:gd name="adj" fmla="val 37500"/>
            </a:avLst>
          </a:prstGeom>
          <a:solidFill>
            <a:srgbClr val="237A57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14" name="p16_ta_t"/>
          <p:cNvSpPr/>
          <p:nvPr/>
        </p:nvSpPr>
        <p:spPr>
          <a:xfrm>
            <a:off x="1101191" y="1404518"/>
            <a:ext cx="585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4053230" y="3159252"/>
            <a:ext cx="219456" cy="347472"/>
          </a:xfrm>
          <a:prstGeom prst="chevron">
            <a:avLst/>
          </a:prstGeom>
          <a:solidFill>
            <a:srgbClr val="237A57"/>
          </a:solidFill>
          <a:ln w="12700">
            <a:solidFill>
              <a:srgbClr val="237A57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5073148" y="1385316"/>
            <a:ext cx="2045399" cy="3895344"/>
          </a:xfrm>
          <a:prstGeom prst="roundRect">
            <a:avLst>
              <a:gd name="adj" fmla="val 3576"/>
            </a:avLst>
          </a:prstGeom>
          <a:solidFill>
            <a:srgbClr val="FFFFFF"/>
          </a:solidFill>
          <a:ln w="12700">
            <a:solidFill>
              <a:srgbClr val="C6E5D6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17" name="Image 1" descr="C:/NogorShomadhan/User Manual/Phase 4/Final/5-assign-and-other-details.jpe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3440" y="1435608"/>
            <a:ext cx="1944815" cy="3794760"/>
          </a:xfrm>
          <a:prstGeom prst="rect">
            <a:avLst/>
          </a:prstGeom>
        </p:spPr>
      </p:pic>
      <p:sp>
        <p:nvSpPr>
          <p:cNvPr id="18" name="p16_cb"/>
          <p:cNvSpPr/>
          <p:nvPr/>
        </p:nvSpPr>
        <p:spPr>
          <a:xfrm>
            <a:off x="4350410" y="5431536"/>
            <a:ext cx="3490874" cy="8961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 the contractor, phone, deadline, budget, and an initial work note.</a:t>
            </a:r>
            <a:endParaRPr lang="en-US" sz="1800" dirty="0"/>
          </a:p>
        </p:txBody>
      </p:sp>
      <p:sp>
        <p:nvSpPr>
          <p:cNvPr id="19" name="p16_tb"/>
          <p:cNvSpPr/>
          <p:nvPr/>
        </p:nvSpPr>
        <p:spPr>
          <a:xfrm>
            <a:off x="4966969" y="1404518"/>
            <a:ext cx="585216" cy="365760"/>
          </a:xfrm>
          <a:prstGeom prst="roundRect">
            <a:avLst>
              <a:gd name="adj" fmla="val 37500"/>
            </a:avLst>
          </a:prstGeom>
          <a:solidFill>
            <a:srgbClr val="237A57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20" name="p16_tb_t"/>
          <p:cNvSpPr/>
          <p:nvPr/>
        </p:nvSpPr>
        <p:spPr>
          <a:xfrm>
            <a:off x="4966969" y="1404518"/>
            <a:ext cx="585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7919009" y="3159252"/>
            <a:ext cx="219456" cy="347472"/>
          </a:xfrm>
          <a:prstGeom prst="chevron">
            <a:avLst/>
          </a:prstGeom>
          <a:solidFill>
            <a:srgbClr val="237A57"/>
          </a:solidFill>
          <a:ln w="12700">
            <a:solidFill>
              <a:srgbClr val="237A57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8938927" y="1385316"/>
            <a:ext cx="2045399" cy="3895344"/>
          </a:xfrm>
          <a:prstGeom prst="roundRect">
            <a:avLst>
              <a:gd name="adj" fmla="val 3576"/>
            </a:avLst>
          </a:prstGeom>
          <a:solidFill>
            <a:srgbClr val="FFFFFF"/>
          </a:solidFill>
          <a:ln w="12700">
            <a:solidFill>
              <a:srgbClr val="C6E5D6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23" name="Image 2" descr="C:/NogorShomadhan/User Manual/Phase 4/Final/6-confirm.jpe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89219" y="1435608"/>
            <a:ext cx="1944815" cy="3794760"/>
          </a:xfrm>
          <a:prstGeom prst="rect">
            <a:avLst/>
          </a:prstGeom>
        </p:spPr>
      </p:pic>
      <p:sp>
        <p:nvSpPr>
          <p:cNvPr id="24" name="p16_cc"/>
          <p:cNvSpPr/>
          <p:nvPr/>
        </p:nvSpPr>
        <p:spPr>
          <a:xfrm>
            <a:off x="8216189" y="5431536"/>
            <a:ext cx="3490874" cy="8961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the prompt to start work on this complaint.</a:t>
            </a:r>
            <a:endParaRPr lang="en-US" sz="1800" dirty="0"/>
          </a:p>
        </p:txBody>
      </p:sp>
      <p:sp>
        <p:nvSpPr>
          <p:cNvPr id="25" name="p16_tc"/>
          <p:cNvSpPr/>
          <p:nvPr/>
        </p:nvSpPr>
        <p:spPr>
          <a:xfrm>
            <a:off x="8832748" y="1404518"/>
            <a:ext cx="585216" cy="365760"/>
          </a:xfrm>
          <a:prstGeom prst="roundRect">
            <a:avLst>
              <a:gd name="adj" fmla="val 37500"/>
            </a:avLst>
          </a:prstGeom>
          <a:solidFill>
            <a:srgbClr val="237A57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26" name="p16_tc_t"/>
          <p:cNvSpPr/>
          <p:nvPr/>
        </p:nvSpPr>
        <p:spPr>
          <a:xfrm>
            <a:off x="8832748" y="1404518"/>
            <a:ext cx="585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27" name="Shape 22"/>
          <p:cNvSpPr/>
          <p:nvPr/>
        </p:nvSpPr>
        <p:spPr>
          <a:xfrm>
            <a:off x="1646625" y="1976361"/>
            <a:ext cx="326729" cy="62614"/>
          </a:xfrm>
          <a:prstGeom prst="roundRect">
            <a:avLst>
              <a:gd name="adj" fmla="val 73019"/>
            </a:avLst>
          </a:prstGeom>
          <a:solidFill>
            <a:srgbClr val="A9B4C2"/>
          </a:solidFill>
          <a:ln w="12700">
            <a:solidFill>
              <a:srgbClr val="A9B4C2"/>
            </a:solidFill>
            <a:prstDash val="solid"/>
          </a:ln>
        </p:spPr>
      </p:sp>
      <p:sp>
        <p:nvSpPr>
          <p:cNvPr id="28" name="Shape 23"/>
          <p:cNvSpPr/>
          <p:nvPr/>
        </p:nvSpPr>
        <p:spPr>
          <a:xfrm>
            <a:off x="5469617" y="3517034"/>
            <a:ext cx="307281" cy="81587"/>
          </a:xfrm>
          <a:prstGeom prst="roundRect">
            <a:avLst>
              <a:gd name="adj" fmla="val 56038"/>
            </a:avLst>
          </a:prstGeom>
          <a:solidFill>
            <a:srgbClr val="A9B4C2"/>
          </a:solidFill>
          <a:ln w="12700">
            <a:solidFill>
              <a:srgbClr val="A9B4C2"/>
            </a:solidFill>
            <a:prstDash val="solid"/>
          </a:ln>
        </p:spPr>
      </p:sp>
      <p:sp>
        <p:nvSpPr>
          <p:cNvPr id="29" name="h16_a1"/>
          <p:cNvSpPr/>
          <p:nvPr/>
        </p:nvSpPr>
        <p:spPr>
          <a:xfrm>
            <a:off x="1323786" y="1758163"/>
            <a:ext cx="1808677" cy="447782"/>
          </a:xfrm>
          <a:prstGeom prst="roundRect">
            <a:avLst>
              <a:gd name="adj" fmla="val 12252"/>
            </a:avLst>
          </a:prstGeom>
          <a:ln w="28575">
            <a:solidFill>
              <a:srgbClr val="237A57"/>
            </a:solidFill>
            <a:prstDash val="solid"/>
          </a:ln>
        </p:spPr>
      </p:sp>
      <p:sp>
        <p:nvSpPr>
          <p:cNvPr id="30" name="h16_a2"/>
          <p:cNvSpPr/>
          <p:nvPr/>
        </p:nvSpPr>
        <p:spPr>
          <a:xfrm>
            <a:off x="1323786" y="2179381"/>
            <a:ext cx="1808677" cy="576804"/>
          </a:xfrm>
          <a:prstGeom prst="roundRect">
            <a:avLst>
              <a:gd name="adj" fmla="val 9512"/>
            </a:avLst>
          </a:prstGeom>
          <a:ln w="28575">
            <a:solidFill>
              <a:srgbClr val="B4480A"/>
            </a:solidFill>
            <a:prstDash val="solid"/>
          </a:ln>
        </p:spPr>
      </p:sp>
      <p:sp>
        <p:nvSpPr>
          <p:cNvPr id="31" name="h16_b1"/>
          <p:cNvSpPr/>
          <p:nvPr/>
        </p:nvSpPr>
        <p:spPr>
          <a:xfrm>
            <a:off x="5259577" y="3105302"/>
            <a:ext cx="1672540" cy="1753179"/>
          </a:xfrm>
          <a:prstGeom prst="roundRect">
            <a:avLst>
              <a:gd name="adj" fmla="val 3280"/>
            </a:avLst>
          </a:prstGeom>
          <a:ln w="28575">
            <a:solidFill>
              <a:srgbClr val="237A57"/>
            </a:solidFill>
            <a:prstDash val="solid"/>
          </a:ln>
        </p:spPr>
      </p:sp>
      <p:sp>
        <p:nvSpPr>
          <p:cNvPr id="32" name="h16_b2"/>
          <p:cNvSpPr/>
          <p:nvPr/>
        </p:nvSpPr>
        <p:spPr>
          <a:xfrm>
            <a:off x="5259577" y="4987503"/>
            <a:ext cx="1672540" cy="212507"/>
          </a:xfrm>
          <a:prstGeom prst="roundRect">
            <a:avLst>
              <a:gd name="adj" fmla="val 25818"/>
            </a:avLst>
          </a:prstGeom>
          <a:ln w="28575">
            <a:solidFill>
              <a:srgbClr val="237A57"/>
            </a:solidFill>
            <a:prstDash val="solid"/>
          </a:ln>
        </p:spPr>
      </p:sp>
      <p:sp>
        <p:nvSpPr>
          <p:cNvPr id="33" name="h16_c1"/>
          <p:cNvSpPr/>
          <p:nvPr/>
        </p:nvSpPr>
        <p:spPr>
          <a:xfrm>
            <a:off x="9187590" y="2687879"/>
            <a:ext cx="1551962" cy="1176376"/>
          </a:xfrm>
          <a:prstGeom prst="roundRect">
            <a:avLst>
              <a:gd name="adj" fmla="val 4664"/>
            </a:avLst>
          </a:prstGeom>
          <a:ln w="28575">
            <a:solidFill>
              <a:srgbClr val="237A57"/>
            </a:solidFill>
            <a:prstDash val="solid"/>
          </a:ln>
        </p:spPr>
      </p:sp>
      <p:sp>
        <p:nvSpPr>
          <p:cNvPr id="34" name="h16_c2"/>
          <p:cNvSpPr/>
          <p:nvPr/>
        </p:nvSpPr>
        <p:spPr>
          <a:xfrm>
            <a:off x="9984964" y="3537905"/>
            <a:ext cx="645678" cy="204917"/>
          </a:xfrm>
          <a:prstGeom prst="roundRect">
            <a:avLst>
              <a:gd name="adj" fmla="val 26774"/>
            </a:avLst>
          </a:prstGeom>
          <a:ln w="28575">
            <a:solidFill>
              <a:srgbClr val="237A57"/>
            </a:solidFill>
            <a:prstDash val="solid"/>
          </a:ln>
        </p:spPr>
      </p:sp>
      <p:sp>
        <p:nvSpPr>
          <p:cNvPr id="35" name="Text 30"/>
          <p:cNvSpPr/>
          <p:nvPr/>
        </p:nvSpPr>
        <p:spPr>
          <a:xfrm>
            <a:off x="411480" y="6510528"/>
            <a:ext cx="4114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Nogor Shomadhan  ·  User Manual</a:t>
            </a:r>
            <a:endParaRPr lang="en-US" sz="1100" dirty="0"/>
          </a:p>
        </p:txBody>
      </p:sp>
      <p:sp>
        <p:nvSpPr>
          <p:cNvPr id="36" name="Text 31">
            <a:hlinkClick r:id="rId4" tooltip="1. Problem Statement" action="ppaction://hlinksldjump"/>
          </p:cNvPr>
          <p:cNvSpPr/>
          <p:nvPr/>
        </p:nvSpPr>
        <p:spPr>
          <a:xfrm>
            <a:off x="7272223" y="6528816"/>
            <a:ext cx="118872" cy="118872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action="ppaction://hlinksldjump" tooltip="1. Problem Stateme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37" name="Text 32">
            <a:hlinkClick r:id="rId5" tooltip="2. Stakeholders and Responsibilities" action="ppaction://hlinksldjump"/>
          </p:cNvPr>
          <p:cNvSpPr/>
          <p:nvPr/>
        </p:nvSpPr>
        <p:spPr>
          <a:xfrm>
            <a:off x="7455103" y="6528816"/>
            <a:ext cx="118872" cy="118872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action="ppaction://hlinksldjump" tooltip="2. Stakeholders and Responsibiliti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38" name="Text 33">
            <a:hlinkClick r:id="rId6" tooltip="3. Resident Account Registration" action="ppaction://hlinksldjump"/>
          </p:cNvPr>
          <p:cNvSpPr/>
          <p:nvPr/>
        </p:nvSpPr>
        <p:spPr>
          <a:xfrm>
            <a:off x="7637983" y="6528816"/>
            <a:ext cx="118872" cy="118872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 action="ppaction://hlinksldjump" tooltip="3. Resident Account Registra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39" name="Text 34">
            <a:hlinkClick r:id="rId7" tooltip="4. Registration Request Submitted" action="ppaction://hlinksldjump"/>
          </p:cNvPr>
          <p:cNvSpPr/>
          <p:nvPr/>
        </p:nvSpPr>
        <p:spPr>
          <a:xfrm>
            <a:off x="7820863" y="6528816"/>
            <a:ext cx="118872" cy="118872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 action="ppaction://hlinksldjump" tooltip="4. Registration Request Submit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0" name="Text 35">
            <a:hlinkClick r:id="rId8" tooltip="5. Admin Receives the Verification Request" action="ppaction://hlinksldjump"/>
          </p:cNvPr>
          <p:cNvSpPr/>
          <p:nvPr/>
        </p:nvSpPr>
        <p:spPr>
          <a:xfrm>
            <a:off x="8003743" y="6528816"/>
            <a:ext cx="118872" cy="118872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" action="ppaction://hlinksldjump" tooltip="5. Admin Receives the Verification Reques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1" name="Text 36">
            <a:hlinkClick r:id="rId9" tooltip="6. Admin Reviews and Approves the Account" action="ppaction://hlinksldjump"/>
          </p:cNvPr>
          <p:cNvSpPr/>
          <p:nvPr/>
        </p:nvSpPr>
        <p:spPr>
          <a:xfrm>
            <a:off x="8186623" y="6528816"/>
            <a:ext cx="118872" cy="118872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" action="ppaction://hlinksldjump" tooltip="6. Admin Reviews and Approves the Accou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2" name="Text 37">
            <a:hlinkClick r:id="rId10" tooltip="7. Account Verification Completed" action="ppaction://hlinksldjump"/>
          </p:cNvPr>
          <p:cNvSpPr/>
          <p:nvPr/>
        </p:nvSpPr>
        <p:spPr>
          <a:xfrm>
            <a:off x="8369503" y="6528816"/>
            <a:ext cx="118872" cy="118872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0" action="ppaction://hlinksldjump" tooltip="7. Account Verification Comple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3" name="Text 38">
            <a:hlinkClick r:id="rId11" tooltip="8. Create a New Complaint" action="ppaction://hlinksldjump"/>
          </p:cNvPr>
          <p:cNvSpPr/>
          <p:nvPr/>
        </p:nvSpPr>
        <p:spPr>
          <a:xfrm>
            <a:off x="8552383" y="6528816"/>
            <a:ext cx="118872" cy="118872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1" action="ppaction://hlinksldjump" tooltip="8. Create a New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4" name="Text 39">
            <a:hlinkClick r:id="rId12" tooltip="9. Add Evidence and Review the Category" action="ppaction://hlinksldjump"/>
          </p:cNvPr>
          <p:cNvSpPr/>
          <p:nvPr/>
        </p:nvSpPr>
        <p:spPr>
          <a:xfrm>
            <a:off x="8735263" y="6528816"/>
            <a:ext cx="118872" cy="118872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2" action="ppaction://hlinksldjump" tooltip="9. Add Evidence and Review the Categor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5" name="Text 40">
            <a:hlinkClick r:id="rId13" tooltip="10. Confirm the Complaint Submission" action="ppaction://hlinksldjump"/>
          </p:cNvPr>
          <p:cNvSpPr/>
          <p:nvPr/>
        </p:nvSpPr>
        <p:spPr>
          <a:xfrm>
            <a:off x="8918143" y="6528816"/>
            <a:ext cx="118872" cy="118872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3" action="ppaction://hlinksldjump" tooltip="10. Confirm the Complaint Submiss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6" name="Text 41">
            <a:hlinkClick r:id="rId14" tooltip="11. Admin Opens the Review Queue" action="ppaction://hlinksldjump"/>
          </p:cNvPr>
          <p:cNvSpPr/>
          <p:nvPr/>
        </p:nvSpPr>
        <p:spPr>
          <a:xfrm>
            <a:off x="9101023" y="6528816"/>
            <a:ext cx="118872" cy="118872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4" action="ppaction://hlinksldjump" tooltip="11. Admin Opens the Review Queu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7" name="Text 42">
            <a:hlinkClick r:id="rId15" tooltip="12. Complaint Check and Duplicate Comparison" action="ppaction://hlinksldjump"/>
          </p:cNvPr>
          <p:cNvSpPr/>
          <p:nvPr/>
        </p:nvSpPr>
        <p:spPr>
          <a:xfrm>
            <a:off x="9283903" y="6528816"/>
            <a:ext cx="118872" cy="118872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5" action="ppaction://hlinksldjump" tooltip="12. Complaint Check and Duplicate Compari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8" name="Text 43">
            <a:hlinkClick r:id="rId16" tooltip="13. Duplicate Review Outcomes" action="ppaction://hlinksldjump"/>
          </p:cNvPr>
          <p:cNvSpPr/>
          <p:nvPr/>
        </p:nvSpPr>
        <p:spPr>
          <a:xfrm>
            <a:off x="9466783" y="6528816"/>
            <a:ext cx="118872" cy="118872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6" action="ppaction://hlinksldjump" tooltip="13. Duplicate Review Outcom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9" name="Text 44">
            <a:hlinkClick r:id="rId17" tooltip="14. Pending Complaint Visibility" action="ppaction://hlinksldjump"/>
          </p:cNvPr>
          <p:cNvSpPr/>
          <p:nvPr/>
        </p:nvSpPr>
        <p:spPr>
          <a:xfrm>
            <a:off x="9649663" y="6528816"/>
            <a:ext cx="118872" cy="118872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7" action="ppaction://hlinksldjump" tooltip="14. Pending Complaint Visibilit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0" name="Text 45">
            <a:hlinkClick r:id="rId18" tooltip="15. Authority Opens the Complaint" action="ppaction://hlinksldjump"/>
          </p:cNvPr>
          <p:cNvSpPr/>
          <p:nvPr/>
        </p:nvSpPr>
        <p:spPr>
          <a:xfrm>
            <a:off x="9832543" y="6528816"/>
            <a:ext cx="118872" cy="118872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8" action="ppaction://hlinksldjump" tooltip="15. Authority Opens the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1" name="Text 46">
            <a:hlinkClick r:id="rId19" tooltip="16. Assign a Contractor and Start Work" action="ppaction://hlinksldjump"/>
          </p:cNvPr>
          <p:cNvSpPr/>
          <p:nvPr/>
        </p:nvSpPr>
        <p:spPr>
          <a:xfrm>
            <a:off x="10015423" y="6528816"/>
            <a:ext cx="118872" cy="118872"/>
          </a:xfrm>
          <a:prstGeom prst="ellipse">
            <a:avLst/>
          </a:prstGeom>
          <a:solidFill>
            <a:srgbClr val="237A57"/>
          </a:solidFill>
          <a:ln>
            <a:solidFill>
              <a:srgbClr val="237A5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9" action="ppaction://hlinksldjump" tooltip="16. Assign a Contractor and Start Work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2" name="Text 47">
            <a:hlinkClick r:id="rId20" tooltip="17. The Complaint Moves to In Progress" action="ppaction://hlinksldjump"/>
          </p:cNvPr>
          <p:cNvSpPr/>
          <p:nvPr/>
        </p:nvSpPr>
        <p:spPr>
          <a:xfrm>
            <a:off x="10198303" y="6528816"/>
            <a:ext cx="118872" cy="118872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0" action="ppaction://hlinksldjump" tooltip="17. The Complaint Moves to In Progres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3" name="Text 48">
            <a:hlinkClick r:id="rId21" tooltip="18. Residents See the Progress Update" action="ppaction://hlinksldjump"/>
          </p:cNvPr>
          <p:cNvSpPr/>
          <p:nvPr/>
        </p:nvSpPr>
        <p:spPr>
          <a:xfrm>
            <a:off x="10381183" y="6528816"/>
            <a:ext cx="118872" cy="118872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1" action="ppaction://hlinksldjump" tooltip="18. Residents See the Progress Updat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4" name="Text 49">
            <a:hlinkClick r:id="rId22" tooltip="19. Resident Starts a Forum Discussion" action="ppaction://hlinksldjump"/>
          </p:cNvPr>
          <p:cNvSpPr/>
          <p:nvPr/>
        </p:nvSpPr>
        <p:spPr>
          <a:xfrm>
            <a:off x="10564063" y="6528816"/>
            <a:ext cx="118872" cy="118872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2" action="ppaction://hlinksldjump" tooltip="19. Resident Starts a Forum Discuss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5" name="Text 50">
            <a:hlinkClick r:id="rId23" tooltip="20. Everyone Is Notified" action="ppaction://hlinksldjump"/>
          </p:cNvPr>
          <p:cNvSpPr/>
          <p:nvPr/>
        </p:nvSpPr>
        <p:spPr>
          <a:xfrm>
            <a:off x="10746943" y="6528816"/>
            <a:ext cx="118872" cy="118872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3" action="ppaction://hlinksldjump" tooltip="20. Everyone Is Notifi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6" name="Text 51">
            <a:hlinkClick r:id="rId24" tooltip="21. Open the Post and Discuss" action="ppaction://hlinksldjump"/>
          </p:cNvPr>
          <p:cNvSpPr/>
          <p:nvPr/>
        </p:nvSpPr>
        <p:spPr>
          <a:xfrm>
            <a:off x="10929823" y="6528816"/>
            <a:ext cx="118872" cy="118872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4" action="ppaction://hlinksldjump" tooltip="21. Open the Post and Discus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7" name="Text 52">
            <a:hlinkClick r:id="rId25" tooltip="22. Authority Updates the Work" action="ppaction://hlinksldjump"/>
          </p:cNvPr>
          <p:cNvSpPr/>
          <p:nvPr/>
        </p:nvSpPr>
        <p:spPr>
          <a:xfrm>
            <a:off x="11112703" y="6528816"/>
            <a:ext cx="118872" cy="118872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5" action="ppaction://hlinksldjump" tooltip="22. Authority Updates the Work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8" name="Text 53">
            <a:hlinkClick r:id="rId26" tooltip="23. Authority Resolves the Complaint" action="ppaction://hlinksldjump"/>
          </p:cNvPr>
          <p:cNvSpPr/>
          <p:nvPr/>
        </p:nvSpPr>
        <p:spPr>
          <a:xfrm>
            <a:off x="11295583" y="6528816"/>
            <a:ext cx="118872" cy="118872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6" action="ppaction://hlinksldjump" tooltip="23. Authority Resolves the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9" name="Text 54">
            <a:hlinkClick r:id="rId27" tooltip="24. Residents Give Feedback" action="ppaction://hlinksldjump"/>
          </p:cNvPr>
          <p:cNvSpPr/>
          <p:nvPr/>
        </p:nvSpPr>
        <p:spPr>
          <a:xfrm>
            <a:off x="11478463" y="6528816"/>
            <a:ext cx="118872" cy="118872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7" action="ppaction://hlinksldjump" tooltip="24. Residents Give Feedback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0" name="Text 55">
            <a:hlinkClick r:id="rId28" tooltip="25. Feedback Is Public and Answered" action="ppaction://hlinksldjump"/>
          </p:cNvPr>
          <p:cNvSpPr/>
          <p:nvPr/>
        </p:nvSpPr>
        <p:spPr>
          <a:xfrm>
            <a:off x="11661343" y="6528816"/>
            <a:ext cx="118872" cy="118872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8" action="ppaction://hlinksldjump" tooltip="25. Feedback Is Public and Answer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1" name="Text 56"/>
          <p:cNvSpPr/>
          <p:nvPr/>
        </p:nvSpPr>
        <p:spPr>
          <a:xfrm>
            <a:off x="6449263" y="6510528"/>
            <a:ext cx="7132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25</a:t>
            </a:r>
            <a:endParaRPr lang="en-US" sz="11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2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2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2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2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2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2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2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2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2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A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237A57"/>
          </a:solidFill>
          <a:ln/>
        </p:spPr>
      </p:sp>
      <p:sp>
        <p:nvSpPr>
          <p:cNvPr id="3" name="Shape 1"/>
          <p:cNvSpPr/>
          <p:nvPr/>
        </p:nvSpPr>
        <p:spPr>
          <a:xfrm>
            <a:off x="411480" y="329184"/>
            <a:ext cx="621792" cy="621792"/>
          </a:xfrm>
          <a:prstGeom prst="roundRect">
            <a:avLst>
              <a:gd name="adj" fmla="val 23529"/>
            </a:avLst>
          </a:prstGeom>
          <a:solidFill>
            <a:srgbClr val="237A57"/>
          </a:solidFill>
          <a:ln w="12700">
            <a:solidFill>
              <a:srgbClr val="237A57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411480" y="329184"/>
            <a:ext cx="62179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1188720" y="329184"/>
            <a:ext cx="768096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237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  ·  AUTHORITY STARTS THE WORK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52144" y="548640"/>
            <a:ext cx="8321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Complaint Moves to In Progress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10580522" y="475488"/>
            <a:ext cx="1199693" cy="420624"/>
          </a:xfrm>
          <a:prstGeom prst="roundRect">
            <a:avLst>
              <a:gd name="adj" fmla="val 50000"/>
            </a:avLst>
          </a:prstGeom>
          <a:solidFill>
            <a:srgbClr val="237A57"/>
          </a:solidFill>
          <a:ln w="12700">
            <a:solidFill>
              <a:srgbClr val="237A57"/>
            </a:solidFill>
            <a:prstDash val="solid"/>
          </a:ln>
          <a:effectLst>
            <a:outerShdw sx="100000" sy="100000" kx="0" ky="0" algn="bl" rotWithShape="0" blurRad="76200" dist="12700" dir="5400000">
              <a:srgbClr val="0B2239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0580522" y="475488"/>
            <a:ext cx="1199693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Authority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11480" y="1216152"/>
            <a:ext cx="11368735" cy="18288"/>
          </a:xfrm>
          <a:prstGeom prst="rect">
            <a:avLst/>
          </a:prstGeom>
          <a:solidFill>
            <a:srgbClr val="C6E5D6"/>
          </a:solidFill>
          <a:ln/>
        </p:spPr>
      </p:sp>
      <p:sp>
        <p:nvSpPr>
          <p:cNvPr id="10" name="Shape 8"/>
          <p:cNvSpPr/>
          <p:nvPr/>
        </p:nvSpPr>
        <p:spPr>
          <a:xfrm>
            <a:off x="1207370" y="1385316"/>
            <a:ext cx="2045399" cy="3895344"/>
          </a:xfrm>
          <a:prstGeom prst="roundRect">
            <a:avLst>
              <a:gd name="adj" fmla="val 3576"/>
            </a:avLst>
          </a:prstGeom>
          <a:solidFill>
            <a:srgbClr val="FFFFFF"/>
          </a:solidFill>
          <a:ln w="12700">
            <a:solidFill>
              <a:srgbClr val="C6E5D6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11" name="Image 0" descr="C:/NogorShomadhan/User Manual/Phase 4/Final/7-pendingtoinprogress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57662" y="1435608"/>
            <a:ext cx="1944815" cy="3794760"/>
          </a:xfrm>
          <a:prstGeom prst="rect">
            <a:avLst/>
          </a:prstGeom>
        </p:spPr>
      </p:pic>
      <p:sp>
        <p:nvSpPr>
          <p:cNvPr id="12" name="p17_ca"/>
          <p:cNvSpPr/>
          <p:nvPr/>
        </p:nvSpPr>
        <p:spPr>
          <a:xfrm>
            <a:off x="484632" y="5431536"/>
            <a:ext cx="3490874" cy="8961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status changes from Pending to In Progress and approval is recorded.</a:t>
            </a:r>
            <a:endParaRPr lang="en-US" sz="1800" dirty="0"/>
          </a:p>
        </p:txBody>
      </p:sp>
      <p:sp>
        <p:nvSpPr>
          <p:cNvPr id="13" name="p17_ta"/>
          <p:cNvSpPr/>
          <p:nvPr/>
        </p:nvSpPr>
        <p:spPr>
          <a:xfrm>
            <a:off x="1101191" y="1404518"/>
            <a:ext cx="585216" cy="365760"/>
          </a:xfrm>
          <a:prstGeom prst="roundRect">
            <a:avLst>
              <a:gd name="adj" fmla="val 37500"/>
            </a:avLst>
          </a:prstGeom>
          <a:solidFill>
            <a:srgbClr val="237A57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14" name="p17_ta_t"/>
          <p:cNvSpPr/>
          <p:nvPr/>
        </p:nvSpPr>
        <p:spPr>
          <a:xfrm>
            <a:off x="1101191" y="1404518"/>
            <a:ext cx="585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4053230" y="3159252"/>
            <a:ext cx="219456" cy="347472"/>
          </a:xfrm>
          <a:prstGeom prst="chevron">
            <a:avLst/>
          </a:prstGeom>
          <a:solidFill>
            <a:srgbClr val="237A57"/>
          </a:solidFill>
          <a:ln w="12700">
            <a:solidFill>
              <a:srgbClr val="237A57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5073148" y="1385316"/>
            <a:ext cx="2045399" cy="3895344"/>
          </a:xfrm>
          <a:prstGeom prst="roundRect">
            <a:avLst>
              <a:gd name="adj" fmla="val 3576"/>
            </a:avLst>
          </a:prstGeom>
          <a:solidFill>
            <a:srgbClr val="FFFFFF"/>
          </a:solidFill>
          <a:ln w="12700">
            <a:solidFill>
              <a:srgbClr val="C6E5D6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17" name="Image 1" descr="C:/NogorShomadhan/User Manual/Phase 4/Final/8-inprogressdetails.jpe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3440" y="1435608"/>
            <a:ext cx="1944815" cy="3794760"/>
          </a:xfrm>
          <a:prstGeom prst="rect">
            <a:avLst/>
          </a:prstGeom>
        </p:spPr>
      </p:pic>
      <p:sp>
        <p:nvSpPr>
          <p:cNvPr id="18" name="p17_cb"/>
          <p:cNvSpPr/>
          <p:nvPr/>
        </p:nvSpPr>
        <p:spPr>
          <a:xfrm>
            <a:off x="4350410" y="5431536"/>
            <a:ext cx="3490874" cy="8961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history records the assignment, the first note, and the budget.</a:t>
            </a:r>
            <a:endParaRPr lang="en-US" sz="1800" dirty="0"/>
          </a:p>
        </p:txBody>
      </p:sp>
      <p:sp>
        <p:nvSpPr>
          <p:cNvPr id="19" name="p17_tb"/>
          <p:cNvSpPr/>
          <p:nvPr/>
        </p:nvSpPr>
        <p:spPr>
          <a:xfrm>
            <a:off x="4966969" y="1404518"/>
            <a:ext cx="585216" cy="365760"/>
          </a:xfrm>
          <a:prstGeom prst="roundRect">
            <a:avLst>
              <a:gd name="adj" fmla="val 37500"/>
            </a:avLst>
          </a:prstGeom>
          <a:solidFill>
            <a:srgbClr val="237A57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20" name="p17_tb_t"/>
          <p:cNvSpPr/>
          <p:nvPr/>
        </p:nvSpPr>
        <p:spPr>
          <a:xfrm>
            <a:off x="4966969" y="1404518"/>
            <a:ext cx="585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7919009" y="3159252"/>
            <a:ext cx="219456" cy="347472"/>
          </a:xfrm>
          <a:prstGeom prst="chevron">
            <a:avLst/>
          </a:prstGeom>
          <a:solidFill>
            <a:srgbClr val="237A57"/>
          </a:solidFill>
          <a:ln w="12700">
            <a:solidFill>
              <a:srgbClr val="237A57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8899841" y="1385316"/>
            <a:ext cx="2123571" cy="3895344"/>
          </a:xfrm>
          <a:prstGeom prst="roundRect">
            <a:avLst>
              <a:gd name="adj" fmla="val 3445"/>
            </a:avLst>
          </a:prstGeom>
          <a:solidFill>
            <a:srgbClr val="FFFFFF"/>
          </a:solidFill>
          <a:ln w="12700">
            <a:solidFill>
              <a:srgbClr val="C6E5D6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23" name="Image 2" descr="C:/NogorShomadhan/User Manual/Phase 4/Final/9-inprgressdetails.jpe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50133" y="1435608"/>
            <a:ext cx="2022987" cy="3794760"/>
          </a:xfrm>
          <a:prstGeom prst="rect">
            <a:avLst/>
          </a:prstGeom>
        </p:spPr>
      </p:pic>
      <p:sp>
        <p:nvSpPr>
          <p:cNvPr id="24" name="p17_cc"/>
          <p:cNvSpPr/>
          <p:nvPr/>
        </p:nvSpPr>
        <p:spPr>
          <a:xfrm>
            <a:off x="8216189" y="5431536"/>
            <a:ext cx="3490874" cy="8961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progress panel confirms the complaint is now In Progress.</a:t>
            </a:r>
            <a:endParaRPr lang="en-US" sz="1800" dirty="0"/>
          </a:p>
        </p:txBody>
      </p:sp>
      <p:sp>
        <p:nvSpPr>
          <p:cNvPr id="25" name="p17_tc"/>
          <p:cNvSpPr/>
          <p:nvPr/>
        </p:nvSpPr>
        <p:spPr>
          <a:xfrm>
            <a:off x="8799134" y="1404518"/>
            <a:ext cx="585216" cy="365760"/>
          </a:xfrm>
          <a:prstGeom prst="roundRect">
            <a:avLst>
              <a:gd name="adj" fmla="val 37500"/>
            </a:avLst>
          </a:prstGeom>
          <a:solidFill>
            <a:srgbClr val="237A57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26" name="p17_tc_t"/>
          <p:cNvSpPr/>
          <p:nvPr/>
        </p:nvSpPr>
        <p:spPr>
          <a:xfrm>
            <a:off x="8799134" y="1404518"/>
            <a:ext cx="585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600" dirty="0"/>
          </a:p>
        </p:txBody>
      </p:sp>
      <p:sp>
        <p:nvSpPr>
          <p:cNvPr id="27" name="Shape 22"/>
          <p:cNvSpPr/>
          <p:nvPr/>
        </p:nvSpPr>
        <p:spPr>
          <a:xfrm>
            <a:off x="5473507" y="2169894"/>
            <a:ext cx="373404" cy="62614"/>
          </a:xfrm>
          <a:prstGeom prst="roundRect">
            <a:avLst>
              <a:gd name="adj" fmla="val 73019"/>
            </a:avLst>
          </a:prstGeom>
          <a:solidFill>
            <a:srgbClr val="A9B4C2"/>
          </a:solidFill>
          <a:ln w="12700">
            <a:solidFill>
              <a:srgbClr val="A9B4C2"/>
            </a:solidFill>
            <a:prstDash val="solid"/>
          </a:ln>
        </p:spPr>
      </p:sp>
      <p:sp>
        <p:nvSpPr>
          <p:cNvPr id="28" name="Shape 23"/>
          <p:cNvSpPr/>
          <p:nvPr/>
        </p:nvSpPr>
        <p:spPr>
          <a:xfrm>
            <a:off x="5516293" y="3266580"/>
            <a:ext cx="322839" cy="62614"/>
          </a:xfrm>
          <a:prstGeom prst="roundRect">
            <a:avLst>
              <a:gd name="adj" fmla="val 73019"/>
            </a:avLst>
          </a:prstGeom>
          <a:solidFill>
            <a:srgbClr val="A9B4C2"/>
          </a:solidFill>
          <a:ln w="12700">
            <a:solidFill>
              <a:srgbClr val="A9B4C2"/>
            </a:solidFill>
            <a:prstDash val="solid"/>
          </a:ln>
        </p:spPr>
      </p:sp>
      <p:sp>
        <p:nvSpPr>
          <p:cNvPr id="29" name="Shape 24"/>
          <p:cNvSpPr/>
          <p:nvPr/>
        </p:nvSpPr>
        <p:spPr>
          <a:xfrm>
            <a:off x="5566858" y="4663051"/>
            <a:ext cx="412301" cy="62614"/>
          </a:xfrm>
          <a:prstGeom prst="roundRect">
            <a:avLst>
              <a:gd name="adj" fmla="val 73019"/>
            </a:avLst>
          </a:prstGeom>
          <a:solidFill>
            <a:srgbClr val="A9B4C2"/>
          </a:solidFill>
          <a:ln w="12700">
            <a:solidFill>
              <a:srgbClr val="A9B4C2"/>
            </a:solidFill>
            <a:prstDash val="solid"/>
          </a:ln>
        </p:spPr>
      </p:sp>
      <p:sp>
        <p:nvSpPr>
          <p:cNvPr id="30" name="Shape 25"/>
          <p:cNvSpPr/>
          <p:nvPr/>
        </p:nvSpPr>
        <p:spPr>
          <a:xfrm>
            <a:off x="9411374" y="1718318"/>
            <a:ext cx="424827" cy="70203"/>
          </a:xfrm>
          <a:prstGeom prst="roundRect">
            <a:avLst>
              <a:gd name="adj" fmla="val 65125"/>
            </a:avLst>
          </a:prstGeom>
          <a:solidFill>
            <a:srgbClr val="A9B4C2"/>
          </a:solidFill>
          <a:ln w="12700">
            <a:solidFill>
              <a:srgbClr val="A9B4C2"/>
            </a:solidFill>
            <a:prstDash val="solid"/>
          </a:ln>
        </p:spPr>
      </p:sp>
      <p:sp>
        <p:nvSpPr>
          <p:cNvPr id="31" name="h17_a1"/>
          <p:cNvSpPr/>
          <p:nvPr/>
        </p:nvSpPr>
        <p:spPr>
          <a:xfrm>
            <a:off x="1397689" y="1887184"/>
            <a:ext cx="563996" cy="136611"/>
          </a:xfrm>
          <a:prstGeom prst="roundRect">
            <a:avLst>
              <a:gd name="adj" fmla="val 40161"/>
            </a:avLst>
          </a:prstGeom>
          <a:ln w="28575">
            <a:solidFill>
              <a:srgbClr val="237A57"/>
            </a:solidFill>
            <a:prstDash val="solid"/>
          </a:ln>
        </p:spPr>
      </p:sp>
      <p:sp>
        <p:nvSpPr>
          <p:cNvPr id="32" name="h17_a2"/>
          <p:cNvSpPr/>
          <p:nvPr/>
        </p:nvSpPr>
        <p:spPr>
          <a:xfrm>
            <a:off x="1323786" y="2463988"/>
            <a:ext cx="1808677" cy="440192"/>
          </a:xfrm>
          <a:prstGeom prst="roundRect">
            <a:avLst>
              <a:gd name="adj" fmla="val 12464"/>
            </a:avLst>
          </a:prstGeom>
          <a:ln w="28575">
            <a:solidFill>
              <a:srgbClr val="237A57"/>
            </a:solidFill>
            <a:prstDash val="solid"/>
          </a:ln>
        </p:spPr>
      </p:sp>
      <p:sp>
        <p:nvSpPr>
          <p:cNvPr id="33" name="h17_b1"/>
          <p:cNvSpPr/>
          <p:nvPr/>
        </p:nvSpPr>
        <p:spPr>
          <a:xfrm>
            <a:off x="5189564" y="1739189"/>
            <a:ext cx="1808677" cy="1252271"/>
          </a:xfrm>
          <a:prstGeom prst="roundRect">
            <a:avLst>
              <a:gd name="adj" fmla="val 4381"/>
            </a:avLst>
          </a:prstGeom>
          <a:ln w="28575">
            <a:solidFill>
              <a:srgbClr val="237A57"/>
            </a:solidFill>
            <a:prstDash val="solid"/>
          </a:ln>
        </p:spPr>
      </p:sp>
      <p:sp>
        <p:nvSpPr>
          <p:cNvPr id="34" name="h17_b2"/>
          <p:cNvSpPr/>
          <p:nvPr/>
        </p:nvSpPr>
        <p:spPr>
          <a:xfrm>
            <a:off x="5189564" y="3469599"/>
            <a:ext cx="1808677" cy="591983"/>
          </a:xfrm>
          <a:prstGeom prst="roundRect">
            <a:avLst>
              <a:gd name="adj" fmla="val 9268"/>
            </a:avLst>
          </a:prstGeom>
          <a:ln w="28575">
            <a:solidFill>
              <a:srgbClr val="B4480A"/>
            </a:solidFill>
            <a:prstDash val="solid"/>
          </a:ln>
        </p:spPr>
      </p:sp>
      <p:sp>
        <p:nvSpPr>
          <p:cNvPr id="35" name="h17_c1"/>
          <p:cNvSpPr/>
          <p:nvPr/>
        </p:nvSpPr>
        <p:spPr>
          <a:xfrm>
            <a:off x="9091742" y="4668744"/>
            <a:ext cx="1739768" cy="189738"/>
          </a:xfrm>
          <a:prstGeom prst="roundRect">
            <a:avLst>
              <a:gd name="adj" fmla="val 28916"/>
            </a:avLst>
          </a:prstGeom>
          <a:ln w="28575">
            <a:solidFill>
              <a:srgbClr val="237A57"/>
            </a:solidFill>
            <a:prstDash val="solid"/>
          </a:ln>
        </p:spPr>
      </p:sp>
      <p:sp>
        <p:nvSpPr>
          <p:cNvPr id="36" name="Text 31"/>
          <p:cNvSpPr/>
          <p:nvPr/>
        </p:nvSpPr>
        <p:spPr>
          <a:xfrm>
            <a:off x="411480" y="6510528"/>
            <a:ext cx="4114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Nogor Shomadhan  ·  User Manual</a:t>
            </a:r>
            <a:endParaRPr lang="en-US" sz="1100" dirty="0"/>
          </a:p>
        </p:txBody>
      </p:sp>
      <p:sp>
        <p:nvSpPr>
          <p:cNvPr id="37" name="Text 32">
            <a:hlinkClick r:id="rId4" tooltip="1. Problem Statement" action="ppaction://hlinksldjump"/>
          </p:cNvPr>
          <p:cNvSpPr/>
          <p:nvPr/>
        </p:nvSpPr>
        <p:spPr>
          <a:xfrm>
            <a:off x="7272223" y="6528816"/>
            <a:ext cx="118872" cy="118872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action="ppaction://hlinksldjump" tooltip="1. Problem Stateme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38" name="Text 33">
            <a:hlinkClick r:id="rId5" tooltip="2. Stakeholders and Responsibilities" action="ppaction://hlinksldjump"/>
          </p:cNvPr>
          <p:cNvSpPr/>
          <p:nvPr/>
        </p:nvSpPr>
        <p:spPr>
          <a:xfrm>
            <a:off x="7455103" y="6528816"/>
            <a:ext cx="118872" cy="118872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action="ppaction://hlinksldjump" tooltip="2. Stakeholders and Responsibiliti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39" name="Text 34">
            <a:hlinkClick r:id="rId6" tooltip="3. Resident Account Registration" action="ppaction://hlinksldjump"/>
          </p:cNvPr>
          <p:cNvSpPr/>
          <p:nvPr/>
        </p:nvSpPr>
        <p:spPr>
          <a:xfrm>
            <a:off x="7637983" y="6528816"/>
            <a:ext cx="118872" cy="118872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 action="ppaction://hlinksldjump" tooltip="3. Resident Account Registra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0" name="Text 35">
            <a:hlinkClick r:id="rId7" tooltip="4. Registration Request Submitted" action="ppaction://hlinksldjump"/>
          </p:cNvPr>
          <p:cNvSpPr/>
          <p:nvPr/>
        </p:nvSpPr>
        <p:spPr>
          <a:xfrm>
            <a:off x="7820863" y="6528816"/>
            <a:ext cx="118872" cy="118872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 action="ppaction://hlinksldjump" tooltip="4. Registration Request Submit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1" name="Text 36">
            <a:hlinkClick r:id="rId8" tooltip="5. Admin Receives the Verification Request" action="ppaction://hlinksldjump"/>
          </p:cNvPr>
          <p:cNvSpPr/>
          <p:nvPr/>
        </p:nvSpPr>
        <p:spPr>
          <a:xfrm>
            <a:off x="8003743" y="6528816"/>
            <a:ext cx="118872" cy="118872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" action="ppaction://hlinksldjump" tooltip="5. Admin Receives the Verification Reques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2" name="Text 37">
            <a:hlinkClick r:id="rId9" tooltip="6. Admin Reviews and Approves the Account" action="ppaction://hlinksldjump"/>
          </p:cNvPr>
          <p:cNvSpPr/>
          <p:nvPr/>
        </p:nvSpPr>
        <p:spPr>
          <a:xfrm>
            <a:off x="8186623" y="6528816"/>
            <a:ext cx="118872" cy="118872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" action="ppaction://hlinksldjump" tooltip="6. Admin Reviews and Approves the Accou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3" name="Text 38">
            <a:hlinkClick r:id="rId10" tooltip="7. Account Verification Completed" action="ppaction://hlinksldjump"/>
          </p:cNvPr>
          <p:cNvSpPr/>
          <p:nvPr/>
        </p:nvSpPr>
        <p:spPr>
          <a:xfrm>
            <a:off x="8369503" y="6528816"/>
            <a:ext cx="118872" cy="118872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0" action="ppaction://hlinksldjump" tooltip="7. Account Verification Comple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4" name="Text 39">
            <a:hlinkClick r:id="rId11" tooltip="8. Create a New Complaint" action="ppaction://hlinksldjump"/>
          </p:cNvPr>
          <p:cNvSpPr/>
          <p:nvPr/>
        </p:nvSpPr>
        <p:spPr>
          <a:xfrm>
            <a:off x="8552383" y="6528816"/>
            <a:ext cx="118872" cy="118872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1" action="ppaction://hlinksldjump" tooltip="8. Create a New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5" name="Text 40">
            <a:hlinkClick r:id="rId12" tooltip="9. Add Evidence and Review the Category" action="ppaction://hlinksldjump"/>
          </p:cNvPr>
          <p:cNvSpPr/>
          <p:nvPr/>
        </p:nvSpPr>
        <p:spPr>
          <a:xfrm>
            <a:off x="8735263" y="6528816"/>
            <a:ext cx="118872" cy="118872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2" action="ppaction://hlinksldjump" tooltip="9. Add Evidence and Review the Categor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6" name="Text 41">
            <a:hlinkClick r:id="rId13" tooltip="10. Confirm the Complaint Submission" action="ppaction://hlinksldjump"/>
          </p:cNvPr>
          <p:cNvSpPr/>
          <p:nvPr/>
        </p:nvSpPr>
        <p:spPr>
          <a:xfrm>
            <a:off x="8918143" y="6528816"/>
            <a:ext cx="118872" cy="118872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3" action="ppaction://hlinksldjump" tooltip="10. Confirm the Complaint Submiss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7" name="Text 42">
            <a:hlinkClick r:id="rId14" tooltip="11. Admin Opens the Review Queue" action="ppaction://hlinksldjump"/>
          </p:cNvPr>
          <p:cNvSpPr/>
          <p:nvPr/>
        </p:nvSpPr>
        <p:spPr>
          <a:xfrm>
            <a:off x="9101023" y="6528816"/>
            <a:ext cx="118872" cy="118872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4" action="ppaction://hlinksldjump" tooltip="11. Admin Opens the Review Queu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8" name="Text 43">
            <a:hlinkClick r:id="rId15" tooltip="12. Complaint Check and Duplicate Comparison" action="ppaction://hlinksldjump"/>
          </p:cNvPr>
          <p:cNvSpPr/>
          <p:nvPr/>
        </p:nvSpPr>
        <p:spPr>
          <a:xfrm>
            <a:off x="9283903" y="6528816"/>
            <a:ext cx="118872" cy="118872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5" action="ppaction://hlinksldjump" tooltip="12. Complaint Check and Duplicate Compari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9" name="Text 44">
            <a:hlinkClick r:id="rId16" tooltip="13. Duplicate Review Outcomes" action="ppaction://hlinksldjump"/>
          </p:cNvPr>
          <p:cNvSpPr/>
          <p:nvPr/>
        </p:nvSpPr>
        <p:spPr>
          <a:xfrm>
            <a:off x="9466783" y="6528816"/>
            <a:ext cx="118872" cy="118872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6" action="ppaction://hlinksldjump" tooltip="13. Duplicate Review Outcom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0" name="Text 45">
            <a:hlinkClick r:id="rId17" tooltip="14. Pending Complaint Visibility" action="ppaction://hlinksldjump"/>
          </p:cNvPr>
          <p:cNvSpPr/>
          <p:nvPr/>
        </p:nvSpPr>
        <p:spPr>
          <a:xfrm>
            <a:off x="9649663" y="6528816"/>
            <a:ext cx="118872" cy="118872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7" action="ppaction://hlinksldjump" tooltip="14. Pending Complaint Visibilit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1" name="Text 46">
            <a:hlinkClick r:id="rId18" tooltip="15. Authority Opens the Complaint" action="ppaction://hlinksldjump"/>
          </p:cNvPr>
          <p:cNvSpPr/>
          <p:nvPr/>
        </p:nvSpPr>
        <p:spPr>
          <a:xfrm>
            <a:off x="9832543" y="6528816"/>
            <a:ext cx="118872" cy="118872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8" action="ppaction://hlinksldjump" tooltip="15. Authority Opens the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2" name="Text 47">
            <a:hlinkClick r:id="rId19" tooltip="16. Assign a Contractor and Start Work" action="ppaction://hlinksldjump"/>
          </p:cNvPr>
          <p:cNvSpPr/>
          <p:nvPr/>
        </p:nvSpPr>
        <p:spPr>
          <a:xfrm>
            <a:off x="10015423" y="6528816"/>
            <a:ext cx="118872" cy="118872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9" action="ppaction://hlinksldjump" tooltip="16. Assign a Contractor and Start Work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3" name="Text 48">
            <a:hlinkClick r:id="rId20" tooltip="17. The Complaint Moves to In Progress" action="ppaction://hlinksldjump"/>
          </p:cNvPr>
          <p:cNvSpPr/>
          <p:nvPr/>
        </p:nvSpPr>
        <p:spPr>
          <a:xfrm>
            <a:off x="10198303" y="6528816"/>
            <a:ext cx="118872" cy="118872"/>
          </a:xfrm>
          <a:prstGeom prst="ellipse">
            <a:avLst/>
          </a:prstGeom>
          <a:solidFill>
            <a:srgbClr val="237A57"/>
          </a:solidFill>
          <a:ln>
            <a:solidFill>
              <a:srgbClr val="237A5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0" action="ppaction://hlinksldjump" tooltip="17. The Complaint Moves to In Progres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4" name="Text 49">
            <a:hlinkClick r:id="rId21" tooltip="18. Residents See the Progress Update" action="ppaction://hlinksldjump"/>
          </p:cNvPr>
          <p:cNvSpPr/>
          <p:nvPr/>
        </p:nvSpPr>
        <p:spPr>
          <a:xfrm>
            <a:off x="10381183" y="6528816"/>
            <a:ext cx="118872" cy="118872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1" action="ppaction://hlinksldjump" tooltip="18. Residents See the Progress Updat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5" name="Text 50">
            <a:hlinkClick r:id="rId22" tooltip="19. Resident Starts a Forum Discussion" action="ppaction://hlinksldjump"/>
          </p:cNvPr>
          <p:cNvSpPr/>
          <p:nvPr/>
        </p:nvSpPr>
        <p:spPr>
          <a:xfrm>
            <a:off x="10564063" y="6528816"/>
            <a:ext cx="118872" cy="118872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2" action="ppaction://hlinksldjump" tooltip="19. Resident Starts a Forum Discuss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6" name="Text 51">
            <a:hlinkClick r:id="rId23" tooltip="20. Everyone Is Notified" action="ppaction://hlinksldjump"/>
          </p:cNvPr>
          <p:cNvSpPr/>
          <p:nvPr/>
        </p:nvSpPr>
        <p:spPr>
          <a:xfrm>
            <a:off x="10746943" y="6528816"/>
            <a:ext cx="118872" cy="118872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3" action="ppaction://hlinksldjump" tooltip="20. Everyone Is Notifi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7" name="Text 52">
            <a:hlinkClick r:id="rId24" tooltip="21. Open the Post and Discuss" action="ppaction://hlinksldjump"/>
          </p:cNvPr>
          <p:cNvSpPr/>
          <p:nvPr/>
        </p:nvSpPr>
        <p:spPr>
          <a:xfrm>
            <a:off x="10929823" y="6528816"/>
            <a:ext cx="118872" cy="118872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4" action="ppaction://hlinksldjump" tooltip="21. Open the Post and Discus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8" name="Text 53">
            <a:hlinkClick r:id="rId25" tooltip="22. Authority Updates the Work" action="ppaction://hlinksldjump"/>
          </p:cNvPr>
          <p:cNvSpPr/>
          <p:nvPr/>
        </p:nvSpPr>
        <p:spPr>
          <a:xfrm>
            <a:off x="11112703" y="6528816"/>
            <a:ext cx="118872" cy="118872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5" action="ppaction://hlinksldjump" tooltip="22. Authority Updates the Work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9" name="Text 54">
            <a:hlinkClick r:id="rId26" tooltip="23. Authority Resolves the Complaint" action="ppaction://hlinksldjump"/>
          </p:cNvPr>
          <p:cNvSpPr/>
          <p:nvPr/>
        </p:nvSpPr>
        <p:spPr>
          <a:xfrm>
            <a:off x="11295583" y="6528816"/>
            <a:ext cx="118872" cy="118872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6" action="ppaction://hlinksldjump" tooltip="23. Authority Resolves the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0" name="Text 55">
            <a:hlinkClick r:id="rId27" tooltip="24. Residents Give Feedback" action="ppaction://hlinksldjump"/>
          </p:cNvPr>
          <p:cNvSpPr/>
          <p:nvPr/>
        </p:nvSpPr>
        <p:spPr>
          <a:xfrm>
            <a:off x="11478463" y="6528816"/>
            <a:ext cx="118872" cy="118872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7" action="ppaction://hlinksldjump" tooltip="24. Residents Give Feedback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1" name="Text 56">
            <a:hlinkClick r:id="rId28" tooltip="25. Feedback Is Public and Answered" action="ppaction://hlinksldjump"/>
          </p:cNvPr>
          <p:cNvSpPr/>
          <p:nvPr/>
        </p:nvSpPr>
        <p:spPr>
          <a:xfrm>
            <a:off x="11661343" y="6528816"/>
            <a:ext cx="118872" cy="118872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8" action="ppaction://hlinksldjump" tooltip="25. Feedback Is Public and Answer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2" name="Text 57"/>
          <p:cNvSpPr/>
          <p:nvPr/>
        </p:nvSpPr>
        <p:spPr>
          <a:xfrm>
            <a:off x="6449263" y="6510528"/>
            <a:ext cx="7132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25</a:t>
            </a:r>
            <a:endParaRPr lang="en-US" sz="11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2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2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2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2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2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2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2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2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AF4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2563A6"/>
          </a:solidFill>
          <a:ln/>
        </p:spPr>
      </p:sp>
      <p:sp>
        <p:nvSpPr>
          <p:cNvPr id="3" name="Shape 1"/>
          <p:cNvSpPr/>
          <p:nvPr/>
        </p:nvSpPr>
        <p:spPr>
          <a:xfrm>
            <a:off x="411480" y="329184"/>
            <a:ext cx="621792" cy="621792"/>
          </a:xfrm>
          <a:prstGeom prst="roundRect">
            <a:avLst>
              <a:gd name="adj" fmla="val 23529"/>
            </a:avLst>
          </a:prstGeom>
          <a:solidFill>
            <a:srgbClr val="2563A6"/>
          </a:solidFill>
          <a:ln w="12700">
            <a:solidFill>
              <a:srgbClr val="2563A6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411480" y="329184"/>
            <a:ext cx="62179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1188720" y="329184"/>
            <a:ext cx="768096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256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  ·  AUTHORITY STARTS THE WORK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52144" y="548640"/>
            <a:ext cx="8321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Residents See the Progress Update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10679278" y="475488"/>
            <a:ext cx="1100938" cy="420624"/>
          </a:xfrm>
          <a:prstGeom prst="roundRect">
            <a:avLst>
              <a:gd name="adj" fmla="val 50000"/>
            </a:avLst>
          </a:prstGeom>
          <a:solidFill>
            <a:srgbClr val="2563A6"/>
          </a:solidFill>
          <a:ln w="12700">
            <a:solidFill>
              <a:srgbClr val="2563A6"/>
            </a:solidFill>
            <a:prstDash val="solid"/>
          </a:ln>
          <a:effectLst>
            <a:outerShdw sx="100000" sy="100000" kx="0" ky="0" algn="bl" rotWithShape="0" blurRad="76200" dist="12700" dir="5400000">
              <a:srgbClr val="0B2239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0679278" y="475488"/>
            <a:ext cx="110093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11480" y="1216152"/>
            <a:ext cx="11368735" cy="18288"/>
          </a:xfrm>
          <a:prstGeom prst="rect">
            <a:avLst/>
          </a:prstGeom>
          <a:solidFill>
            <a:srgbClr val="CFE3F4"/>
          </a:solidFill>
          <a:ln/>
        </p:spPr>
      </p:sp>
      <p:sp>
        <p:nvSpPr>
          <p:cNvPr id="10" name="Shape 8"/>
          <p:cNvSpPr/>
          <p:nvPr/>
        </p:nvSpPr>
        <p:spPr>
          <a:xfrm>
            <a:off x="696700" y="1463040"/>
            <a:ext cx="2291486" cy="347472"/>
          </a:xfrm>
          <a:prstGeom prst="roundRect">
            <a:avLst>
              <a:gd name="adj" fmla="val 50000"/>
            </a:avLst>
          </a:prstGeom>
          <a:solidFill>
            <a:srgbClr val="2563A6"/>
          </a:solidFill>
          <a:ln w="12700">
            <a:solidFill>
              <a:srgbClr val="2563A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96700" y="1463040"/>
            <a:ext cx="229148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8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REPORTER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61188" y="1833372"/>
            <a:ext cx="2962510" cy="3255264"/>
          </a:xfrm>
          <a:prstGeom prst="roundRect">
            <a:avLst>
              <a:gd name="adj" fmla="val 2469"/>
            </a:avLst>
          </a:prstGeom>
          <a:solidFill>
            <a:srgbClr val="FFFFFF"/>
          </a:solidFill>
          <a:ln w="12700">
            <a:solidFill>
              <a:srgbClr val="CFE3F4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13" name="Image 0" descr="C:/NogorShomadhan/User Manual/Phase 4/Final/10-resident-notification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883664"/>
            <a:ext cx="2861926" cy="3154680"/>
          </a:xfrm>
          <a:prstGeom prst="rect">
            <a:avLst/>
          </a:prstGeom>
        </p:spPr>
      </p:pic>
      <p:sp>
        <p:nvSpPr>
          <p:cNvPr id="14" name="p18_ca"/>
          <p:cNvSpPr/>
          <p:nvPr/>
        </p:nvSpPr>
        <p:spPr>
          <a:xfrm>
            <a:off x="320040" y="5294376"/>
            <a:ext cx="3044806" cy="8961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resident who reported the issue is notified that work has started.</a:t>
            </a:r>
            <a:endParaRPr lang="en-US" sz="1800" dirty="0"/>
          </a:p>
        </p:txBody>
      </p:sp>
      <p:sp>
        <p:nvSpPr>
          <p:cNvPr id="15" name="p18_ta"/>
          <p:cNvSpPr/>
          <p:nvPr/>
        </p:nvSpPr>
        <p:spPr>
          <a:xfrm>
            <a:off x="247659" y="1937385"/>
            <a:ext cx="585216" cy="365760"/>
          </a:xfrm>
          <a:prstGeom prst="roundRect">
            <a:avLst>
              <a:gd name="adj" fmla="val 37500"/>
            </a:avLst>
          </a:prstGeom>
          <a:solidFill>
            <a:srgbClr val="2563A6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16" name="p18_ta_t"/>
          <p:cNvSpPr/>
          <p:nvPr/>
        </p:nvSpPr>
        <p:spPr>
          <a:xfrm>
            <a:off x="247659" y="1937385"/>
            <a:ext cx="585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4443143" y="1463040"/>
            <a:ext cx="2399386" cy="347472"/>
          </a:xfrm>
          <a:prstGeom prst="roundRect">
            <a:avLst>
              <a:gd name="adj" fmla="val 50000"/>
            </a:avLst>
          </a:prstGeom>
          <a:solidFill>
            <a:srgbClr val="2563A6"/>
          </a:solidFill>
          <a:ln w="12700">
            <a:solidFill>
              <a:srgbClr val="2563A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443143" y="1463040"/>
            <a:ext cx="239938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8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DUPLICATE REPORTER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3796584" y="1833372"/>
            <a:ext cx="3692503" cy="3255264"/>
          </a:xfrm>
          <a:prstGeom prst="roundRect">
            <a:avLst>
              <a:gd name="adj" fmla="val 2247"/>
            </a:avLst>
          </a:prstGeom>
          <a:solidFill>
            <a:srgbClr val="FFFFFF"/>
          </a:solidFill>
          <a:ln w="12700">
            <a:solidFill>
              <a:srgbClr val="CFE3F4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20" name="Image 1" descr="C:/NogorShomadhan/User Manual/Phase 4/Final/11-duplicate-notifoication.jpe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6876" y="1883664"/>
            <a:ext cx="3591919" cy="3154680"/>
          </a:xfrm>
          <a:prstGeom prst="rect">
            <a:avLst/>
          </a:prstGeom>
        </p:spPr>
      </p:pic>
      <p:sp>
        <p:nvSpPr>
          <p:cNvPr id="21" name="p18_cb"/>
          <p:cNvSpPr/>
          <p:nvPr/>
        </p:nvSpPr>
        <p:spPr>
          <a:xfrm>
            <a:off x="3755436" y="5294376"/>
            <a:ext cx="3774799" cy="8961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resident whose duplicate was linked receives the same update.</a:t>
            </a:r>
            <a:endParaRPr lang="en-US" sz="1800" dirty="0"/>
          </a:p>
        </p:txBody>
      </p:sp>
      <p:sp>
        <p:nvSpPr>
          <p:cNvPr id="22" name="p18_tb"/>
          <p:cNvSpPr/>
          <p:nvPr/>
        </p:nvSpPr>
        <p:spPr>
          <a:xfrm>
            <a:off x="3715905" y="1937385"/>
            <a:ext cx="585216" cy="365760"/>
          </a:xfrm>
          <a:prstGeom prst="roundRect">
            <a:avLst>
              <a:gd name="adj" fmla="val 37500"/>
            </a:avLst>
          </a:prstGeom>
          <a:solidFill>
            <a:srgbClr val="2563A6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23" name="p18_tb_t"/>
          <p:cNvSpPr/>
          <p:nvPr/>
        </p:nvSpPr>
        <p:spPr>
          <a:xfrm>
            <a:off x="3715905" y="1937385"/>
            <a:ext cx="585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8804447" y="1463040"/>
            <a:ext cx="2183587" cy="347472"/>
          </a:xfrm>
          <a:prstGeom prst="roundRect">
            <a:avLst>
              <a:gd name="adj" fmla="val 50000"/>
            </a:avLst>
          </a:prstGeom>
          <a:solidFill>
            <a:srgbClr val="2563A6"/>
          </a:solidFill>
          <a:ln w="12700">
            <a:solidFill>
              <a:srgbClr val="2563A6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8804447" y="1463040"/>
            <a:ext cx="218358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8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MY COMPLAINTS</a:t>
            </a:r>
            <a:endParaRPr lang="en-US" sz="1400" dirty="0"/>
          </a:p>
        </p:txBody>
      </p:sp>
      <p:sp>
        <p:nvSpPr>
          <p:cNvPr id="26" name="Shape 22"/>
          <p:cNvSpPr/>
          <p:nvPr/>
        </p:nvSpPr>
        <p:spPr>
          <a:xfrm>
            <a:off x="7961973" y="1833372"/>
            <a:ext cx="3868534" cy="3255264"/>
          </a:xfrm>
          <a:prstGeom prst="roundRect">
            <a:avLst>
              <a:gd name="adj" fmla="val 2247"/>
            </a:avLst>
          </a:prstGeom>
          <a:solidFill>
            <a:srgbClr val="FFFFFF"/>
          </a:solidFill>
          <a:ln w="12700">
            <a:solidFill>
              <a:srgbClr val="CFE3F4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27" name="Image 2" descr="C:/NogorShomadhan/User Manual/Phase 4/Final/12-residentcanalsoseethework[prpgress.jpe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12265" y="1883664"/>
            <a:ext cx="3767950" cy="3154680"/>
          </a:xfrm>
          <a:prstGeom prst="rect">
            <a:avLst/>
          </a:prstGeom>
        </p:spPr>
      </p:pic>
      <p:sp>
        <p:nvSpPr>
          <p:cNvPr id="28" name="p18_cc"/>
          <p:cNvSpPr/>
          <p:nvPr/>
        </p:nvSpPr>
        <p:spPr>
          <a:xfrm>
            <a:off x="7920825" y="5294376"/>
            <a:ext cx="3950830" cy="8961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Complaints shows the complaint as In Progress.</a:t>
            </a:r>
            <a:endParaRPr lang="en-US" sz="1800" dirty="0"/>
          </a:p>
        </p:txBody>
      </p:sp>
      <p:sp>
        <p:nvSpPr>
          <p:cNvPr id="29" name="p18_tc"/>
          <p:cNvSpPr/>
          <p:nvPr/>
        </p:nvSpPr>
        <p:spPr>
          <a:xfrm>
            <a:off x="7889215" y="1937385"/>
            <a:ext cx="585216" cy="365760"/>
          </a:xfrm>
          <a:prstGeom prst="roundRect">
            <a:avLst>
              <a:gd name="adj" fmla="val 37500"/>
            </a:avLst>
          </a:prstGeom>
          <a:solidFill>
            <a:srgbClr val="2563A6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30" name="p18_tc_t"/>
          <p:cNvSpPr/>
          <p:nvPr/>
        </p:nvSpPr>
        <p:spPr>
          <a:xfrm>
            <a:off x="7889215" y="1937385"/>
            <a:ext cx="585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600" dirty="0"/>
          </a:p>
        </p:txBody>
      </p:sp>
      <p:sp>
        <p:nvSpPr>
          <p:cNvPr id="31" name="h18_a"/>
          <p:cNvSpPr/>
          <p:nvPr/>
        </p:nvSpPr>
        <p:spPr>
          <a:xfrm>
            <a:off x="520233" y="4274911"/>
            <a:ext cx="2644419" cy="738195"/>
          </a:xfrm>
          <a:prstGeom prst="roundRect">
            <a:avLst>
              <a:gd name="adj" fmla="val 7432"/>
            </a:avLst>
          </a:prstGeom>
          <a:ln w="28575">
            <a:solidFill>
              <a:srgbClr val="2563A6"/>
            </a:solidFill>
            <a:prstDash val="solid"/>
          </a:ln>
        </p:spPr>
      </p:sp>
      <p:sp>
        <p:nvSpPr>
          <p:cNvPr id="32" name="h18_b"/>
          <p:cNvSpPr/>
          <p:nvPr/>
        </p:nvSpPr>
        <p:spPr>
          <a:xfrm>
            <a:off x="3983369" y="4079321"/>
            <a:ext cx="3318933" cy="927476"/>
          </a:xfrm>
          <a:prstGeom prst="roundRect">
            <a:avLst>
              <a:gd name="adj" fmla="val 5915"/>
            </a:avLst>
          </a:prstGeom>
          <a:ln w="28575">
            <a:solidFill>
              <a:srgbClr val="2563A6"/>
            </a:solidFill>
            <a:prstDash val="solid"/>
          </a:ln>
        </p:spPr>
      </p:sp>
      <p:sp>
        <p:nvSpPr>
          <p:cNvPr id="33" name="h18_c1"/>
          <p:cNvSpPr/>
          <p:nvPr/>
        </p:nvSpPr>
        <p:spPr>
          <a:xfrm>
            <a:off x="10657366" y="3227558"/>
            <a:ext cx="859093" cy="214518"/>
          </a:xfrm>
          <a:prstGeom prst="roundRect">
            <a:avLst>
              <a:gd name="adj" fmla="val 25575"/>
            </a:avLst>
          </a:prstGeom>
          <a:ln w="28575">
            <a:solidFill>
              <a:srgbClr val="2563A6"/>
            </a:solidFill>
            <a:prstDash val="solid"/>
          </a:ln>
        </p:spPr>
      </p:sp>
      <p:sp>
        <p:nvSpPr>
          <p:cNvPr id="34" name="h18_c2"/>
          <p:cNvSpPr/>
          <p:nvPr/>
        </p:nvSpPr>
        <p:spPr>
          <a:xfrm>
            <a:off x="8147912" y="3101370"/>
            <a:ext cx="3496657" cy="1880189"/>
          </a:xfrm>
          <a:prstGeom prst="roundRect">
            <a:avLst>
              <a:gd name="adj" fmla="val 2918"/>
            </a:avLst>
          </a:prstGeom>
          <a:ln w="28575">
            <a:solidFill>
              <a:srgbClr val="2563A6"/>
            </a:solidFill>
            <a:prstDash val="solid"/>
          </a:ln>
        </p:spPr>
      </p:sp>
      <p:sp>
        <p:nvSpPr>
          <p:cNvPr id="35" name="Text 30"/>
          <p:cNvSpPr/>
          <p:nvPr/>
        </p:nvSpPr>
        <p:spPr>
          <a:xfrm>
            <a:off x="411480" y="6510528"/>
            <a:ext cx="4114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Nogor Shomadhan  ·  User Manual</a:t>
            </a:r>
            <a:endParaRPr lang="en-US" sz="1100" dirty="0"/>
          </a:p>
        </p:txBody>
      </p:sp>
      <p:sp>
        <p:nvSpPr>
          <p:cNvPr id="36" name="Text 31">
            <a:hlinkClick r:id="rId4" tooltip="1. Problem Statement" action="ppaction://hlinksldjump"/>
          </p:cNvPr>
          <p:cNvSpPr/>
          <p:nvPr/>
        </p:nvSpPr>
        <p:spPr>
          <a:xfrm>
            <a:off x="727222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action="ppaction://hlinksldjump" tooltip="1. Problem Stateme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37" name="Text 32">
            <a:hlinkClick r:id="rId5" tooltip="2. Stakeholders and Responsibilities" action="ppaction://hlinksldjump"/>
          </p:cNvPr>
          <p:cNvSpPr/>
          <p:nvPr/>
        </p:nvSpPr>
        <p:spPr>
          <a:xfrm>
            <a:off x="745510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action="ppaction://hlinksldjump" tooltip="2. Stakeholders and Responsibiliti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38" name="Text 33">
            <a:hlinkClick r:id="rId6" tooltip="3. Resident Account Registration" action="ppaction://hlinksldjump"/>
          </p:cNvPr>
          <p:cNvSpPr/>
          <p:nvPr/>
        </p:nvSpPr>
        <p:spPr>
          <a:xfrm>
            <a:off x="763798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 action="ppaction://hlinksldjump" tooltip="3. Resident Account Registra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39" name="Text 34">
            <a:hlinkClick r:id="rId7" tooltip="4. Registration Request Submitted" action="ppaction://hlinksldjump"/>
          </p:cNvPr>
          <p:cNvSpPr/>
          <p:nvPr/>
        </p:nvSpPr>
        <p:spPr>
          <a:xfrm>
            <a:off x="782086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 action="ppaction://hlinksldjump" tooltip="4. Registration Request Submit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0" name="Text 35">
            <a:hlinkClick r:id="rId8" tooltip="5. Admin Receives the Verification Request" action="ppaction://hlinksldjump"/>
          </p:cNvPr>
          <p:cNvSpPr/>
          <p:nvPr/>
        </p:nvSpPr>
        <p:spPr>
          <a:xfrm>
            <a:off x="800374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" action="ppaction://hlinksldjump" tooltip="5. Admin Receives the Verification Reques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1" name="Text 36">
            <a:hlinkClick r:id="rId9" tooltip="6. Admin Reviews and Approves the Account" action="ppaction://hlinksldjump"/>
          </p:cNvPr>
          <p:cNvSpPr/>
          <p:nvPr/>
        </p:nvSpPr>
        <p:spPr>
          <a:xfrm>
            <a:off x="818662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" action="ppaction://hlinksldjump" tooltip="6. Admin Reviews and Approves the Accou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2" name="Text 37">
            <a:hlinkClick r:id="rId10" tooltip="7. Account Verification Completed" action="ppaction://hlinksldjump"/>
          </p:cNvPr>
          <p:cNvSpPr/>
          <p:nvPr/>
        </p:nvSpPr>
        <p:spPr>
          <a:xfrm>
            <a:off x="836950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0" action="ppaction://hlinksldjump" tooltip="7. Account Verification Comple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3" name="Text 38">
            <a:hlinkClick r:id="rId11" tooltip="8. Create a New Complaint" action="ppaction://hlinksldjump"/>
          </p:cNvPr>
          <p:cNvSpPr/>
          <p:nvPr/>
        </p:nvSpPr>
        <p:spPr>
          <a:xfrm>
            <a:off x="855238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1" action="ppaction://hlinksldjump" tooltip="8. Create a New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4" name="Text 39">
            <a:hlinkClick r:id="rId12" tooltip="9. Add Evidence and Review the Category" action="ppaction://hlinksldjump"/>
          </p:cNvPr>
          <p:cNvSpPr/>
          <p:nvPr/>
        </p:nvSpPr>
        <p:spPr>
          <a:xfrm>
            <a:off x="873526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2" action="ppaction://hlinksldjump" tooltip="9. Add Evidence and Review the Categor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5" name="Text 40">
            <a:hlinkClick r:id="rId13" tooltip="10. Confirm the Complaint Submission" action="ppaction://hlinksldjump"/>
          </p:cNvPr>
          <p:cNvSpPr/>
          <p:nvPr/>
        </p:nvSpPr>
        <p:spPr>
          <a:xfrm>
            <a:off x="891814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3" action="ppaction://hlinksldjump" tooltip="10. Confirm the Complaint Submiss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6" name="Text 41">
            <a:hlinkClick r:id="rId14" tooltip="11. Admin Opens the Review Queue" action="ppaction://hlinksldjump"/>
          </p:cNvPr>
          <p:cNvSpPr/>
          <p:nvPr/>
        </p:nvSpPr>
        <p:spPr>
          <a:xfrm>
            <a:off x="910102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4" action="ppaction://hlinksldjump" tooltip="11. Admin Opens the Review Queu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7" name="Text 42">
            <a:hlinkClick r:id="rId15" tooltip="12. Complaint Check and Duplicate Comparison" action="ppaction://hlinksldjump"/>
          </p:cNvPr>
          <p:cNvSpPr/>
          <p:nvPr/>
        </p:nvSpPr>
        <p:spPr>
          <a:xfrm>
            <a:off x="928390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5" action="ppaction://hlinksldjump" tooltip="12. Complaint Check and Duplicate Compari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8" name="Text 43">
            <a:hlinkClick r:id="rId16" tooltip="13. Duplicate Review Outcomes" action="ppaction://hlinksldjump"/>
          </p:cNvPr>
          <p:cNvSpPr/>
          <p:nvPr/>
        </p:nvSpPr>
        <p:spPr>
          <a:xfrm>
            <a:off x="946678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6" action="ppaction://hlinksldjump" tooltip="13. Duplicate Review Outcom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9" name="Text 44">
            <a:hlinkClick r:id="rId17" tooltip="14. Pending Complaint Visibility" action="ppaction://hlinksldjump"/>
          </p:cNvPr>
          <p:cNvSpPr/>
          <p:nvPr/>
        </p:nvSpPr>
        <p:spPr>
          <a:xfrm>
            <a:off x="964966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7" action="ppaction://hlinksldjump" tooltip="14. Pending Complaint Visibilit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0" name="Text 45">
            <a:hlinkClick r:id="rId18" tooltip="15. Authority Opens the Complaint" action="ppaction://hlinksldjump"/>
          </p:cNvPr>
          <p:cNvSpPr/>
          <p:nvPr/>
        </p:nvSpPr>
        <p:spPr>
          <a:xfrm>
            <a:off x="983254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8" action="ppaction://hlinksldjump" tooltip="15. Authority Opens the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1" name="Text 46">
            <a:hlinkClick r:id="rId19" tooltip="16. Assign a Contractor and Start Work" action="ppaction://hlinksldjump"/>
          </p:cNvPr>
          <p:cNvSpPr/>
          <p:nvPr/>
        </p:nvSpPr>
        <p:spPr>
          <a:xfrm>
            <a:off x="1001542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9" action="ppaction://hlinksldjump" tooltip="16. Assign a Contractor and Start Work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2" name="Text 47">
            <a:hlinkClick r:id="rId20" tooltip="17. The Complaint Moves to In Progress" action="ppaction://hlinksldjump"/>
          </p:cNvPr>
          <p:cNvSpPr/>
          <p:nvPr/>
        </p:nvSpPr>
        <p:spPr>
          <a:xfrm>
            <a:off x="1019830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0" action="ppaction://hlinksldjump" tooltip="17. The Complaint Moves to In Progres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3" name="Text 48">
            <a:hlinkClick r:id="rId21" tooltip="18. Residents See the Progress Update" action="ppaction://hlinksldjump"/>
          </p:cNvPr>
          <p:cNvSpPr/>
          <p:nvPr/>
        </p:nvSpPr>
        <p:spPr>
          <a:xfrm>
            <a:off x="10381183" y="6528816"/>
            <a:ext cx="118872" cy="118872"/>
          </a:xfrm>
          <a:prstGeom prst="ellipse">
            <a:avLst/>
          </a:prstGeom>
          <a:solidFill>
            <a:srgbClr val="2563A6"/>
          </a:solidFill>
          <a:ln>
            <a:solidFill>
              <a:srgbClr val="2563A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1" action="ppaction://hlinksldjump" tooltip="18. Residents See the Progress Updat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4" name="Text 49">
            <a:hlinkClick r:id="rId22" tooltip="19. Resident Starts a Forum Discussion" action="ppaction://hlinksldjump"/>
          </p:cNvPr>
          <p:cNvSpPr/>
          <p:nvPr/>
        </p:nvSpPr>
        <p:spPr>
          <a:xfrm>
            <a:off x="1056406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2" action="ppaction://hlinksldjump" tooltip="19. Resident Starts a Forum Discuss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5" name="Text 50">
            <a:hlinkClick r:id="rId23" tooltip="20. Everyone Is Notified" action="ppaction://hlinksldjump"/>
          </p:cNvPr>
          <p:cNvSpPr/>
          <p:nvPr/>
        </p:nvSpPr>
        <p:spPr>
          <a:xfrm>
            <a:off x="1074694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3" action="ppaction://hlinksldjump" tooltip="20. Everyone Is Notifi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6" name="Text 51">
            <a:hlinkClick r:id="rId24" tooltip="21. Open the Post and Discuss" action="ppaction://hlinksldjump"/>
          </p:cNvPr>
          <p:cNvSpPr/>
          <p:nvPr/>
        </p:nvSpPr>
        <p:spPr>
          <a:xfrm>
            <a:off x="1092982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4" action="ppaction://hlinksldjump" tooltip="21. Open the Post and Discus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7" name="Text 52">
            <a:hlinkClick r:id="rId25" tooltip="22. Authority Updates the Work" action="ppaction://hlinksldjump"/>
          </p:cNvPr>
          <p:cNvSpPr/>
          <p:nvPr/>
        </p:nvSpPr>
        <p:spPr>
          <a:xfrm>
            <a:off x="1111270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5" action="ppaction://hlinksldjump" tooltip="22. Authority Updates the Work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8" name="Text 53">
            <a:hlinkClick r:id="rId26" tooltip="23. Authority Resolves the Complaint" action="ppaction://hlinksldjump"/>
          </p:cNvPr>
          <p:cNvSpPr/>
          <p:nvPr/>
        </p:nvSpPr>
        <p:spPr>
          <a:xfrm>
            <a:off x="1129558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6" action="ppaction://hlinksldjump" tooltip="23. Authority Resolves the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9" name="Text 54">
            <a:hlinkClick r:id="rId27" tooltip="24. Residents Give Feedback" action="ppaction://hlinksldjump"/>
          </p:cNvPr>
          <p:cNvSpPr/>
          <p:nvPr/>
        </p:nvSpPr>
        <p:spPr>
          <a:xfrm>
            <a:off x="1147846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7" action="ppaction://hlinksldjump" tooltip="24. Residents Give Feedback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0" name="Text 55">
            <a:hlinkClick r:id="rId28" tooltip="25. Feedback Is Public and Answered" action="ppaction://hlinksldjump"/>
          </p:cNvPr>
          <p:cNvSpPr/>
          <p:nvPr/>
        </p:nvSpPr>
        <p:spPr>
          <a:xfrm>
            <a:off x="1166134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8" action="ppaction://hlinksldjump" tooltip="25. Feedback Is Public and Answer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1" name="Text 56"/>
          <p:cNvSpPr/>
          <p:nvPr/>
        </p:nvSpPr>
        <p:spPr>
          <a:xfrm>
            <a:off x="6449263" y="6510528"/>
            <a:ext cx="7132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/ 25</a:t>
            </a:r>
            <a:endParaRPr lang="en-US" sz="11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2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2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2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2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2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2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2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2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2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AF4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2563A6"/>
          </a:solidFill>
          <a:ln/>
        </p:spPr>
      </p:sp>
      <p:sp>
        <p:nvSpPr>
          <p:cNvPr id="3" name="Shape 1"/>
          <p:cNvSpPr/>
          <p:nvPr/>
        </p:nvSpPr>
        <p:spPr>
          <a:xfrm>
            <a:off x="411480" y="329184"/>
            <a:ext cx="621792" cy="621792"/>
          </a:xfrm>
          <a:prstGeom prst="roundRect">
            <a:avLst>
              <a:gd name="adj" fmla="val 23529"/>
            </a:avLst>
          </a:prstGeom>
          <a:solidFill>
            <a:srgbClr val="2563A6"/>
          </a:solidFill>
          <a:ln w="12700">
            <a:solidFill>
              <a:srgbClr val="2563A6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411480" y="329184"/>
            <a:ext cx="62179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1188720" y="329184"/>
            <a:ext cx="768096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256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5  ·  COMMUNITY FORUM DISCUSSION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52144" y="548640"/>
            <a:ext cx="8321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 Starts a Forum Discussion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10679278" y="475488"/>
            <a:ext cx="1100938" cy="420624"/>
          </a:xfrm>
          <a:prstGeom prst="roundRect">
            <a:avLst>
              <a:gd name="adj" fmla="val 50000"/>
            </a:avLst>
          </a:prstGeom>
          <a:solidFill>
            <a:srgbClr val="2563A6"/>
          </a:solidFill>
          <a:ln w="12700">
            <a:solidFill>
              <a:srgbClr val="2563A6"/>
            </a:solidFill>
            <a:prstDash val="solid"/>
          </a:ln>
          <a:effectLst>
            <a:outerShdw sx="100000" sy="100000" kx="0" ky="0" algn="bl" rotWithShape="0" blurRad="76200" dist="12700" dir="5400000">
              <a:srgbClr val="0B2239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0679278" y="475488"/>
            <a:ext cx="110093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11480" y="1216152"/>
            <a:ext cx="11368735" cy="18288"/>
          </a:xfrm>
          <a:prstGeom prst="rect">
            <a:avLst/>
          </a:prstGeom>
          <a:solidFill>
            <a:srgbClr val="CFE3F4"/>
          </a:solidFill>
          <a:ln/>
        </p:spPr>
      </p:sp>
      <p:sp>
        <p:nvSpPr>
          <p:cNvPr id="10" name="Shape 8"/>
          <p:cNvSpPr/>
          <p:nvPr/>
        </p:nvSpPr>
        <p:spPr>
          <a:xfrm>
            <a:off x="1207370" y="1385316"/>
            <a:ext cx="2045399" cy="3895344"/>
          </a:xfrm>
          <a:prstGeom prst="roundRect">
            <a:avLst>
              <a:gd name="adj" fmla="val 3576"/>
            </a:avLst>
          </a:prstGeom>
          <a:solidFill>
            <a:srgbClr val="FFFFFF"/>
          </a:solidFill>
          <a:ln w="12700">
            <a:solidFill>
              <a:srgbClr val="CFE3F4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11" name="Image 0" descr="C:/NogorShomadhan/User Manual/Phase 5/New Final/1-resident-sees-theforum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57662" y="1435608"/>
            <a:ext cx="1944815" cy="3794760"/>
          </a:xfrm>
          <a:prstGeom prst="rect">
            <a:avLst/>
          </a:prstGeom>
        </p:spPr>
      </p:pic>
      <p:sp>
        <p:nvSpPr>
          <p:cNvPr id="12" name="p19_ca"/>
          <p:cNvSpPr/>
          <p:nvPr/>
        </p:nvSpPr>
        <p:spPr>
          <a:xfrm>
            <a:off x="484632" y="5431536"/>
            <a:ext cx="3490874" cy="8961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Forum from the resident dashboard.</a:t>
            </a:r>
            <a:endParaRPr lang="en-US" sz="1800" dirty="0"/>
          </a:p>
        </p:txBody>
      </p:sp>
      <p:sp>
        <p:nvSpPr>
          <p:cNvPr id="13" name="p19_ta"/>
          <p:cNvSpPr/>
          <p:nvPr/>
        </p:nvSpPr>
        <p:spPr>
          <a:xfrm>
            <a:off x="1101191" y="1404518"/>
            <a:ext cx="585216" cy="365760"/>
          </a:xfrm>
          <a:prstGeom prst="roundRect">
            <a:avLst>
              <a:gd name="adj" fmla="val 37500"/>
            </a:avLst>
          </a:prstGeom>
          <a:solidFill>
            <a:srgbClr val="2563A6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14" name="p19_ta_t"/>
          <p:cNvSpPr/>
          <p:nvPr/>
        </p:nvSpPr>
        <p:spPr>
          <a:xfrm>
            <a:off x="1101191" y="1404518"/>
            <a:ext cx="585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4053230" y="3159252"/>
            <a:ext cx="219456" cy="347472"/>
          </a:xfrm>
          <a:prstGeom prst="chevron">
            <a:avLst/>
          </a:prstGeom>
          <a:solidFill>
            <a:srgbClr val="2563A6"/>
          </a:solidFill>
          <a:ln w="12700">
            <a:solidFill>
              <a:srgbClr val="2563A6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619295" y="1385316"/>
            <a:ext cx="2953105" cy="3895344"/>
          </a:xfrm>
          <a:prstGeom prst="roundRect">
            <a:avLst>
              <a:gd name="adj" fmla="val 2477"/>
            </a:avLst>
          </a:prstGeom>
          <a:solidFill>
            <a:srgbClr val="FFFFFF"/>
          </a:solidFill>
          <a:ln w="12700">
            <a:solidFill>
              <a:srgbClr val="CFE3F4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17" name="Image 1" descr="C:/NogorShomadhan/User Manual/Phase 5/New Final/2-resident-writes-discussion.jpe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9587" y="1435608"/>
            <a:ext cx="2852521" cy="3794760"/>
          </a:xfrm>
          <a:prstGeom prst="rect">
            <a:avLst/>
          </a:prstGeom>
        </p:spPr>
      </p:pic>
      <p:sp>
        <p:nvSpPr>
          <p:cNvPr id="18" name="p19_cb"/>
          <p:cNvSpPr/>
          <p:nvPr/>
        </p:nvSpPr>
        <p:spPr>
          <a:xfrm>
            <a:off x="4350410" y="5431536"/>
            <a:ext cx="3490874" cy="8961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a title, describe the issue, and post the discussion.</a:t>
            </a:r>
            <a:endParaRPr lang="en-US" sz="1800" dirty="0"/>
          </a:p>
        </p:txBody>
      </p:sp>
      <p:sp>
        <p:nvSpPr>
          <p:cNvPr id="19" name="p19_tb"/>
          <p:cNvSpPr/>
          <p:nvPr/>
        </p:nvSpPr>
        <p:spPr>
          <a:xfrm>
            <a:off x="4576656" y="1404518"/>
            <a:ext cx="585216" cy="365760"/>
          </a:xfrm>
          <a:prstGeom prst="roundRect">
            <a:avLst>
              <a:gd name="adj" fmla="val 37500"/>
            </a:avLst>
          </a:prstGeom>
          <a:solidFill>
            <a:srgbClr val="2563A6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20" name="p19_tb_t"/>
          <p:cNvSpPr/>
          <p:nvPr/>
        </p:nvSpPr>
        <p:spPr>
          <a:xfrm>
            <a:off x="4576656" y="1404518"/>
            <a:ext cx="585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7919009" y="3159252"/>
            <a:ext cx="219456" cy="347472"/>
          </a:xfrm>
          <a:prstGeom prst="chevron">
            <a:avLst/>
          </a:prstGeom>
          <a:solidFill>
            <a:srgbClr val="2563A6"/>
          </a:solidFill>
          <a:ln w="12700">
            <a:solidFill>
              <a:srgbClr val="2563A6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8495699" y="1385316"/>
            <a:ext cx="2931854" cy="3895344"/>
          </a:xfrm>
          <a:prstGeom prst="roundRect">
            <a:avLst>
              <a:gd name="adj" fmla="val 2495"/>
            </a:avLst>
          </a:prstGeom>
          <a:solidFill>
            <a:srgbClr val="FFFFFF"/>
          </a:solidFill>
          <a:ln w="12700">
            <a:solidFill>
              <a:srgbClr val="CFE3F4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23" name="Image 2" descr="C:/NogorShomadhan/User Manual/Phase 5/New Final/3-resident-confirms.jpe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5991" y="1435608"/>
            <a:ext cx="2831270" cy="3794760"/>
          </a:xfrm>
          <a:prstGeom prst="rect">
            <a:avLst/>
          </a:prstGeom>
        </p:spPr>
      </p:pic>
      <p:sp>
        <p:nvSpPr>
          <p:cNvPr id="24" name="p19_cc"/>
          <p:cNvSpPr/>
          <p:nvPr/>
        </p:nvSpPr>
        <p:spPr>
          <a:xfrm>
            <a:off x="8216189" y="5431536"/>
            <a:ext cx="3490874" cy="8961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the prompt to publish the post to the community.</a:t>
            </a:r>
            <a:endParaRPr lang="en-US" sz="1800" dirty="0"/>
          </a:p>
        </p:txBody>
      </p:sp>
      <p:sp>
        <p:nvSpPr>
          <p:cNvPr id="25" name="p19_tc"/>
          <p:cNvSpPr/>
          <p:nvPr/>
        </p:nvSpPr>
        <p:spPr>
          <a:xfrm>
            <a:off x="8451572" y="1404518"/>
            <a:ext cx="585216" cy="365760"/>
          </a:xfrm>
          <a:prstGeom prst="roundRect">
            <a:avLst>
              <a:gd name="adj" fmla="val 37500"/>
            </a:avLst>
          </a:prstGeom>
          <a:solidFill>
            <a:srgbClr val="2563A6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26" name="p19_tc_t"/>
          <p:cNvSpPr/>
          <p:nvPr/>
        </p:nvSpPr>
        <p:spPr>
          <a:xfrm>
            <a:off x="8451572" y="1404518"/>
            <a:ext cx="585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7" name="h19_a1"/>
          <p:cNvSpPr/>
          <p:nvPr/>
        </p:nvSpPr>
        <p:spPr>
          <a:xfrm>
            <a:off x="2829072" y="5006477"/>
            <a:ext cx="237267" cy="197328"/>
          </a:xfrm>
          <a:prstGeom prst="roundRect">
            <a:avLst>
              <a:gd name="adj" fmla="val 27803"/>
            </a:avLst>
          </a:prstGeom>
          <a:ln w="28575">
            <a:solidFill>
              <a:srgbClr val="2563A6"/>
            </a:solidFill>
            <a:prstDash val="solid"/>
          </a:ln>
        </p:spPr>
      </p:sp>
      <p:sp>
        <p:nvSpPr>
          <p:cNvPr id="28" name="h19_a2"/>
          <p:cNvSpPr/>
          <p:nvPr/>
        </p:nvSpPr>
        <p:spPr>
          <a:xfrm>
            <a:off x="2840741" y="1473556"/>
            <a:ext cx="147806" cy="129022"/>
          </a:xfrm>
          <a:prstGeom prst="roundRect">
            <a:avLst>
              <a:gd name="adj" fmla="val 42523"/>
            </a:avLst>
          </a:prstGeom>
          <a:ln w="28575">
            <a:solidFill>
              <a:srgbClr val="2563A6"/>
            </a:solidFill>
            <a:prstDash val="solid"/>
          </a:ln>
        </p:spPr>
      </p:sp>
      <p:sp>
        <p:nvSpPr>
          <p:cNvPr id="29" name="h19_b1"/>
          <p:cNvSpPr/>
          <p:nvPr/>
        </p:nvSpPr>
        <p:spPr>
          <a:xfrm>
            <a:off x="4874969" y="3462010"/>
            <a:ext cx="2441758" cy="280812"/>
          </a:xfrm>
          <a:prstGeom prst="roundRect">
            <a:avLst>
              <a:gd name="adj" fmla="val 19538"/>
            </a:avLst>
          </a:prstGeom>
          <a:ln w="28575">
            <a:solidFill>
              <a:srgbClr val="2563A6"/>
            </a:solidFill>
            <a:prstDash val="solid"/>
          </a:ln>
        </p:spPr>
      </p:sp>
      <p:sp>
        <p:nvSpPr>
          <p:cNvPr id="30" name="h19_b2"/>
          <p:cNvSpPr/>
          <p:nvPr/>
        </p:nvSpPr>
        <p:spPr>
          <a:xfrm>
            <a:off x="4874969" y="3792154"/>
            <a:ext cx="2441758" cy="614751"/>
          </a:xfrm>
          <a:prstGeom prst="roundRect">
            <a:avLst>
              <a:gd name="adj" fmla="val 8925"/>
            </a:avLst>
          </a:prstGeom>
          <a:ln w="28575">
            <a:solidFill>
              <a:srgbClr val="2563A6"/>
            </a:solidFill>
            <a:prstDash val="solid"/>
          </a:ln>
        </p:spPr>
      </p:sp>
      <p:sp>
        <p:nvSpPr>
          <p:cNvPr id="31" name="h19_b3"/>
          <p:cNvSpPr/>
          <p:nvPr/>
        </p:nvSpPr>
        <p:spPr>
          <a:xfrm>
            <a:off x="4874969" y="4456237"/>
            <a:ext cx="2441758" cy="280812"/>
          </a:xfrm>
          <a:prstGeom prst="roundRect">
            <a:avLst>
              <a:gd name="adj" fmla="val 19538"/>
            </a:avLst>
          </a:prstGeom>
          <a:ln w="28575">
            <a:solidFill>
              <a:srgbClr val="2563A6"/>
            </a:solidFill>
            <a:prstDash val="solid"/>
          </a:ln>
        </p:spPr>
      </p:sp>
      <p:sp>
        <p:nvSpPr>
          <p:cNvPr id="32" name="h19_c1"/>
          <p:cNvSpPr/>
          <p:nvPr/>
        </p:nvSpPr>
        <p:spPr>
          <a:xfrm>
            <a:off x="8826287" y="3249503"/>
            <a:ext cx="2270679" cy="1738000"/>
          </a:xfrm>
          <a:prstGeom prst="roundRect">
            <a:avLst>
              <a:gd name="adj" fmla="val 3157"/>
            </a:avLst>
          </a:prstGeom>
          <a:ln w="28575">
            <a:solidFill>
              <a:srgbClr val="2563A6"/>
            </a:solidFill>
            <a:prstDash val="solid"/>
          </a:ln>
        </p:spPr>
      </p:sp>
      <p:sp>
        <p:nvSpPr>
          <p:cNvPr id="33" name="h19_c2"/>
          <p:cNvSpPr/>
          <p:nvPr/>
        </p:nvSpPr>
        <p:spPr>
          <a:xfrm>
            <a:off x="9995601" y="4520748"/>
            <a:ext cx="945644" cy="258044"/>
          </a:xfrm>
          <a:prstGeom prst="roundRect">
            <a:avLst>
              <a:gd name="adj" fmla="val 21261"/>
            </a:avLst>
          </a:prstGeom>
          <a:ln w="28575">
            <a:solidFill>
              <a:srgbClr val="2563A6"/>
            </a:solidFill>
            <a:prstDash val="solid"/>
          </a:ln>
        </p:spPr>
      </p:sp>
      <p:sp>
        <p:nvSpPr>
          <p:cNvPr id="34" name="Text 29"/>
          <p:cNvSpPr/>
          <p:nvPr/>
        </p:nvSpPr>
        <p:spPr>
          <a:xfrm>
            <a:off x="411480" y="6510528"/>
            <a:ext cx="4114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Nogor Shomadhan  ·  User Manual</a:t>
            </a:r>
            <a:endParaRPr lang="en-US" sz="1100" dirty="0"/>
          </a:p>
        </p:txBody>
      </p:sp>
      <p:sp>
        <p:nvSpPr>
          <p:cNvPr id="35" name="Text 30">
            <a:hlinkClick r:id="rId4" tooltip="1. Problem Statement" action="ppaction://hlinksldjump"/>
          </p:cNvPr>
          <p:cNvSpPr/>
          <p:nvPr/>
        </p:nvSpPr>
        <p:spPr>
          <a:xfrm>
            <a:off x="727222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action="ppaction://hlinksldjump" tooltip="1. Problem Stateme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36" name="Text 31">
            <a:hlinkClick r:id="rId5" tooltip="2. Stakeholders and Responsibilities" action="ppaction://hlinksldjump"/>
          </p:cNvPr>
          <p:cNvSpPr/>
          <p:nvPr/>
        </p:nvSpPr>
        <p:spPr>
          <a:xfrm>
            <a:off x="745510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action="ppaction://hlinksldjump" tooltip="2. Stakeholders and Responsibiliti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37" name="Text 32">
            <a:hlinkClick r:id="rId6" tooltip="3. Resident Account Registration" action="ppaction://hlinksldjump"/>
          </p:cNvPr>
          <p:cNvSpPr/>
          <p:nvPr/>
        </p:nvSpPr>
        <p:spPr>
          <a:xfrm>
            <a:off x="763798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 action="ppaction://hlinksldjump" tooltip="3. Resident Account Registra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38" name="Text 33">
            <a:hlinkClick r:id="rId7" tooltip="4. Registration Request Submitted" action="ppaction://hlinksldjump"/>
          </p:cNvPr>
          <p:cNvSpPr/>
          <p:nvPr/>
        </p:nvSpPr>
        <p:spPr>
          <a:xfrm>
            <a:off x="782086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 action="ppaction://hlinksldjump" tooltip="4. Registration Request Submit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39" name="Text 34">
            <a:hlinkClick r:id="rId8" tooltip="5. Admin Receives the Verification Request" action="ppaction://hlinksldjump"/>
          </p:cNvPr>
          <p:cNvSpPr/>
          <p:nvPr/>
        </p:nvSpPr>
        <p:spPr>
          <a:xfrm>
            <a:off x="800374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" action="ppaction://hlinksldjump" tooltip="5. Admin Receives the Verification Reques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0" name="Text 35">
            <a:hlinkClick r:id="rId9" tooltip="6. Admin Reviews and Approves the Account" action="ppaction://hlinksldjump"/>
          </p:cNvPr>
          <p:cNvSpPr/>
          <p:nvPr/>
        </p:nvSpPr>
        <p:spPr>
          <a:xfrm>
            <a:off x="818662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" action="ppaction://hlinksldjump" tooltip="6. Admin Reviews and Approves the Accou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1" name="Text 36">
            <a:hlinkClick r:id="rId10" tooltip="7. Account Verification Completed" action="ppaction://hlinksldjump"/>
          </p:cNvPr>
          <p:cNvSpPr/>
          <p:nvPr/>
        </p:nvSpPr>
        <p:spPr>
          <a:xfrm>
            <a:off x="836950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0" action="ppaction://hlinksldjump" tooltip="7. Account Verification Comple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2" name="Text 37">
            <a:hlinkClick r:id="rId11" tooltip="8. Create a New Complaint" action="ppaction://hlinksldjump"/>
          </p:cNvPr>
          <p:cNvSpPr/>
          <p:nvPr/>
        </p:nvSpPr>
        <p:spPr>
          <a:xfrm>
            <a:off x="855238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1" action="ppaction://hlinksldjump" tooltip="8. Create a New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3" name="Text 38">
            <a:hlinkClick r:id="rId12" tooltip="9. Add Evidence and Review the Category" action="ppaction://hlinksldjump"/>
          </p:cNvPr>
          <p:cNvSpPr/>
          <p:nvPr/>
        </p:nvSpPr>
        <p:spPr>
          <a:xfrm>
            <a:off x="873526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2" action="ppaction://hlinksldjump" tooltip="9. Add Evidence and Review the Categor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4" name="Text 39">
            <a:hlinkClick r:id="rId13" tooltip="10. Confirm the Complaint Submission" action="ppaction://hlinksldjump"/>
          </p:cNvPr>
          <p:cNvSpPr/>
          <p:nvPr/>
        </p:nvSpPr>
        <p:spPr>
          <a:xfrm>
            <a:off x="891814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3" action="ppaction://hlinksldjump" tooltip="10. Confirm the Complaint Submiss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5" name="Text 40">
            <a:hlinkClick r:id="rId14" tooltip="11. Admin Opens the Review Queue" action="ppaction://hlinksldjump"/>
          </p:cNvPr>
          <p:cNvSpPr/>
          <p:nvPr/>
        </p:nvSpPr>
        <p:spPr>
          <a:xfrm>
            <a:off x="910102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4" action="ppaction://hlinksldjump" tooltip="11. Admin Opens the Review Queu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6" name="Text 41">
            <a:hlinkClick r:id="rId15" tooltip="12. Complaint Check and Duplicate Comparison" action="ppaction://hlinksldjump"/>
          </p:cNvPr>
          <p:cNvSpPr/>
          <p:nvPr/>
        </p:nvSpPr>
        <p:spPr>
          <a:xfrm>
            <a:off x="928390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5" action="ppaction://hlinksldjump" tooltip="12. Complaint Check and Duplicate Compari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7" name="Text 42">
            <a:hlinkClick r:id="rId16" tooltip="13. Duplicate Review Outcomes" action="ppaction://hlinksldjump"/>
          </p:cNvPr>
          <p:cNvSpPr/>
          <p:nvPr/>
        </p:nvSpPr>
        <p:spPr>
          <a:xfrm>
            <a:off x="946678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6" action="ppaction://hlinksldjump" tooltip="13. Duplicate Review Outcom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8" name="Text 43">
            <a:hlinkClick r:id="rId17" tooltip="14. Pending Complaint Visibility" action="ppaction://hlinksldjump"/>
          </p:cNvPr>
          <p:cNvSpPr/>
          <p:nvPr/>
        </p:nvSpPr>
        <p:spPr>
          <a:xfrm>
            <a:off x="964966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7" action="ppaction://hlinksldjump" tooltip="14. Pending Complaint Visibilit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9" name="Text 44">
            <a:hlinkClick r:id="rId18" tooltip="15. Authority Opens the Complaint" action="ppaction://hlinksldjump"/>
          </p:cNvPr>
          <p:cNvSpPr/>
          <p:nvPr/>
        </p:nvSpPr>
        <p:spPr>
          <a:xfrm>
            <a:off x="983254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8" action="ppaction://hlinksldjump" tooltip="15. Authority Opens the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0" name="Text 45">
            <a:hlinkClick r:id="rId19" tooltip="16. Assign a Contractor and Start Work" action="ppaction://hlinksldjump"/>
          </p:cNvPr>
          <p:cNvSpPr/>
          <p:nvPr/>
        </p:nvSpPr>
        <p:spPr>
          <a:xfrm>
            <a:off x="1001542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9" action="ppaction://hlinksldjump" tooltip="16. Assign a Contractor and Start Work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1" name="Text 46">
            <a:hlinkClick r:id="rId20" tooltip="17. The Complaint Moves to In Progress" action="ppaction://hlinksldjump"/>
          </p:cNvPr>
          <p:cNvSpPr/>
          <p:nvPr/>
        </p:nvSpPr>
        <p:spPr>
          <a:xfrm>
            <a:off x="1019830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0" action="ppaction://hlinksldjump" tooltip="17. The Complaint Moves to In Progres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2" name="Text 47">
            <a:hlinkClick r:id="rId21" tooltip="18. Residents See the Progress Update" action="ppaction://hlinksldjump"/>
          </p:cNvPr>
          <p:cNvSpPr/>
          <p:nvPr/>
        </p:nvSpPr>
        <p:spPr>
          <a:xfrm>
            <a:off x="1038118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1" action="ppaction://hlinksldjump" tooltip="18. Residents See the Progress Updat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3" name="Text 48">
            <a:hlinkClick r:id="rId22" tooltip="19. Resident Starts a Forum Discussion" action="ppaction://hlinksldjump"/>
          </p:cNvPr>
          <p:cNvSpPr/>
          <p:nvPr/>
        </p:nvSpPr>
        <p:spPr>
          <a:xfrm>
            <a:off x="10564063" y="6528816"/>
            <a:ext cx="118872" cy="118872"/>
          </a:xfrm>
          <a:prstGeom prst="ellipse">
            <a:avLst/>
          </a:prstGeom>
          <a:solidFill>
            <a:srgbClr val="2563A6"/>
          </a:solidFill>
          <a:ln>
            <a:solidFill>
              <a:srgbClr val="2563A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2" action="ppaction://hlinksldjump" tooltip="19. Resident Starts a Forum Discuss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4" name="Text 49">
            <a:hlinkClick r:id="rId23" tooltip="20. Everyone Is Notified" action="ppaction://hlinksldjump"/>
          </p:cNvPr>
          <p:cNvSpPr/>
          <p:nvPr/>
        </p:nvSpPr>
        <p:spPr>
          <a:xfrm>
            <a:off x="1074694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3" action="ppaction://hlinksldjump" tooltip="20. Everyone Is Notifi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5" name="Text 50">
            <a:hlinkClick r:id="rId24" tooltip="21. Open the Post and Discuss" action="ppaction://hlinksldjump"/>
          </p:cNvPr>
          <p:cNvSpPr/>
          <p:nvPr/>
        </p:nvSpPr>
        <p:spPr>
          <a:xfrm>
            <a:off x="1092982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4" action="ppaction://hlinksldjump" tooltip="21. Open the Post and Discus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6" name="Text 51">
            <a:hlinkClick r:id="rId25" tooltip="22. Authority Updates the Work" action="ppaction://hlinksldjump"/>
          </p:cNvPr>
          <p:cNvSpPr/>
          <p:nvPr/>
        </p:nvSpPr>
        <p:spPr>
          <a:xfrm>
            <a:off x="1111270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5" action="ppaction://hlinksldjump" tooltip="22. Authority Updates the Work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7" name="Text 52">
            <a:hlinkClick r:id="rId26" tooltip="23. Authority Resolves the Complaint" action="ppaction://hlinksldjump"/>
          </p:cNvPr>
          <p:cNvSpPr/>
          <p:nvPr/>
        </p:nvSpPr>
        <p:spPr>
          <a:xfrm>
            <a:off x="1129558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6" action="ppaction://hlinksldjump" tooltip="23. Authority Resolves the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8" name="Text 53">
            <a:hlinkClick r:id="rId27" tooltip="24. Residents Give Feedback" action="ppaction://hlinksldjump"/>
          </p:cNvPr>
          <p:cNvSpPr/>
          <p:nvPr/>
        </p:nvSpPr>
        <p:spPr>
          <a:xfrm>
            <a:off x="1147846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7" action="ppaction://hlinksldjump" tooltip="24. Residents Give Feedback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9" name="Text 54">
            <a:hlinkClick r:id="rId28" tooltip="25. Feedback Is Public and Answered" action="ppaction://hlinksldjump"/>
          </p:cNvPr>
          <p:cNvSpPr/>
          <p:nvPr/>
        </p:nvSpPr>
        <p:spPr>
          <a:xfrm>
            <a:off x="1166134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8" action="ppaction://hlinksldjump" tooltip="25. Feedback Is Public and Answer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0" name="Text 55"/>
          <p:cNvSpPr/>
          <p:nvPr/>
        </p:nvSpPr>
        <p:spPr>
          <a:xfrm>
            <a:off x="6449263" y="6510528"/>
            <a:ext cx="7132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/ 25</a:t>
            </a:r>
            <a:endParaRPr lang="en-US" sz="11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2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2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2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2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2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2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2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2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2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2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475467"/>
          </a:solidFill>
          <a:ln/>
        </p:spPr>
      </p:sp>
      <p:sp>
        <p:nvSpPr>
          <p:cNvPr id="3" name="Shape 1"/>
          <p:cNvSpPr/>
          <p:nvPr/>
        </p:nvSpPr>
        <p:spPr>
          <a:xfrm>
            <a:off x="411480" y="329184"/>
            <a:ext cx="621792" cy="621792"/>
          </a:xfrm>
          <a:prstGeom prst="roundRect">
            <a:avLst>
              <a:gd name="adj" fmla="val 23529"/>
            </a:avLst>
          </a:prstGeom>
          <a:solidFill>
            <a:srgbClr val="475467"/>
          </a:solidFill>
          <a:ln w="12700">
            <a:solidFill>
              <a:srgbClr val="475467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411480" y="329184"/>
            <a:ext cx="62179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1188720" y="329184"/>
            <a:ext cx="768096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4754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5  ·  COMMUNITY FORUM DISCUSSION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52144" y="548640"/>
            <a:ext cx="8321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Everyone Is Notified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10580522" y="475488"/>
            <a:ext cx="1199693" cy="420624"/>
          </a:xfrm>
          <a:prstGeom prst="roundRect">
            <a:avLst>
              <a:gd name="adj" fmla="val 50000"/>
            </a:avLst>
          </a:prstGeom>
          <a:solidFill>
            <a:srgbClr val="237A57"/>
          </a:solidFill>
          <a:ln w="12700">
            <a:solidFill>
              <a:srgbClr val="237A57"/>
            </a:solidFill>
            <a:prstDash val="solid"/>
          </a:ln>
          <a:effectLst>
            <a:outerShdw sx="100000" sy="100000" kx="0" ky="0" algn="bl" rotWithShape="0" blurRad="76200" dist="12700" dir="5400000">
              <a:srgbClr val="0B2239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0580522" y="475488"/>
            <a:ext cx="1199693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Authority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9629546" y="475488"/>
            <a:ext cx="804672" cy="420624"/>
          </a:xfrm>
          <a:prstGeom prst="roundRect">
            <a:avLst>
              <a:gd name="adj" fmla="val 50000"/>
            </a:avLst>
          </a:prstGeom>
          <a:solidFill>
            <a:srgbClr val="B86A12"/>
          </a:solidFill>
          <a:ln w="12700">
            <a:solidFill>
              <a:srgbClr val="B86A12"/>
            </a:solidFill>
            <a:prstDash val="solid"/>
          </a:ln>
          <a:effectLst>
            <a:outerShdw sx="100000" sy="100000" kx="0" ky="0" algn="bl" rotWithShape="0" blurRad="76200" dist="12700" dir="5400000">
              <a:srgbClr val="0B2239">
                <a:alpha val="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9629546" y="475488"/>
            <a:ext cx="80467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8382305" y="475488"/>
            <a:ext cx="1100938" cy="420624"/>
          </a:xfrm>
          <a:prstGeom prst="roundRect">
            <a:avLst>
              <a:gd name="adj" fmla="val 50000"/>
            </a:avLst>
          </a:prstGeom>
          <a:solidFill>
            <a:srgbClr val="2563A6"/>
          </a:solidFill>
          <a:ln w="12700">
            <a:solidFill>
              <a:srgbClr val="2563A6"/>
            </a:solidFill>
            <a:prstDash val="solid"/>
          </a:ln>
          <a:effectLst>
            <a:outerShdw sx="100000" sy="100000" kx="0" ky="0" algn="bl" rotWithShape="0" blurRad="76200" dist="12700" dir="5400000">
              <a:srgbClr val="0B2239">
                <a:alpha val="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382305" y="475488"/>
            <a:ext cx="110093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411480" y="1216152"/>
            <a:ext cx="11368735" cy="18288"/>
          </a:xfrm>
          <a:prstGeom prst="rect">
            <a:avLst/>
          </a:prstGeom>
          <a:solidFill>
            <a:srgbClr val="DDE1E7"/>
          </a:solidFill>
          <a:ln/>
        </p:spPr>
      </p:sp>
      <p:sp>
        <p:nvSpPr>
          <p:cNvPr id="14" name="Shape 12"/>
          <p:cNvSpPr/>
          <p:nvPr/>
        </p:nvSpPr>
        <p:spPr>
          <a:xfrm>
            <a:off x="1569872" y="1591056"/>
            <a:ext cx="1320394" cy="347472"/>
          </a:xfrm>
          <a:prstGeom prst="roundRect">
            <a:avLst>
              <a:gd name="adj" fmla="val 50000"/>
            </a:avLst>
          </a:prstGeom>
          <a:solidFill>
            <a:srgbClr val="2563A6"/>
          </a:solidFill>
          <a:ln w="12700">
            <a:solidFill>
              <a:srgbClr val="2563A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569872" y="1591056"/>
            <a:ext cx="132039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8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37150" y="1961388"/>
            <a:ext cx="3585838" cy="3026664"/>
          </a:xfrm>
          <a:prstGeom prst="roundRect">
            <a:avLst>
              <a:gd name="adj" fmla="val 2417"/>
            </a:avLst>
          </a:prstGeom>
          <a:solidFill>
            <a:srgbClr val="FFFFFF"/>
          </a:solidFill>
          <a:ln w="12700">
            <a:solidFill>
              <a:srgbClr val="CFE3F4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17" name="Image 0" descr="C:/NogorShomadhan/User Manual/Phase 5/New Final/4-other-residents-getnotification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7442" y="2011680"/>
            <a:ext cx="3485254" cy="2926080"/>
          </a:xfrm>
          <a:prstGeom prst="rect">
            <a:avLst/>
          </a:prstGeom>
        </p:spPr>
      </p:pic>
      <p:sp>
        <p:nvSpPr>
          <p:cNvPr id="18" name="p20_ca"/>
          <p:cNvSpPr/>
          <p:nvPr/>
        </p:nvSpPr>
        <p:spPr>
          <a:xfrm>
            <a:off x="484632" y="5175504"/>
            <a:ext cx="3490874" cy="8961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residents are notified that a new discussion was posted.</a:t>
            </a:r>
            <a:endParaRPr lang="en-US" sz="1800" dirty="0"/>
          </a:p>
        </p:txBody>
      </p:sp>
      <p:sp>
        <p:nvSpPr>
          <p:cNvPr id="19" name="p20_ta"/>
          <p:cNvSpPr/>
          <p:nvPr/>
        </p:nvSpPr>
        <p:spPr>
          <a:xfrm>
            <a:off x="369097" y="2062886"/>
            <a:ext cx="585216" cy="365760"/>
          </a:xfrm>
          <a:prstGeom prst="roundRect">
            <a:avLst>
              <a:gd name="adj" fmla="val 37500"/>
            </a:avLst>
          </a:prstGeom>
          <a:solidFill>
            <a:srgbClr val="2563A6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20" name="p20_ta_t"/>
          <p:cNvSpPr/>
          <p:nvPr/>
        </p:nvSpPr>
        <p:spPr>
          <a:xfrm>
            <a:off x="369097" y="2062886"/>
            <a:ext cx="585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1" name="h20_a"/>
          <p:cNvSpPr/>
          <p:nvPr/>
        </p:nvSpPr>
        <p:spPr>
          <a:xfrm>
            <a:off x="619882" y="4141866"/>
            <a:ext cx="3220375" cy="772485"/>
          </a:xfrm>
          <a:prstGeom prst="roundRect">
            <a:avLst>
              <a:gd name="adj" fmla="val 7102"/>
            </a:avLst>
          </a:prstGeom>
          <a:ln w="28575">
            <a:solidFill>
              <a:srgbClr val="2563A6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5597500" y="1591056"/>
            <a:ext cx="996696" cy="347472"/>
          </a:xfrm>
          <a:prstGeom prst="roundRect">
            <a:avLst>
              <a:gd name="adj" fmla="val 50000"/>
            </a:avLst>
          </a:prstGeom>
          <a:solidFill>
            <a:srgbClr val="B86A12"/>
          </a:solidFill>
          <a:ln w="12700">
            <a:solidFill>
              <a:srgbClr val="B86A12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597500" y="1591056"/>
            <a:ext cx="9966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8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4291517" y="1961388"/>
            <a:ext cx="3608661" cy="3026664"/>
          </a:xfrm>
          <a:prstGeom prst="roundRect">
            <a:avLst>
              <a:gd name="adj" fmla="val 2417"/>
            </a:avLst>
          </a:prstGeom>
          <a:solidFill>
            <a:srgbClr val="FFFFFF"/>
          </a:solidFill>
          <a:ln w="12700">
            <a:solidFill>
              <a:srgbClr val="F2DBBB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25" name="Image 1" descr="C:/NogorShomadhan/User Manual/Phase 5/New Final/5-admin-gets-notification.jpe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1809" y="2011680"/>
            <a:ext cx="3508077" cy="2926080"/>
          </a:xfrm>
          <a:prstGeom prst="rect">
            <a:avLst/>
          </a:prstGeom>
        </p:spPr>
      </p:pic>
      <p:sp>
        <p:nvSpPr>
          <p:cNvPr id="26" name="p20_cb"/>
          <p:cNvSpPr/>
          <p:nvPr/>
        </p:nvSpPr>
        <p:spPr>
          <a:xfrm>
            <a:off x="4350410" y="5175504"/>
            <a:ext cx="3490874" cy="8961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admin inbox receives the same discussion notification.</a:t>
            </a:r>
            <a:endParaRPr lang="en-US" sz="1800" dirty="0"/>
          </a:p>
        </p:txBody>
      </p:sp>
      <p:sp>
        <p:nvSpPr>
          <p:cNvPr id="27" name="p20_tb"/>
          <p:cNvSpPr/>
          <p:nvPr/>
        </p:nvSpPr>
        <p:spPr>
          <a:xfrm>
            <a:off x="4224605" y="2062886"/>
            <a:ext cx="585216" cy="365760"/>
          </a:xfrm>
          <a:prstGeom prst="roundRect">
            <a:avLst>
              <a:gd name="adj" fmla="val 37500"/>
            </a:avLst>
          </a:prstGeom>
          <a:solidFill>
            <a:srgbClr val="B86A12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28" name="p20_tb_t"/>
          <p:cNvSpPr/>
          <p:nvPr/>
        </p:nvSpPr>
        <p:spPr>
          <a:xfrm>
            <a:off x="4224605" y="2062886"/>
            <a:ext cx="585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29" name="h20_b"/>
          <p:cNvSpPr/>
          <p:nvPr/>
        </p:nvSpPr>
        <p:spPr>
          <a:xfrm>
            <a:off x="4475116" y="4141866"/>
            <a:ext cx="3241463" cy="772485"/>
          </a:xfrm>
          <a:prstGeom prst="roundRect">
            <a:avLst>
              <a:gd name="adj" fmla="val 7102"/>
            </a:avLst>
          </a:prstGeom>
          <a:ln w="28575">
            <a:solidFill>
              <a:srgbClr val="B86A12"/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>
            <a:off x="8707984" y="1591056"/>
            <a:ext cx="2507285" cy="347472"/>
          </a:xfrm>
          <a:prstGeom prst="roundRect">
            <a:avLst>
              <a:gd name="adj" fmla="val 50000"/>
            </a:avLst>
          </a:prstGeom>
          <a:solidFill>
            <a:srgbClr val="237A57"/>
          </a:solidFill>
          <a:ln w="12700">
            <a:solidFill>
              <a:srgbClr val="237A57"/>
            </a:solidFill>
            <a:prstDash val="solid"/>
          </a:ln>
        </p:spPr>
      </p:sp>
      <p:sp>
        <p:nvSpPr>
          <p:cNvPr id="31" name="Text 27"/>
          <p:cNvSpPr/>
          <p:nvPr/>
        </p:nvSpPr>
        <p:spPr>
          <a:xfrm>
            <a:off x="8707984" y="1591056"/>
            <a:ext cx="250728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8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 AUTHORITY</a:t>
            </a:r>
            <a:endParaRPr lang="en-US" sz="1400" dirty="0"/>
          </a:p>
        </p:txBody>
      </p:sp>
      <p:sp>
        <p:nvSpPr>
          <p:cNvPr id="32" name="Shape 28"/>
          <p:cNvSpPr/>
          <p:nvPr/>
        </p:nvSpPr>
        <p:spPr>
          <a:xfrm>
            <a:off x="8168707" y="1961388"/>
            <a:ext cx="3585838" cy="3026664"/>
          </a:xfrm>
          <a:prstGeom prst="roundRect">
            <a:avLst>
              <a:gd name="adj" fmla="val 2417"/>
            </a:avLst>
          </a:prstGeom>
          <a:solidFill>
            <a:srgbClr val="FFFFFF"/>
          </a:solidFill>
          <a:ln w="12700">
            <a:solidFill>
              <a:srgbClr val="C6E5D6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33" name="Image 2" descr="C:/NogorShomadhan/User Manual/Phase 5/New Final/5-community-authority-gets-notififcation.jpe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18999" y="2011680"/>
            <a:ext cx="3485254" cy="2926080"/>
          </a:xfrm>
          <a:prstGeom prst="rect">
            <a:avLst/>
          </a:prstGeom>
        </p:spPr>
      </p:pic>
      <p:sp>
        <p:nvSpPr>
          <p:cNvPr id="34" name="p20_cc"/>
          <p:cNvSpPr/>
          <p:nvPr/>
        </p:nvSpPr>
        <p:spPr>
          <a:xfrm>
            <a:off x="8216189" y="5175504"/>
            <a:ext cx="3490874" cy="8961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community authority is notified in its own inbox.</a:t>
            </a:r>
            <a:endParaRPr lang="en-US" sz="1800" dirty="0"/>
          </a:p>
        </p:txBody>
      </p:sp>
      <p:sp>
        <p:nvSpPr>
          <p:cNvPr id="35" name="p20_tc"/>
          <p:cNvSpPr/>
          <p:nvPr/>
        </p:nvSpPr>
        <p:spPr>
          <a:xfrm>
            <a:off x="8100654" y="2062886"/>
            <a:ext cx="585216" cy="365760"/>
          </a:xfrm>
          <a:prstGeom prst="roundRect">
            <a:avLst>
              <a:gd name="adj" fmla="val 37500"/>
            </a:avLst>
          </a:prstGeom>
          <a:solidFill>
            <a:srgbClr val="237A57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36" name="p20_tc_t"/>
          <p:cNvSpPr/>
          <p:nvPr/>
        </p:nvSpPr>
        <p:spPr>
          <a:xfrm>
            <a:off x="8100654" y="2062886"/>
            <a:ext cx="585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37" name="h20_c"/>
          <p:cNvSpPr/>
          <p:nvPr/>
        </p:nvSpPr>
        <p:spPr>
          <a:xfrm>
            <a:off x="8351439" y="4141866"/>
            <a:ext cx="3220375" cy="772485"/>
          </a:xfrm>
          <a:prstGeom prst="roundRect">
            <a:avLst>
              <a:gd name="adj" fmla="val 7102"/>
            </a:avLst>
          </a:prstGeom>
          <a:ln w="28575">
            <a:solidFill>
              <a:srgbClr val="237A57"/>
            </a:solidFill>
            <a:prstDash val="solid"/>
          </a:ln>
        </p:spPr>
      </p:sp>
      <p:sp>
        <p:nvSpPr>
          <p:cNvPr id="38" name="Text 33"/>
          <p:cNvSpPr/>
          <p:nvPr/>
        </p:nvSpPr>
        <p:spPr>
          <a:xfrm>
            <a:off x="411480" y="6510528"/>
            <a:ext cx="4114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Nogor Shomadhan  ·  User Manual</a:t>
            </a:r>
            <a:endParaRPr lang="en-US" sz="1100" dirty="0"/>
          </a:p>
        </p:txBody>
      </p:sp>
      <p:sp>
        <p:nvSpPr>
          <p:cNvPr id="39" name="Text 34">
            <a:hlinkClick r:id="rId4" tooltip="1. Problem Statement" action="ppaction://hlinksldjump"/>
          </p:cNvPr>
          <p:cNvSpPr/>
          <p:nvPr/>
        </p:nvSpPr>
        <p:spPr>
          <a:xfrm>
            <a:off x="727222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action="ppaction://hlinksldjump" tooltip="1. Problem Stateme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0" name="Text 35">
            <a:hlinkClick r:id="rId5" tooltip="2. Stakeholders and Responsibilities" action="ppaction://hlinksldjump"/>
          </p:cNvPr>
          <p:cNvSpPr/>
          <p:nvPr/>
        </p:nvSpPr>
        <p:spPr>
          <a:xfrm>
            <a:off x="745510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action="ppaction://hlinksldjump" tooltip="2. Stakeholders and Responsibiliti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1" name="Text 36">
            <a:hlinkClick r:id="rId6" tooltip="3. Resident Account Registration" action="ppaction://hlinksldjump"/>
          </p:cNvPr>
          <p:cNvSpPr/>
          <p:nvPr/>
        </p:nvSpPr>
        <p:spPr>
          <a:xfrm>
            <a:off x="763798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 action="ppaction://hlinksldjump" tooltip="3. Resident Account Registra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2" name="Text 37">
            <a:hlinkClick r:id="rId7" tooltip="4. Registration Request Submitted" action="ppaction://hlinksldjump"/>
          </p:cNvPr>
          <p:cNvSpPr/>
          <p:nvPr/>
        </p:nvSpPr>
        <p:spPr>
          <a:xfrm>
            <a:off x="782086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 action="ppaction://hlinksldjump" tooltip="4. Registration Request Submit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3" name="Text 38">
            <a:hlinkClick r:id="rId8" tooltip="5. Admin Receives the Verification Request" action="ppaction://hlinksldjump"/>
          </p:cNvPr>
          <p:cNvSpPr/>
          <p:nvPr/>
        </p:nvSpPr>
        <p:spPr>
          <a:xfrm>
            <a:off x="800374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" action="ppaction://hlinksldjump" tooltip="5. Admin Receives the Verification Reques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4" name="Text 39">
            <a:hlinkClick r:id="rId9" tooltip="6. Admin Reviews and Approves the Account" action="ppaction://hlinksldjump"/>
          </p:cNvPr>
          <p:cNvSpPr/>
          <p:nvPr/>
        </p:nvSpPr>
        <p:spPr>
          <a:xfrm>
            <a:off x="818662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" action="ppaction://hlinksldjump" tooltip="6. Admin Reviews and Approves the Accou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5" name="Text 40">
            <a:hlinkClick r:id="rId10" tooltip="7. Account Verification Completed" action="ppaction://hlinksldjump"/>
          </p:cNvPr>
          <p:cNvSpPr/>
          <p:nvPr/>
        </p:nvSpPr>
        <p:spPr>
          <a:xfrm>
            <a:off x="836950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0" action="ppaction://hlinksldjump" tooltip="7. Account Verification Comple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6" name="Text 41">
            <a:hlinkClick r:id="rId11" tooltip="8. Create a New Complaint" action="ppaction://hlinksldjump"/>
          </p:cNvPr>
          <p:cNvSpPr/>
          <p:nvPr/>
        </p:nvSpPr>
        <p:spPr>
          <a:xfrm>
            <a:off x="855238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1" action="ppaction://hlinksldjump" tooltip="8. Create a New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7" name="Text 42">
            <a:hlinkClick r:id="rId12" tooltip="9. Add Evidence and Review the Category" action="ppaction://hlinksldjump"/>
          </p:cNvPr>
          <p:cNvSpPr/>
          <p:nvPr/>
        </p:nvSpPr>
        <p:spPr>
          <a:xfrm>
            <a:off x="873526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2" action="ppaction://hlinksldjump" tooltip="9. Add Evidence and Review the Categor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8" name="Text 43">
            <a:hlinkClick r:id="rId13" tooltip="10. Confirm the Complaint Submission" action="ppaction://hlinksldjump"/>
          </p:cNvPr>
          <p:cNvSpPr/>
          <p:nvPr/>
        </p:nvSpPr>
        <p:spPr>
          <a:xfrm>
            <a:off x="891814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3" action="ppaction://hlinksldjump" tooltip="10. Confirm the Complaint Submiss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9" name="Text 44">
            <a:hlinkClick r:id="rId14" tooltip="11. Admin Opens the Review Queue" action="ppaction://hlinksldjump"/>
          </p:cNvPr>
          <p:cNvSpPr/>
          <p:nvPr/>
        </p:nvSpPr>
        <p:spPr>
          <a:xfrm>
            <a:off x="910102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4" action="ppaction://hlinksldjump" tooltip="11. Admin Opens the Review Queu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0" name="Text 45">
            <a:hlinkClick r:id="rId15" tooltip="12. Complaint Check and Duplicate Comparison" action="ppaction://hlinksldjump"/>
          </p:cNvPr>
          <p:cNvSpPr/>
          <p:nvPr/>
        </p:nvSpPr>
        <p:spPr>
          <a:xfrm>
            <a:off x="928390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5" action="ppaction://hlinksldjump" tooltip="12. Complaint Check and Duplicate Compari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1" name="Text 46">
            <a:hlinkClick r:id="rId16" tooltip="13. Duplicate Review Outcomes" action="ppaction://hlinksldjump"/>
          </p:cNvPr>
          <p:cNvSpPr/>
          <p:nvPr/>
        </p:nvSpPr>
        <p:spPr>
          <a:xfrm>
            <a:off x="946678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6" action="ppaction://hlinksldjump" tooltip="13. Duplicate Review Outcom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2" name="Text 47">
            <a:hlinkClick r:id="rId17" tooltip="14. Pending Complaint Visibility" action="ppaction://hlinksldjump"/>
          </p:cNvPr>
          <p:cNvSpPr/>
          <p:nvPr/>
        </p:nvSpPr>
        <p:spPr>
          <a:xfrm>
            <a:off x="964966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7" action="ppaction://hlinksldjump" tooltip="14. Pending Complaint Visibilit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3" name="Text 48">
            <a:hlinkClick r:id="rId18" tooltip="15. Authority Opens the Complaint" action="ppaction://hlinksldjump"/>
          </p:cNvPr>
          <p:cNvSpPr/>
          <p:nvPr/>
        </p:nvSpPr>
        <p:spPr>
          <a:xfrm>
            <a:off x="983254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8" action="ppaction://hlinksldjump" tooltip="15. Authority Opens the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4" name="Text 49">
            <a:hlinkClick r:id="rId19" tooltip="16. Assign a Contractor and Start Work" action="ppaction://hlinksldjump"/>
          </p:cNvPr>
          <p:cNvSpPr/>
          <p:nvPr/>
        </p:nvSpPr>
        <p:spPr>
          <a:xfrm>
            <a:off x="1001542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9" action="ppaction://hlinksldjump" tooltip="16. Assign a Contractor and Start Work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5" name="Text 50">
            <a:hlinkClick r:id="rId20" tooltip="17. The Complaint Moves to In Progress" action="ppaction://hlinksldjump"/>
          </p:cNvPr>
          <p:cNvSpPr/>
          <p:nvPr/>
        </p:nvSpPr>
        <p:spPr>
          <a:xfrm>
            <a:off x="1019830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0" action="ppaction://hlinksldjump" tooltip="17. The Complaint Moves to In Progres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6" name="Text 51">
            <a:hlinkClick r:id="rId21" tooltip="18. Residents See the Progress Update" action="ppaction://hlinksldjump"/>
          </p:cNvPr>
          <p:cNvSpPr/>
          <p:nvPr/>
        </p:nvSpPr>
        <p:spPr>
          <a:xfrm>
            <a:off x="1038118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1" action="ppaction://hlinksldjump" tooltip="18. Residents See the Progress Updat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7" name="Text 52">
            <a:hlinkClick r:id="rId22" tooltip="19. Resident Starts a Forum Discussion" action="ppaction://hlinksldjump"/>
          </p:cNvPr>
          <p:cNvSpPr/>
          <p:nvPr/>
        </p:nvSpPr>
        <p:spPr>
          <a:xfrm>
            <a:off x="1056406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2" action="ppaction://hlinksldjump" tooltip="19. Resident Starts a Forum Discuss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8" name="Text 53">
            <a:hlinkClick r:id="rId23" tooltip="20. Everyone Is Notified" action="ppaction://hlinksldjump"/>
          </p:cNvPr>
          <p:cNvSpPr/>
          <p:nvPr/>
        </p:nvSpPr>
        <p:spPr>
          <a:xfrm>
            <a:off x="10746943" y="6528816"/>
            <a:ext cx="118872" cy="118872"/>
          </a:xfrm>
          <a:prstGeom prst="ellipse">
            <a:avLst/>
          </a:prstGeom>
          <a:solidFill>
            <a:srgbClr val="475467"/>
          </a:solidFill>
          <a:ln>
            <a:solidFill>
              <a:srgbClr val="4754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3" action="ppaction://hlinksldjump" tooltip="20. Everyone Is Notifi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9" name="Text 54">
            <a:hlinkClick r:id="rId24" tooltip="21. Open the Post and Discuss" action="ppaction://hlinksldjump"/>
          </p:cNvPr>
          <p:cNvSpPr/>
          <p:nvPr/>
        </p:nvSpPr>
        <p:spPr>
          <a:xfrm>
            <a:off x="1092982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4" action="ppaction://hlinksldjump" tooltip="21. Open the Post and Discus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0" name="Text 55">
            <a:hlinkClick r:id="rId25" tooltip="22. Authority Updates the Work" action="ppaction://hlinksldjump"/>
          </p:cNvPr>
          <p:cNvSpPr/>
          <p:nvPr/>
        </p:nvSpPr>
        <p:spPr>
          <a:xfrm>
            <a:off x="1111270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5" action="ppaction://hlinksldjump" tooltip="22. Authority Updates the Work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1" name="Text 56">
            <a:hlinkClick r:id="rId26" tooltip="23. Authority Resolves the Complaint" action="ppaction://hlinksldjump"/>
          </p:cNvPr>
          <p:cNvSpPr/>
          <p:nvPr/>
        </p:nvSpPr>
        <p:spPr>
          <a:xfrm>
            <a:off x="1129558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6" action="ppaction://hlinksldjump" tooltip="23. Authority Resolves the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2" name="Text 57">
            <a:hlinkClick r:id="rId27" tooltip="24. Residents Give Feedback" action="ppaction://hlinksldjump"/>
          </p:cNvPr>
          <p:cNvSpPr/>
          <p:nvPr/>
        </p:nvSpPr>
        <p:spPr>
          <a:xfrm>
            <a:off x="1147846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7" action="ppaction://hlinksldjump" tooltip="24. Residents Give Feedback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3" name="Text 58">
            <a:hlinkClick r:id="rId28" tooltip="25. Feedback Is Public and Answered" action="ppaction://hlinksldjump"/>
          </p:cNvPr>
          <p:cNvSpPr/>
          <p:nvPr/>
        </p:nvSpPr>
        <p:spPr>
          <a:xfrm>
            <a:off x="1166134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8" action="ppaction://hlinksldjump" tooltip="25. Feedback Is Public and Answer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4" name="Text 59"/>
          <p:cNvSpPr/>
          <p:nvPr/>
        </p:nvSpPr>
        <p:spPr>
          <a:xfrm>
            <a:off x="6449263" y="6510528"/>
            <a:ext cx="7132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/ 25</a:t>
            </a:r>
            <a:endParaRPr lang="en-US" sz="11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2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2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2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2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2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2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2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2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475467"/>
          </a:solidFill>
          <a:ln/>
        </p:spPr>
      </p:sp>
      <p:sp>
        <p:nvSpPr>
          <p:cNvPr id="3" name="Shape 1"/>
          <p:cNvSpPr/>
          <p:nvPr/>
        </p:nvSpPr>
        <p:spPr>
          <a:xfrm>
            <a:off x="411480" y="329184"/>
            <a:ext cx="621792" cy="621792"/>
          </a:xfrm>
          <a:prstGeom prst="roundRect">
            <a:avLst>
              <a:gd name="adj" fmla="val 23529"/>
            </a:avLst>
          </a:prstGeom>
          <a:solidFill>
            <a:srgbClr val="475467"/>
          </a:solidFill>
          <a:ln w="12700">
            <a:solidFill>
              <a:srgbClr val="475467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411480" y="329184"/>
            <a:ext cx="62179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1188720" y="329184"/>
            <a:ext cx="768096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4754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5  ·  COMMUNITY FORUM DISCUSSION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52144" y="548640"/>
            <a:ext cx="8321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Post and Discuss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10679278" y="475488"/>
            <a:ext cx="1100938" cy="420624"/>
          </a:xfrm>
          <a:prstGeom prst="roundRect">
            <a:avLst>
              <a:gd name="adj" fmla="val 50000"/>
            </a:avLst>
          </a:prstGeom>
          <a:solidFill>
            <a:srgbClr val="2563A6"/>
          </a:solidFill>
          <a:ln w="12700">
            <a:solidFill>
              <a:srgbClr val="2563A6"/>
            </a:solidFill>
            <a:prstDash val="solid"/>
          </a:ln>
          <a:effectLst>
            <a:outerShdw sx="100000" sy="100000" kx="0" ky="0" algn="bl" rotWithShape="0" blurRad="76200" dist="12700" dir="5400000">
              <a:srgbClr val="0B2239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0679278" y="475488"/>
            <a:ext cx="110093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9333281" y="475488"/>
            <a:ext cx="1199693" cy="420624"/>
          </a:xfrm>
          <a:prstGeom prst="roundRect">
            <a:avLst>
              <a:gd name="adj" fmla="val 50000"/>
            </a:avLst>
          </a:prstGeom>
          <a:solidFill>
            <a:srgbClr val="237A57"/>
          </a:solidFill>
          <a:ln w="12700">
            <a:solidFill>
              <a:srgbClr val="237A57"/>
            </a:solidFill>
            <a:prstDash val="solid"/>
          </a:ln>
          <a:effectLst>
            <a:outerShdw sx="100000" sy="100000" kx="0" ky="0" algn="bl" rotWithShape="0" blurRad="76200" dist="12700" dir="5400000">
              <a:srgbClr val="0B2239">
                <a:alpha val="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9333281" y="475488"/>
            <a:ext cx="1199693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Authority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11480" y="1216152"/>
            <a:ext cx="11368735" cy="18288"/>
          </a:xfrm>
          <a:prstGeom prst="rect">
            <a:avLst/>
          </a:prstGeom>
          <a:solidFill>
            <a:srgbClr val="DDE1E7"/>
          </a:solidFill>
          <a:ln/>
        </p:spPr>
      </p:sp>
      <p:sp>
        <p:nvSpPr>
          <p:cNvPr id="12" name="Shape 10"/>
          <p:cNvSpPr/>
          <p:nvPr/>
        </p:nvSpPr>
        <p:spPr>
          <a:xfrm>
            <a:off x="502920" y="1463040"/>
            <a:ext cx="3035808" cy="347472"/>
          </a:xfrm>
          <a:prstGeom prst="roundRect">
            <a:avLst>
              <a:gd name="adj" fmla="val 50000"/>
            </a:avLst>
          </a:prstGeom>
          <a:solidFill>
            <a:srgbClr val="237A57"/>
          </a:solidFill>
          <a:ln w="12700">
            <a:solidFill>
              <a:srgbClr val="237A5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1463040"/>
            <a:ext cx="30358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8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AUTHORITY OPENS THE POST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2628" y="1833372"/>
            <a:ext cx="4032504" cy="3386219"/>
          </a:xfrm>
          <a:prstGeom prst="roundRect">
            <a:avLst>
              <a:gd name="adj" fmla="val 2160"/>
            </a:avLst>
          </a:prstGeom>
          <a:solidFill>
            <a:srgbClr val="FFFFFF"/>
          </a:solidFill>
          <a:ln w="12700">
            <a:solidFill>
              <a:srgbClr val="C6E5D6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15" name="Image 0" descr="C:/NogorShomadhan/User Manual/Phase 5/New Final/6-they-navigate-to-this-notification-through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883664"/>
            <a:ext cx="3931920" cy="3285635"/>
          </a:xfrm>
          <a:prstGeom prst="rect">
            <a:avLst/>
          </a:prstGeom>
        </p:spPr>
      </p:pic>
      <p:sp>
        <p:nvSpPr>
          <p:cNvPr id="16" name="p21_ca"/>
          <p:cNvSpPr/>
          <p:nvPr/>
        </p:nvSpPr>
        <p:spPr>
          <a:xfrm>
            <a:off x="411480" y="5388755"/>
            <a:ext cx="4114800" cy="8961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Selecting the notification opens the discussion directly, ready to reply.</a:t>
            </a:r>
            <a:endParaRPr lang="en-US" sz="1800" dirty="0"/>
          </a:p>
        </p:txBody>
      </p:sp>
      <p:sp>
        <p:nvSpPr>
          <p:cNvPr id="17" name="p21_ta"/>
          <p:cNvSpPr/>
          <p:nvPr/>
        </p:nvSpPr>
        <p:spPr>
          <a:xfrm>
            <a:off x="406908" y="1980063"/>
            <a:ext cx="585216" cy="365760"/>
          </a:xfrm>
          <a:prstGeom prst="roundRect">
            <a:avLst>
              <a:gd name="adj" fmla="val 37500"/>
            </a:avLst>
          </a:prstGeom>
          <a:solidFill>
            <a:srgbClr val="237A57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18" name="p21_ta_t"/>
          <p:cNvSpPr/>
          <p:nvPr/>
        </p:nvSpPr>
        <p:spPr>
          <a:xfrm>
            <a:off x="406908" y="1980063"/>
            <a:ext cx="585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19" name="h21_a"/>
          <p:cNvSpPr/>
          <p:nvPr/>
        </p:nvSpPr>
        <p:spPr>
          <a:xfrm>
            <a:off x="801746" y="4571314"/>
            <a:ext cx="2925348" cy="374562"/>
          </a:xfrm>
          <a:prstGeom prst="roundRect">
            <a:avLst>
              <a:gd name="adj" fmla="val 14648"/>
            </a:avLst>
          </a:prstGeom>
          <a:ln w="28575">
            <a:solidFill>
              <a:srgbClr val="237A57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5431536" y="1463040"/>
            <a:ext cx="1298448" cy="347472"/>
          </a:xfrm>
          <a:prstGeom prst="roundRect">
            <a:avLst>
              <a:gd name="adj" fmla="val 50000"/>
            </a:avLst>
          </a:prstGeom>
          <a:solidFill>
            <a:srgbClr val="2563A6"/>
          </a:solidFill>
          <a:ln w="12700">
            <a:solidFill>
              <a:srgbClr val="2563A6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5431536" y="1463040"/>
            <a:ext cx="1298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8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4917472" y="1833372"/>
            <a:ext cx="2326576" cy="4443984"/>
          </a:xfrm>
          <a:prstGeom prst="roundRect">
            <a:avLst>
              <a:gd name="adj" fmla="val 3144"/>
            </a:avLst>
          </a:prstGeom>
          <a:solidFill>
            <a:srgbClr val="FFFFFF"/>
          </a:solidFill>
          <a:ln w="12700">
            <a:solidFill>
              <a:srgbClr val="CFE3F4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23" name="Image 1" descr="C:/NogorShomadhan/User Manual/Phase 5/New Final/7-everyone-comments-replies.jpe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7764" y="1883664"/>
            <a:ext cx="2225992" cy="4343400"/>
          </a:xfrm>
          <a:prstGeom prst="rect">
            <a:avLst/>
          </a:prstGeom>
        </p:spPr>
      </p:pic>
      <p:sp>
        <p:nvSpPr>
          <p:cNvPr id="24" name="p21_tb"/>
          <p:cNvSpPr/>
          <p:nvPr/>
        </p:nvSpPr>
        <p:spPr>
          <a:xfrm>
            <a:off x="4830975" y="1909267"/>
            <a:ext cx="585216" cy="365760"/>
          </a:xfrm>
          <a:prstGeom prst="roundRect">
            <a:avLst>
              <a:gd name="adj" fmla="val 37500"/>
            </a:avLst>
          </a:prstGeom>
          <a:solidFill>
            <a:srgbClr val="2563A6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25" name="p21_tb_t"/>
          <p:cNvSpPr/>
          <p:nvPr/>
        </p:nvSpPr>
        <p:spPr>
          <a:xfrm>
            <a:off x="4830975" y="1909267"/>
            <a:ext cx="585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600" dirty="0"/>
          </a:p>
        </p:txBody>
      </p:sp>
      <p:sp>
        <p:nvSpPr>
          <p:cNvPr id="26" name="h21_b1"/>
          <p:cNvSpPr/>
          <p:nvPr/>
        </p:nvSpPr>
        <p:spPr>
          <a:xfrm>
            <a:off x="5123583" y="3195371"/>
            <a:ext cx="556498" cy="147676"/>
          </a:xfrm>
          <a:prstGeom prst="roundRect">
            <a:avLst>
              <a:gd name="adj" fmla="val 37152"/>
            </a:avLst>
          </a:prstGeom>
          <a:ln w="28575">
            <a:solidFill>
              <a:srgbClr val="2563A6"/>
            </a:solidFill>
            <a:prstDash val="solid"/>
          </a:ln>
        </p:spPr>
      </p:sp>
      <p:sp>
        <p:nvSpPr>
          <p:cNvPr id="27" name="h21_b2"/>
          <p:cNvSpPr/>
          <p:nvPr/>
        </p:nvSpPr>
        <p:spPr>
          <a:xfrm>
            <a:off x="5230431" y="3786073"/>
            <a:ext cx="1803054" cy="503834"/>
          </a:xfrm>
          <a:prstGeom prst="roundRect">
            <a:avLst>
              <a:gd name="adj" fmla="val 10889"/>
            </a:avLst>
          </a:prstGeom>
          <a:ln w="28575">
            <a:solidFill>
              <a:srgbClr val="B86A12"/>
            </a:solidFill>
            <a:prstDash val="solid"/>
          </a:ln>
        </p:spPr>
      </p:sp>
      <p:sp>
        <p:nvSpPr>
          <p:cNvPr id="28" name="h21_b3"/>
          <p:cNvSpPr/>
          <p:nvPr/>
        </p:nvSpPr>
        <p:spPr>
          <a:xfrm>
            <a:off x="5123583" y="4819802"/>
            <a:ext cx="1905450" cy="1025042"/>
          </a:xfrm>
          <a:prstGeom prst="roundRect">
            <a:avLst>
              <a:gd name="adj" fmla="val 5352"/>
            </a:avLst>
          </a:prstGeom>
          <a:ln w="28575">
            <a:solidFill>
              <a:srgbClr val="237A57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7726680" y="1883664"/>
            <a:ext cx="4053535" cy="4343400"/>
          </a:xfrm>
          <a:prstGeom prst="roundRect">
            <a:avLst>
              <a:gd name="adj" fmla="val 2707"/>
            </a:avLst>
          </a:prstGeom>
          <a:solidFill>
            <a:srgbClr val="FFFFFF"/>
          </a:solidFill>
          <a:ln w="12700">
            <a:solidFill>
              <a:srgbClr val="DDE1E7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30" name="Text 26"/>
          <p:cNvSpPr/>
          <p:nvPr/>
        </p:nvSpPr>
        <p:spPr>
          <a:xfrm>
            <a:off x="7982712" y="2066544"/>
            <a:ext cx="3541471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30" kern="0" dirty="0">
                <a:solidFill>
                  <a:srgbClr val="4754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EVERYONE REPLIES IN ONE THREAD</a:t>
            </a:r>
            <a:endParaRPr lang="en-US" sz="1300" dirty="0"/>
          </a:p>
        </p:txBody>
      </p:sp>
      <p:sp>
        <p:nvSpPr>
          <p:cNvPr id="31" name="p21_cc"/>
          <p:cNvSpPr/>
          <p:nvPr/>
        </p:nvSpPr>
        <p:spPr>
          <a:xfrm>
            <a:off x="7982712" y="2377440"/>
            <a:ext cx="3541471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Residents, the admin, and the community authority all answer in the same discussion. Official replies are badged so residents can tell them apart.</a:t>
            </a:r>
            <a:endParaRPr lang="en-US" sz="1800" dirty="0"/>
          </a:p>
        </p:txBody>
      </p:sp>
      <p:sp>
        <p:nvSpPr>
          <p:cNvPr id="32" name="Text 28"/>
          <p:cNvSpPr/>
          <p:nvPr/>
        </p:nvSpPr>
        <p:spPr>
          <a:xfrm>
            <a:off x="7982712" y="3913632"/>
            <a:ext cx="3541471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30" kern="0" dirty="0">
                <a:solidFill>
                  <a:srgbClr val="4754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TOOK PART</a:t>
            </a:r>
            <a:endParaRPr lang="en-US" sz="1300" dirty="0"/>
          </a:p>
        </p:txBody>
      </p:sp>
      <p:sp>
        <p:nvSpPr>
          <p:cNvPr id="33" name="Shape 29"/>
          <p:cNvSpPr/>
          <p:nvPr/>
        </p:nvSpPr>
        <p:spPr>
          <a:xfrm>
            <a:off x="7982712" y="4270248"/>
            <a:ext cx="146304" cy="146304"/>
          </a:xfrm>
          <a:prstGeom prst="ellipse">
            <a:avLst/>
          </a:prstGeom>
          <a:solidFill>
            <a:srgbClr val="2563A6"/>
          </a:solidFill>
          <a:ln w="12700">
            <a:solidFill>
              <a:srgbClr val="2563A6"/>
            </a:solidFill>
            <a:prstDash val="solid"/>
          </a:ln>
        </p:spPr>
      </p:sp>
      <p:sp>
        <p:nvSpPr>
          <p:cNvPr id="34" name="Text 30"/>
          <p:cNvSpPr/>
          <p:nvPr/>
        </p:nvSpPr>
        <p:spPr>
          <a:xfrm>
            <a:off x="8238744" y="4206240"/>
            <a:ext cx="328543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Residents — follow-up questions</a:t>
            </a:r>
            <a:endParaRPr lang="en-US" sz="1700" dirty="0"/>
          </a:p>
        </p:txBody>
      </p:sp>
      <p:sp>
        <p:nvSpPr>
          <p:cNvPr id="35" name="Shape 31"/>
          <p:cNvSpPr/>
          <p:nvPr/>
        </p:nvSpPr>
        <p:spPr>
          <a:xfrm>
            <a:off x="7982712" y="4654296"/>
            <a:ext cx="146304" cy="146304"/>
          </a:xfrm>
          <a:prstGeom prst="ellipse">
            <a:avLst/>
          </a:prstGeom>
          <a:solidFill>
            <a:srgbClr val="B86A12"/>
          </a:solidFill>
          <a:ln w="12700">
            <a:solidFill>
              <a:srgbClr val="B86A12"/>
            </a:solidFill>
            <a:prstDash val="solid"/>
          </a:ln>
        </p:spPr>
      </p:sp>
      <p:sp>
        <p:nvSpPr>
          <p:cNvPr id="36" name="Text 32"/>
          <p:cNvSpPr/>
          <p:nvPr/>
        </p:nvSpPr>
        <p:spPr>
          <a:xfrm>
            <a:off x="8238744" y="4590288"/>
            <a:ext cx="328543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— progress replies</a:t>
            </a:r>
            <a:endParaRPr lang="en-US" sz="1700" dirty="0"/>
          </a:p>
        </p:txBody>
      </p:sp>
      <p:sp>
        <p:nvSpPr>
          <p:cNvPr id="37" name="Shape 33"/>
          <p:cNvSpPr/>
          <p:nvPr/>
        </p:nvSpPr>
        <p:spPr>
          <a:xfrm>
            <a:off x="7982712" y="5038344"/>
            <a:ext cx="146304" cy="146304"/>
          </a:xfrm>
          <a:prstGeom prst="ellipse">
            <a:avLst/>
          </a:prstGeom>
          <a:solidFill>
            <a:srgbClr val="237A57"/>
          </a:solidFill>
          <a:ln w="12700">
            <a:solidFill>
              <a:srgbClr val="237A57"/>
            </a:solidFill>
            <a:prstDash val="solid"/>
          </a:ln>
        </p:spPr>
      </p:sp>
      <p:sp>
        <p:nvSpPr>
          <p:cNvPr id="38" name="Text 34"/>
          <p:cNvSpPr/>
          <p:nvPr/>
        </p:nvSpPr>
        <p:spPr>
          <a:xfrm>
            <a:off x="8238744" y="4974336"/>
            <a:ext cx="328543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Authority — work updates</a:t>
            </a:r>
            <a:endParaRPr lang="en-US" sz="1700" dirty="0"/>
          </a:p>
        </p:txBody>
      </p:sp>
      <p:sp>
        <p:nvSpPr>
          <p:cNvPr id="39" name="p21_cd"/>
          <p:cNvSpPr/>
          <p:nvPr/>
        </p:nvSpPr>
        <p:spPr>
          <a:xfrm>
            <a:off x="7982712" y="5468112"/>
            <a:ext cx="3541471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new comment is sent to the other participants as a notification.</a:t>
            </a:r>
            <a:endParaRPr lang="en-US" sz="1700" dirty="0"/>
          </a:p>
        </p:txBody>
      </p:sp>
      <p:sp>
        <p:nvSpPr>
          <p:cNvPr id="40" name="Text 36"/>
          <p:cNvSpPr/>
          <p:nvPr/>
        </p:nvSpPr>
        <p:spPr>
          <a:xfrm>
            <a:off x="411480" y="6510528"/>
            <a:ext cx="4114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Nogor Shomadhan  ·  User Manual</a:t>
            </a:r>
            <a:endParaRPr lang="en-US" sz="1100" dirty="0"/>
          </a:p>
        </p:txBody>
      </p:sp>
      <p:sp>
        <p:nvSpPr>
          <p:cNvPr id="41" name="Text 37">
            <a:hlinkClick r:id="rId3" tooltip="1. Problem Statement" action="ppaction://hlinksldjump"/>
          </p:cNvPr>
          <p:cNvSpPr/>
          <p:nvPr/>
        </p:nvSpPr>
        <p:spPr>
          <a:xfrm>
            <a:off x="727222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action="ppaction://hlinksldjump" tooltip="1. Problem Stateme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2" name="Text 38">
            <a:hlinkClick r:id="rId4" tooltip="2. Stakeholders and Responsibilities" action="ppaction://hlinksldjump"/>
          </p:cNvPr>
          <p:cNvSpPr/>
          <p:nvPr/>
        </p:nvSpPr>
        <p:spPr>
          <a:xfrm>
            <a:off x="745510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action="ppaction://hlinksldjump" tooltip="2. Stakeholders and Responsibiliti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3" name="Text 39">
            <a:hlinkClick r:id="rId5" tooltip="3. Resident Account Registration" action="ppaction://hlinksldjump"/>
          </p:cNvPr>
          <p:cNvSpPr/>
          <p:nvPr/>
        </p:nvSpPr>
        <p:spPr>
          <a:xfrm>
            <a:off x="763798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action="ppaction://hlinksldjump" tooltip="3. Resident Account Registra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4" name="Text 40">
            <a:hlinkClick r:id="rId6" tooltip="4. Registration Request Submitted" action="ppaction://hlinksldjump"/>
          </p:cNvPr>
          <p:cNvSpPr/>
          <p:nvPr/>
        </p:nvSpPr>
        <p:spPr>
          <a:xfrm>
            <a:off x="782086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 action="ppaction://hlinksldjump" tooltip="4. Registration Request Submit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5" name="Text 41">
            <a:hlinkClick r:id="rId7" tooltip="5. Admin Receives the Verification Request" action="ppaction://hlinksldjump"/>
          </p:cNvPr>
          <p:cNvSpPr/>
          <p:nvPr/>
        </p:nvSpPr>
        <p:spPr>
          <a:xfrm>
            <a:off x="800374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 action="ppaction://hlinksldjump" tooltip="5. Admin Receives the Verification Reques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6" name="Text 42">
            <a:hlinkClick r:id="rId8" tooltip="6. Admin Reviews and Approves the Account" action="ppaction://hlinksldjump"/>
          </p:cNvPr>
          <p:cNvSpPr/>
          <p:nvPr/>
        </p:nvSpPr>
        <p:spPr>
          <a:xfrm>
            <a:off x="818662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" action="ppaction://hlinksldjump" tooltip="6. Admin Reviews and Approves the Accou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7" name="Text 43">
            <a:hlinkClick r:id="rId9" tooltip="7. Account Verification Completed" action="ppaction://hlinksldjump"/>
          </p:cNvPr>
          <p:cNvSpPr/>
          <p:nvPr/>
        </p:nvSpPr>
        <p:spPr>
          <a:xfrm>
            <a:off x="836950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" action="ppaction://hlinksldjump" tooltip="7. Account Verification Comple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8" name="Text 44">
            <a:hlinkClick r:id="rId10" tooltip="8. Create a New Complaint" action="ppaction://hlinksldjump"/>
          </p:cNvPr>
          <p:cNvSpPr/>
          <p:nvPr/>
        </p:nvSpPr>
        <p:spPr>
          <a:xfrm>
            <a:off x="855238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0" action="ppaction://hlinksldjump" tooltip="8. Create a New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9" name="Text 45">
            <a:hlinkClick r:id="rId11" tooltip="9. Add Evidence and Review the Category" action="ppaction://hlinksldjump"/>
          </p:cNvPr>
          <p:cNvSpPr/>
          <p:nvPr/>
        </p:nvSpPr>
        <p:spPr>
          <a:xfrm>
            <a:off x="873526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1" action="ppaction://hlinksldjump" tooltip="9. Add Evidence and Review the Categor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0" name="Text 46">
            <a:hlinkClick r:id="rId12" tooltip="10. Confirm the Complaint Submission" action="ppaction://hlinksldjump"/>
          </p:cNvPr>
          <p:cNvSpPr/>
          <p:nvPr/>
        </p:nvSpPr>
        <p:spPr>
          <a:xfrm>
            <a:off x="891814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2" action="ppaction://hlinksldjump" tooltip="10. Confirm the Complaint Submiss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1" name="Text 47">
            <a:hlinkClick r:id="rId13" tooltip="11. Admin Opens the Review Queue" action="ppaction://hlinksldjump"/>
          </p:cNvPr>
          <p:cNvSpPr/>
          <p:nvPr/>
        </p:nvSpPr>
        <p:spPr>
          <a:xfrm>
            <a:off x="910102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3" action="ppaction://hlinksldjump" tooltip="11. Admin Opens the Review Queu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2" name="Text 48">
            <a:hlinkClick r:id="rId14" tooltip="12. Complaint Check and Duplicate Comparison" action="ppaction://hlinksldjump"/>
          </p:cNvPr>
          <p:cNvSpPr/>
          <p:nvPr/>
        </p:nvSpPr>
        <p:spPr>
          <a:xfrm>
            <a:off x="928390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4" action="ppaction://hlinksldjump" tooltip="12. Complaint Check and Duplicate Compari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3" name="Text 49">
            <a:hlinkClick r:id="rId15" tooltip="13. Duplicate Review Outcomes" action="ppaction://hlinksldjump"/>
          </p:cNvPr>
          <p:cNvSpPr/>
          <p:nvPr/>
        </p:nvSpPr>
        <p:spPr>
          <a:xfrm>
            <a:off x="946678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5" action="ppaction://hlinksldjump" tooltip="13. Duplicate Review Outcom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4" name="Text 50">
            <a:hlinkClick r:id="rId16" tooltip="14. Pending Complaint Visibility" action="ppaction://hlinksldjump"/>
          </p:cNvPr>
          <p:cNvSpPr/>
          <p:nvPr/>
        </p:nvSpPr>
        <p:spPr>
          <a:xfrm>
            <a:off x="964966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6" action="ppaction://hlinksldjump" tooltip="14. Pending Complaint Visibilit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5" name="Text 51">
            <a:hlinkClick r:id="rId17" tooltip="15. Authority Opens the Complaint" action="ppaction://hlinksldjump"/>
          </p:cNvPr>
          <p:cNvSpPr/>
          <p:nvPr/>
        </p:nvSpPr>
        <p:spPr>
          <a:xfrm>
            <a:off x="983254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7" action="ppaction://hlinksldjump" tooltip="15. Authority Opens the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6" name="Text 52">
            <a:hlinkClick r:id="rId18" tooltip="16. Assign a Contractor and Start Work" action="ppaction://hlinksldjump"/>
          </p:cNvPr>
          <p:cNvSpPr/>
          <p:nvPr/>
        </p:nvSpPr>
        <p:spPr>
          <a:xfrm>
            <a:off x="1001542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8" action="ppaction://hlinksldjump" tooltip="16. Assign a Contractor and Start Work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7" name="Text 53">
            <a:hlinkClick r:id="rId19" tooltip="17. The Complaint Moves to In Progress" action="ppaction://hlinksldjump"/>
          </p:cNvPr>
          <p:cNvSpPr/>
          <p:nvPr/>
        </p:nvSpPr>
        <p:spPr>
          <a:xfrm>
            <a:off x="1019830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9" action="ppaction://hlinksldjump" tooltip="17. The Complaint Moves to In Progres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8" name="Text 54">
            <a:hlinkClick r:id="rId20" tooltip="18. Residents See the Progress Update" action="ppaction://hlinksldjump"/>
          </p:cNvPr>
          <p:cNvSpPr/>
          <p:nvPr/>
        </p:nvSpPr>
        <p:spPr>
          <a:xfrm>
            <a:off x="1038118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0" action="ppaction://hlinksldjump" tooltip="18. Residents See the Progress Updat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9" name="Text 55">
            <a:hlinkClick r:id="rId21" tooltip="19. Resident Starts a Forum Discussion" action="ppaction://hlinksldjump"/>
          </p:cNvPr>
          <p:cNvSpPr/>
          <p:nvPr/>
        </p:nvSpPr>
        <p:spPr>
          <a:xfrm>
            <a:off x="1056406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1" action="ppaction://hlinksldjump" tooltip="19. Resident Starts a Forum Discuss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0" name="Text 56">
            <a:hlinkClick r:id="rId22" tooltip="20. Everyone Is Notified" action="ppaction://hlinksldjump"/>
          </p:cNvPr>
          <p:cNvSpPr/>
          <p:nvPr/>
        </p:nvSpPr>
        <p:spPr>
          <a:xfrm>
            <a:off x="1074694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2" action="ppaction://hlinksldjump" tooltip="20. Everyone Is Notifi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1" name="Text 57">
            <a:hlinkClick r:id="rId23" tooltip="21. Open the Post and Discuss" action="ppaction://hlinksldjump"/>
          </p:cNvPr>
          <p:cNvSpPr/>
          <p:nvPr/>
        </p:nvSpPr>
        <p:spPr>
          <a:xfrm>
            <a:off x="10929823" y="6528816"/>
            <a:ext cx="118872" cy="118872"/>
          </a:xfrm>
          <a:prstGeom prst="ellipse">
            <a:avLst/>
          </a:prstGeom>
          <a:solidFill>
            <a:srgbClr val="475467"/>
          </a:solidFill>
          <a:ln>
            <a:solidFill>
              <a:srgbClr val="4754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3" action="ppaction://hlinksldjump" tooltip="21. Open the Post and Discus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2" name="Text 58">
            <a:hlinkClick r:id="rId24" tooltip="22. Authority Updates the Work" action="ppaction://hlinksldjump"/>
          </p:cNvPr>
          <p:cNvSpPr/>
          <p:nvPr/>
        </p:nvSpPr>
        <p:spPr>
          <a:xfrm>
            <a:off x="1111270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4" action="ppaction://hlinksldjump" tooltip="22. Authority Updates the Work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3" name="Text 59">
            <a:hlinkClick r:id="rId25" tooltip="23. Authority Resolves the Complaint" action="ppaction://hlinksldjump"/>
          </p:cNvPr>
          <p:cNvSpPr/>
          <p:nvPr/>
        </p:nvSpPr>
        <p:spPr>
          <a:xfrm>
            <a:off x="1129558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5" action="ppaction://hlinksldjump" tooltip="23. Authority Resolves the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4" name="Text 60">
            <a:hlinkClick r:id="rId26" tooltip="24. Residents Give Feedback" action="ppaction://hlinksldjump"/>
          </p:cNvPr>
          <p:cNvSpPr/>
          <p:nvPr/>
        </p:nvSpPr>
        <p:spPr>
          <a:xfrm>
            <a:off x="1147846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6" action="ppaction://hlinksldjump" tooltip="24. Residents Give Feedback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5" name="Text 61">
            <a:hlinkClick r:id="rId27" tooltip="25. Feedback Is Public and Answered" action="ppaction://hlinksldjump"/>
          </p:cNvPr>
          <p:cNvSpPr/>
          <p:nvPr/>
        </p:nvSpPr>
        <p:spPr>
          <a:xfrm>
            <a:off x="1166134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7" action="ppaction://hlinksldjump" tooltip="25. Feedback Is Public and Answer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6" name="Text 62"/>
          <p:cNvSpPr/>
          <p:nvPr/>
        </p:nvSpPr>
        <p:spPr>
          <a:xfrm>
            <a:off x="6449263" y="6510528"/>
            <a:ext cx="7132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/ 25</a:t>
            </a:r>
            <a:endParaRPr lang="en-US" sz="11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2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2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2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2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2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2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2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475467"/>
          </a:solidFill>
          <a:ln/>
        </p:spPr>
      </p:sp>
      <p:sp>
        <p:nvSpPr>
          <p:cNvPr id="3" name="Shape 1"/>
          <p:cNvSpPr/>
          <p:nvPr/>
        </p:nvSpPr>
        <p:spPr>
          <a:xfrm>
            <a:off x="411480" y="329184"/>
            <a:ext cx="621792" cy="621792"/>
          </a:xfrm>
          <a:prstGeom prst="roundRect">
            <a:avLst>
              <a:gd name="adj" fmla="val 23529"/>
            </a:avLst>
          </a:prstGeom>
          <a:solidFill>
            <a:srgbClr val="475467"/>
          </a:solidFill>
          <a:ln w="12700">
            <a:solidFill>
              <a:srgbClr val="475467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411480" y="329184"/>
            <a:ext cx="62179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1188720" y="329184"/>
            <a:ext cx="768096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4754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6  ·  RESOLUTION AND RESIDENT FEEDBACK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52144" y="548640"/>
            <a:ext cx="8321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Authority Updates the Work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10679278" y="475488"/>
            <a:ext cx="1100938" cy="420624"/>
          </a:xfrm>
          <a:prstGeom prst="roundRect">
            <a:avLst>
              <a:gd name="adj" fmla="val 50000"/>
            </a:avLst>
          </a:prstGeom>
          <a:solidFill>
            <a:srgbClr val="2563A6"/>
          </a:solidFill>
          <a:ln w="12700">
            <a:solidFill>
              <a:srgbClr val="2563A6"/>
            </a:solidFill>
            <a:prstDash val="solid"/>
          </a:ln>
          <a:effectLst>
            <a:outerShdw sx="100000" sy="100000" kx="0" ky="0" algn="bl" rotWithShape="0" blurRad="76200" dist="12700" dir="5400000">
              <a:srgbClr val="0B2239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0679278" y="475488"/>
            <a:ext cx="110093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9333281" y="475488"/>
            <a:ext cx="1199693" cy="420624"/>
          </a:xfrm>
          <a:prstGeom prst="roundRect">
            <a:avLst>
              <a:gd name="adj" fmla="val 50000"/>
            </a:avLst>
          </a:prstGeom>
          <a:solidFill>
            <a:srgbClr val="237A57"/>
          </a:solidFill>
          <a:ln w="12700">
            <a:solidFill>
              <a:srgbClr val="237A57"/>
            </a:solidFill>
            <a:prstDash val="solid"/>
          </a:ln>
          <a:effectLst>
            <a:outerShdw sx="100000" sy="100000" kx="0" ky="0" algn="bl" rotWithShape="0" blurRad="76200" dist="12700" dir="5400000">
              <a:srgbClr val="0B2239">
                <a:alpha val="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9333281" y="475488"/>
            <a:ext cx="1199693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Authority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11480" y="1216152"/>
            <a:ext cx="11368735" cy="18288"/>
          </a:xfrm>
          <a:prstGeom prst="rect">
            <a:avLst/>
          </a:prstGeom>
          <a:solidFill>
            <a:srgbClr val="DDE1E7"/>
          </a:solidFill>
          <a:ln/>
        </p:spPr>
      </p:sp>
      <p:sp>
        <p:nvSpPr>
          <p:cNvPr id="12" name="Shape 10"/>
          <p:cNvSpPr/>
          <p:nvPr/>
        </p:nvSpPr>
        <p:spPr>
          <a:xfrm>
            <a:off x="1213442" y="1385316"/>
            <a:ext cx="2033255" cy="3895344"/>
          </a:xfrm>
          <a:prstGeom prst="roundRect">
            <a:avLst>
              <a:gd name="adj" fmla="val 3598"/>
            </a:avLst>
          </a:prstGeom>
          <a:solidFill>
            <a:srgbClr val="FFFFFF"/>
          </a:solidFill>
          <a:ln w="12700">
            <a:solidFill>
              <a:srgbClr val="C6E5D6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13" name="Image 0" descr="C:/NogorShomadhan/User Manual/Phase 6/Final/1-authoritychangesthecontractortosolvetheisssue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63734" y="1435608"/>
            <a:ext cx="1932671" cy="3794760"/>
          </a:xfrm>
          <a:prstGeom prst="rect">
            <a:avLst/>
          </a:prstGeom>
        </p:spPr>
      </p:pic>
      <p:sp>
        <p:nvSpPr>
          <p:cNvPr id="14" name="p22_ca"/>
          <p:cNvSpPr/>
          <p:nvPr/>
        </p:nvSpPr>
        <p:spPr>
          <a:xfrm>
            <a:off x="484632" y="5431536"/>
            <a:ext cx="3490874" cy="8961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Record Progress to change the amount, deadline, or contractor.</a:t>
            </a:r>
            <a:endParaRPr lang="en-US" sz="1800" dirty="0"/>
          </a:p>
        </p:txBody>
      </p:sp>
      <p:sp>
        <p:nvSpPr>
          <p:cNvPr id="15" name="p22_ta"/>
          <p:cNvSpPr/>
          <p:nvPr/>
        </p:nvSpPr>
        <p:spPr>
          <a:xfrm>
            <a:off x="1106413" y="1404518"/>
            <a:ext cx="585216" cy="365760"/>
          </a:xfrm>
          <a:prstGeom prst="roundRect">
            <a:avLst>
              <a:gd name="adj" fmla="val 37500"/>
            </a:avLst>
          </a:prstGeom>
          <a:solidFill>
            <a:srgbClr val="237A57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16" name="p22_ta_t"/>
          <p:cNvSpPr/>
          <p:nvPr/>
        </p:nvSpPr>
        <p:spPr>
          <a:xfrm>
            <a:off x="1106413" y="1404518"/>
            <a:ext cx="585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4053230" y="3159252"/>
            <a:ext cx="219456" cy="347472"/>
          </a:xfrm>
          <a:prstGeom prst="chevron">
            <a:avLst/>
          </a:prstGeom>
          <a:solidFill>
            <a:srgbClr val="237A57"/>
          </a:solidFill>
          <a:ln w="12700">
            <a:solidFill>
              <a:srgbClr val="237A57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4893656" y="1385316"/>
            <a:ext cx="2404383" cy="3895344"/>
          </a:xfrm>
          <a:prstGeom prst="roundRect">
            <a:avLst>
              <a:gd name="adj" fmla="val 3042"/>
            </a:avLst>
          </a:prstGeom>
          <a:solidFill>
            <a:srgbClr val="FFFFFF"/>
          </a:solidFill>
          <a:ln w="12700">
            <a:solidFill>
              <a:srgbClr val="C6E5D6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19" name="Image 1" descr="C:/NogorShomadhan/User Manual/Phase 6/Final/2-theupdateshown.jpe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43948" y="1435608"/>
            <a:ext cx="2303799" cy="3794760"/>
          </a:xfrm>
          <a:prstGeom prst="rect">
            <a:avLst/>
          </a:prstGeom>
        </p:spPr>
      </p:pic>
      <p:sp>
        <p:nvSpPr>
          <p:cNvPr id="20" name="p22_cb"/>
          <p:cNvSpPr/>
          <p:nvPr/>
        </p:nvSpPr>
        <p:spPr>
          <a:xfrm>
            <a:off x="4350410" y="5431536"/>
            <a:ext cx="3490874" cy="8961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history records the contractor change and the new deadline.</a:t>
            </a:r>
            <a:endParaRPr lang="en-US" sz="1800" dirty="0"/>
          </a:p>
        </p:txBody>
      </p:sp>
      <p:sp>
        <p:nvSpPr>
          <p:cNvPr id="21" name="p22_tb"/>
          <p:cNvSpPr/>
          <p:nvPr/>
        </p:nvSpPr>
        <p:spPr>
          <a:xfrm>
            <a:off x="4812606" y="1404518"/>
            <a:ext cx="585216" cy="365760"/>
          </a:xfrm>
          <a:prstGeom prst="roundRect">
            <a:avLst>
              <a:gd name="adj" fmla="val 37500"/>
            </a:avLst>
          </a:prstGeom>
          <a:solidFill>
            <a:srgbClr val="237A57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22" name="p22_tb_t"/>
          <p:cNvSpPr/>
          <p:nvPr/>
        </p:nvSpPr>
        <p:spPr>
          <a:xfrm>
            <a:off x="4812606" y="1404518"/>
            <a:ext cx="585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23" name="Shape 19"/>
          <p:cNvSpPr/>
          <p:nvPr/>
        </p:nvSpPr>
        <p:spPr>
          <a:xfrm>
            <a:off x="7919009" y="3159252"/>
            <a:ext cx="219456" cy="347472"/>
          </a:xfrm>
          <a:prstGeom prst="chevron">
            <a:avLst/>
          </a:prstGeom>
          <a:solidFill>
            <a:srgbClr val="237A57"/>
          </a:solidFill>
          <a:ln w="12700">
            <a:solidFill>
              <a:srgbClr val="237A57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8138465" y="2230701"/>
            <a:ext cx="3646322" cy="3049959"/>
          </a:xfrm>
          <a:prstGeom prst="roundRect">
            <a:avLst>
              <a:gd name="adj" fmla="val 2398"/>
            </a:avLst>
          </a:prstGeom>
          <a:solidFill>
            <a:srgbClr val="FFFFFF"/>
          </a:solidFill>
          <a:ln w="12700">
            <a:solidFill>
              <a:srgbClr val="CFE3F4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25" name="Image 2" descr="C:/NogorShomadhan/User Manual/Phase 6/Final/3-residengetsnotification.jpe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88757" y="2280993"/>
            <a:ext cx="3545738" cy="2949375"/>
          </a:xfrm>
          <a:prstGeom prst="rect">
            <a:avLst/>
          </a:prstGeom>
        </p:spPr>
      </p:pic>
      <p:sp>
        <p:nvSpPr>
          <p:cNvPr id="26" name="p22_cc"/>
          <p:cNvSpPr/>
          <p:nvPr/>
        </p:nvSpPr>
        <p:spPr>
          <a:xfrm>
            <a:off x="8216189" y="5431536"/>
            <a:ext cx="3490874" cy="8961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resident is notified that the deadline and progress changed.</a:t>
            </a:r>
            <a:endParaRPr lang="en-US" sz="1800" dirty="0"/>
          </a:p>
        </p:txBody>
      </p:sp>
      <p:sp>
        <p:nvSpPr>
          <p:cNvPr id="27" name="p22_tc"/>
          <p:cNvSpPr/>
          <p:nvPr/>
        </p:nvSpPr>
        <p:spPr>
          <a:xfrm>
            <a:off x="8144350" y="2216088"/>
            <a:ext cx="585216" cy="365760"/>
          </a:xfrm>
          <a:prstGeom prst="roundRect">
            <a:avLst>
              <a:gd name="adj" fmla="val 37500"/>
            </a:avLst>
          </a:prstGeom>
          <a:solidFill>
            <a:srgbClr val="2563A6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28" name="p22_tc_t"/>
          <p:cNvSpPr/>
          <p:nvPr/>
        </p:nvSpPr>
        <p:spPr>
          <a:xfrm>
            <a:off x="8144350" y="2216088"/>
            <a:ext cx="585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9" name="Shape 24"/>
          <p:cNvSpPr/>
          <p:nvPr/>
        </p:nvSpPr>
        <p:spPr>
          <a:xfrm>
            <a:off x="1712113" y="2253379"/>
            <a:ext cx="401996" cy="58819"/>
          </a:xfrm>
          <a:prstGeom prst="roundRect">
            <a:avLst>
              <a:gd name="adj" fmla="val 77730"/>
            </a:avLst>
          </a:prstGeom>
          <a:solidFill>
            <a:srgbClr val="A9B4C2"/>
          </a:solidFill>
          <a:ln w="12700">
            <a:solidFill>
              <a:srgbClr val="A9B4C2"/>
            </a:solidFill>
            <a:prstDash val="solid"/>
          </a:ln>
        </p:spPr>
      </p:sp>
      <p:sp>
        <p:nvSpPr>
          <p:cNvPr id="30" name="Shape 25"/>
          <p:cNvSpPr/>
          <p:nvPr/>
        </p:nvSpPr>
        <p:spPr>
          <a:xfrm>
            <a:off x="5372455" y="2545575"/>
            <a:ext cx="414684" cy="66408"/>
          </a:xfrm>
          <a:prstGeom prst="roundRect">
            <a:avLst>
              <a:gd name="adj" fmla="val 68847"/>
            </a:avLst>
          </a:prstGeom>
          <a:solidFill>
            <a:srgbClr val="A9B4C2"/>
          </a:solidFill>
          <a:ln w="12700">
            <a:solidFill>
              <a:srgbClr val="A9B4C2"/>
            </a:solidFill>
            <a:prstDash val="solid"/>
          </a:ln>
        </p:spPr>
      </p:sp>
      <p:sp>
        <p:nvSpPr>
          <p:cNvPr id="31" name="Shape 26"/>
          <p:cNvSpPr/>
          <p:nvPr/>
        </p:nvSpPr>
        <p:spPr>
          <a:xfrm>
            <a:off x="5360936" y="4247525"/>
            <a:ext cx="405469" cy="66408"/>
          </a:xfrm>
          <a:prstGeom prst="roundRect">
            <a:avLst>
              <a:gd name="adj" fmla="val 68847"/>
            </a:avLst>
          </a:prstGeom>
          <a:solidFill>
            <a:srgbClr val="A9B4C2"/>
          </a:solidFill>
          <a:ln w="12700">
            <a:solidFill>
              <a:srgbClr val="A9B4C2"/>
            </a:solidFill>
            <a:prstDash val="solid"/>
          </a:ln>
        </p:spPr>
      </p:sp>
      <p:sp>
        <p:nvSpPr>
          <p:cNvPr id="32" name="h22_a1"/>
          <p:cNvSpPr/>
          <p:nvPr/>
        </p:nvSpPr>
        <p:spPr>
          <a:xfrm>
            <a:off x="1404819" y="3048381"/>
            <a:ext cx="1650501" cy="144201"/>
          </a:xfrm>
          <a:prstGeom prst="roundRect">
            <a:avLst>
              <a:gd name="adj" fmla="val 38047"/>
            </a:avLst>
          </a:prstGeom>
          <a:ln w="28575">
            <a:solidFill>
              <a:srgbClr val="237A57"/>
            </a:solidFill>
            <a:prstDash val="solid"/>
          </a:ln>
        </p:spPr>
      </p:sp>
      <p:sp>
        <p:nvSpPr>
          <p:cNvPr id="33" name="h22_a2"/>
          <p:cNvSpPr/>
          <p:nvPr/>
        </p:nvSpPr>
        <p:spPr>
          <a:xfrm>
            <a:off x="1406751" y="3689695"/>
            <a:ext cx="1646636" cy="197328"/>
          </a:xfrm>
          <a:prstGeom prst="roundRect">
            <a:avLst>
              <a:gd name="adj" fmla="val 27803"/>
            </a:avLst>
          </a:prstGeom>
          <a:ln w="28575">
            <a:solidFill>
              <a:srgbClr val="237A57"/>
            </a:solidFill>
            <a:prstDash val="solid"/>
          </a:ln>
        </p:spPr>
      </p:sp>
      <p:sp>
        <p:nvSpPr>
          <p:cNvPr id="34" name="h22_b1"/>
          <p:cNvSpPr/>
          <p:nvPr/>
        </p:nvSpPr>
        <p:spPr>
          <a:xfrm>
            <a:off x="5174328" y="3469599"/>
            <a:ext cx="1893723" cy="554035"/>
          </a:xfrm>
          <a:prstGeom prst="roundRect">
            <a:avLst>
              <a:gd name="adj" fmla="val 9903"/>
            </a:avLst>
          </a:prstGeom>
          <a:ln w="28575">
            <a:solidFill>
              <a:srgbClr val="B4480A"/>
            </a:solidFill>
            <a:prstDash val="solid"/>
          </a:ln>
        </p:spPr>
      </p:sp>
      <p:sp>
        <p:nvSpPr>
          <p:cNvPr id="35" name="h22_b2"/>
          <p:cNvSpPr/>
          <p:nvPr/>
        </p:nvSpPr>
        <p:spPr>
          <a:xfrm>
            <a:off x="5169720" y="4539722"/>
            <a:ext cx="1898330" cy="508498"/>
          </a:xfrm>
          <a:prstGeom prst="roundRect">
            <a:avLst>
              <a:gd name="adj" fmla="val 10789"/>
            </a:avLst>
          </a:prstGeom>
          <a:ln w="28575">
            <a:solidFill>
              <a:srgbClr val="237A57"/>
            </a:solidFill>
            <a:prstDash val="solid"/>
          </a:ln>
        </p:spPr>
      </p:sp>
      <p:sp>
        <p:nvSpPr>
          <p:cNvPr id="36" name="h22_c1"/>
          <p:cNvSpPr/>
          <p:nvPr/>
        </p:nvSpPr>
        <p:spPr>
          <a:xfrm>
            <a:off x="8316403" y="4439936"/>
            <a:ext cx="3290445" cy="772736"/>
          </a:xfrm>
          <a:prstGeom prst="roundRect">
            <a:avLst>
              <a:gd name="adj" fmla="val 7100"/>
            </a:avLst>
          </a:prstGeom>
          <a:ln w="28575">
            <a:solidFill>
              <a:srgbClr val="2563A6"/>
            </a:solidFill>
            <a:prstDash val="solid"/>
          </a:ln>
        </p:spPr>
      </p:sp>
      <p:sp>
        <p:nvSpPr>
          <p:cNvPr id="37" name="Text 32"/>
          <p:cNvSpPr/>
          <p:nvPr/>
        </p:nvSpPr>
        <p:spPr>
          <a:xfrm>
            <a:off x="411480" y="6510528"/>
            <a:ext cx="4114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Nogor Shomadhan  ·  User Manual</a:t>
            </a:r>
            <a:endParaRPr lang="en-US" sz="1100" dirty="0"/>
          </a:p>
        </p:txBody>
      </p:sp>
      <p:sp>
        <p:nvSpPr>
          <p:cNvPr id="38" name="Text 33">
            <a:hlinkClick r:id="rId4" tooltip="1. Problem Statement" action="ppaction://hlinksldjump"/>
          </p:cNvPr>
          <p:cNvSpPr/>
          <p:nvPr/>
        </p:nvSpPr>
        <p:spPr>
          <a:xfrm>
            <a:off x="727222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action="ppaction://hlinksldjump" tooltip="1. Problem Stateme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39" name="Text 34">
            <a:hlinkClick r:id="rId5" tooltip="2. Stakeholders and Responsibilities" action="ppaction://hlinksldjump"/>
          </p:cNvPr>
          <p:cNvSpPr/>
          <p:nvPr/>
        </p:nvSpPr>
        <p:spPr>
          <a:xfrm>
            <a:off x="745510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action="ppaction://hlinksldjump" tooltip="2. Stakeholders and Responsibiliti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0" name="Text 35">
            <a:hlinkClick r:id="rId6" tooltip="3. Resident Account Registration" action="ppaction://hlinksldjump"/>
          </p:cNvPr>
          <p:cNvSpPr/>
          <p:nvPr/>
        </p:nvSpPr>
        <p:spPr>
          <a:xfrm>
            <a:off x="763798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 action="ppaction://hlinksldjump" tooltip="3. Resident Account Registra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1" name="Text 36">
            <a:hlinkClick r:id="rId7" tooltip="4. Registration Request Submitted" action="ppaction://hlinksldjump"/>
          </p:cNvPr>
          <p:cNvSpPr/>
          <p:nvPr/>
        </p:nvSpPr>
        <p:spPr>
          <a:xfrm>
            <a:off x="782086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 action="ppaction://hlinksldjump" tooltip="4. Registration Request Submit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2" name="Text 37">
            <a:hlinkClick r:id="rId8" tooltip="5. Admin Receives the Verification Request" action="ppaction://hlinksldjump"/>
          </p:cNvPr>
          <p:cNvSpPr/>
          <p:nvPr/>
        </p:nvSpPr>
        <p:spPr>
          <a:xfrm>
            <a:off x="800374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" action="ppaction://hlinksldjump" tooltip="5. Admin Receives the Verification Reques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3" name="Text 38">
            <a:hlinkClick r:id="rId9" tooltip="6. Admin Reviews and Approves the Account" action="ppaction://hlinksldjump"/>
          </p:cNvPr>
          <p:cNvSpPr/>
          <p:nvPr/>
        </p:nvSpPr>
        <p:spPr>
          <a:xfrm>
            <a:off x="818662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" action="ppaction://hlinksldjump" tooltip="6. Admin Reviews and Approves the Accou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4" name="Text 39">
            <a:hlinkClick r:id="rId10" tooltip="7. Account Verification Completed" action="ppaction://hlinksldjump"/>
          </p:cNvPr>
          <p:cNvSpPr/>
          <p:nvPr/>
        </p:nvSpPr>
        <p:spPr>
          <a:xfrm>
            <a:off x="836950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0" action="ppaction://hlinksldjump" tooltip="7. Account Verification Comple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5" name="Text 40">
            <a:hlinkClick r:id="rId11" tooltip="8. Create a New Complaint" action="ppaction://hlinksldjump"/>
          </p:cNvPr>
          <p:cNvSpPr/>
          <p:nvPr/>
        </p:nvSpPr>
        <p:spPr>
          <a:xfrm>
            <a:off x="855238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1" action="ppaction://hlinksldjump" tooltip="8. Create a New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6" name="Text 41">
            <a:hlinkClick r:id="rId12" tooltip="9. Add Evidence and Review the Category" action="ppaction://hlinksldjump"/>
          </p:cNvPr>
          <p:cNvSpPr/>
          <p:nvPr/>
        </p:nvSpPr>
        <p:spPr>
          <a:xfrm>
            <a:off x="873526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2" action="ppaction://hlinksldjump" tooltip="9. Add Evidence and Review the Categor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7" name="Text 42">
            <a:hlinkClick r:id="rId13" tooltip="10. Confirm the Complaint Submission" action="ppaction://hlinksldjump"/>
          </p:cNvPr>
          <p:cNvSpPr/>
          <p:nvPr/>
        </p:nvSpPr>
        <p:spPr>
          <a:xfrm>
            <a:off x="891814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3" action="ppaction://hlinksldjump" tooltip="10. Confirm the Complaint Submiss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8" name="Text 43">
            <a:hlinkClick r:id="rId14" tooltip="11. Admin Opens the Review Queue" action="ppaction://hlinksldjump"/>
          </p:cNvPr>
          <p:cNvSpPr/>
          <p:nvPr/>
        </p:nvSpPr>
        <p:spPr>
          <a:xfrm>
            <a:off x="910102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4" action="ppaction://hlinksldjump" tooltip="11. Admin Opens the Review Queu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9" name="Text 44">
            <a:hlinkClick r:id="rId15" tooltip="12. Complaint Check and Duplicate Comparison" action="ppaction://hlinksldjump"/>
          </p:cNvPr>
          <p:cNvSpPr/>
          <p:nvPr/>
        </p:nvSpPr>
        <p:spPr>
          <a:xfrm>
            <a:off x="928390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5" action="ppaction://hlinksldjump" tooltip="12. Complaint Check and Duplicate Compari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0" name="Text 45">
            <a:hlinkClick r:id="rId16" tooltip="13. Duplicate Review Outcomes" action="ppaction://hlinksldjump"/>
          </p:cNvPr>
          <p:cNvSpPr/>
          <p:nvPr/>
        </p:nvSpPr>
        <p:spPr>
          <a:xfrm>
            <a:off x="946678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6" action="ppaction://hlinksldjump" tooltip="13. Duplicate Review Outcom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1" name="Text 46">
            <a:hlinkClick r:id="rId17" tooltip="14. Pending Complaint Visibility" action="ppaction://hlinksldjump"/>
          </p:cNvPr>
          <p:cNvSpPr/>
          <p:nvPr/>
        </p:nvSpPr>
        <p:spPr>
          <a:xfrm>
            <a:off x="964966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7" action="ppaction://hlinksldjump" tooltip="14. Pending Complaint Visibilit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2" name="Text 47">
            <a:hlinkClick r:id="rId18" tooltip="15. Authority Opens the Complaint" action="ppaction://hlinksldjump"/>
          </p:cNvPr>
          <p:cNvSpPr/>
          <p:nvPr/>
        </p:nvSpPr>
        <p:spPr>
          <a:xfrm>
            <a:off x="983254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8" action="ppaction://hlinksldjump" tooltip="15. Authority Opens the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3" name="Text 48">
            <a:hlinkClick r:id="rId19" tooltip="16. Assign a Contractor and Start Work" action="ppaction://hlinksldjump"/>
          </p:cNvPr>
          <p:cNvSpPr/>
          <p:nvPr/>
        </p:nvSpPr>
        <p:spPr>
          <a:xfrm>
            <a:off x="1001542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9" action="ppaction://hlinksldjump" tooltip="16. Assign a Contractor and Start Work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4" name="Text 49">
            <a:hlinkClick r:id="rId20" tooltip="17. The Complaint Moves to In Progress" action="ppaction://hlinksldjump"/>
          </p:cNvPr>
          <p:cNvSpPr/>
          <p:nvPr/>
        </p:nvSpPr>
        <p:spPr>
          <a:xfrm>
            <a:off x="1019830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0" action="ppaction://hlinksldjump" tooltip="17. The Complaint Moves to In Progres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5" name="Text 50">
            <a:hlinkClick r:id="rId21" tooltip="18. Residents See the Progress Update" action="ppaction://hlinksldjump"/>
          </p:cNvPr>
          <p:cNvSpPr/>
          <p:nvPr/>
        </p:nvSpPr>
        <p:spPr>
          <a:xfrm>
            <a:off x="1038118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1" action="ppaction://hlinksldjump" tooltip="18. Residents See the Progress Updat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6" name="Text 51">
            <a:hlinkClick r:id="rId22" tooltip="19. Resident Starts a Forum Discussion" action="ppaction://hlinksldjump"/>
          </p:cNvPr>
          <p:cNvSpPr/>
          <p:nvPr/>
        </p:nvSpPr>
        <p:spPr>
          <a:xfrm>
            <a:off x="1056406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2" action="ppaction://hlinksldjump" tooltip="19. Resident Starts a Forum Discuss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7" name="Text 52">
            <a:hlinkClick r:id="rId23" tooltip="20. Everyone Is Notified" action="ppaction://hlinksldjump"/>
          </p:cNvPr>
          <p:cNvSpPr/>
          <p:nvPr/>
        </p:nvSpPr>
        <p:spPr>
          <a:xfrm>
            <a:off x="1074694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3" action="ppaction://hlinksldjump" tooltip="20. Everyone Is Notifi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8" name="Text 53">
            <a:hlinkClick r:id="rId24" tooltip="21. Open the Post and Discuss" action="ppaction://hlinksldjump"/>
          </p:cNvPr>
          <p:cNvSpPr/>
          <p:nvPr/>
        </p:nvSpPr>
        <p:spPr>
          <a:xfrm>
            <a:off x="1092982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4" action="ppaction://hlinksldjump" tooltip="21. Open the Post and Discus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9" name="Text 54">
            <a:hlinkClick r:id="rId25" tooltip="22. Authority Updates the Work" action="ppaction://hlinksldjump"/>
          </p:cNvPr>
          <p:cNvSpPr/>
          <p:nvPr/>
        </p:nvSpPr>
        <p:spPr>
          <a:xfrm>
            <a:off x="11112703" y="6528816"/>
            <a:ext cx="118872" cy="118872"/>
          </a:xfrm>
          <a:prstGeom prst="ellipse">
            <a:avLst/>
          </a:prstGeom>
          <a:solidFill>
            <a:srgbClr val="475467"/>
          </a:solidFill>
          <a:ln>
            <a:solidFill>
              <a:srgbClr val="4754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5" action="ppaction://hlinksldjump" tooltip="22. Authority Updates the Work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0" name="Text 55">
            <a:hlinkClick r:id="rId26" tooltip="23. Authority Resolves the Complaint" action="ppaction://hlinksldjump"/>
          </p:cNvPr>
          <p:cNvSpPr/>
          <p:nvPr/>
        </p:nvSpPr>
        <p:spPr>
          <a:xfrm>
            <a:off x="1129558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6" action="ppaction://hlinksldjump" tooltip="23. Authority Resolves the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1" name="Text 56">
            <a:hlinkClick r:id="rId27" tooltip="24. Residents Give Feedback" action="ppaction://hlinksldjump"/>
          </p:cNvPr>
          <p:cNvSpPr/>
          <p:nvPr/>
        </p:nvSpPr>
        <p:spPr>
          <a:xfrm>
            <a:off x="1147846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7" action="ppaction://hlinksldjump" tooltip="24. Residents Give Feedback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2" name="Text 57">
            <a:hlinkClick r:id="rId28" tooltip="25. Feedback Is Public and Answered" action="ppaction://hlinksldjump"/>
          </p:cNvPr>
          <p:cNvSpPr/>
          <p:nvPr/>
        </p:nvSpPr>
        <p:spPr>
          <a:xfrm>
            <a:off x="1166134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8" action="ppaction://hlinksldjump" tooltip="25. Feedback Is Public and Answer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3" name="Text 58"/>
          <p:cNvSpPr/>
          <p:nvPr/>
        </p:nvSpPr>
        <p:spPr>
          <a:xfrm>
            <a:off x="6449263" y="6510528"/>
            <a:ext cx="7132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/ 25</a:t>
            </a:r>
            <a:endParaRPr lang="en-US" sz="11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2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2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2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2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2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2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2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2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2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EA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237A57"/>
          </a:solidFill>
          <a:ln/>
        </p:spPr>
      </p:sp>
      <p:sp>
        <p:nvSpPr>
          <p:cNvPr id="3" name="Shape 1"/>
          <p:cNvSpPr/>
          <p:nvPr/>
        </p:nvSpPr>
        <p:spPr>
          <a:xfrm>
            <a:off x="411480" y="329184"/>
            <a:ext cx="621792" cy="621792"/>
          </a:xfrm>
          <a:prstGeom prst="roundRect">
            <a:avLst>
              <a:gd name="adj" fmla="val 23529"/>
            </a:avLst>
          </a:prstGeom>
          <a:solidFill>
            <a:srgbClr val="237A57"/>
          </a:solidFill>
          <a:ln w="12700">
            <a:solidFill>
              <a:srgbClr val="237A57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411480" y="329184"/>
            <a:ext cx="62179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1188720" y="329184"/>
            <a:ext cx="768096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237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6  ·  RESOLUTION AND RESIDENT FEEDBACK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52144" y="548640"/>
            <a:ext cx="8321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Authority Resolves the Complaint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10580522" y="475488"/>
            <a:ext cx="1199693" cy="420624"/>
          </a:xfrm>
          <a:prstGeom prst="roundRect">
            <a:avLst>
              <a:gd name="adj" fmla="val 50000"/>
            </a:avLst>
          </a:prstGeom>
          <a:solidFill>
            <a:srgbClr val="237A57"/>
          </a:solidFill>
          <a:ln w="12700">
            <a:solidFill>
              <a:srgbClr val="237A57"/>
            </a:solidFill>
            <a:prstDash val="solid"/>
          </a:ln>
          <a:effectLst>
            <a:outerShdw sx="100000" sy="100000" kx="0" ky="0" algn="bl" rotWithShape="0" blurRad="76200" dist="12700" dir="5400000">
              <a:srgbClr val="0B2239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0580522" y="475488"/>
            <a:ext cx="1199693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Authority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11480" y="1216152"/>
            <a:ext cx="11368735" cy="18288"/>
          </a:xfrm>
          <a:prstGeom prst="rect">
            <a:avLst/>
          </a:prstGeom>
          <a:solidFill>
            <a:srgbClr val="C6E5D6"/>
          </a:solidFill>
          <a:ln/>
        </p:spPr>
      </p:sp>
      <p:sp>
        <p:nvSpPr>
          <p:cNvPr id="10" name="Shape 8"/>
          <p:cNvSpPr/>
          <p:nvPr/>
        </p:nvSpPr>
        <p:spPr>
          <a:xfrm>
            <a:off x="1207370" y="1385316"/>
            <a:ext cx="2045399" cy="3895344"/>
          </a:xfrm>
          <a:prstGeom prst="roundRect">
            <a:avLst>
              <a:gd name="adj" fmla="val 3576"/>
            </a:avLst>
          </a:prstGeom>
          <a:solidFill>
            <a:srgbClr val="FFFFFF"/>
          </a:solidFill>
          <a:ln w="12700">
            <a:solidFill>
              <a:srgbClr val="C6E5D6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11" name="Image 0" descr="C:/NogorShomadhan/User Manual/Phase 6/Final/4-resolvingthecomplaint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57662" y="1435608"/>
            <a:ext cx="1944815" cy="3794760"/>
          </a:xfrm>
          <a:prstGeom prst="rect">
            <a:avLst/>
          </a:prstGeom>
        </p:spPr>
      </p:pic>
      <p:sp>
        <p:nvSpPr>
          <p:cNvPr id="12" name="p23_ca"/>
          <p:cNvSpPr/>
          <p:nvPr/>
        </p:nvSpPr>
        <p:spPr>
          <a:xfrm>
            <a:off x="484632" y="5431536"/>
            <a:ext cx="3490874" cy="8961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the final completion photo and the completion note.</a:t>
            </a:r>
            <a:endParaRPr lang="en-US" sz="1800" dirty="0"/>
          </a:p>
        </p:txBody>
      </p:sp>
      <p:sp>
        <p:nvSpPr>
          <p:cNvPr id="13" name="p23_ta"/>
          <p:cNvSpPr/>
          <p:nvPr/>
        </p:nvSpPr>
        <p:spPr>
          <a:xfrm>
            <a:off x="1101191" y="1404518"/>
            <a:ext cx="585216" cy="365760"/>
          </a:xfrm>
          <a:prstGeom prst="roundRect">
            <a:avLst>
              <a:gd name="adj" fmla="val 37500"/>
            </a:avLst>
          </a:prstGeom>
          <a:solidFill>
            <a:srgbClr val="237A57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14" name="p23_ta_t"/>
          <p:cNvSpPr/>
          <p:nvPr/>
        </p:nvSpPr>
        <p:spPr>
          <a:xfrm>
            <a:off x="1101191" y="1404518"/>
            <a:ext cx="585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4053230" y="3159252"/>
            <a:ext cx="219456" cy="347472"/>
          </a:xfrm>
          <a:prstGeom prst="chevron">
            <a:avLst/>
          </a:prstGeom>
          <a:solidFill>
            <a:srgbClr val="237A57"/>
          </a:solidFill>
          <a:ln w="12700">
            <a:solidFill>
              <a:srgbClr val="237A57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5073148" y="1385316"/>
            <a:ext cx="2045399" cy="3895344"/>
          </a:xfrm>
          <a:prstGeom prst="roundRect">
            <a:avLst>
              <a:gd name="adj" fmla="val 3576"/>
            </a:avLst>
          </a:prstGeom>
          <a:solidFill>
            <a:srgbClr val="FFFFFF"/>
          </a:solidFill>
          <a:ln w="12700">
            <a:solidFill>
              <a:srgbClr val="C6E5D6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17" name="Image 1" descr="C:/NogorShomadhan/User Manual/Phase 6/Final/5-popup.jpe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3440" y="1435608"/>
            <a:ext cx="1944815" cy="3794760"/>
          </a:xfrm>
          <a:prstGeom prst="rect">
            <a:avLst/>
          </a:prstGeom>
        </p:spPr>
      </p:pic>
      <p:sp>
        <p:nvSpPr>
          <p:cNvPr id="18" name="p23_cb"/>
          <p:cNvSpPr/>
          <p:nvPr/>
        </p:nvSpPr>
        <p:spPr>
          <a:xfrm>
            <a:off x="4350410" y="5431536"/>
            <a:ext cx="3490874" cy="8961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the prompt to resolve the complaint.</a:t>
            </a:r>
            <a:endParaRPr lang="en-US" sz="1800" dirty="0"/>
          </a:p>
        </p:txBody>
      </p:sp>
      <p:sp>
        <p:nvSpPr>
          <p:cNvPr id="19" name="p23_tb"/>
          <p:cNvSpPr/>
          <p:nvPr/>
        </p:nvSpPr>
        <p:spPr>
          <a:xfrm>
            <a:off x="4966969" y="1404518"/>
            <a:ext cx="585216" cy="365760"/>
          </a:xfrm>
          <a:prstGeom prst="roundRect">
            <a:avLst>
              <a:gd name="adj" fmla="val 37500"/>
            </a:avLst>
          </a:prstGeom>
          <a:solidFill>
            <a:srgbClr val="237A57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20" name="p23_tb_t"/>
          <p:cNvSpPr/>
          <p:nvPr/>
        </p:nvSpPr>
        <p:spPr>
          <a:xfrm>
            <a:off x="4966969" y="1404518"/>
            <a:ext cx="585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7919009" y="3159252"/>
            <a:ext cx="219456" cy="347472"/>
          </a:xfrm>
          <a:prstGeom prst="chevron">
            <a:avLst/>
          </a:prstGeom>
          <a:solidFill>
            <a:srgbClr val="237A57"/>
          </a:solidFill>
          <a:ln w="12700">
            <a:solidFill>
              <a:srgbClr val="237A57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8938927" y="1385316"/>
            <a:ext cx="2045399" cy="3895344"/>
          </a:xfrm>
          <a:prstGeom prst="roundRect">
            <a:avLst>
              <a:gd name="adj" fmla="val 3576"/>
            </a:avLst>
          </a:prstGeom>
          <a:solidFill>
            <a:srgbClr val="FFFFFF"/>
          </a:solidFill>
          <a:ln w="12700">
            <a:solidFill>
              <a:srgbClr val="C6E5D6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23" name="Image 2" descr="C:/NogorShomadhan/User Manual/Phase 6/Final/6-statuschanged.jpe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89219" y="1435608"/>
            <a:ext cx="1944815" cy="3794760"/>
          </a:xfrm>
          <a:prstGeom prst="rect">
            <a:avLst/>
          </a:prstGeom>
        </p:spPr>
      </p:pic>
      <p:sp>
        <p:nvSpPr>
          <p:cNvPr id="24" name="p23_cc"/>
          <p:cNvSpPr/>
          <p:nvPr/>
        </p:nvSpPr>
        <p:spPr>
          <a:xfrm>
            <a:off x="8216189" y="5431536"/>
            <a:ext cx="3490874" cy="8961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status changes to Resolved and the approval is recorded.</a:t>
            </a:r>
            <a:endParaRPr lang="en-US" sz="1800" dirty="0"/>
          </a:p>
        </p:txBody>
      </p:sp>
      <p:sp>
        <p:nvSpPr>
          <p:cNvPr id="25" name="p23_tc"/>
          <p:cNvSpPr/>
          <p:nvPr/>
        </p:nvSpPr>
        <p:spPr>
          <a:xfrm>
            <a:off x="8832748" y="1404518"/>
            <a:ext cx="585216" cy="365760"/>
          </a:xfrm>
          <a:prstGeom prst="roundRect">
            <a:avLst>
              <a:gd name="adj" fmla="val 37500"/>
            </a:avLst>
          </a:prstGeom>
          <a:solidFill>
            <a:srgbClr val="237A57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26" name="p23_tc_t"/>
          <p:cNvSpPr/>
          <p:nvPr/>
        </p:nvSpPr>
        <p:spPr>
          <a:xfrm>
            <a:off x="8832748" y="1404518"/>
            <a:ext cx="585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27" name="Shape 22"/>
          <p:cNvSpPr/>
          <p:nvPr/>
        </p:nvSpPr>
        <p:spPr>
          <a:xfrm>
            <a:off x="1704969" y="2188868"/>
            <a:ext cx="373404" cy="58819"/>
          </a:xfrm>
          <a:prstGeom prst="roundRect">
            <a:avLst>
              <a:gd name="adj" fmla="val 77730"/>
            </a:avLst>
          </a:prstGeom>
          <a:solidFill>
            <a:srgbClr val="A9B4C2"/>
          </a:solidFill>
          <a:ln w="12700">
            <a:solidFill>
              <a:srgbClr val="A9B4C2"/>
            </a:solidFill>
            <a:prstDash val="solid"/>
          </a:ln>
        </p:spPr>
      </p:sp>
      <p:sp>
        <p:nvSpPr>
          <p:cNvPr id="28" name="Shape 23"/>
          <p:cNvSpPr/>
          <p:nvPr/>
        </p:nvSpPr>
        <p:spPr>
          <a:xfrm>
            <a:off x="5570748" y="2188868"/>
            <a:ext cx="373404" cy="58819"/>
          </a:xfrm>
          <a:prstGeom prst="roundRect">
            <a:avLst>
              <a:gd name="adj" fmla="val 77730"/>
            </a:avLst>
          </a:prstGeom>
          <a:solidFill>
            <a:srgbClr val="A9B4C2"/>
          </a:solidFill>
          <a:ln w="12700">
            <a:solidFill>
              <a:srgbClr val="A9B4C2"/>
            </a:solidFill>
            <a:prstDash val="solid"/>
          </a:ln>
        </p:spPr>
      </p:sp>
      <p:sp>
        <p:nvSpPr>
          <p:cNvPr id="29" name="h23_a1"/>
          <p:cNvSpPr/>
          <p:nvPr/>
        </p:nvSpPr>
        <p:spPr>
          <a:xfrm>
            <a:off x="2502343" y="2987665"/>
            <a:ext cx="560107" cy="151790"/>
          </a:xfrm>
          <a:prstGeom prst="roundRect">
            <a:avLst>
              <a:gd name="adj" fmla="val 36145"/>
            </a:avLst>
          </a:prstGeom>
          <a:ln w="28575">
            <a:solidFill>
              <a:srgbClr val="237A57"/>
            </a:solidFill>
            <a:prstDash val="solid"/>
          </a:ln>
        </p:spPr>
      </p:sp>
      <p:sp>
        <p:nvSpPr>
          <p:cNvPr id="30" name="h23_a2"/>
          <p:cNvSpPr/>
          <p:nvPr/>
        </p:nvSpPr>
        <p:spPr>
          <a:xfrm>
            <a:off x="1393799" y="3511342"/>
            <a:ext cx="1672540" cy="800694"/>
          </a:xfrm>
          <a:prstGeom prst="roundRect">
            <a:avLst>
              <a:gd name="adj" fmla="val 6852"/>
            </a:avLst>
          </a:prstGeom>
          <a:ln w="28575">
            <a:solidFill>
              <a:srgbClr val="237A57"/>
            </a:solidFill>
            <a:prstDash val="solid"/>
          </a:ln>
        </p:spPr>
      </p:sp>
      <p:sp>
        <p:nvSpPr>
          <p:cNvPr id="31" name="h23_a3"/>
          <p:cNvSpPr/>
          <p:nvPr/>
        </p:nvSpPr>
        <p:spPr>
          <a:xfrm>
            <a:off x="1393799" y="4467621"/>
            <a:ext cx="1672540" cy="341528"/>
          </a:xfrm>
          <a:prstGeom prst="roundRect">
            <a:avLst>
              <a:gd name="adj" fmla="val 16064"/>
            </a:avLst>
          </a:prstGeom>
          <a:ln w="28575">
            <a:solidFill>
              <a:srgbClr val="237A57"/>
            </a:solidFill>
            <a:prstDash val="solid"/>
          </a:ln>
        </p:spPr>
      </p:sp>
      <p:sp>
        <p:nvSpPr>
          <p:cNvPr id="32" name="h23_a4"/>
          <p:cNvSpPr/>
          <p:nvPr/>
        </p:nvSpPr>
        <p:spPr>
          <a:xfrm>
            <a:off x="1393799" y="4930582"/>
            <a:ext cx="1672540" cy="227686"/>
          </a:xfrm>
          <a:prstGeom prst="roundRect">
            <a:avLst>
              <a:gd name="adj" fmla="val 24096"/>
            </a:avLst>
          </a:prstGeom>
          <a:ln w="28575">
            <a:solidFill>
              <a:srgbClr val="237A57"/>
            </a:solidFill>
            <a:prstDash val="solid"/>
          </a:ln>
        </p:spPr>
      </p:sp>
      <p:sp>
        <p:nvSpPr>
          <p:cNvPr id="33" name="h23_b1"/>
          <p:cNvSpPr/>
          <p:nvPr/>
        </p:nvSpPr>
        <p:spPr>
          <a:xfrm>
            <a:off x="5321811" y="2687879"/>
            <a:ext cx="1551962" cy="1176376"/>
          </a:xfrm>
          <a:prstGeom prst="roundRect">
            <a:avLst>
              <a:gd name="adj" fmla="val 4664"/>
            </a:avLst>
          </a:prstGeom>
          <a:ln w="28575">
            <a:solidFill>
              <a:srgbClr val="237A57"/>
            </a:solidFill>
            <a:prstDash val="solid"/>
          </a:ln>
        </p:spPr>
      </p:sp>
      <p:sp>
        <p:nvSpPr>
          <p:cNvPr id="34" name="h23_b2"/>
          <p:cNvSpPr/>
          <p:nvPr/>
        </p:nvSpPr>
        <p:spPr>
          <a:xfrm>
            <a:off x="6119185" y="3537905"/>
            <a:ext cx="645678" cy="204917"/>
          </a:xfrm>
          <a:prstGeom prst="roundRect">
            <a:avLst>
              <a:gd name="adj" fmla="val 26774"/>
            </a:avLst>
          </a:prstGeom>
          <a:ln w="28575">
            <a:solidFill>
              <a:srgbClr val="237A57"/>
            </a:solidFill>
            <a:prstDash val="solid"/>
          </a:ln>
        </p:spPr>
      </p:sp>
      <p:sp>
        <p:nvSpPr>
          <p:cNvPr id="35" name="h23_c1"/>
          <p:cNvSpPr/>
          <p:nvPr/>
        </p:nvSpPr>
        <p:spPr>
          <a:xfrm>
            <a:off x="9129245" y="1887184"/>
            <a:ext cx="474535" cy="136611"/>
          </a:xfrm>
          <a:prstGeom prst="roundRect">
            <a:avLst>
              <a:gd name="adj" fmla="val 40161"/>
            </a:avLst>
          </a:prstGeom>
          <a:ln w="28575">
            <a:solidFill>
              <a:srgbClr val="18835C"/>
            </a:solidFill>
            <a:prstDash val="solid"/>
          </a:ln>
        </p:spPr>
      </p:sp>
      <p:sp>
        <p:nvSpPr>
          <p:cNvPr id="36" name="h23_c2"/>
          <p:cNvSpPr/>
          <p:nvPr/>
        </p:nvSpPr>
        <p:spPr>
          <a:xfrm>
            <a:off x="9059232" y="2551267"/>
            <a:ext cx="1804788" cy="425013"/>
          </a:xfrm>
          <a:prstGeom prst="roundRect">
            <a:avLst>
              <a:gd name="adj" fmla="val 12909"/>
            </a:avLst>
          </a:prstGeom>
          <a:ln w="28575">
            <a:solidFill>
              <a:srgbClr val="237A57"/>
            </a:solidFill>
            <a:prstDash val="solid"/>
          </a:ln>
        </p:spPr>
      </p:sp>
      <p:sp>
        <p:nvSpPr>
          <p:cNvPr id="37" name="Text 32"/>
          <p:cNvSpPr/>
          <p:nvPr/>
        </p:nvSpPr>
        <p:spPr>
          <a:xfrm>
            <a:off x="411480" y="6510528"/>
            <a:ext cx="4114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Nogor Shomadhan  ·  User Manual</a:t>
            </a:r>
            <a:endParaRPr lang="en-US" sz="1100" dirty="0"/>
          </a:p>
        </p:txBody>
      </p:sp>
      <p:sp>
        <p:nvSpPr>
          <p:cNvPr id="38" name="Text 33">
            <a:hlinkClick r:id="rId4" tooltip="1. Problem Statement" action="ppaction://hlinksldjump"/>
          </p:cNvPr>
          <p:cNvSpPr/>
          <p:nvPr/>
        </p:nvSpPr>
        <p:spPr>
          <a:xfrm>
            <a:off x="7272223" y="6528816"/>
            <a:ext cx="118872" cy="118872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action="ppaction://hlinksldjump" tooltip="1. Problem Stateme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39" name="Text 34">
            <a:hlinkClick r:id="rId5" tooltip="2. Stakeholders and Responsibilities" action="ppaction://hlinksldjump"/>
          </p:cNvPr>
          <p:cNvSpPr/>
          <p:nvPr/>
        </p:nvSpPr>
        <p:spPr>
          <a:xfrm>
            <a:off x="7455103" y="6528816"/>
            <a:ext cx="118872" cy="118872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action="ppaction://hlinksldjump" tooltip="2. Stakeholders and Responsibiliti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0" name="Text 35">
            <a:hlinkClick r:id="rId6" tooltip="3. Resident Account Registration" action="ppaction://hlinksldjump"/>
          </p:cNvPr>
          <p:cNvSpPr/>
          <p:nvPr/>
        </p:nvSpPr>
        <p:spPr>
          <a:xfrm>
            <a:off x="7637983" y="6528816"/>
            <a:ext cx="118872" cy="118872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 action="ppaction://hlinksldjump" tooltip="3. Resident Account Registra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1" name="Text 36">
            <a:hlinkClick r:id="rId7" tooltip="4. Registration Request Submitted" action="ppaction://hlinksldjump"/>
          </p:cNvPr>
          <p:cNvSpPr/>
          <p:nvPr/>
        </p:nvSpPr>
        <p:spPr>
          <a:xfrm>
            <a:off x="7820863" y="6528816"/>
            <a:ext cx="118872" cy="118872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 action="ppaction://hlinksldjump" tooltip="4. Registration Request Submit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2" name="Text 37">
            <a:hlinkClick r:id="rId8" tooltip="5. Admin Receives the Verification Request" action="ppaction://hlinksldjump"/>
          </p:cNvPr>
          <p:cNvSpPr/>
          <p:nvPr/>
        </p:nvSpPr>
        <p:spPr>
          <a:xfrm>
            <a:off x="8003743" y="6528816"/>
            <a:ext cx="118872" cy="118872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" action="ppaction://hlinksldjump" tooltip="5. Admin Receives the Verification Reques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3" name="Text 38">
            <a:hlinkClick r:id="rId9" tooltip="6. Admin Reviews and Approves the Account" action="ppaction://hlinksldjump"/>
          </p:cNvPr>
          <p:cNvSpPr/>
          <p:nvPr/>
        </p:nvSpPr>
        <p:spPr>
          <a:xfrm>
            <a:off x="8186623" y="6528816"/>
            <a:ext cx="118872" cy="118872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" action="ppaction://hlinksldjump" tooltip="6. Admin Reviews and Approves the Accou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4" name="Text 39">
            <a:hlinkClick r:id="rId10" tooltip="7. Account Verification Completed" action="ppaction://hlinksldjump"/>
          </p:cNvPr>
          <p:cNvSpPr/>
          <p:nvPr/>
        </p:nvSpPr>
        <p:spPr>
          <a:xfrm>
            <a:off x="8369503" y="6528816"/>
            <a:ext cx="118872" cy="118872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0" action="ppaction://hlinksldjump" tooltip="7. Account Verification Comple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5" name="Text 40">
            <a:hlinkClick r:id="rId11" tooltip="8. Create a New Complaint" action="ppaction://hlinksldjump"/>
          </p:cNvPr>
          <p:cNvSpPr/>
          <p:nvPr/>
        </p:nvSpPr>
        <p:spPr>
          <a:xfrm>
            <a:off x="8552383" y="6528816"/>
            <a:ext cx="118872" cy="118872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1" action="ppaction://hlinksldjump" tooltip="8. Create a New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6" name="Text 41">
            <a:hlinkClick r:id="rId12" tooltip="9. Add Evidence and Review the Category" action="ppaction://hlinksldjump"/>
          </p:cNvPr>
          <p:cNvSpPr/>
          <p:nvPr/>
        </p:nvSpPr>
        <p:spPr>
          <a:xfrm>
            <a:off x="8735263" y="6528816"/>
            <a:ext cx="118872" cy="118872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2" action="ppaction://hlinksldjump" tooltip="9. Add Evidence and Review the Categor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7" name="Text 42">
            <a:hlinkClick r:id="rId13" tooltip="10. Confirm the Complaint Submission" action="ppaction://hlinksldjump"/>
          </p:cNvPr>
          <p:cNvSpPr/>
          <p:nvPr/>
        </p:nvSpPr>
        <p:spPr>
          <a:xfrm>
            <a:off x="8918143" y="6528816"/>
            <a:ext cx="118872" cy="118872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3" action="ppaction://hlinksldjump" tooltip="10. Confirm the Complaint Submiss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8" name="Text 43">
            <a:hlinkClick r:id="rId14" tooltip="11. Admin Opens the Review Queue" action="ppaction://hlinksldjump"/>
          </p:cNvPr>
          <p:cNvSpPr/>
          <p:nvPr/>
        </p:nvSpPr>
        <p:spPr>
          <a:xfrm>
            <a:off x="9101023" y="6528816"/>
            <a:ext cx="118872" cy="118872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4" action="ppaction://hlinksldjump" tooltip="11. Admin Opens the Review Queu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9" name="Text 44">
            <a:hlinkClick r:id="rId15" tooltip="12. Complaint Check and Duplicate Comparison" action="ppaction://hlinksldjump"/>
          </p:cNvPr>
          <p:cNvSpPr/>
          <p:nvPr/>
        </p:nvSpPr>
        <p:spPr>
          <a:xfrm>
            <a:off x="9283903" y="6528816"/>
            <a:ext cx="118872" cy="118872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5" action="ppaction://hlinksldjump" tooltip="12. Complaint Check and Duplicate Compari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0" name="Text 45">
            <a:hlinkClick r:id="rId16" tooltip="13. Duplicate Review Outcomes" action="ppaction://hlinksldjump"/>
          </p:cNvPr>
          <p:cNvSpPr/>
          <p:nvPr/>
        </p:nvSpPr>
        <p:spPr>
          <a:xfrm>
            <a:off x="9466783" y="6528816"/>
            <a:ext cx="118872" cy="118872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6" action="ppaction://hlinksldjump" tooltip="13. Duplicate Review Outcom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1" name="Text 46">
            <a:hlinkClick r:id="rId17" tooltip="14. Pending Complaint Visibility" action="ppaction://hlinksldjump"/>
          </p:cNvPr>
          <p:cNvSpPr/>
          <p:nvPr/>
        </p:nvSpPr>
        <p:spPr>
          <a:xfrm>
            <a:off x="9649663" y="6528816"/>
            <a:ext cx="118872" cy="118872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7" action="ppaction://hlinksldjump" tooltip="14. Pending Complaint Visibilit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2" name="Text 47">
            <a:hlinkClick r:id="rId18" tooltip="15. Authority Opens the Complaint" action="ppaction://hlinksldjump"/>
          </p:cNvPr>
          <p:cNvSpPr/>
          <p:nvPr/>
        </p:nvSpPr>
        <p:spPr>
          <a:xfrm>
            <a:off x="9832543" y="6528816"/>
            <a:ext cx="118872" cy="118872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8" action="ppaction://hlinksldjump" tooltip="15. Authority Opens the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3" name="Text 48">
            <a:hlinkClick r:id="rId19" tooltip="16. Assign a Contractor and Start Work" action="ppaction://hlinksldjump"/>
          </p:cNvPr>
          <p:cNvSpPr/>
          <p:nvPr/>
        </p:nvSpPr>
        <p:spPr>
          <a:xfrm>
            <a:off x="10015423" y="6528816"/>
            <a:ext cx="118872" cy="118872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9" action="ppaction://hlinksldjump" tooltip="16. Assign a Contractor and Start Work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4" name="Text 49">
            <a:hlinkClick r:id="rId20" tooltip="17. The Complaint Moves to In Progress" action="ppaction://hlinksldjump"/>
          </p:cNvPr>
          <p:cNvSpPr/>
          <p:nvPr/>
        </p:nvSpPr>
        <p:spPr>
          <a:xfrm>
            <a:off x="10198303" y="6528816"/>
            <a:ext cx="118872" cy="118872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0" action="ppaction://hlinksldjump" tooltip="17. The Complaint Moves to In Progres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5" name="Text 50">
            <a:hlinkClick r:id="rId21" tooltip="18. Residents See the Progress Update" action="ppaction://hlinksldjump"/>
          </p:cNvPr>
          <p:cNvSpPr/>
          <p:nvPr/>
        </p:nvSpPr>
        <p:spPr>
          <a:xfrm>
            <a:off x="10381183" y="6528816"/>
            <a:ext cx="118872" cy="118872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1" action="ppaction://hlinksldjump" tooltip="18. Residents See the Progress Updat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6" name="Text 51">
            <a:hlinkClick r:id="rId22" tooltip="19. Resident Starts a Forum Discussion" action="ppaction://hlinksldjump"/>
          </p:cNvPr>
          <p:cNvSpPr/>
          <p:nvPr/>
        </p:nvSpPr>
        <p:spPr>
          <a:xfrm>
            <a:off x="10564063" y="6528816"/>
            <a:ext cx="118872" cy="118872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2" action="ppaction://hlinksldjump" tooltip="19. Resident Starts a Forum Discuss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7" name="Text 52">
            <a:hlinkClick r:id="rId23" tooltip="20. Everyone Is Notified" action="ppaction://hlinksldjump"/>
          </p:cNvPr>
          <p:cNvSpPr/>
          <p:nvPr/>
        </p:nvSpPr>
        <p:spPr>
          <a:xfrm>
            <a:off x="10746943" y="6528816"/>
            <a:ext cx="118872" cy="118872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3" action="ppaction://hlinksldjump" tooltip="20. Everyone Is Notifi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8" name="Text 53">
            <a:hlinkClick r:id="rId24" tooltip="21. Open the Post and Discuss" action="ppaction://hlinksldjump"/>
          </p:cNvPr>
          <p:cNvSpPr/>
          <p:nvPr/>
        </p:nvSpPr>
        <p:spPr>
          <a:xfrm>
            <a:off x="10929823" y="6528816"/>
            <a:ext cx="118872" cy="118872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4" action="ppaction://hlinksldjump" tooltip="21. Open the Post and Discus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9" name="Text 54">
            <a:hlinkClick r:id="rId25" tooltip="22. Authority Updates the Work" action="ppaction://hlinksldjump"/>
          </p:cNvPr>
          <p:cNvSpPr/>
          <p:nvPr/>
        </p:nvSpPr>
        <p:spPr>
          <a:xfrm>
            <a:off x="11112703" y="6528816"/>
            <a:ext cx="118872" cy="118872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5" action="ppaction://hlinksldjump" tooltip="22. Authority Updates the Work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0" name="Text 55">
            <a:hlinkClick r:id="rId26" tooltip="23. Authority Resolves the Complaint" action="ppaction://hlinksldjump"/>
          </p:cNvPr>
          <p:cNvSpPr/>
          <p:nvPr/>
        </p:nvSpPr>
        <p:spPr>
          <a:xfrm>
            <a:off x="11295583" y="6528816"/>
            <a:ext cx="118872" cy="118872"/>
          </a:xfrm>
          <a:prstGeom prst="ellipse">
            <a:avLst/>
          </a:prstGeom>
          <a:solidFill>
            <a:srgbClr val="237A57"/>
          </a:solidFill>
          <a:ln>
            <a:solidFill>
              <a:srgbClr val="237A5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6" action="ppaction://hlinksldjump" tooltip="23. Authority Resolves the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1" name="Text 56">
            <a:hlinkClick r:id="rId27" tooltip="24. Residents Give Feedback" action="ppaction://hlinksldjump"/>
          </p:cNvPr>
          <p:cNvSpPr/>
          <p:nvPr/>
        </p:nvSpPr>
        <p:spPr>
          <a:xfrm>
            <a:off x="11478463" y="6528816"/>
            <a:ext cx="118872" cy="118872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7" action="ppaction://hlinksldjump" tooltip="24. Residents Give Feedback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2" name="Text 57">
            <a:hlinkClick r:id="rId28" tooltip="25. Feedback Is Public and Answered" action="ppaction://hlinksldjump"/>
          </p:cNvPr>
          <p:cNvSpPr/>
          <p:nvPr/>
        </p:nvSpPr>
        <p:spPr>
          <a:xfrm>
            <a:off x="11661343" y="6528816"/>
            <a:ext cx="118872" cy="118872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8" action="ppaction://hlinksldjump" tooltip="25. Feedback Is Public and Answer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3" name="Text 58"/>
          <p:cNvSpPr/>
          <p:nvPr/>
        </p:nvSpPr>
        <p:spPr>
          <a:xfrm>
            <a:off x="6449263" y="6510528"/>
            <a:ext cx="7132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/ 25</a:t>
            </a:r>
            <a:endParaRPr lang="en-US" sz="11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2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2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2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2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2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2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2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2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2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2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2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EAF4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2563A6"/>
          </a:solidFill>
          <a:ln/>
        </p:spPr>
      </p:sp>
      <p:sp>
        <p:nvSpPr>
          <p:cNvPr id="3" name="Shape 1"/>
          <p:cNvSpPr/>
          <p:nvPr/>
        </p:nvSpPr>
        <p:spPr>
          <a:xfrm>
            <a:off x="411480" y="329184"/>
            <a:ext cx="621792" cy="621792"/>
          </a:xfrm>
          <a:prstGeom prst="roundRect">
            <a:avLst>
              <a:gd name="adj" fmla="val 23529"/>
            </a:avLst>
          </a:prstGeom>
          <a:solidFill>
            <a:srgbClr val="2563A6"/>
          </a:solidFill>
          <a:ln w="12700">
            <a:solidFill>
              <a:srgbClr val="2563A6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411480" y="329184"/>
            <a:ext cx="62179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1188720" y="329184"/>
            <a:ext cx="768096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256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6  ·  RESOLUTION AND RESIDENT FEEDBACK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52144" y="548640"/>
            <a:ext cx="8321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Residents Give Feedback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10679278" y="475488"/>
            <a:ext cx="1100938" cy="420624"/>
          </a:xfrm>
          <a:prstGeom prst="roundRect">
            <a:avLst>
              <a:gd name="adj" fmla="val 50000"/>
            </a:avLst>
          </a:prstGeom>
          <a:solidFill>
            <a:srgbClr val="2563A6"/>
          </a:solidFill>
          <a:ln w="12700">
            <a:solidFill>
              <a:srgbClr val="2563A6"/>
            </a:solidFill>
            <a:prstDash val="solid"/>
          </a:ln>
          <a:effectLst>
            <a:outerShdw sx="100000" sy="100000" kx="0" ky="0" algn="bl" rotWithShape="0" blurRad="76200" dist="12700" dir="5400000">
              <a:srgbClr val="0B2239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0679278" y="475488"/>
            <a:ext cx="110093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11480" y="1216152"/>
            <a:ext cx="11368735" cy="18288"/>
          </a:xfrm>
          <a:prstGeom prst="rect">
            <a:avLst/>
          </a:prstGeom>
          <a:solidFill>
            <a:srgbClr val="CFE3F4"/>
          </a:solidFill>
          <a:ln/>
        </p:spPr>
      </p:sp>
      <p:sp>
        <p:nvSpPr>
          <p:cNvPr id="10" name="Shape 8"/>
          <p:cNvSpPr/>
          <p:nvPr/>
        </p:nvSpPr>
        <p:spPr>
          <a:xfrm>
            <a:off x="406908" y="2030268"/>
            <a:ext cx="3646322" cy="3250392"/>
          </a:xfrm>
          <a:prstGeom prst="roundRect">
            <a:avLst>
              <a:gd name="adj" fmla="val 2251"/>
            </a:avLst>
          </a:prstGeom>
          <a:solidFill>
            <a:srgbClr val="FFFFFF"/>
          </a:solidFill>
          <a:ln w="12700">
            <a:solidFill>
              <a:srgbClr val="CFE3F4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11" name="Image 0" descr="C:/NogorShomadhan/User Manual/Phase 6/Final/7-residentgetsnotification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080560"/>
            <a:ext cx="3545738" cy="3149808"/>
          </a:xfrm>
          <a:prstGeom prst="rect">
            <a:avLst/>
          </a:prstGeom>
        </p:spPr>
      </p:pic>
      <p:sp>
        <p:nvSpPr>
          <p:cNvPr id="12" name="p24_ca"/>
          <p:cNvSpPr/>
          <p:nvPr/>
        </p:nvSpPr>
        <p:spPr>
          <a:xfrm>
            <a:off x="484632" y="5431536"/>
            <a:ext cx="3490874" cy="8961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resident is notified that the complaint is resolved and can rate it.</a:t>
            </a:r>
            <a:endParaRPr lang="en-US" sz="1800" dirty="0"/>
          </a:p>
        </p:txBody>
      </p:sp>
      <p:sp>
        <p:nvSpPr>
          <p:cNvPr id="13" name="p24_ta"/>
          <p:cNvSpPr/>
          <p:nvPr/>
        </p:nvSpPr>
        <p:spPr>
          <a:xfrm>
            <a:off x="412794" y="2023673"/>
            <a:ext cx="585216" cy="365760"/>
          </a:xfrm>
          <a:prstGeom prst="roundRect">
            <a:avLst>
              <a:gd name="adj" fmla="val 37500"/>
            </a:avLst>
          </a:prstGeom>
          <a:solidFill>
            <a:srgbClr val="2563A6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14" name="p24_ta_t"/>
          <p:cNvSpPr/>
          <p:nvPr/>
        </p:nvSpPr>
        <p:spPr>
          <a:xfrm>
            <a:off x="412794" y="2023673"/>
            <a:ext cx="585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4053230" y="3159252"/>
            <a:ext cx="219456" cy="347472"/>
          </a:xfrm>
          <a:prstGeom prst="chevron">
            <a:avLst/>
          </a:prstGeom>
          <a:solidFill>
            <a:srgbClr val="2563A6"/>
          </a:solidFill>
          <a:ln w="12700">
            <a:solidFill>
              <a:srgbClr val="2563A6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5073148" y="1385316"/>
            <a:ext cx="2045399" cy="3895344"/>
          </a:xfrm>
          <a:prstGeom prst="roundRect">
            <a:avLst>
              <a:gd name="adj" fmla="val 3576"/>
            </a:avLst>
          </a:prstGeom>
          <a:solidFill>
            <a:srgbClr val="FFFFFF"/>
          </a:solidFill>
          <a:ln w="12700">
            <a:solidFill>
              <a:srgbClr val="CFE3F4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17" name="Image 1" descr="C:/NogorShomadhan/User Manual/Phase 6/Final/8-residentgivesfeedback.jpe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3440" y="1435608"/>
            <a:ext cx="1944815" cy="3794760"/>
          </a:xfrm>
          <a:prstGeom prst="rect">
            <a:avLst/>
          </a:prstGeom>
        </p:spPr>
      </p:pic>
      <p:sp>
        <p:nvSpPr>
          <p:cNvPr id="18" name="p24_cb"/>
          <p:cNvSpPr/>
          <p:nvPr/>
        </p:nvSpPr>
        <p:spPr>
          <a:xfrm>
            <a:off x="4350410" y="5431536"/>
            <a:ext cx="3490874" cy="8961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a star rating and write a short comment.</a:t>
            </a:r>
            <a:endParaRPr lang="en-US" sz="1800" dirty="0"/>
          </a:p>
        </p:txBody>
      </p:sp>
      <p:sp>
        <p:nvSpPr>
          <p:cNvPr id="19" name="p24_tb"/>
          <p:cNvSpPr/>
          <p:nvPr/>
        </p:nvSpPr>
        <p:spPr>
          <a:xfrm>
            <a:off x="4966969" y="1404518"/>
            <a:ext cx="585216" cy="365760"/>
          </a:xfrm>
          <a:prstGeom prst="roundRect">
            <a:avLst>
              <a:gd name="adj" fmla="val 37500"/>
            </a:avLst>
          </a:prstGeom>
          <a:solidFill>
            <a:srgbClr val="2563A6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20" name="p24_tb_t"/>
          <p:cNvSpPr/>
          <p:nvPr/>
        </p:nvSpPr>
        <p:spPr>
          <a:xfrm>
            <a:off x="4966969" y="1404518"/>
            <a:ext cx="585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7919009" y="3159252"/>
            <a:ext cx="219456" cy="347472"/>
          </a:xfrm>
          <a:prstGeom prst="chevron">
            <a:avLst/>
          </a:prstGeom>
          <a:solidFill>
            <a:srgbClr val="2563A6"/>
          </a:solidFill>
          <a:ln w="12700">
            <a:solidFill>
              <a:srgbClr val="2563A6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8938927" y="1385316"/>
            <a:ext cx="2045399" cy="3895344"/>
          </a:xfrm>
          <a:prstGeom prst="roundRect">
            <a:avLst>
              <a:gd name="adj" fmla="val 3576"/>
            </a:avLst>
          </a:prstGeom>
          <a:solidFill>
            <a:srgbClr val="FFFFFF"/>
          </a:solidFill>
          <a:ln w="12700">
            <a:solidFill>
              <a:srgbClr val="CFE3F4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23" name="Image 2" descr="C:/NogorShomadhan/User Manual/Phase 6/Final/9-submitfeedback.jpe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89219" y="1435608"/>
            <a:ext cx="1944815" cy="3794760"/>
          </a:xfrm>
          <a:prstGeom prst="rect">
            <a:avLst/>
          </a:prstGeom>
        </p:spPr>
      </p:pic>
      <p:sp>
        <p:nvSpPr>
          <p:cNvPr id="24" name="p24_cc"/>
          <p:cNvSpPr/>
          <p:nvPr/>
        </p:nvSpPr>
        <p:spPr>
          <a:xfrm>
            <a:off x="8216189" y="5431536"/>
            <a:ext cx="3490874" cy="8961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the prompt to submit the feedback.</a:t>
            </a:r>
            <a:endParaRPr lang="en-US" sz="1800" dirty="0"/>
          </a:p>
        </p:txBody>
      </p:sp>
      <p:sp>
        <p:nvSpPr>
          <p:cNvPr id="25" name="p24_tc"/>
          <p:cNvSpPr/>
          <p:nvPr/>
        </p:nvSpPr>
        <p:spPr>
          <a:xfrm>
            <a:off x="8832748" y="1404518"/>
            <a:ext cx="585216" cy="365760"/>
          </a:xfrm>
          <a:prstGeom prst="roundRect">
            <a:avLst>
              <a:gd name="adj" fmla="val 37500"/>
            </a:avLst>
          </a:prstGeom>
          <a:solidFill>
            <a:srgbClr val="2563A6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26" name="p24_tc_t"/>
          <p:cNvSpPr/>
          <p:nvPr/>
        </p:nvSpPr>
        <p:spPr>
          <a:xfrm>
            <a:off x="8832748" y="1404518"/>
            <a:ext cx="585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600" dirty="0"/>
          </a:p>
        </p:txBody>
      </p:sp>
      <p:sp>
        <p:nvSpPr>
          <p:cNvPr id="27" name="Shape 22"/>
          <p:cNvSpPr/>
          <p:nvPr/>
        </p:nvSpPr>
        <p:spPr>
          <a:xfrm>
            <a:off x="5570748" y="2257174"/>
            <a:ext cx="373404" cy="58819"/>
          </a:xfrm>
          <a:prstGeom prst="roundRect">
            <a:avLst>
              <a:gd name="adj" fmla="val 77730"/>
            </a:avLst>
          </a:prstGeom>
          <a:solidFill>
            <a:srgbClr val="A9B4C2"/>
          </a:solidFill>
          <a:ln w="12700">
            <a:solidFill>
              <a:srgbClr val="A9B4C2"/>
            </a:solidFill>
            <a:prstDash val="solid"/>
          </a:ln>
        </p:spPr>
      </p:sp>
      <p:sp>
        <p:nvSpPr>
          <p:cNvPr id="28" name="Shape 23"/>
          <p:cNvSpPr/>
          <p:nvPr/>
        </p:nvSpPr>
        <p:spPr>
          <a:xfrm>
            <a:off x="9436526" y="2257174"/>
            <a:ext cx="373404" cy="58819"/>
          </a:xfrm>
          <a:prstGeom prst="roundRect">
            <a:avLst>
              <a:gd name="adj" fmla="val 77730"/>
            </a:avLst>
          </a:prstGeom>
          <a:solidFill>
            <a:srgbClr val="A9B4C2"/>
          </a:solidFill>
          <a:ln w="12700">
            <a:solidFill>
              <a:srgbClr val="A9B4C2"/>
            </a:solidFill>
            <a:prstDash val="solid"/>
          </a:ln>
        </p:spPr>
      </p:sp>
      <p:sp>
        <p:nvSpPr>
          <p:cNvPr id="29" name="h24_a1"/>
          <p:cNvSpPr/>
          <p:nvPr/>
        </p:nvSpPr>
        <p:spPr>
          <a:xfrm>
            <a:off x="584847" y="4244478"/>
            <a:ext cx="3290445" cy="960691"/>
          </a:xfrm>
          <a:prstGeom prst="roundRect">
            <a:avLst>
              <a:gd name="adj" fmla="val 5711"/>
            </a:avLst>
          </a:prstGeom>
          <a:ln w="28575">
            <a:solidFill>
              <a:srgbClr val="2563A6"/>
            </a:solidFill>
            <a:prstDash val="solid"/>
          </a:ln>
        </p:spPr>
      </p:sp>
      <p:sp>
        <p:nvSpPr>
          <p:cNvPr id="30" name="h24_b1"/>
          <p:cNvSpPr/>
          <p:nvPr/>
        </p:nvSpPr>
        <p:spPr>
          <a:xfrm>
            <a:off x="5699105" y="3480984"/>
            <a:ext cx="793484" cy="182148"/>
          </a:xfrm>
          <a:prstGeom prst="roundRect">
            <a:avLst>
              <a:gd name="adj" fmla="val 30121"/>
            </a:avLst>
          </a:prstGeom>
          <a:ln w="28575">
            <a:solidFill>
              <a:srgbClr val="2563A6"/>
            </a:solidFill>
            <a:prstDash val="solid"/>
          </a:ln>
        </p:spPr>
      </p:sp>
      <p:sp>
        <p:nvSpPr>
          <p:cNvPr id="31" name="h24_b2"/>
          <p:cNvSpPr/>
          <p:nvPr/>
        </p:nvSpPr>
        <p:spPr>
          <a:xfrm>
            <a:off x="5263467" y="3678311"/>
            <a:ext cx="1664761" cy="318760"/>
          </a:xfrm>
          <a:prstGeom prst="roundRect">
            <a:avLst>
              <a:gd name="adj" fmla="val 17212"/>
            </a:avLst>
          </a:prstGeom>
          <a:ln w="28575">
            <a:solidFill>
              <a:srgbClr val="2563A6"/>
            </a:solidFill>
            <a:prstDash val="solid"/>
          </a:ln>
        </p:spPr>
      </p:sp>
      <p:sp>
        <p:nvSpPr>
          <p:cNvPr id="32" name="h24_b3"/>
          <p:cNvSpPr/>
          <p:nvPr/>
        </p:nvSpPr>
        <p:spPr>
          <a:xfrm>
            <a:off x="5263467" y="4042608"/>
            <a:ext cx="1664761" cy="189738"/>
          </a:xfrm>
          <a:prstGeom prst="roundRect">
            <a:avLst>
              <a:gd name="adj" fmla="val 28916"/>
            </a:avLst>
          </a:prstGeom>
          <a:ln w="28575">
            <a:solidFill>
              <a:srgbClr val="2563A6"/>
            </a:solidFill>
            <a:prstDash val="solid"/>
          </a:ln>
        </p:spPr>
      </p:sp>
      <p:sp>
        <p:nvSpPr>
          <p:cNvPr id="33" name="h24_c1"/>
          <p:cNvSpPr/>
          <p:nvPr/>
        </p:nvSpPr>
        <p:spPr>
          <a:xfrm>
            <a:off x="9187590" y="2687879"/>
            <a:ext cx="1551962" cy="1176376"/>
          </a:xfrm>
          <a:prstGeom prst="roundRect">
            <a:avLst>
              <a:gd name="adj" fmla="val 4664"/>
            </a:avLst>
          </a:prstGeom>
          <a:ln w="28575">
            <a:solidFill>
              <a:srgbClr val="2563A6"/>
            </a:solidFill>
            <a:prstDash val="solid"/>
          </a:ln>
        </p:spPr>
      </p:sp>
      <p:sp>
        <p:nvSpPr>
          <p:cNvPr id="34" name="h24_c2"/>
          <p:cNvSpPr/>
          <p:nvPr/>
        </p:nvSpPr>
        <p:spPr>
          <a:xfrm>
            <a:off x="9984964" y="3537905"/>
            <a:ext cx="645678" cy="204917"/>
          </a:xfrm>
          <a:prstGeom prst="roundRect">
            <a:avLst>
              <a:gd name="adj" fmla="val 26774"/>
            </a:avLst>
          </a:prstGeom>
          <a:ln w="28575">
            <a:solidFill>
              <a:srgbClr val="2563A6"/>
            </a:solidFill>
            <a:prstDash val="solid"/>
          </a:ln>
        </p:spPr>
      </p:sp>
      <p:sp>
        <p:nvSpPr>
          <p:cNvPr id="35" name="Text 30"/>
          <p:cNvSpPr/>
          <p:nvPr/>
        </p:nvSpPr>
        <p:spPr>
          <a:xfrm>
            <a:off x="411480" y="6510528"/>
            <a:ext cx="4114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Nogor Shomadhan  ·  User Manual</a:t>
            </a:r>
            <a:endParaRPr lang="en-US" sz="1100" dirty="0"/>
          </a:p>
        </p:txBody>
      </p:sp>
      <p:sp>
        <p:nvSpPr>
          <p:cNvPr id="36" name="Text 31">
            <a:hlinkClick r:id="rId4" tooltip="1. Problem Statement" action="ppaction://hlinksldjump"/>
          </p:cNvPr>
          <p:cNvSpPr/>
          <p:nvPr/>
        </p:nvSpPr>
        <p:spPr>
          <a:xfrm>
            <a:off x="727222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action="ppaction://hlinksldjump" tooltip="1. Problem Stateme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37" name="Text 32">
            <a:hlinkClick r:id="rId5" tooltip="2. Stakeholders and Responsibilities" action="ppaction://hlinksldjump"/>
          </p:cNvPr>
          <p:cNvSpPr/>
          <p:nvPr/>
        </p:nvSpPr>
        <p:spPr>
          <a:xfrm>
            <a:off x="745510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action="ppaction://hlinksldjump" tooltip="2. Stakeholders and Responsibiliti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38" name="Text 33">
            <a:hlinkClick r:id="rId6" tooltip="3. Resident Account Registration" action="ppaction://hlinksldjump"/>
          </p:cNvPr>
          <p:cNvSpPr/>
          <p:nvPr/>
        </p:nvSpPr>
        <p:spPr>
          <a:xfrm>
            <a:off x="763798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 action="ppaction://hlinksldjump" tooltip="3. Resident Account Registra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39" name="Text 34">
            <a:hlinkClick r:id="rId7" tooltip="4. Registration Request Submitted" action="ppaction://hlinksldjump"/>
          </p:cNvPr>
          <p:cNvSpPr/>
          <p:nvPr/>
        </p:nvSpPr>
        <p:spPr>
          <a:xfrm>
            <a:off x="782086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 action="ppaction://hlinksldjump" tooltip="4. Registration Request Submit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0" name="Text 35">
            <a:hlinkClick r:id="rId8" tooltip="5. Admin Receives the Verification Request" action="ppaction://hlinksldjump"/>
          </p:cNvPr>
          <p:cNvSpPr/>
          <p:nvPr/>
        </p:nvSpPr>
        <p:spPr>
          <a:xfrm>
            <a:off x="800374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" action="ppaction://hlinksldjump" tooltip="5. Admin Receives the Verification Reques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1" name="Text 36">
            <a:hlinkClick r:id="rId9" tooltip="6. Admin Reviews and Approves the Account" action="ppaction://hlinksldjump"/>
          </p:cNvPr>
          <p:cNvSpPr/>
          <p:nvPr/>
        </p:nvSpPr>
        <p:spPr>
          <a:xfrm>
            <a:off x="818662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" action="ppaction://hlinksldjump" tooltip="6. Admin Reviews and Approves the Accou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2" name="Text 37">
            <a:hlinkClick r:id="rId10" tooltip="7. Account Verification Completed" action="ppaction://hlinksldjump"/>
          </p:cNvPr>
          <p:cNvSpPr/>
          <p:nvPr/>
        </p:nvSpPr>
        <p:spPr>
          <a:xfrm>
            <a:off x="836950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0" action="ppaction://hlinksldjump" tooltip="7. Account Verification Comple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3" name="Text 38">
            <a:hlinkClick r:id="rId11" tooltip="8. Create a New Complaint" action="ppaction://hlinksldjump"/>
          </p:cNvPr>
          <p:cNvSpPr/>
          <p:nvPr/>
        </p:nvSpPr>
        <p:spPr>
          <a:xfrm>
            <a:off x="855238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1" action="ppaction://hlinksldjump" tooltip="8. Create a New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4" name="Text 39">
            <a:hlinkClick r:id="rId12" tooltip="9. Add Evidence and Review the Category" action="ppaction://hlinksldjump"/>
          </p:cNvPr>
          <p:cNvSpPr/>
          <p:nvPr/>
        </p:nvSpPr>
        <p:spPr>
          <a:xfrm>
            <a:off x="873526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2" action="ppaction://hlinksldjump" tooltip="9. Add Evidence and Review the Categor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5" name="Text 40">
            <a:hlinkClick r:id="rId13" tooltip="10. Confirm the Complaint Submission" action="ppaction://hlinksldjump"/>
          </p:cNvPr>
          <p:cNvSpPr/>
          <p:nvPr/>
        </p:nvSpPr>
        <p:spPr>
          <a:xfrm>
            <a:off x="891814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3" action="ppaction://hlinksldjump" tooltip="10. Confirm the Complaint Submiss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6" name="Text 41">
            <a:hlinkClick r:id="rId14" tooltip="11. Admin Opens the Review Queue" action="ppaction://hlinksldjump"/>
          </p:cNvPr>
          <p:cNvSpPr/>
          <p:nvPr/>
        </p:nvSpPr>
        <p:spPr>
          <a:xfrm>
            <a:off x="910102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4" action="ppaction://hlinksldjump" tooltip="11. Admin Opens the Review Queu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7" name="Text 42">
            <a:hlinkClick r:id="rId15" tooltip="12. Complaint Check and Duplicate Comparison" action="ppaction://hlinksldjump"/>
          </p:cNvPr>
          <p:cNvSpPr/>
          <p:nvPr/>
        </p:nvSpPr>
        <p:spPr>
          <a:xfrm>
            <a:off x="928390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5" action="ppaction://hlinksldjump" tooltip="12. Complaint Check and Duplicate Compari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8" name="Text 43">
            <a:hlinkClick r:id="rId16" tooltip="13. Duplicate Review Outcomes" action="ppaction://hlinksldjump"/>
          </p:cNvPr>
          <p:cNvSpPr/>
          <p:nvPr/>
        </p:nvSpPr>
        <p:spPr>
          <a:xfrm>
            <a:off x="946678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6" action="ppaction://hlinksldjump" tooltip="13. Duplicate Review Outcom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9" name="Text 44">
            <a:hlinkClick r:id="rId17" tooltip="14. Pending Complaint Visibility" action="ppaction://hlinksldjump"/>
          </p:cNvPr>
          <p:cNvSpPr/>
          <p:nvPr/>
        </p:nvSpPr>
        <p:spPr>
          <a:xfrm>
            <a:off x="964966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7" action="ppaction://hlinksldjump" tooltip="14. Pending Complaint Visibilit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0" name="Text 45">
            <a:hlinkClick r:id="rId18" tooltip="15. Authority Opens the Complaint" action="ppaction://hlinksldjump"/>
          </p:cNvPr>
          <p:cNvSpPr/>
          <p:nvPr/>
        </p:nvSpPr>
        <p:spPr>
          <a:xfrm>
            <a:off x="983254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8" action="ppaction://hlinksldjump" tooltip="15. Authority Opens the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1" name="Text 46">
            <a:hlinkClick r:id="rId19" tooltip="16. Assign a Contractor and Start Work" action="ppaction://hlinksldjump"/>
          </p:cNvPr>
          <p:cNvSpPr/>
          <p:nvPr/>
        </p:nvSpPr>
        <p:spPr>
          <a:xfrm>
            <a:off x="1001542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9" action="ppaction://hlinksldjump" tooltip="16. Assign a Contractor and Start Work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2" name="Text 47">
            <a:hlinkClick r:id="rId20" tooltip="17. The Complaint Moves to In Progress" action="ppaction://hlinksldjump"/>
          </p:cNvPr>
          <p:cNvSpPr/>
          <p:nvPr/>
        </p:nvSpPr>
        <p:spPr>
          <a:xfrm>
            <a:off x="1019830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0" action="ppaction://hlinksldjump" tooltip="17. The Complaint Moves to In Progres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3" name="Text 48">
            <a:hlinkClick r:id="rId21" tooltip="18. Residents See the Progress Update" action="ppaction://hlinksldjump"/>
          </p:cNvPr>
          <p:cNvSpPr/>
          <p:nvPr/>
        </p:nvSpPr>
        <p:spPr>
          <a:xfrm>
            <a:off x="1038118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1" action="ppaction://hlinksldjump" tooltip="18. Residents See the Progress Updat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4" name="Text 49">
            <a:hlinkClick r:id="rId22" tooltip="19. Resident Starts a Forum Discussion" action="ppaction://hlinksldjump"/>
          </p:cNvPr>
          <p:cNvSpPr/>
          <p:nvPr/>
        </p:nvSpPr>
        <p:spPr>
          <a:xfrm>
            <a:off x="1056406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2" action="ppaction://hlinksldjump" tooltip="19. Resident Starts a Forum Discuss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5" name="Text 50">
            <a:hlinkClick r:id="rId23" tooltip="20. Everyone Is Notified" action="ppaction://hlinksldjump"/>
          </p:cNvPr>
          <p:cNvSpPr/>
          <p:nvPr/>
        </p:nvSpPr>
        <p:spPr>
          <a:xfrm>
            <a:off x="1074694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3" action="ppaction://hlinksldjump" tooltip="20. Everyone Is Notifi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6" name="Text 51">
            <a:hlinkClick r:id="rId24" tooltip="21. Open the Post and Discuss" action="ppaction://hlinksldjump"/>
          </p:cNvPr>
          <p:cNvSpPr/>
          <p:nvPr/>
        </p:nvSpPr>
        <p:spPr>
          <a:xfrm>
            <a:off x="1092982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4" action="ppaction://hlinksldjump" tooltip="21. Open the Post and Discus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7" name="Text 52">
            <a:hlinkClick r:id="rId25" tooltip="22. Authority Updates the Work" action="ppaction://hlinksldjump"/>
          </p:cNvPr>
          <p:cNvSpPr/>
          <p:nvPr/>
        </p:nvSpPr>
        <p:spPr>
          <a:xfrm>
            <a:off x="1111270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5" action="ppaction://hlinksldjump" tooltip="22. Authority Updates the Work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8" name="Text 53">
            <a:hlinkClick r:id="rId26" tooltip="23. Authority Resolves the Complaint" action="ppaction://hlinksldjump"/>
          </p:cNvPr>
          <p:cNvSpPr/>
          <p:nvPr/>
        </p:nvSpPr>
        <p:spPr>
          <a:xfrm>
            <a:off x="1129558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6" action="ppaction://hlinksldjump" tooltip="23. Authority Resolves the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9" name="Text 54">
            <a:hlinkClick r:id="rId27" tooltip="24. Residents Give Feedback" action="ppaction://hlinksldjump"/>
          </p:cNvPr>
          <p:cNvSpPr/>
          <p:nvPr/>
        </p:nvSpPr>
        <p:spPr>
          <a:xfrm>
            <a:off x="11478463" y="6528816"/>
            <a:ext cx="118872" cy="118872"/>
          </a:xfrm>
          <a:prstGeom prst="ellipse">
            <a:avLst/>
          </a:prstGeom>
          <a:solidFill>
            <a:srgbClr val="2563A6"/>
          </a:solidFill>
          <a:ln>
            <a:solidFill>
              <a:srgbClr val="2563A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7" action="ppaction://hlinksldjump" tooltip="24. Residents Give Feedback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0" name="Text 55">
            <a:hlinkClick r:id="rId28" tooltip="25. Feedback Is Public and Answered" action="ppaction://hlinksldjump"/>
          </p:cNvPr>
          <p:cNvSpPr/>
          <p:nvPr/>
        </p:nvSpPr>
        <p:spPr>
          <a:xfrm>
            <a:off x="1166134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8" action="ppaction://hlinksldjump" tooltip="25. Feedback Is Public and Answer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1" name="Text 56"/>
          <p:cNvSpPr/>
          <p:nvPr/>
        </p:nvSpPr>
        <p:spPr>
          <a:xfrm>
            <a:off x="6449263" y="6510528"/>
            <a:ext cx="7132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/ 25</a:t>
            </a:r>
            <a:endParaRPr lang="en-US" sz="11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2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2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2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2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2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2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2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2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2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475467"/>
          </a:solidFill>
          <a:ln/>
        </p:spPr>
      </p:sp>
      <p:sp>
        <p:nvSpPr>
          <p:cNvPr id="3" name="Shape 1"/>
          <p:cNvSpPr/>
          <p:nvPr/>
        </p:nvSpPr>
        <p:spPr>
          <a:xfrm>
            <a:off x="411480" y="329184"/>
            <a:ext cx="621792" cy="621792"/>
          </a:xfrm>
          <a:prstGeom prst="roundRect">
            <a:avLst>
              <a:gd name="adj" fmla="val 23529"/>
            </a:avLst>
          </a:prstGeom>
          <a:solidFill>
            <a:srgbClr val="475467"/>
          </a:solidFill>
          <a:ln w="12700">
            <a:solidFill>
              <a:srgbClr val="475467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411480" y="329184"/>
            <a:ext cx="62179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1188720" y="329184"/>
            <a:ext cx="768096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4754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6  ·  RESOLUTION AND RESIDENT FEEDBACK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52144" y="548640"/>
            <a:ext cx="8321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Feedback Is Public and Answered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10580522" y="475488"/>
            <a:ext cx="1199693" cy="420624"/>
          </a:xfrm>
          <a:prstGeom prst="roundRect">
            <a:avLst>
              <a:gd name="adj" fmla="val 50000"/>
            </a:avLst>
          </a:prstGeom>
          <a:solidFill>
            <a:srgbClr val="237A57"/>
          </a:solidFill>
          <a:ln w="12700">
            <a:solidFill>
              <a:srgbClr val="237A57"/>
            </a:solidFill>
            <a:prstDash val="solid"/>
          </a:ln>
          <a:effectLst>
            <a:outerShdw sx="100000" sy="100000" kx="0" ky="0" algn="bl" rotWithShape="0" blurRad="76200" dist="12700" dir="5400000">
              <a:srgbClr val="0B2239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0580522" y="475488"/>
            <a:ext cx="1199693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Authority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9333281" y="475488"/>
            <a:ext cx="1100938" cy="420624"/>
          </a:xfrm>
          <a:prstGeom prst="roundRect">
            <a:avLst>
              <a:gd name="adj" fmla="val 50000"/>
            </a:avLst>
          </a:prstGeom>
          <a:solidFill>
            <a:srgbClr val="2563A6"/>
          </a:solidFill>
          <a:ln w="12700">
            <a:solidFill>
              <a:srgbClr val="2563A6"/>
            </a:solidFill>
            <a:prstDash val="solid"/>
          </a:ln>
          <a:effectLst>
            <a:outerShdw sx="100000" sy="100000" kx="0" ky="0" algn="bl" rotWithShape="0" blurRad="76200" dist="12700" dir="5400000">
              <a:srgbClr val="0B2239">
                <a:alpha val="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9333281" y="475488"/>
            <a:ext cx="110093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11480" y="1216152"/>
            <a:ext cx="11368735" cy="18288"/>
          </a:xfrm>
          <a:prstGeom prst="rect">
            <a:avLst/>
          </a:prstGeom>
          <a:solidFill>
            <a:srgbClr val="DDE1E7"/>
          </a:solidFill>
          <a:ln/>
        </p:spPr>
      </p:sp>
      <p:sp>
        <p:nvSpPr>
          <p:cNvPr id="12" name="Shape 10"/>
          <p:cNvSpPr/>
          <p:nvPr/>
        </p:nvSpPr>
        <p:spPr>
          <a:xfrm>
            <a:off x="1207370" y="1385316"/>
            <a:ext cx="2045399" cy="3895344"/>
          </a:xfrm>
          <a:prstGeom prst="roundRect">
            <a:avLst>
              <a:gd name="adj" fmla="val 3576"/>
            </a:avLst>
          </a:prstGeom>
          <a:solidFill>
            <a:srgbClr val="FFFFFF"/>
          </a:solidFill>
          <a:ln w="12700">
            <a:solidFill>
              <a:srgbClr val="CFE3F4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13" name="Image 0" descr="C:/NogorShomadhan/User Manual/Phase 6/Final/10-thefeedback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57662" y="1435608"/>
            <a:ext cx="1944815" cy="3794760"/>
          </a:xfrm>
          <a:prstGeom prst="rect">
            <a:avLst/>
          </a:prstGeom>
        </p:spPr>
      </p:pic>
      <p:sp>
        <p:nvSpPr>
          <p:cNvPr id="14" name="p25_ca"/>
          <p:cNvSpPr/>
          <p:nvPr/>
        </p:nvSpPr>
        <p:spPr>
          <a:xfrm>
            <a:off x="484632" y="5431536"/>
            <a:ext cx="3490874" cy="8961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rating and comment appear on the complaint for everyone to see.</a:t>
            </a:r>
            <a:endParaRPr lang="en-US" sz="1800" dirty="0"/>
          </a:p>
        </p:txBody>
      </p:sp>
      <p:sp>
        <p:nvSpPr>
          <p:cNvPr id="15" name="p25_ta"/>
          <p:cNvSpPr/>
          <p:nvPr/>
        </p:nvSpPr>
        <p:spPr>
          <a:xfrm>
            <a:off x="1101191" y="1404518"/>
            <a:ext cx="585216" cy="365760"/>
          </a:xfrm>
          <a:prstGeom prst="roundRect">
            <a:avLst>
              <a:gd name="adj" fmla="val 37500"/>
            </a:avLst>
          </a:prstGeom>
          <a:solidFill>
            <a:srgbClr val="2563A6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16" name="p25_ta_t"/>
          <p:cNvSpPr/>
          <p:nvPr/>
        </p:nvSpPr>
        <p:spPr>
          <a:xfrm>
            <a:off x="1101191" y="1404518"/>
            <a:ext cx="585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4053230" y="3159252"/>
            <a:ext cx="219456" cy="347472"/>
          </a:xfrm>
          <a:prstGeom prst="chevron">
            <a:avLst/>
          </a:prstGeom>
          <a:solidFill>
            <a:srgbClr val="475467"/>
          </a:solidFill>
          <a:ln w="12700">
            <a:solidFill>
              <a:srgbClr val="475467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4272686" y="2217146"/>
            <a:ext cx="3646322" cy="3063514"/>
          </a:xfrm>
          <a:prstGeom prst="roundRect">
            <a:avLst>
              <a:gd name="adj" fmla="val 2388"/>
            </a:avLst>
          </a:prstGeom>
          <a:solidFill>
            <a:srgbClr val="FFFFFF"/>
          </a:solidFill>
          <a:ln w="12700">
            <a:solidFill>
              <a:srgbClr val="C6E5D6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19" name="Image 1" descr="C:/NogorShomadhan/User Manual/Phase 6/Final/11-authoritygetsfeedbacknoti.jpe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2978" y="2267438"/>
            <a:ext cx="3545738" cy="2962930"/>
          </a:xfrm>
          <a:prstGeom prst="rect">
            <a:avLst/>
          </a:prstGeom>
        </p:spPr>
      </p:pic>
      <p:sp>
        <p:nvSpPr>
          <p:cNvPr id="20" name="p25_cb"/>
          <p:cNvSpPr/>
          <p:nvPr/>
        </p:nvSpPr>
        <p:spPr>
          <a:xfrm>
            <a:off x="4350410" y="5431536"/>
            <a:ext cx="3490874" cy="8961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authority is notified that a resident left a rating.</a:t>
            </a:r>
            <a:endParaRPr lang="en-US" sz="1800" dirty="0"/>
          </a:p>
        </p:txBody>
      </p:sp>
      <p:sp>
        <p:nvSpPr>
          <p:cNvPr id="21" name="p25_tb"/>
          <p:cNvSpPr/>
          <p:nvPr/>
        </p:nvSpPr>
        <p:spPr>
          <a:xfrm>
            <a:off x="4278572" y="2203075"/>
            <a:ext cx="585216" cy="365760"/>
          </a:xfrm>
          <a:prstGeom prst="roundRect">
            <a:avLst>
              <a:gd name="adj" fmla="val 37500"/>
            </a:avLst>
          </a:prstGeom>
          <a:solidFill>
            <a:srgbClr val="237A57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22" name="p25_tb_t"/>
          <p:cNvSpPr/>
          <p:nvPr/>
        </p:nvSpPr>
        <p:spPr>
          <a:xfrm>
            <a:off x="4278572" y="2203075"/>
            <a:ext cx="585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600" dirty="0"/>
          </a:p>
        </p:txBody>
      </p:sp>
      <p:sp>
        <p:nvSpPr>
          <p:cNvPr id="23" name="Shape 19"/>
          <p:cNvSpPr/>
          <p:nvPr/>
        </p:nvSpPr>
        <p:spPr>
          <a:xfrm>
            <a:off x="7919009" y="3159252"/>
            <a:ext cx="219456" cy="347472"/>
          </a:xfrm>
          <a:prstGeom prst="chevron">
            <a:avLst/>
          </a:prstGeom>
          <a:solidFill>
            <a:srgbClr val="475467"/>
          </a:solidFill>
          <a:ln w="12700">
            <a:solidFill>
              <a:srgbClr val="475467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8683160" y="1385316"/>
            <a:ext cx="2556932" cy="3895344"/>
          </a:xfrm>
          <a:prstGeom prst="roundRect">
            <a:avLst>
              <a:gd name="adj" fmla="val 2861"/>
            </a:avLst>
          </a:prstGeom>
          <a:solidFill>
            <a:srgbClr val="FFFFFF"/>
          </a:solidFill>
          <a:ln w="12700">
            <a:solidFill>
              <a:srgbClr val="C6E5D6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25" name="Image 2" descr="C:/NogorShomadhan/User Manual/Phase 6/Final/12-authorityreplies.jpe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33452" y="1435608"/>
            <a:ext cx="2456348" cy="3794760"/>
          </a:xfrm>
          <a:prstGeom prst="rect">
            <a:avLst/>
          </a:prstGeom>
        </p:spPr>
      </p:pic>
      <p:sp>
        <p:nvSpPr>
          <p:cNvPr id="26" name="p25_cc"/>
          <p:cNvSpPr/>
          <p:nvPr/>
        </p:nvSpPr>
        <p:spPr>
          <a:xfrm>
            <a:off x="8216189" y="5431536"/>
            <a:ext cx="3490874" cy="8961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authority replies to the feedback in the community discussion.</a:t>
            </a:r>
            <a:endParaRPr lang="en-US" sz="1800" dirty="0"/>
          </a:p>
        </p:txBody>
      </p:sp>
      <p:sp>
        <p:nvSpPr>
          <p:cNvPr id="27" name="p25_tc"/>
          <p:cNvSpPr/>
          <p:nvPr/>
        </p:nvSpPr>
        <p:spPr>
          <a:xfrm>
            <a:off x="8612788" y="1404518"/>
            <a:ext cx="585216" cy="365760"/>
          </a:xfrm>
          <a:prstGeom prst="roundRect">
            <a:avLst>
              <a:gd name="adj" fmla="val 37500"/>
            </a:avLst>
          </a:prstGeom>
          <a:solidFill>
            <a:srgbClr val="237A57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28" name="p25_tc_t"/>
          <p:cNvSpPr/>
          <p:nvPr/>
        </p:nvSpPr>
        <p:spPr>
          <a:xfrm>
            <a:off x="8612788" y="1404518"/>
            <a:ext cx="585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600" dirty="0"/>
          </a:p>
        </p:txBody>
      </p:sp>
      <p:sp>
        <p:nvSpPr>
          <p:cNvPr id="29" name="Shape 24"/>
          <p:cNvSpPr/>
          <p:nvPr/>
        </p:nvSpPr>
        <p:spPr>
          <a:xfrm>
            <a:off x="1652459" y="1866313"/>
            <a:ext cx="311170" cy="55024"/>
          </a:xfrm>
          <a:prstGeom prst="roundRect">
            <a:avLst>
              <a:gd name="adj" fmla="val 83091"/>
            </a:avLst>
          </a:prstGeom>
          <a:solidFill>
            <a:srgbClr val="A9B4C2"/>
          </a:solidFill>
          <a:ln w="12700">
            <a:solidFill>
              <a:srgbClr val="A9B4C2"/>
            </a:solidFill>
            <a:prstDash val="solid"/>
          </a:ln>
        </p:spPr>
      </p:sp>
      <p:sp>
        <p:nvSpPr>
          <p:cNvPr id="30" name="Shape 25"/>
          <p:cNvSpPr/>
          <p:nvPr/>
        </p:nvSpPr>
        <p:spPr>
          <a:xfrm>
            <a:off x="1704969" y="2644239"/>
            <a:ext cx="373404" cy="58819"/>
          </a:xfrm>
          <a:prstGeom prst="roundRect">
            <a:avLst>
              <a:gd name="adj" fmla="val 77730"/>
            </a:avLst>
          </a:prstGeom>
          <a:solidFill>
            <a:srgbClr val="A9B4C2"/>
          </a:solidFill>
          <a:ln w="12700">
            <a:solidFill>
              <a:srgbClr val="A9B4C2"/>
            </a:solidFill>
            <a:prstDash val="solid"/>
          </a:ln>
        </p:spPr>
      </p:sp>
      <p:sp>
        <p:nvSpPr>
          <p:cNvPr id="31" name="h25_a1"/>
          <p:cNvSpPr/>
          <p:nvPr/>
        </p:nvSpPr>
        <p:spPr>
          <a:xfrm>
            <a:off x="1401578" y="3773180"/>
            <a:ext cx="1656982" cy="326349"/>
          </a:xfrm>
          <a:prstGeom prst="roundRect">
            <a:avLst>
              <a:gd name="adj" fmla="val 16811"/>
            </a:avLst>
          </a:prstGeom>
          <a:ln w="28575">
            <a:solidFill>
              <a:srgbClr val="2563A6"/>
            </a:solidFill>
            <a:prstDash val="solid"/>
          </a:ln>
        </p:spPr>
      </p:sp>
      <p:sp>
        <p:nvSpPr>
          <p:cNvPr id="32" name="h25_a2"/>
          <p:cNvSpPr/>
          <p:nvPr/>
        </p:nvSpPr>
        <p:spPr>
          <a:xfrm>
            <a:off x="1401578" y="4156451"/>
            <a:ext cx="1656982" cy="443987"/>
          </a:xfrm>
          <a:prstGeom prst="roundRect">
            <a:avLst>
              <a:gd name="adj" fmla="val 12357"/>
            </a:avLst>
          </a:prstGeom>
          <a:ln w="28575">
            <a:solidFill>
              <a:srgbClr val="2563A6"/>
            </a:solidFill>
            <a:prstDash val="solid"/>
          </a:ln>
        </p:spPr>
      </p:sp>
      <p:sp>
        <p:nvSpPr>
          <p:cNvPr id="33" name="h25_b1"/>
          <p:cNvSpPr/>
          <p:nvPr/>
        </p:nvSpPr>
        <p:spPr>
          <a:xfrm>
            <a:off x="4450625" y="4436303"/>
            <a:ext cx="3290445" cy="776288"/>
          </a:xfrm>
          <a:prstGeom prst="roundRect">
            <a:avLst>
              <a:gd name="adj" fmla="val 7067"/>
            </a:avLst>
          </a:prstGeom>
          <a:ln w="28575">
            <a:solidFill>
              <a:srgbClr val="237A57"/>
            </a:solidFill>
            <a:prstDash val="solid"/>
          </a:ln>
        </p:spPr>
      </p:sp>
      <p:sp>
        <p:nvSpPr>
          <p:cNvPr id="34" name="h25_c1"/>
          <p:cNvSpPr/>
          <p:nvPr/>
        </p:nvSpPr>
        <p:spPr>
          <a:xfrm>
            <a:off x="8915222" y="3784564"/>
            <a:ext cx="2092809" cy="379476"/>
          </a:xfrm>
          <a:prstGeom prst="roundRect">
            <a:avLst>
              <a:gd name="adj" fmla="val 14458"/>
            </a:avLst>
          </a:prstGeom>
          <a:ln w="28575">
            <a:solidFill>
              <a:srgbClr val="2563A6"/>
            </a:solidFill>
            <a:prstDash val="solid"/>
          </a:ln>
        </p:spPr>
      </p:sp>
      <p:sp>
        <p:nvSpPr>
          <p:cNvPr id="35" name="h25_c2"/>
          <p:cNvSpPr/>
          <p:nvPr/>
        </p:nvSpPr>
        <p:spPr>
          <a:xfrm>
            <a:off x="9133837" y="4881250"/>
            <a:ext cx="1621190" cy="235275"/>
          </a:xfrm>
          <a:prstGeom prst="roundRect">
            <a:avLst>
              <a:gd name="adj" fmla="val 23319"/>
            </a:avLst>
          </a:prstGeom>
          <a:ln w="28575">
            <a:solidFill>
              <a:srgbClr val="237A57"/>
            </a:solidFill>
            <a:prstDash val="solid"/>
          </a:ln>
        </p:spPr>
      </p:sp>
      <p:sp>
        <p:nvSpPr>
          <p:cNvPr id="36" name="Text 31"/>
          <p:cNvSpPr/>
          <p:nvPr/>
        </p:nvSpPr>
        <p:spPr>
          <a:xfrm>
            <a:off x="411480" y="6510528"/>
            <a:ext cx="4114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Nogor Shomadhan  ·  User Manual</a:t>
            </a:r>
            <a:endParaRPr lang="en-US" sz="1100" dirty="0"/>
          </a:p>
        </p:txBody>
      </p:sp>
      <p:sp>
        <p:nvSpPr>
          <p:cNvPr id="37" name="Text 32">
            <a:hlinkClick r:id="rId4" tooltip="1. Problem Statement" action="ppaction://hlinksldjump"/>
          </p:cNvPr>
          <p:cNvSpPr/>
          <p:nvPr/>
        </p:nvSpPr>
        <p:spPr>
          <a:xfrm>
            <a:off x="727222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action="ppaction://hlinksldjump" tooltip="1. Problem Stateme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38" name="Text 33">
            <a:hlinkClick r:id="rId5" tooltip="2. Stakeholders and Responsibilities" action="ppaction://hlinksldjump"/>
          </p:cNvPr>
          <p:cNvSpPr/>
          <p:nvPr/>
        </p:nvSpPr>
        <p:spPr>
          <a:xfrm>
            <a:off x="745510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action="ppaction://hlinksldjump" tooltip="2. Stakeholders and Responsibiliti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39" name="Text 34">
            <a:hlinkClick r:id="rId6" tooltip="3. Resident Account Registration" action="ppaction://hlinksldjump"/>
          </p:cNvPr>
          <p:cNvSpPr/>
          <p:nvPr/>
        </p:nvSpPr>
        <p:spPr>
          <a:xfrm>
            <a:off x="763798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 action="ppaction://hlinksldjump" tooltip="3. Resident Account Registra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0" name="Text 35">
            <a:hlinkClick r:id="rId7" tooltip="4. Registration Request Submitted" action="ppaction://hlinksldjump"/>
          </p:cNvPr>
          <p:cNvSpPr/>
          <p:nvPr/>
        </p:nvSpPr>
        <p:spPr>
          <a:xfrm>
            <a:off x="782086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 action="ppaction://hlinksldjump" tooltip="4. Registration Request Submit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1" name="Text 36">
            <a:hlinkClick r:id="rId8" tooltip="5. Admin Receives the Verification Request" action="ppaction://hlinksldjump"/>
          </p:cNvPr>
          <p:cNvSpPr/>
          <p:nvPr/>
        </p:nvSpPr>
        <p:spPr>
          <a:xfrm>
            <a:off x="800374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" action="ppaction://hlinksldjump" tooltip="5. Admin Receives the Verification Reques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2" name="Text 37">
            <a:hlinkClick r:id="rId9" tooltip="6. Admin Reviews and Approves the Account" action="ppaction://hlinksldjump"/>
          </p:cNvPr>
          <p:cNvSpPr/>
          <p:nvPr/>
        </p:nvSpPr>
        <p:spPr>
          <a:xfrm>
            <a:off x="818662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" action="ppaction://hlinksldjump" tooltip="6. Admin Reviews and Approves the Accou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3" name="Text 38">
            <a:hlinkClick r:id="rId10" tooltip="7. Account Verification Completed" action="ppaction://hlinksldjump"/>
          </p:cNvPr>
          <p:cNvSpPr/>
          <p:nvPr/>
        </p:nvSpPr>
        <p:spPr>
          <a:xfrm>
            <a:off x="836950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0" action="ppaction://hlinksldjump" tooltip="7. Account Verification Comple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4" name="Text 39">
            <a:hlinkClick r:id="rId11" tooltip="8. Create a New Complaint" action="ppaction://hlinksldjump"/>
          </p:cNvPr>
          <p:cNvSpPr/>
          <p:nvPr/>
        </p:nvSpPr>
        <p:spPr>
          <a:xfrm>
            <a:off x="855238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1" action="ppaction://hlinksldjump" tooltip="8. Create a New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5" name="Text 40">
            <a:hlinkClick r:id="rId12" tooltip="9. Add Evidence and Review the Category" action="ppaction://hlinksldjump"/>
          </p:cNvPr>
          <p:cNvSpPr/>
          <p:nvPr/>
        </p:nvSpPr>
        <p:spPr>
          <a:xfrm>
            <a:off x="873526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2" action="ppaction://hlinksldjump" tooltip="9. Add Evidence and Review the Categor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6" name="Text 41">
            <a:hlinkClick r:id="rId13" tooltip="10. Confirm the Complaint Submission" action="ppaction://hlinksldjump"/>
          </p:cNvPr>
          <p:cNvSpPr/>
          <p:nvPr/>
        </p:nvSpPr>
        <p:spPr>
          <a:xfrm>
            <a:off x="891814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3" action="ppaction://hlinksldjump" tooltip="10. Confirm the Complaint Submiss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7" name="Text 42">
            <a:hlinkClick r:id="rId14" tooltip="11. Admin Opens the Review Queue" action="ppaction://hlinksldjump"/>
          </p:cNvPr>
          <p:cNvSpPr/>
          <p:nvPr/>
        </p:nvSpPr>
        <p:spPr>
          <a:xfrm>
            <a:off x="910102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4" action="ppaction://hlinksldjump" tooltip="11. Admin Opens the Review Queu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8" name="Text 43">
            <a:hlinkClick r:id="rId15" tooltip="12. Complaint Check and Duplicate Comparison" action="ppaction://hlinksldjump"/>
          </p:cNvPr>
          <p:cNvSpPr/>
          <p:nvPr/>
        </p:nvSpPr>
        <p:spPr>
          <a:xfrm>
            <a:off x="928390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5" action="ppaction://hlinksldjump" tooltip="12. Complaint Check and Duplicate Compari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9" name="Text 44">
            <a:hlinkClick r:id="rId16" tooltip="13. Duplicate Review Outcomes" action="ppaction://hlinksldjump"/>
          </p:cNvPr>
          <p:cNvSpPr/>
          <p:nvPr/>
        </p:nvSpPr>
        <p:spPr>
          <a:xfrm>
            <a:off x="946678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6" action="ppaction://hlinksldjump" tooltip="13. Duplicate Review Outcom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0" name="Text 45">
            <a:hlinkClick r:id="rId17" tooltip="14. Pending Complaint Visibility" action="ppaction://hlinksldjump"/>
          </p:cNvPr>
          <p:cNvSpPr/>
          <p:nvPr/>
        </p:nvSpPr>
        <p:spPr>
          <a:xfrm>
            <a:off x="964966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7" action="ppaction://hlinksldjump" tooltip="14. Pending Complaint Visibilit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1" name="Text 46">
            <a:hlinkClick r:id="rId18" tooltip="15. Authority Opens the Complaint" action="ppaction://hlinksldjump"/>
          </p:cNvPr>
          <p:cNvSpPr/>
          <p:nvPr/>
        </p:nvSpPr>
        <p:spPr>
          <a:xfrm>
            <a:off x="983254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8" action="ppaction://hlinksldjump" tooltip="15. Authority Opens the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2" name="Text 47">
            <a:hlinkClick r:id="rId19" tooltip="16. Assign a Contractor and Start Work" action="ppaction://hlinksldjump"/>
          </p:cNvPr>
          <p:cNvSpPr/>
          <p:nvPr/>
        </p:nvSpPr>
        <p:spPr>
          <a:xfrm>
            <a:off x="1001542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9" action="ppaction://hlinksldjump" tooltip="16. Assign a Contractor and Start Work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3" name="Text 48">
            <a:hlinkClick r:id="rId20" tooltip="17. The Complaint Moves to In Progress" action="ppaction://hlinksldjump"/>
          </p:cNvPr>
          <p:cNvSpPr/>
          <p:nvPr/>
        </p:nvSpPr>
        <p:spPr>
          <a:xfrm>
            <a:off x="1019830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0" action="ppaction://hlinksldjump" tooltip="17. The Complaint Moves to In Progres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4" name="Text 49">
            <a:hlinkClick r:id="rId21" tooltip="18. Residents See the Progress Update" action="ppaction://hlinksldjump"/>
          </p:cNvPr>
          <p:cNvSpPr/>
          <p:nvPr/>
        </p:nvSpPr>
        <p:spPr>
          <a:xfrm>
            <a:off x="1038118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1" action="ppaction://hlinksldjump" tooltip="18. Residents See the Progress Updat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5" name="Text 50">
            <a:hlinkClick r:id="rId22" tooltip="19. Resident Starts a Forum Discussion" action="ppaction://hlinksldjump"/>
          </p:cNvPr>
          <p:cNvSpPr/>
          <p:nvPr/>
        </p:nvSpPr>
        <p:spPr>
          <a:xfrm>
            <a:off x="1056406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2" action="ppaction://hlinksldjump" tooltip="19. Resident Starts a Forum Discuss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6" name="Text 51">
            <a:hlinkClick r:id="rId23" tooltip="20. Everyone Is Notified" action="ppaction://hlinksldjump"/>
          </p:cNvPr>
          <p:cNvSpPr/>
          <p:nvPr/>
        </p:nvSpPr>
        <p:spPr>
          <a:xfrm>
            <a:off x="1074694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3" action="ppaction://hlinksldjump" tooltip="20. Everyone Is Notifi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7" name="Text 52">
            <a:hlinkClick r:id="rId24" tooltip="21. Open the Post and Discuss" action="ppaction://hlinksldjump"/>
          </p:cNvPr>
          <p:cNvSpPr/>
          <p:nvPr/>
        </p:nvSpPr>
        <p:spPr>
          <a:xfrm>
            <a:off x="1092982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4" action="ppaction://hlinksldjump" tooltip="21. Open the Post and Discus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8" name="Text 53">
            <a:hlinkClick r:id="rId25" tooltip="22. Authority Updates the Work" action="ppaction://hlinksldjump"/>
          </p:cNvPr>
          <p:cNvSpPr/>
          <p:nvPr/>
        </p:nvSpPr>
        <p:spPr>
          <a:xfrm>
            <a:off x="1111270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5" action="ppaction://hlinksldjump" tooltip="22. Authority Updates the Work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9" name="Text 54">
            <a:hlinkClick r:id="rId26" tooltip="23. Authority Resolves the Complaint" action="ppaction://hlinksldjump"/>
          </p:cNvPr>
          <p:cNvSpPr/>
          <p:nvPr/>
        </p:nvSpPr>
        <p:spPr>
          <a:xfrm>
            <a:off x="1129558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6" action="ppaction://hlinksldjump" tooltip="23. Authority Resolves the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0" name="Text 55">
            <a:hlinkClick r:id="rId27" tooltip="24. Residents Give Feedback" action="ppaction://hlinksldjump"/>
          </p:cNvPr>
          <p:cNvSpPr/>
          <p:nvPr/>
        </p:nvSpPr>
        <p:spPr>
          <a:xfrm>
            <a:off x="1147846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7" action="ppaction://hlinksldjump" tooltip="24. Residents Give Feedback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1" name="Text 56">
            <a:hlinkClick r:id="rId28" tooltip="25. Feedback Is Public and Answered" action="ppaction://hlinksldjump"/>
          </p:cNvPr>
          <p:cNvSpPr/>
          <p:nvPr/>
        </p:nvSpPr>
        <p:spPr>
          <a:xfrm>
            <a:off x="11661343" y="6528816"/>
            <a:ext cx="118872" cy="118872"/>
          </a:xfrm>
          <a:prstGeom prst="ellipse">
            <a:avLst/>
          </a:prstGeom>
          <a:solidFill>
            <a:srgbClr val="475467"/>
          </a:solidFill>
          <a:ln>
            <a:solidFill>
              <a:srgbClr val="4754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8" action="ppaction://hlinksldjump" tooltip="25. Feedback Is Public and Answer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2" name="Text 57"/>
          <p:cNvSpPr/>
          <p:nvPr/>
        </p:nvSpPr>
        <p:spPr>
          <a:xfrm>
            <a:off x="6449263" y="6510528"/>
            <a:ext cx="7132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/ 25</a:t>
            </a:r>
            <a:endParaRPr lang="en-US" sz="11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2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2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2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2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2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2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2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2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2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Nogor Shomadhan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Nogor Shomadhan — User Manual: Phases 1-6</dc:title>
  <dc:subject>PptxGenJS Presentation</dc:subject>
  <dc:creator>Ashfia Tabassum</dc:creator>
  <cp:lastModifiedBy>Ashfia Tabassum</cp:lastModifiedBy>
  <cp:revision>1</cp:revision>
  <dcterms:created xsi:type="dcterms:W3CDTF">2026-09-12T19:41:05Z</dcterms:created>
  <dcterms:modified xsi:type="dcterms:W3CDTF">2026-09-12T19:41:05Z</dcterms:modified>
</cp:coreProperties>
</file>