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2" Type="http://schemas.openxmlformats.org/officeDocument/2006/relationships/slide" Target="slide11.xml"/><Relationship Id="rId13" Type="http://schemas.openxmlformats.org/officeDocument/2006/relationships/slide" Target="slide12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6" Type="http://schemas.openxmlformats.org/officeDocument/2006/relationships/slide" Target="slide15.xml"/><Relationship Id="rId17" Type="http://schemas.openxmlformats.org/officeDocument/2006/relationships/slide" Target="slide16.xml"/><Relationship Id="rId18" Type="http://schemas.openxmlformats.org/officeDocument/2006/relationships/slide" Target="slide17.xml"/><Relationship Id="rId19" Type="http://schemas.openxmlformats.org/officeDocument/2006/relationships/slide" Target="slide18.xml"/><Relationship Id="rId1" Type="http://schemas.openxmlformats.org/officeDocument/2006/relationships/image" Target="../media/image-1-1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" Target="slide11.xml"/><Relationship Id="rId12" Type="http://schemas.openxmlformats.org/officeDocument/2006/relationships/slide" Target="slide12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5" Type="http://schemas.openxmlformats.org/officeDocument/2006/relationships/slide" Target="slide15.xml"/><Relationship Id="rId16" Type="http://schemas.openxmlformats.org/officeDocument/2006/relationships/slide" Target="slide16.xml"/><Relationship Id="rId17" Type="http://schemas.openxmlformats.org/officeDocument/2006/relationships/slide" Target="slide17.xml"/><Relationship Id="rId18" Type="http://schemas.openxmlformats.org/officeDocument/2006/relationships/slide" Target="slide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jpe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jpe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29" name="Text 26">
            <a:hlinkClick r:id="rId2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3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4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5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6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7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8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>
            <a:hlinkClick r:id="rId9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4">
            <a:hlinkClick r:id="rId10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5">
            <a:hlinkClick r:id="rId11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6">
            <a:hlinkClick r:id="rId12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7">
            <a:hlinkClick r:id="rId13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8">
            <a:hlinkClick r:id="rId14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9">
            <a:hlinkClick r:id="rId15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0">
            <a:hlinkClick r:id="rId16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1">
            <a:hlinkClick r:id="rId17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2">
            <a:hlinkClick r:id="rId18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3">
            <a:hlinkClick r:id="rId19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0" name="Text 28">
            <a:hlinkClick r:id="rId1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2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3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4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5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6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7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>
            <a:hlinkClick r:id="rId8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6">
            <a:hlinkClick r:id="rId9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7">
            <a:hlinkClick r:id="rId10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8">
            <a:hlinkClick r:id="rId11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9">
            <a:hlinkClick r:id="rId12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40">
            <a:hlinkClick r:id="rId13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1">
            <a:hlinkClick r:id="rId14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2">
            <a:hlinkClick r:id="rId15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3">
            <a:hlinkClick r:id="rId16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4">
            <a:hlinkClick r:id="rId17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5">
            <a:hlinkClick r:id="rId18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2186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90406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890406" y="4966472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31308" y="5611124"/>
            <a:ext cx="45621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68616" y="5293096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3_1"/>
          <p:cNvSpPr/>
          <p:nvPr/>
        </p:nvSpPr>
        <p:spPr>
          <a:xfrm>
            <a:off x="4159626" y="231014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3_1_t"/>
          <p:cNvSpPr/>
          <p:nvPr/>
        </p:nvSpPr>
        <p:spPr>
          <a:xfrm>
            <a:off x="4159626" y="23101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7" name="b3_2"/>
          <p:cNvSpPr/>
          <p:nvPr/>
        </p:nvSpPr>
        <p:spPr>
          <a:xfrm>
            <a:off x="6245015" y="16376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3_2_t"/>
          <p:cNvSpPr/>
          <p:nvPr/>
        </p:nvSpPr>
        <p:spPr>
          <a:xfrm>
            <a:off x="6245015" y="16376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9" name="b3_3"/>
          <p:cNvSpPr/>
          <p:nvPr/>
        </p:nvSpPr>
        <p:spPr>
          <a:xfrm>
            <a:off x="9619659" y="164628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3_3_t"/>
          <p:cNvSpPr/>
          <p:nvPr/>
        </p:nvSpPr>
        <p:spPr>
          <a:xfrm>
            <a:off x="9619659" y="16462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4" name="Text 39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711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8831"/>
            <a:ext cx="2322576" cy="11469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67512" y="401380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16152" y="3995521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7512" y="4996993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216152" y="4978705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0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26096" y="3675888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4_3"/>
          <p:cNvSpPr/>
          <p:nvPr/>
        </p:nvSpPr>
        <p:spPr>
          <a:xfrm>
            <a:off x="4731549" y="200848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4_3_t"/>
          <p:cNvSpPr/>
          <p:nvPr/>
        </p:nvSpPr>
        <p:spPr>
          <a:xfrm>
            <a:off x="4731549" y="2008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4_4"/>
          <p:cNvSpPr/>
          <p:nvPr/>
        </p:nvSpPr>
        <p:spPr>
          <a:xfrm>
            <a:off x="8973378" y="2146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4_4_t"/>
          <p:cNvSpPr/>
          <p:nvPr/>
        </p:nvSpPr>
        <p:spPr>
          <a:xfrm>
            <a:off x="8973378" y="2146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63600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7830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34440" y="286816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5800" y="39715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234440" y="39532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234440" y="5038344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29514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8" name="b5_2"/>
          <p:cNvSpPr/>
          <p:nvPr/>
        </p:nvSpPr>
        <p:spPr>
          <a:xfrm>
            <a:off x="8119066" y="2956072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5_2_t"/>
          <p:cNvSpPr/>
          <p:nvPr/>
        </p:nvSpPr>
        <p:spPr>
          <a:xfrm>
            <a:off x="8119066" y="2956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343400" cy="46360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252728" y="181051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83464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252728" y="2816352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704088" y="41239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252728" y="410565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704088" y="512978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252728" y="511149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9">
            <a:hlinkClick r:id="rId3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4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5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6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7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8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9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0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1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2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3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4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5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6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7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8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9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0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34440" y="164592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85800" y="241706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40" y="2398776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85800" y="316992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34440" y="315163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392277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34440" y="3904488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changes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727448"/>
            <a:ext cx="4754880" cy="1216152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" y="4782312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20140" y="4965192"/>
            <a:ext cx="3337560" cy="100488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5010912"/>
            <a:ext cx="3246120" cy="913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711639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256981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461809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out7_bg"/>
          <p:cNvSpPr/>
          <p:nvPr/>
        </p:nvSpPr>
        <p:spPr>
          <a:xfrm>
            <a:off x="411480" y="6035040"/>
            <a:ext cx="11368735" cy="457200"/>
          </a:xfrm>
          <a:prstGeom prst="roundRect">
            <a:avLst>
              <a:gd name="adj" fmla="val 2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7" name="out7_tx"/>
          <p:cNvSpPr/>
          <p:nvPr/>
        </p:nvSpPr>
        <p:spPr>
          <a:xfrm>
            <a:off x="411480" y="6035040"/>
            <a:ext cx="113687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can now sign in and begin reporting community problems.</a:t>
            </a: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9" name="Text 44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2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opens the complaint form and provides clear information about the community issue and its location.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474720" cy="41513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8_1_c"/>
          <p:cNvSpPr/>
          <p:nvPr/>
        </p:nvSpPr>
        <p:spPr>
          <a:xfrm>
            <a:off x="667512" y="250545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8_1_t"/>
          <p:cNvSpPr/>
          <p:nvPr/>
        </p:nvSpPr>
        <p:spPr>
          <a:xfrm>
            <a:off x="1216152" y="2487168"/>
            <a:ext cx="241401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Complaints from the Resident Dashboard.</a:t>
            </a:r>
            <a:endParaRPr lang="en-US" sz="1800" dirty="0"/>
          </a:p>
        </p:txBody>
      </p:sp>
      <p:sp>
        <p:nvSpPr>
          <p:cNvPr id="16" name="p8_2_c"/>
          <p:cNvSpPr/>
          <p:nvPr/>
        </p:nvSpPr>
        <p:spPr>
          <a:xfrm>
            <a:off x="667512" y="35890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8_2_t"/>
          <p:cNvSpPr/>
          <p:nvPr/>
        </p:nvSpPr>
        <p:spPr>
          <a:xfrm>
            <a:off x="1216152" y="3570732"/>
            <a:ext cx="24140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Complaint tab.</a:t>
            </a:r>
            <a:endParaRPr lang="en-US" sz="1800" dirty="0"/>
          </a:p>
        </p:txBody>
      </p:sp>
      <p:sp>
        <p:nvSpPr>
          <p:cNvPr id="18" name="p8_3_c"/>
          <p:cNvSpPr/>
          <p:nvPr/>
        </p:nvSpPr>
        <p:spPr>
          <a:xfrm>
            <a:off x="667512" y="43891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8_3_t"/>
          <p:cNvSpPr/>
          <p:nvPr/>
        </p:nvSpPr>
        <p:spPr>
          <a:xfrm>
            <a:off x="1216152" y="4370832"/>
            <a:ext cx="24140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complaint title, description, incident address, nearby landmark, and additional location details.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80768" y="2125980"/>
            <a:ext cx="2228164" cy="4251960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3-resident-dashboard selecting-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1060" y="2176272"/>
            <a:ext cx="2127580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882669" y="2125980"/>
            <a:ext cx="2218616" cy="4251960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resident submits complaint/14-resident-opens-submit-compl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61" y="2176272"/>
            <a:ext cx="2118032" cy="415137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275021" y="2125980"/>
            <a:ext cx="2221522" cy="4251960"/>
          </a:xfrm>
          <a:prstGeom prst="roundRect">
            <a:avLst>
              <a:gd name="adj" fmla="val 32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2/resident submits complaint/15-add-title-description-addr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313" y="2176272"/>
            <a:ext cx="2120938" cy="415137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86073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78425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8" name="h8_1"/>
          <p:cNvSpPr/>
          <p:nvPr/>
        </p:nvSpPr>
        <p:spPr>
          <a:xfrm>
            <a:off x="5158697" y="6095171"/>
            <a:ext cx="372327" cy="190963"/>
          </a:xfrm>
          <a:prstGeom prst="roundRect">
            <a:avLst>
              <a:gd name="adj" fmla="val 2873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b8_1"/>
          <p:cNvSpPr/>
          <p:nvPr/>
        </p:nvSpPr>
        <p:spPr>
          <a:xfrm>
            <a:off x="5163044" y="5721328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b8_1_t"/>
          <p:cNvSpPr/>
          <p:nvPr/>
        </p:nvSpPr>
        <p:spPr>
          <a:xfrm>
            <a:off x="5163044" y="5721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1" name="h8_2"/>
          <p:cNvSpPr/>
          <p:nvPr/>
        </p:nvSpPr>
        <p:spPr>
          <a:xfrm>
            <a:off x="7021918" y="2641226"/>
            <a:ext cx="677770" cy="224174"/>
          </a:xfrm>
          <a:prstGeom prst="roundRect">
            <a:avLst>
              <a:gd name="adj" fmla="val 244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8_2"/>
          <p:cNvSpPr/>
          <p:nvPr/>
        </p:nvSpPr>
        <p:spPr>
          <a:xfrm>
            <a:off x="6881399" y="289008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8_2_t"/>
          <p:cNvSpPr/>
          <p:nvPr/>
        </p:nvSpPr>
        <p:spPr>
          <a:xfrm>
            <a:off x="6881399" y="289008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8_3a"/>
          <p:cNvSpPr/>
          <p:nvPr/>
        </p:nvSpPr>
        <p:spPr>
          <a:xfrm>
            <a:off x="9431360" y="3155997"/>
            <a:ext cx="1908844" cy="896697"/>
          </a:xfrm>
          <a:prstGeom prst="roundRect">
            <a:avLst>
              <a:gd name="adj" fmla="val 61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8_3b"/>
          <p:cNvSpPr/>
          <p:nvPr/>
        </p:nvSpPr>
        <p:spPr>
          <a:xfrm>
            <a:off x="9431360" y="4119116"/>
            <a:ext cx="1908844" cy="1619037"/>
          </a:xfrm>
          <a:prstGeom prst="roundRect">
            <a:avLst>
              <a:gd name="adj" fmla="val 3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6" name="b8_3"/>
          <p:cNvSpPr/>
          <p:nvPr/>
        </p:nvSpPr>
        <p:spPr>
          <a:xfrm>
            <a:off x="9248480" y="393623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8_3_t"/>
          <p:cNvSpPr/>
          <p:nvPr/>
        </p:nvSpPr>
        <p:spPr>
          <a:xfrm>
            <a:off x="9248480" y="39362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Evidence and Review the Category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 is optional. The system suggests a category from the complaint information, but the resident can change it before submission.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931920" cy="415137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9_1_c"/>
          <p:cNvSpPr/>
          <p:nvPr/>
        </p:nvSpPr>
        <p:spPr>
          <a:xfrm>
            <a:off x="685800" y="25237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9_1_t"/>
          <p:cNvSpPr/>
          <p:nvPr/>
        </p:nvSpPr>
        <p:spPr>
          <a:xfrm>
            <a:off x="1234440" y="25054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attach photo evidence using the camera or gallery.</a:t>
            </a:r>
            <a:endParaRPr lang="en-US" sz="1800" dirty="0"/>
          </a:p>
        </p:txBody>
      </p:sp>
      <p:sp>
        <p:nvSpPr>
          <p:cNvPr id="16" name="p9_2_c"/>
          <p:cNvSpPr/>
          <p:nvPr/>
        </p:nvSpPr>
        <p:spPr>
          <a:xfrm>
            <a:off x="685800" y="373989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9_2_t"/>
          <p:cNvSpPr/>
          <p:nvPr/>
        </p:nvSpPr>
        <p:spPr>
          <a:xfrm>
            <a:off x="1234440" y="372160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category automatically suggested by the AI.</a:t>
            </a:r>
            <a:endParaRPr lang="en-US" sz="1800" dirty="0"/>
          </a:p>
        </p:txBody>
      </p:sp>
      <p:sp>
        <p:nvSpPr>
          <p:cNvPr id="18" name="p9_3_c"/>
          <p:cNvSpPr/>
          <p:nvPr/>
        </p:nvSpPr>
        <p:spPr>
          <a:xfrm>
            <a:off x="685800" y="495604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9_3_t"/>
          <p:cNvSpPr/>
          <p:nvPr/>
        </p:nvSpPr>
        <p:spPr>
          <a:xfrm>
            <a:off x="123444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necessary, open the category menu and select a more appropriate category manually.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7935" y="2125980"/>
            <a:ext cx="2185820" cy="4251960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6-add-photo-evidence-if-des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8227" y="2176272"/>
            <a:ext cx="2085236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877923" y="2125980"/>
            <a:ext cx="2208653" cy="4251960"/>
          </a:xfrm>
          <a:prstGeom prst="roundRect">
            <a:avLst>
              <a:gd name="adj" fmla="val 331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categorization/19-choose-from-category 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215" y="2176272"/>
            <a:ext cx="2108069" cy="4151376"/>
          </a:xfrm>
          <a:prstGeom prst="rect">
            <a:avLst/>
          </a:prstGeom>
        </p:spPr>
      </p:pic>
      <p:sp>
        <p:nvSpPr>
          <p:cNvPr id="24" name="arrow9"/>
          <p:cNvSpPr/>
          <p:nvPr/>
        </p:nvSpPr>
        <p:spPr>
          <a:xfrm>
            <a:off x="7794359" y="3995928"/>
            <a:ext cx="822960" cy="512064"/>
          </a:xfrm>
          <a:prstGeom prst="rightArrow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arrow9t"/>
          <p:cNvSpPr/>
          <p:nvPr/>
        </p:nvSpPr>
        <p:spPr>
          <a:xfrm>
            <a:off x="7611479" y="3593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6" name="h9_1a"/>
          <p:cNvSpPr/>
          <p:nvPr/>
        </p:nvSpPr>
        <p:spPr>
          <a:xfrm>
            <a:off x="5585898" y="3629254"/>
            <a:ext cx="1709894" cy="855183"/>
          </a:xfrm>
          <a:prstGeom prst="roundRect">
            <a:avLst>
              <a:gd name="adj" fmla="val 64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9_1b"/>
          <p:cNvSpPr/>
          <p:nvPr/>
        </p:nvSpPr>
        <p:spPr>
          <a:xfrm>
            <a:off x="5577557" y="4501043"/>
            <a:ext cx="471263" cy="489862"/>
          </a:xfrm>
          <a:prstGeom prst="roundRect">
            <a:avLst>
              <a:gd name="adj" fmla="val 1164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b9_1"/>
          <p:cNvSpPr/>
          <p:nvPr/>
        </p:nvSpPr>
        <p:spPr>
          <a:xfrm>
            <a:off x="5267478" y="344637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b9_1_t"/>
          <p:cNvSpPr/>
          <p:nvPr/>
        </p:nvSpPr>
        <p:spPr>
          <a:xfrm>
            <a:off x="5267478" y="34463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0" name="h9_2a"/>
          <p:cNvSpPr/>
          <p:nvPr/>
        </p:nvSpPr>
        <p:spPr>
          <a:xfrm>
            <a:off x="5585898" y="5347923"/>
            <a:ext cx="1709894" cy="315505"/>
          </a:xfrm>
          <a:prstGeom prst="roundRect">
            <a:avLst>
              <a:gd name="adj" fmla="val 17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9_2b"/>
          <p:cNvSpPr/>
          <p:nvPr/>
        </p:nvSpPr>
        <p:spPr>
          <a:xfrm>
            <a:off x="5573387" y="5646822"/>
            <a:ext cx="1634825" cy="157752"/>
          </a:xfrm>
          <a:prstGeom prst="roundRect">
            <a:avLst>
              <a:gd name="adj" fmla="val 3477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9_2"/>
          <p:cNvSpPr/>
          <p:nvPr/>
        </p:nvSpPr>
        <p:spPr>
          <a:xfrm>
            <a:off x="5267478" y="531449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9_2_t"/>
          <p:cNvSpPr/>
          <p:nvPr/>
        </p:nvSpPr>
        <p:spPr>
          <a:xfrm>
            <a:off x="5267478" y="53144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9_3"/>
          <p:cNvSpPr/>
          <p:nvPr/>
        </p:nvSpPr>
        <p:spPr>
          <a:xfrm>
            <a:off x="9160103" y="2857098"/>
            <a:ext cx="1644294" cy="273991"/>
          </a:xfrm>
          <a:prstGeom prst="roundRect">
            <a:avLst>
              <a:gd name="adj" fmla="val 2002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9_3"/>
          <p:cNvSpPr/>
          <p:nvPr/>
        </p:nvSpPr>
        <p:spPr>
          <a:xfrm>
            <a:off x="8888684" y="281121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9_3_t"/>
          <p:cNvSpPr/>
          <p:nvPr/>
        </p:nvSpPr>
        <p:spPr>
          <a:xfrm>
            <a:off x="8888684" y="281121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4">
            <a:hlinkClick r:id="rId3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5">
            <a:hlinkClick r:id="rId4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5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6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7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8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9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10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1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2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3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4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5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6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7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8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9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20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Complaint Submission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is submitted successfully and placed in the review queue. Administrative processing continues in Phase 3.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448056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0_1_c"/>
          <p:cNvSpPr/>
          <p:nvPr/>
        </p:nvSpPr>
        <p:spPr>
          <a:xfrm>
            <a:off x="685800" y="246888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10_1_t"/>
          <p:cNvSpPr/>
          <p:nvPr/>
        </p:nvSpPr>
        <p:spPr>
          <a:xfrm>
            <a:off x="1234440" y="24505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Complaint.</a:t>
            </a:r>
            <a:endParaRPr lang="en-US" sz="1800" dirty="0"/>
          </a:p>
        </p:txBody>
      </p:sp>
      <p:sp>
        <p:nvSpPr>
          <p:cNvPr id="16" name="p10_2_c"/>
          <p:cNvSpPr/>
          <p:nvPr/>
        </p:nvSpPr>
        <p:spPr>
          <a:xfrm>
            <a:off x="685800" y="295808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10_2_t"/>
          <p:cNvSpPr/>
          <p:nvPr/>
        </p:nvSpPr>
        <p:spPr>
          <a:xfrm>
            <a:off x="1234440" y="293979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confirmation prompt and select Yes.</a:t>
            </a:r>
            <a:endParaRPr lang="en-US" sz="1800" dirty="0"/>
          </a:p>
        </p:txBody>
      </p:sp>
      <p:sp>
        <p:nvSpPr>
          <p:cNvPr id="18" name="p10_3_c"/>
          <p:cNvSpPr/>
          <p:nvPr/>
        </p:nvSpPr>
        <p:spPr>
          <a:xfrm>
            <a:off x="685800" y="37216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10_3_t"/>
          <p:cNvSpPr/>
          <p:nvPr/>
        </p:nvSpPr>
        <p:spPr>
          <a:xfrm>
            <a:off x="1234440" y="3703320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 message confirms the complaint was logged and queued for review.</a:t>
            </a:r>
            <a:endParaRPr lang="en-US" sz="1800" dirty="0"/>
          </a:p>
        </p:txBody>
      </p:sp>
      <p:sp>
        <p:nvSpPr>
          <p:cNvPr id="20" name="note10_bg"/>
          <p:cNvSpPr/>
          <p:nvPr/>
        </p:nvSpPr>
        <p:spPr>
          <a:xfrm>
            <a:off x="667512" y="4700016"/>
            <a:ext cx="3968496" cy="987552"/>
          </a:xfrm>
          <a:prstGeom prst="roundRect">
            <a:avLst>
              <a:gd name="adj" fmla="val 7407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21" name="note10_tx"/>
          <p:cNvSpPr/>
          <p:nvPr/>
        </p:nvSpPr>
        <p:spPr>
          <a:xfrm>
            <a:off x="813816" y="4700016"/>
            <a:ext cx="367588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
</a:t>
            </a:r>
            <a:pPr indent="0" marL="0">
              <a:buNone/>
            </a:pPr>
            <a:r>
              <a:rPr lang="en-US" sz="16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form behind the message is the reset form, ready for the next complaint.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6599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0" descr="C:/NogorShomadhan/User Manual/Phase 2/final submit/20-confirm-sub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891" y="2176272"/>
            <a:ext cx="1828068" cy="3584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8816188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2/final submit/21-queue-for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480" y="2176272"/>
            <a:ext cx="1828068" cy="3584448"/>
          </a:xfrm>
          <a:prstGeom prst="rect">
            <a:avLst/>
          </a:prstGeom>
        </p:spPr>
      </p:pic>
      <p:sp>
        <p:nvSpPr>
          <p:cNvPr id="26" name="h10_1"/>
          <p:cNvSpPr/>
          <p:nvPr/>
        </p:nvSpPr>
        <p:spPr>
          <a:xfrm>
            <a:off x="6390982" y="4721230"/>
            <a:ext cx="1656230" cy="279587"/>
          </a:xfrm>
          <a:prstGeom prst="roundRect">
            <a:avLst>
              <a:gd name="adj" fmla="val 196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b10_1"/>
          <p:cNvSpPr/>
          <p:nvPr/>
        </p:nvSpPr>
        <p:spPr>
          <a:xfrm>
            <a:off x="6178853" y="467814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b10_1_t"/>
          <p:cNvSpPr/>
          <p:nvPr/>
        </p:nvSpPr>
        <p:spPr>
          <a:xfrm>
            <a:off x="6178853" y="4678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9" name="h10_2"/>
          <p:cNvSpPr/>
          <p:nvPr/>
        </p:nvSpPr>
        <p:spPr>
          <a:xfrm>
            <a:off x="7239206" y="4190732"/>
            <a:ext cx="676385" cy="236574"/>
          </a:xfrm>
          <a:prstGeom prst="roundRect">
            <a:avLst>
              <a:gd name="adj" fmla="val 2319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b10_2"/>
          <p:cNvSpPr/>
          <p:nvPr/>
        </p:nvSpPr>
        <p:spPr>
          <a:xfrm>
            <a:off x="7403659" y="43447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0_2_t"/>
          <p:cNvSpPr/>
          <p:nvPr/>
        </p:nvSpPr>
        <p:spPr>
          <a:xfrm>
            <a:off x="7403659" y="43447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2" name="h10_3"/>
          <p:cNvSpPr/>
          <p:nvPr/>
        </p:nvSpPr>
        <p:spPr>
          <a:xfrm>
            <a:off x="9109613" y="3022202"/>
            <a:ext cx="1502672" cy="480316"/>
          </a:xfrm>
          <a:prstGeom prst="roundRect">
            <a:avLst>
              <a:gd name="adj" fmla="val 1142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b10_3"/>
          <p:cNvSpPr/>
          <p:nvPr/>
        </p:nvSpPr>
        <p:spPr>
          <a:xfrm>
            <a:off x="8873719" y="2839322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10_3_t"/>
          <p:cNvSpPr/>
          <p:nvPr/>
        </p:nvSpPr>
        <p:spPr>
          <a:xfrm>
            <a:off x="8873719" y="283932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flow10_bg"/>
          <p:cNvSpPr/>
          <p:nvPr/>
        </p:nvSpPr>
        <p:spPr>
          <a:xfrm>
            <a:off x="411480" y="5870448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36" name="flow10_p0"/>
          <p:cNvSpPr/>
          <p:nvPr/>
        </p:nvSpPr>
        <p:spPr>
          <a:xfrm>
            <a:off x="547268" y="5961888"/>
            <a:ext cx="1978762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7" name="flow10_p0_t"/>
          <p:cNvSpPr/>
          <p:nvPr/>
        </p:nvSpPr>
        <p:spPr>
          <a:xfrm>
            <a:off x="547268" y="5961888"/>
            <a:ext cx="1978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Details</a:t>
            </a:r>
            <a:endParaRPr lang="en-US" sz="1600" dirty="0"/>
          </a:p>
        </p:txBody>
      </p:sp>
      <p:sp>
        <p:nvSpPr>
          <p:cNvPr id="38" name="flow10_c0"/>
          <p:cNvSpPr/>
          <p:nvPr/>
        </p:nvSpPr>
        <p:spPr>
          <a:xfrm>
            <a:off x="2626614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9" name="flow10_p1"/>
          <p:cNvSpPr/>
          <p:nvPr/>
        </p:nvSpPr>
        <p:spPr>
          <a:xfrm>
            <a:off x="3001518" y="5961888"/>
            <a:ext cx="2915107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flow10_p1_t"/>
          <p:cNvSpPr/>
          <p:nvPr/>
        </p:nvSpPr>
        <p:spPr>
          <a:xfrm>
            <a:off x="3001518" y="5961888"/>
            <a:ext cx="2915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Optional Evidence</a:t>
            </a:r>
            <a:endParaRPr lang="en-US" sz="1600" dirty="0"/>
          </a:p>
        </p:txBody>
      </p:sp>
      <p:sp>
        <p:nvSpPr>
          <p:cNvPr id="41" name="flow10_c1"/>
          <p:cNvSpPr/>
          <p:nvPr/>
        </p:nvSpPr>
        <p:spPr>
          <a:xfrm>
            <a:off x="6017209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2" name="flow10_p2"/>
          <p:cNvSpPr/>
          <p:nvPr/>
        </p:nvSpPr>
        <p:spPr>
          <a:xfrm>
            <a:off x="6392113" y="5961888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3" name="flow10_p2_t"/>
          <p:cNvSpPr/>
          <p:nvPr/>
        </p:nvSpPr>
        <p:spPr>
          <a:xfrm>
            <a:off x="6392113" y="596188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Category</a:t>
            </a:r>
            <a:endParaRPr lang="en-US" sz="1600" dirty="0"/>
          </a:p>
        </p:txBody>
      </p:sp>
      <p:sp>
        <p:nvSpPr>
          <p:cNvPr id="44" name="flow10_c2"/>
          <p:cNvSpPr/>
          <p:nvPr/>
        </p:nvSpPr>
        <p:spPr>
          <a:xfrm>
            <a:off x="8705545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5" name="flow10_p3"/>
          <p:cNvSpPr/>
          <p:nvPr/>
        </p:nvSpPr>
        <p:spPr>
          <a:xfrm>
            <a:off x="9080449" y="5961888"/>
            <a:ext cx="256397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6" name="flow10_p3_t"/>
          <p:cNvSpPr/>
          <p:nvPr/>
        </p:nvSpPr>
        <p:spPr>
          <a:xfrm>
            <a:off x="9080449" y="5961888"/>
            <a:ext cx="2563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Submission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8" name="Text 44">
            <a:hlinkClick r:id="rId3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4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5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6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7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8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9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0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1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2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3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4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15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16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17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18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19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0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Opens the Review Queue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474720" cy="491032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1_1_c"/>
          <p:cNvSpPr/>
          <p:nvPr/>
        </p:nvSpPr>
        <p:spPr>
          <a:xfrm>
            <a:off x="667512" y="174650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11_1_t"/>
          <p:cNvSpPr/>
          <p:nvPr/>
        </p:nvSpPr>
        <p:spPr>
          <a:xfrm>
            <a:off x="1216152" y="1728216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opens Review Complaints from Administrative Actions.</a:t>
            </a:r>
            <a:endParaRPr lang="en-US" sz="1800" dirty="0"/>
          </a:p>
        </p:txBody>
      </p:sp>
      <p:sp>
        <p:nvSpPr>
          <p:cNvPr id="13" name="p11_2_c"/>
          <p:cNvSpPr/>
          <p:nvPr/>
        </p:nvSpPr>
        <p:spPr>
          <a:xfrm>
            <a:off x="667512" y="33055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11_2_t"/>
          <p:cNvSpPr/>
          <p:nvPr/>
        </p:nvSpPr>
        <p:spPr>
          <a:xfrm>
            <a:off x="1216152" y="3287268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complaints and possible duplicates are listed.</a:t>
            </a:r>
            <a:endParaRPr lang="en-US" sz="1800" dirty="0"/>
          </a:p>
        </p:txBody>
      </p:sp>
      <p:sp>
        <p:nvSpPr>
          <p:cNvPr id="15" name="p11_3_c"/>
          <p:cNvSpPr/>
          <p:nvPr/>
        </p:nvSpPr>
        <p:spPr>
          <a:xfrm>
            <a:off x="667512" y="486460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11_3_t"/>
          <p:cNvSpPr/>
          <p:nvPr/>
        </p:nvSpPr>
        <p:spPr>
          <a:xfrm>
            <a:off x="1216152" y="4846320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appears with an Unverified status.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81524" y="1367028"/>
            <a:ext cx="2392240" cy="4626864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/NogorShomadhan/User Manual/Phase 3/review complaint/IMG_444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1816" y="1417320"/>
            <a:ext cx="2291656" cy="45262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911776" y="6053328"/>
            <a:ext cx="2931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47499" y="1367028"/>
            <a:ext cx="2468281" cy="4626864"/>
          </a:xfrm>
          <a:prstGeom prst="roundRect">
            <a:avLst>
              <a:gd name="adj" fmla="val 2964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1" descr="C:/NogorShomadhan/User Manual/Phase 3/review complaint/IMG_444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791" y="1417320"/>
            <a:ext cx="2367697" cy="4526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477751" y="6053328"/>
            <a:ext cx="300777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9389516" y="1367028"/>
            <a:ext cx="2406271" cy="4626864"/>
          </a:xfrm>
          <a:prstGeom prst="roundRect">
            <a:avLst>
              <a:gd name="adj" fmla="val 304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2" descr="C:/NogorShomadhan/User Manual/Phase 3/review complaint/22-complaint-in-admin-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808" y="1417320"/>
            <a:ext cx="2305687" cy="45262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9768" y="6053328"/>
            <a:ext cx="29457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550903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92920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8" name="h11_1a"/>
          <p:cNvSpPr/>
          <p:nvPr/>
        </p:nvSpPr>
        <p:spPr>
          <a:xfrm>
            <a:off x="4314315" y="3336463"/>
            <a:ext cx="2126656" cy="488838"/>
          </a:xfrm>
          <a:prstGeom prst="roundRect">
            <a:avLst>
              <a:gd name="adj" fmla="val 1122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9" name="h11_1b"/>
          <p:cNvSpPr/>
          <p:nvPr/>
        </p:nvSpPr>
        <p:spPr>
          <a:xfrm>
            <a:off x="6042224" y="1462583"/>
            <a:ext cx="192499" cy="171999"/>
          </a:xfrm>
          <a:prstGeom prst="roundRect">
            <a:avLst>
              <a:gd name="adj" fmla="val 3189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1_1"/>
          <p:cNvSpPr/>
          <p:nvPr/>
        </p:nvSpPr>
        <p:spPr>
          <a:xfrm>
            <a:off x="4117685" y="315358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1_1_t"/>
          <p:cNvSpPr/>
          <p:nvPr/>
        </p:nvSpPr>
        <p:spPr>
          <a:xfrm>
            <a:off x="4117685" y="315358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11_2a"/>
          <p:cNvSpPr/>
          <p:nvPr/>
        </p:nvSpPr>
        <p:spPr>
          <a:xfrm>
            <a:off x="6887764" y="2883835"/>
            <a:ext cx="2201958" cy="534101"/>
          </a:xfrm>
          <a:prstGeom prst="roundRect">
            <a:avLst>
              <a:gd name="adj" fmla="val 1027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h11_2b"/>
          <p:cNvSpPr/>
          <p:nvPr/>
        </p:nvSpPr>
        <p:spPr>
          <a:xfrm>
            <a:off x="6887764" y="3408883"/>
            <a:ext cx="2201958" cy="452628"/>
          </a:xfrm>
          <a:prstGeom prst="roundRect">
            <a:avLst>
              <a:gd name="adj" fmla="val 1212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11_2"/>
          <p:cNvSpPr/>
          <p:nvPr/>
        </p:nvSpPr>
        <p:spPr>
          <a:xfrm>
            <a:off x="6685942" y="270095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11_2_t"/>
          <p:cNvSpPr/>
          <p:nvPr/>
        </p:nvSpPr>
        <p:spPr>
          <a:xfrm>
            <a:off x="6685942" y="270095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11_3a"/>
          <p:cNvSpPr/>
          <p:nvPr/>
        </p:nvSpPr>
        <p:spPr>
          <a:xfrm>
            <a:off x="11026121" y="2920045"/>
            <a:ext cx="548754" cy="181051"/>
          </a:xfrm>
          <a:prstGeom prst="roundRect">
            <a:avLst>
              <a:gd name="adj" fmla="val 303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7" name="h11_3b"/>
          <p:cNvSpPr/>
          <p:nvPr/>
        </p:nvSpPr>
        <p:spPr>
          <a:xfrm>
            <a:off x="9619652" y="4839188"/>
            <a:ext cx="645592" cy="226314"/>
          </a:xfrm>
          <a:prstGeom prst="roundRect">
            <a:avLst>
              <a:gd name="adj" fmla="val 2424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11_3"/>
          <p:cNvSpPr/>
          <p:nvPr/>
        </p:nvSpPr>
        <p:spPr>
          <a:xfrm>
            <a:off x="10732568" y="2583271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11_3_t"/>
          <p:cNvSpPr/>
          <p:nvPr/>
        </p:nvSpPr>
        <p:spPr>
          <a:xfrm>
            <a:off x="10732568" y="258327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0" name="Text 3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6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Check and Duplicate Comparison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75488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2_4_c"/>
          <p:cNvSpPr/>
          <p:nvPr/>
        </p:nvSpPr>
        <p:spPr>
          <a:xfrm>
            <a:off x="685800" y="172821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p12_4_t"/>
          <p:cNvSpPr/>
          <p:nvPr/>
        </p:nvSpPr>
        <p:spPr>
          <a:xfrm>
            <a:off x="1234440" y="1709928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Information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location, submitted, evidence.</a:t>
            </a:r>
            <a:endParaRPr lang="en-US" sz="1800" dirty="0"/>
          </a:p>
        </p:txBody>
      </p:sp>
      <p:sp>
        <p:nvSpPr>
          <p:cNvPr id="13" name="p12_5_c"/>
          <p:cNvSpPr/>
          <p:nvPr/>
        </p:nvSpPr>
        <p:spPr>
          <a:xfrm>
            <a:off x="685800" y="2583249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p12_5_t"/>
          <p:cNvSpPr/>
          <p:nvPr/>
        </p:nvSpPr>
        <p:spPr>
          <a:xfrm>
            <a:off x="1234440" y="2564961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Duplicate Warning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score, reason, base complaint ID.</a:t>
            </a:r>
            <a:endParaRPr lang="en-US" sz="1800" dirty="0"/>
          </a:p>
        </p:txBody>
      </p:sp>
      <p:sp>
        <p:nvSpPr>
          <p:cNvPr id="15" name="p12_6_c"/>
          <p:cNvSpPr/>
          <p:nvPr/>
        </p:nvSpPr>
        <p:spPr>
          <a:xfrm>
            <a:off x="685800" y="343828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p12_6_t"/>
          <p:cNvSpPr/>
          <p:nvPr/>
        </p:nvSpPr>
        <p:spPr>
          <a:xfrm>
            <a:off x="1234440" y="3419994"/>
            <a:ext cx="3657600" cy="5119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Decision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duplicate, or reject it.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8096" y="4137660"/>
            <a:ext cx="4041648" cy="2167431"/>
          </a:xfrm>
          <a:prstGeom prst="roundRect">
            <a:avLst>
              <a:gd name="adj" fmla="val 337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5-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4187952"/>
            <a:ext cx="3941064" cy="206684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832854" y="1367028"/>
            <a:ext cx="2551820" cy="5010912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3/review complaint/23-check-inf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46" y="1417320"/>
            <a:ext cx="2451236" cy="491032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969890" y="1367028"/>
            <a:ext cx="2509591" cy="5010912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2" descr="C:/NogorShomadhan/User Manual/Phase 3/review complaint/24-view-duplicacy-metr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182" y="1417320"/>
            <a:ext cx="2409007" cy="4910328"/>
          </a:xfrm>
          <a:prstGeom prst="rect">
            <a:avLst/>
          </a:prstGeom>
        </p:spPr>
      </p:pic>
      <p:sp>
        <p:nvSpPr>
          <p:cNvPr id="23" name="arrow12"/>
          <p:cNvSpPr/>
          <p:nvPr/>
        </p:nvSpPr>
        <p:spPr>
          <a:xfrm>
            <a:off x="8425822" y="3634740"/>
            <a:ext cx="502920" cy="475488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4" name="h12_4"/>
          <p:cNvSpPr/>
          <p:nvPr/>
        </p:nvSpPr>
        <p:spPr>
          <a:xfrm>
            <a:off x="5981196" y="2173511"/>
            <a:ext cx="2255137" cy="1404354"/>
          </a:xfrm>
          <a:prstGeom prst="roundRect">
            <a:avLst>
              <a:gd name="adj" fmla="val 3907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5" name="b12_4"/>
          <p:cNvSpPr/>
          <p:nvPr/>
        </p:nvSpPr>
        <p:spPr>
          <a:xfrm>
            <a:off x="5810572" y="209865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b12_4_t"/>
          <p:cNvSpPr/>
          <p:nvPr/>
        </p:nvSpPr>
        <p:spPr>
          <a:xfrm>
            <a:off x="5810572" y="209865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h12_5a"/>
          <p:cNvSpPr/>
          <p:nvPr/>
        </p:nvSpPr>
        <p:spPr>
          <a:xfrm>
            <a:off x="5981196" y="3607326"/>
            <a:ext cx="2255137" cy="2347137"/>
          </a:xfrm>
          <a:prstGeom prst="roundRect">
            <a:avLst>
              <a:gd name="adj" fmla="val 243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8" name="h12_5b"/>
          <p:cNvSpPr/>
          <p:nvPr/>
        </p:nvSpPr>
        <p:spPr>
          <a:xfrm>
            <a:off x="6821970" y="4186745"/>
            <a:ext cx="416710" cy="147310"/>
          </a:xfrm>
          <a:prstGeom prst="roundRect">
            <a:avLst>
              <a:gd name="adj" fmla="val 3724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9" name="h12_5c"/>
          <p:cNvSpPr/>
          <p:nvPr/>
        </p:nvSpPr>
        <p:spPr>
          <a:xfrm>
            <a:off x="6569492" y="5738409"/>
            <a:ext cx="1093251" cy="157130"/>
          </a:xfrm>
          <a:prstGeom prst="roundRect">
            <a:avLst>
              <a:gd name="adj" fmla="val 3491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2_5"/>
          <p:cNvSpPr/>
          <p:nvPr/>
        </p:nvSpPr>
        <p:spPr>
          <a:xfrm>
            <a:off x="5810572" y="3532474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2_5_t"/>
          <p:cNvSpPr/>
          <p:nvPr/>
        </p:nvSpPr>
        <p:spPr>
          <a:xfrm>
            <a:off x="5810572" y="35324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h12_6a"/>
          <p:cNvSpPr/>
          <p:nvPr/>
        </p:nvSpPr>
        <p:spPr>
          <a:xfrm>
            <a:off x="10812483" y="1898532"/>
            <a:ext cx="529982" cy="363364"/>
          </a:xfrm>
          <a:prstGeom prst="roundRect">
            <a:avLst>
              <a:gd name="adj" fmla="val 15099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3" name="h12_6b"/>
          <p:cNvSpPr/>
          <p:nvPr/>
        </p:nvSpPr>
        <p:spPr>
          <a:xfrm>
            <a:off x="9130996" y="3951049"/>
            <a:ext cx="1079235" cy="2327495"/>
          </a:xfrm>
          <a:prstGeom prst="roundRect">
            <a:avLst>
              <a:gd name="adj" fmla="val 508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4" name="h12_6c"/>
          <p:cNvSpPr/>
          <p:nvPr/>
        </p:nvSpPr>
        <p:spPr>
          <a:xfrm>
            <a:off x="10248776" y="3951049"/>
            <a:ext cx="1084053" cy="2327495"/>
          </a:xfrm>
          <a:prstGeom prst="roundRect">
            <a:avLst>
              <a:gd name="adj" fmla="val 506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5" name="h12_6d"/>
          <p:cNvSpPr/>
          <p:nvPr/>
        </p:nvSpPr>
        <p:spPr>
          <a:xfrm>
            <a:off x="1023323" y="5500400"/>
            <a:ext cx="3594250" cy="516712"/>
          </a:xfrm>
          <a:prstGeom prst="roundRect">
            <a:avLst>
              <a:gd name="adj" fmla="val 1061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12_6"/>
          <p:cNvSpPr/>
          <p:nvPr/>
        </p:nvSpPr>
        <p:spPr>
          <a:xfrm>
            <a:off x="761622" y="431509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12_6_t"/>
          <p:cNvSpPr/>
          <p:nvPr/>
        </p:nvSpPr>
        <p:spPr>
          <a:xfrm>
            <a:off x="761622" y="431509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Review Outcomes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1389888"/>
            <a:ext cx="5500116" cy="54864"/>
          </a:xfrm>
          <a:prstGeom prst="rect">
            <a:avLst/>
          </a:prstGeom>
          <a:solidFill>
            <a:srgbClr val="B4480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" y="1517904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B4480A"/>
          </a:solidFill>
          <a:ln w="12700">
            <a:solidFill>
              <a:srgbClr val="B448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1517904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CONFIRMED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4350" y="2107692"/>
            <a:ext cx="2214375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6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2" y="2157984"/>
            <a:ext cx="2113791" cy="1417320"/>
          </a:xfrm>
          <a:prstGeom prst="rect">
            <a:avLst/>
          </a:prstGeom>
        </p:spPr>
      </p:pic>
      <p:sp>
        <p:nvSpPr>
          <p:cNvPr id="19" name="l13a_cap"/>
          <p:cNvSpPr/>
          <p:nvPr/>
        </p:nvSpPr>
        <p:spPr>
          <a:xfrm>
            <a:off x="667512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confirms the match. The submitted copy is deleted and linked to the base complaint.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67512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731862" y="4503420"/>
            <a:ext cx="285935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1" descr="C:\Users\ASUS\AppData\Local\Temp\claude\C--NogorShomadhan\6d8323a9-c937-42c6-8eb9-13e28f50f09f\scratchpad\deck\crops/27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154" y="4553712"/>
            <a:ext cx="2758768" cy="1051560"/>
          </a:xfrm>
          <a:prstGeom prst="rect">
            <a:avLst/>
          </a:prstGeom>
        </p:spPr>
      </p:pic>
      <p:sp>
        <p:nvSpPr>
          <p:cNvPr id="23" name="l13b_cap"/>
          <p:cNvSpPr/>
          <p:nvPr/>
        </p:nvSpPr>
        <p:spPr>
          <a:xfrm>
            <a:off x="667512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with both complaint IDs and follows the base complaint.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277356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277356" y="1389888"/>
            <a:ext cx="5500116" cy="54864"/>
          </a:xfrm>
          <a:prstGeom prst="rect">
            <a:avLst/>
          </a:prstGeom>
          <a:solidFill>
            <a:srgbClr val="18835C"/>
          </a:solidFill>
          <a:ln/>
        </p:spPr>
      </p:sp>
      <p:sp>
        <p:nvSpPr>
          <p:cNvPr id="26" name="Shape 22"/>
          <p:cNvSpPr/>
          <p:nvPr/>
        </p:nvSpPr>
        <p:spPr>
          <a:xfrm>
            <a:off x="6533388" y="1517904"/>
            <a:ext cx="2075688" cy="347472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3388" y="1517904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533388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7802093" y="2107692"/>
            <a:ext cx="2450642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2" descr="C:\Users\ASUS\AppData\Local\Temp\claude\C--NogorShomadhan\6d8323a9-c937-42c6-8eb9-13e28f50f09f\scratchpad\deck\crops/28-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385" y="2157984"/>
            <a:ext cx="2350058" cy="1417320"/>
          </a:xfrm>
          <a:prstGeom prst="rect">
            <a:avLst/>
          </a:prstGeom>
        </p:spPr>
      </p:pic>
      <p:sp>
        <p:nvSpPr>
          <p:cNvPr id="31" name="r13a_cap"/>
          <p:cNvSpPr/>
          <p:nvPr/>
        </p:nvSpPr>
        <p:spPr>
          <a:xfrm>
            <a:off x="6533388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rejects the duplicate suggestion, not the complaint. It is kept and set to Pending.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533388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191100" y="4503420"/>
            <a:ext cx="3672628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4" name="Image 3" descr="C:\Users\ASUS\AppData\Local\Temp\claude\C--NogorShomadhan\6d8323a9-c937-42c6-8eb9-13e28f50f09f\scratchpad\deck\crops/29-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1392" y="4553712"/>
            <a:ext cx="3572044" cy="1051560"/>
          </a:xfrm>
          <a:prstGeom prst="rect">
            <a:avLst/>
          </a:prstGeom>
        </p:spPr>
      </p:pic>
      <p:sp>
        <p:nvSpPr>
          <p:cNvPr id="35" name="r13b_cap"/>
          <p:cNvSpPr/>
          <p:nvPr/>
        </p:nvSpPr>
        <p:spPr>
          <a:xfrm>
            <a:off x="6533388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was accepted and tracks it as Pending.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1">
            <a:hlinkClick r:id="rId5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2">
            <a:hlinkClick r:id="rId6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3">
            <a:hlinkClick r:id="rId7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4">
            <a:hlinkClick r:id="rId8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5">
            <a:hlinkClick r:id="rId9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6">
            <a:hlinkClick r:id="rId10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7">
            <a:hlinkClick r:id="rId11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8">
            <a:hlinkClick r:id="rId12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39">
            <a:hlinkClick r:id="rId13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0">
            <a:hlinkClick r:id="rId14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1">
            <a:hlinkClick r:id="rId15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2">
            <a:hlinkClick r:id="rId16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3">
            <a:hlinkClick r:id="rId17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4">
            <a:hlinkClick r:id="rId18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5">
            <a:hlinkClick r:id="rId19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6">
            <a:hlinkClick r:id="rId20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7">
            <a:hlinkClick r:id="rId21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8">
            <a:hlinkClick r:id="rId22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49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Complaint Visibility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987991" y="475488"/>
            <a:ext cx="1792224" cy="420624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987991" y="4754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1731279" y="1463040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279" y="146304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6329" y="1815084"/>
            <a:ext cx="1706596" cy="32826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3/post duplicate actions/30-added-in-all-compl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621" y="1865376"/>
            <a:ext cx="1606012" cy="3182112"/>
          </a:xfrm>
          <a:prstGeom prst="rect">
            <a:avLst/>
          </a:prstGeom>
        </p:spPr>
      </p:pic>
      <p:sp>
        <p:nvSpPr>
          <p:cNvPr id="14" name="c14_a"/>
          <p:cNvSpPr/>
          <p:nvPr/>
        </p:nvSpPr>
        <p:spPr>
          <a:xfrm>
            <a:off x="502920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All Complaints with Pending status.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32319" y="1463040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2319" y="1463040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5186" y="1815084"/>
            <a:ext cx="1721552" cy="3282696"/>
          </a:xfrm>
          <a:prstGeom prst="roundRect">
            <a:avLst>
              <a:gd name="adj" fmla="val 4249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1" descr="C:/NogorShomadhan/User Manual/Phase 3/post duplicate actions/31-available-in-autho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478" y="1865376"/>
            <a:ext cx="1620968" cy="3182112"/>
          </a:xfrm>
          <a:prstGeom prst="rect">
            <a:avLst/>
          </a:prstGeom>
        </p:spPr>
      </p:pic>
      <p:sp>
        <p:nvSpPr>
          <p:cNvPr id="19" name="c14_b"/>
          <p:cNvSpPr/>
          <p:nvPr/>
        </p:nvSpPr>
        <p:spPr>
          <a:xfrm>
            <a:off x="4459254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the assigned authority for mitigation.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482099" y="1463040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482099" y="1463040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904917" y="1815084"/>
            <a:ext cx="2474758" cy="3282696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3/post duplicate actions/32-available-in-resid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209" y="1865376"/>
            <a:ext cx="2374174" cy="3182112"/>
          </a:xfrm>
          <a:prstGeom prst="rect">
            <a:avLst/>
          </a:prstGeom>
        </p:spPr>
      </p:pic>
      <p:sp>
        <p:nvSpPr>
          <p:cNvPr id="24" name="c14_c"/>
          <p:cNvSpPr/>
          <p:nvPr/>
        </p:nvSpPr>
        <p:spPr>
          <a:xfrm>
            <a:off x="8415589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in My Complaints with status and progress.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908425" y="4161270"/>
            <a:ext cx="3051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796004" y="4361743"/>
            <a:ext cx="340475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747824" y="4559034"/>
            <a:ext cx="369383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2792" y="4759507"/>
            <a:ext cx="2248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4_a"/>
          <p:cNvSpPr/>
          <p:nvPr/>
        </p:nvSpPr>
        <p:spPr>
          <a:xfrm>
            <a:off x="1558314" y="2412699"/>
            <a:ext cx="411139" cy="133649"/>
          </a:xfrm>
          <a:prstGeom prst="roundRect">
            <a:avLst>
              <a:gd name="adj" fmla="val 4105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h14_b"/>
          <p:cNvSpPr/>
          <p:nvPr/>
        </p:nvSpPr>
        <p:spPr>
          <a:xfrm>
            <a:off x="5505155" y="2279051"/>
            <a:ext cx="376065" cy="127284"/>
          </a:xfrm>
          <a:prstGeom prst="roundRect">
            <a:avLst>
              <a:gd name="adj" fmla="val 4310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4_c"/>
          <p:cNvSpPr/>
          <p:nvPr/>
        </p:nvSpPr>
        <p:spPr>
          <a:xfrm>
            <a:off x="10735840" y="3825557"/>
            <a:ext cx="389364" cy="133649"/>
          </a:xfrm>
          <a:prstGeom prst="roundRect">
            <a:avLst>
              <a:gd name="adj" fmla="val 4105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out14_bg"/>
          <p:cNvSpPr/>
          <p:nvPr/>
        </p:nvSpPr>
        <p:spPr>
          <a:xfrm>
            <a:off x="411480" y="5760720"/>
            <a:ext cx="11368735" cy="694944"/>
          </a:xfrm>
          <a:prstGeom prst="roundRect">
            <a:avLst>
              <a:gd name="adj" fmla="val 13158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out14_tx"/>
          <p:cNvSpPr/>
          <p:nvPr/>
        </p:nvSpPr>
        <p:spPr>
          <a:xfrm>
            <a:off x="685800" y="5760720"/>
            <a:ext cx="10820095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that is not a duplicate continues as a separate Pending complaint and becomes visible to every relevant role.</a:t>
            </a:r>
            <a:endParaRPr lang="en-US" sz="1850" dirty="0"/>
          </a:p>
        </p:txBody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Opens the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22549" y="1385316"/>
            <a:ext cx="2015040" cy="3895344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1-authority-dashboar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841" y="1435608"/>
            <a:ext cx="1914456" cy="3794760"/>
          </a:xfrm>
          <a:prstGeom prst="rect">
            <a:avLst/>
          </a:prstGeom>
        </p:spPr>
      </p:pic>
      <p:sp>
        <p:nvSpPr>
          <p:cNvPr id="12" name="p15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shows complaint counts and a notification badge.</a:t>
            </a:r>
            <a:endParaRPr lang="en-US" sz="1800" dirty="0"/>
          </a:p>
        </p:txBody>
      </p:sp>
      <p:sp>
        <p:nvSpPr>
          <p:cNvPr id="13" name="p15_ta"/>
          <p:cNvSpPr/>
          <p:nvPr/>
        </p:nvSpPr>
        <p:spPr>
          <a:xfrm>
            <a:off x="1114245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5_ta_t"/>
          <p:cNvSpPr/>
          <p:nvPr/>
        </p:nvSpPr>
        <p:spPr>
          <a:xfrm>
            <a:off x="1114245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9071" y="1385316"/>
            <a:ext cx="3033554" cy="3895344"/>
          </a:xfrm>
          <a:prstGeom prst="roundRect">
            <a:avLst>
              <a:gd name="adj" fmla="val 24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2-choose-pothol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363" y="1435608"/>
            <a:ext cx="2932970" cy="3794760"/>
          </a:xfrm>
          <a:prstGeom prst="rect">
            <a:avLst/>
          </a:prstGeom>
        </p:spPr>
      </p:pic>
      <p:sp>
        <p:nvSpPr>
          <p:cNvPr id="18" name="p15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names the complaint that is ready for authority action.</a:t>
            </a:r>
            <a:endParaRPr lang="en-US" sz="1800" dirty="0"/>
          </a:p>
        </p:txBody>
      </p:sp>
      <p:sp>
        <p:nvSpPr>
          <p:cNvPr id="19" name="p15_tb"/>
          <p:cNvSpPr/>
          <p:nvPr/>
        </p:nvSpPr>
        <p:spPr>
          <a:xfrm>
            <a:off x="4542062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5_tb_t"/>
          <p:cNvSpPr/>
          <p:nvPr/>
        </p:nvSpPr>
        <p:spPr>
          <a:xfrm>
            <a:off x="4542062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3-seethe-complaints-detai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15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complaint to check its category, submission time, and location.</a:t>
            </a:r>
            <a:endParaRPr lang="en-US" sz="1800" dirty="0"/>
          </a:p>
        </p:txBody>
      </p:sp>
      <p:sp>
        <p:nvSpPr>
          <p:cNvPr id="25" name="p15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5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h15_a1"/>
          <p:cNvSpPr/>
          <p:nvPr/>
        </p:nvSpPr>
        <p:spPr>
          <a:xfrm>
            <a:off x="2674223" y="1473556"/>
            <a:ext cx="183788" cy="166969"/>
          </a:xfrm>
          <a:prstGeom prst="roundRect">
            <a:avLst>
              <a:gd name="adj" fmla="val 3285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8" name="h15_a2"/>
          <p:cNvSpPr/>
          <p:nvPr/>
        </p:nvSpPr>
        <p:spPr>
          <a:xfrm>
            <a:off x="1334104" y="2536088"/>
            <a:ext cx="1784273" cy="1054943"/>
          </a:xfrm>
          <a:prstGeom prst="roundRect">
            <a:avLst>
              <a:gd name="adj" fmla="val 520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9" name="h15_b1"/>
          <p:cNvSpPr/>
          <p:nvPr/>
        </p:nvSpPr>
        <p:spPr>
          <a:xfrm>
            <a:off x="4740815" y="4528337"/>
            <a:ext cx="2710064" cy="614751"/>
          </a:xfrm>
          <a:prstGeom prst="roundRect">
            <a:avLst>
              <a:gd name="adj" fmla="val 892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5_c1"/>
          <p:cNvSpPr/>
          <p:nvPr/>
        </p:nvSpPr>
        <p:spPr>
          <a:xfrm>
            <a:off x="9133135" y="1803700"/>
            <a:ext cx="427859" cy="121432"/>
          </a:xfrm>
          <a:prstGeom prst="roundRect">
            <a:avLst>
              <a:gd name="adj" fmla="val 451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5_c2"/>
          <p:cNvSpPr/>
          <p:nvPr/>
        </p:nvSpPr>
        <p:spPr>
          <a:xfrm>
            <a:off x="9059232" y="2369119"/>
            <a:ext cx="1804788" cy="956280"/>
          </a:xfrm>
          <a:prstGeom prst="roundRect">
            <a:avLst>
              <a:gd name="adj" fmla="val 573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5_c3"/>
          <p:cNvSpPr/>
          <p:nvPr/>
        </p:nvSpPr>
        <p:spPr>
          <a:xfrm>
            <a:off x="9059232" y="3386115"/>
            <a:ext cx="1804788" cy="1791127"/>
          </a:xfrm>
          <a:prstGeom prst="roundRect">
            <a:avLst>
              <a:gd name="adj" fmla="val 3063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4" name="Text 29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0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Contractor and Start Work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4-allthereporter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6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primary reporter and the other residents who reported the same issue.</a:t>
            </a:r>
            <a:endParaRPr lang="en-US" sz="1800" dirty="0"/>
          </a:p>
        </p:txBody>
      </p:sp>
      <p:sp>
        <p:nvSpPr>
          <p:cNvPr id="13" name="p16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6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5-assign-and-other-detail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16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contractor, phone, deadline, budget, and an initial work note.</a:t>
            </a:r>
            <a:endParaRPr lang="en-US" sz="1800" dirty="0"/>
          </a:p>
        </p:txBody>
      </p:sp>
      <p:sp>
        <p:nvSpPr>
          <p:cNvPr id="19" name="p16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6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6-confir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16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start work on this complaint.</a:t>
            </a:r>
            <a:endParaRPr lang="en-US" sz="1800" dirty="0"/>
          </a:p>
        </p:txBody>
      </p:sp>
      <p:sp>
        <p:nvSpPr>
          <p:cNvPr id="25" name="p16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6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646625" y="1976361"/>
            <a:ext cx="326729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469617" y="3517034"/>
            <a:ext cx="307281" cy="81587"/>
          </a:xfrm>
          <a:prstGeom prst="roundRect">
            <a:avLst>
              <a:gd name="adj" fmla="val 5603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6_a1"/>
          <p:cNvSpPr/>
          <p:nvPr/>
        </p:nvSpPr>
        <p:spPr>
          <a:xfrm>
            <a:off x="1323786" y="1758163"/>
            <a:ext cx="1808677" cy="447782"/>
          </a:xfrm>
          <a:prstGeom prst="roundRect">
            <a:avLst>
              <a:gd name="adj" fmla="val 122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6_a2"/>
          <p:cNvSpPr/>
          <p:nvPr/>
        </p:nvSpPr>
        <p:spPr>
          <a:xfrm>
            <a:off x="1323786" y="2179381"/>
            <a:ext cx="1808677" cy="576804"/>
          </a:xfrm>
          <a:prstGeom prst="roundRect">
            <a:avLst>
              <a:gd name="adj" fmla="val 9512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1" name="h16_b1"/>
          <p:cNvSpPr/>
          <p:nvPr/>
        </p:nvSpPr>
        <p:spPr>
          <a:xfrm>
            <a:off x="5259577" y="3105302"/>
            <a:ext cx="1672540" cy="1753179"/>
          </a:xfrm>
          <a:prstGeom prst="roundRect">
            <a:avLst>
              <a:gd name="adj" fmla="val 328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6_b2"/>
          <p:cNvSpPr/>
          <p:nvPr/>
        </p:nvSpPr>
        <p:spPr>
          <a:xfrm>
            <a:off x="5259577" y="4987503"/>
            <a:ext cx="1672540" cy="212507"/>
          </a:xfrm>
          <a:prstGeom prst="roundRect">
            <a:avLst>
              <a:gd name="adj" fmla="val 25818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6_c1"/>
          <p:cNvSpPr/>
          <p:nvPr/>
        </p:nvSpPr>
        <p:spPr>
          <a:xfrm>
            <a:off x="9187590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16_c2"/>
          <p:cNvSpPr/>
          <p:nvPr/>
        </p:nvSpPr>
        <p:spPr>
          <a:xfrm>
            <a:off x="9984964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Moves to In Progress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7-pendingtoinprogres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7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changes from Pending to In Progress and approval is recorded.</a:t>
            </a:r>
            <a:endParaRPr lang="en-US" sz="1800" dirty="0"/>
          </a:p>
        </p:txBody>
      </p:sp>
      <p:sp>
        <p:nvSpPr>
          <p:cNvPr id="13" name="p17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7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8-inprogressdetail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17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history records the assignment, the first note, and the budget.</a:t>
            </a:r>
            <a:endParaRPr lang="en-US" sz="1800" dirty="0"/>
          </a:p>
        </p:txBody>
      </p:sp>
      <p:sp>
        <p:nvSpPr>
          <p:cNvPr id="19" name="p17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7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899841" y="1385316"/>
            <a:ext cx="2123571" cy="3895344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9-inprgressdetail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133" y="1435608"/>
            <a:ext cx="2022987" cy="3794760"/>
          </a:xfrm>
          <a:prstGeom prst="rect">
            <a:avLst/>
          </a:prstGeom>
        </p:spPr>
      </p:pic>
      <p:sp>
        <p:nvSpPr>
          <p:cNvPr id="24" name="p17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panel confirms the complaint is now In Progress.</a:t>
            </a:r>
            <a:endParaRPr lang="en-US" sz="1800" dirty="0"/>
          </a:p>
        </p:txBody>
      </p:sp>
      <p:sp>
        <p:nvSpPr>
          <p:cNvPr id="25" name="p17_tc"/>
          <p:cNvSpPr/>
          <p:nvPr/>
        </p:nvSpPr>
        <p:spPr>
          <a:xfrm>
            <a:off x="8799134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7_tc_t"/>
          <p:cNvSpPr/>
          <p:nvPr/>
        </p:nvSpPr>
        <p:spPr>
          <a:xfrm>
            <a:off x="8799134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473507" y="2169894"/>
            <a:ext cx="373404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16293" y="3266580"/>
            <a:ext cx="322839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566858" y="4663051"/>
            <a:ext cx="412301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411374" y="1718318"/>
            <a:ext cx="424827" cy="70203"/>
          </a:xfrm>
          <a:prstGeom prst="roundRect">
            <a:avLst>
              <a:gd name="adj" fmla="val 65125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h17_a1"/>
          <p:cNvSpPr/>
          <p:nvPr/>
        </p:nvSpPr>
        <p:spPr>
          <a:xfrm>
            <a:off x="1397689" y="1887184"/>
            <a:ext cx="563996" cy="136611"/>
          </a:xfrm>
          <a:prstGeom prst="roundRect">
            <a:avLst>
              <a:gd name="adj" fmla="val 4016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7_a2"/>
          <p:cNvSpPr/>
          <p:nvPr/>
        </p:nvSpPr>
        <p:spPr>
          <a:xfrm>
            <a:off x="1323786" y="2463988"/>
            <a:ext cx="1808677" cy="440192"/>
          </a:xfrm>
          <a:prstGeom prst="roundRect">
            <a:avLst>
              <a:gd name="adj" fmla="val 124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7_b1"/>
          <p:cNvSpPr/>
          <p:nvPr/>
        </p:nvSpPr>
        <p:spPr>
          <a:xfrm>
            <a:off x="5189564" y="1739189"/>
            <a:ext cx="1808677" cy="1252271"/>
          </a:xfrm>
          <a:prstGeom prst="roundRect">
            <a:avLst>
              <a:gd name="adj" fmla="val 43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17_b2"/>
          <p:cNvSpPr/>
          <p:nvPr/>
        </p:nvSpPr>
        <p:spPr>
          <a:xfrm>
            <a:off x="5189564" y="3469599"/>
            <a:ext cx="1808677" cy="591983"/>
          </a:xfrm>
          <a:prstGeom prst="roundRect">
            <a:avLst>
              <a:gd name="adj" fmla="val 9268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5" name="h17_c1"/>
          <p:cNvSpPr/>
          <p:nvPr/>
        </p:nvSpPr>
        <p:spPr>
          <a:xfrm>
            <a:off x="9091742" y="4668744"/>
            <a:ext cx="1739768" cy="189738"/>
          </a:xfrm>
          <a:prstGeom prst="roundRect">
            <a:avLst>
              <a:gd name="adj" fmla="val 2891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2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See the Progress Update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696700" y="1463040"/>
            <a:ext cx="2291486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00" y="1463040"/>
            <a:ext cx="22914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REPORTER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1188" y="1833372"/>
            <a:ext cx="2962510" cy="3255264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4/Final/10-resident-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83664"/>
            <a:ext cx="2861926" cy="3154680"/>
          </a:xfrm>
          <a:prstGeom prst="rect">
            <a:avLst/>
          </a:prstGeom>
        </p:spPr>
      </p:pic>
      <p:sp>
        <p:nvSpPr>
          <p:cNvPr id="14" name="p18_ca"/>
          <p:cNvSpPr/>
          <p:nvPr/>
        </p:nvSpPr>
        <p:spPr>
          <a:xfrm>
            <a:off x="320040" y="5294376"/>
            <a:ext cx="3044806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who reported the issue is notified that work has started.</a:t>
            </a:r>
            <a:endParaRPr lang="en-US" sz="1800" dirty="0"/>
          </a:p>
        </p:txBody>
      </p:sp>
      <p:sp>
        <p:nvSpPr>
          <p:cNvPr id="15" name="p18_ta"/>
          <p:cNvSpPr/>
          <p:nvPr/>
        </p:nvSpPr>
        <p:spPr>
          <a:xfrm>
            <a:off x="247659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18_ta_t"/>
          <p:cNvSpPr/>
          <p:nvPr/>
        </p:nvSpPr>
        <p:spPr>
          <a:xfrm>
            <a:off x="247659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43143" y="1463040"/>
            <a:ext cx="2399386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143" y="1463040"/>
            <a:ext cx="23993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796584" y="1833372"/>
            <a:ext cx="3692503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4/Final/11-duplicate-notifoic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876" y="1883664"/>
            <a:ext cx="3591919" cy="3154680"/>
          </a:xfrm>
          <a:prstGeom prst="rect">
            <a:avLst/>
          </a:prstGeom>
        </p:spPr>
      </p:pic>
      <p:sp>
        <p:nvSpPr>
          <p:cNvPr id="21" name="p18_cb"/>
          <p:cNvSpPr/>
          <p:nvPr/>
        </p:nvSpPr>
        <p:spPr>
          <a:xfrm>
            <a:off x="3755436" y="5294376"/>
            <a:ext cx="3774799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whose duplicate was linked receives the same update.</a:t>
            </a:r>
            <a:endParaRPr lang="en-US" sz="1800" dirty="0"/>
          </a:p>
        </p:txBody>
      </p:sp>
      <p:sp>
        <p:nvSpPr>
          <p:cNvPr id="22" name="p18_tb"/>
          <p:cNvSpPr/>
          <p:nvPr/>
        </p:nvSpPr>
        <p:spPr>
          <a:xfrm>
            <a:off x="3715905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3" name="p18_tb_t"/>
          <p:cNvSpPr/>
          <p:nvPr/>
        </p:nvSpPr>
        <p:spPr>
          <a:xfrm>
            <a:off x="3715905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04447" y="1463040"/>
            <a:ext cx="2183587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804447" y="1463040"/>
            <a:ext cx="21835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MY COMPLAINTS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61973" y="1833372"/>
            <a:ext cx="3868534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4/Final/12-residentcanalsoseethework[prpgres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265" y="1883664"/>
            <a:ext cx="3767950" cy="3154680"/>
          </a:xfrm>
          <a:prstGeom prst="rect">
            <a:avLst/>
          </a:prstGeom>
        </p:spPr>
      </p:pic>
      <p:sp>
        <p:nvSpPr>
          <p:cNvPr id="28" name="p18_cc"/>
          <p:cNvSpPr/>
          <p:nvPr/>
        </p:nvSpPr>
        <p:spPr>
          <a:xfrm>
            <a:off x="7920825" y="5294376"/>
            <a:ext cx="395083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Complaints shows the complaint as In Progress.</a:t>
            </a:r>
            <a:endParaRPr lang="en-US" sz="1800" dirty="0"/>
          </a:p>
        </p:txBody>
      </p:sp>
      <p:sp>
        <p:nvSpPr>
          <p:cNvPr id="29" name="p18_tc"/>
          <p:cNvSpPr/>
          <p:nvPr/>
        </p:nvSpPr>
        <p:spPr>
          <a:xfrm>
            <a:off x="7889215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p18_tc_t"/>
          <p:cNvSpPr/>
          <p:nvPr/>
        </p:nvSpPr>
        <p:spPr>
          <a:xfrm>
            <a:off x="7889215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31" name="h18_a"/>
          <p:cNvSpPr/>
          <p:nvPr/>
        </p:nvSpPr>
        <p:spPr>
          <a:xfrm>
            <a:off x="520233" y="4274911"/>
            <a:ext cx="2644419" cy="738195"/>
          </a:xfrm>
          <a:prstGeom prst="roundRect">
            <a:avLst>
              <a:gd name="adj" fmla="val 743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18_b"/>
          <p:cNvSpPr/>
          <p:nvPr/>
        </p:nvSpPr>
        <p:spPr>
          <a:xfrm>
            <a:off x="3983369" y="4079321"/>
            <a:ext cx="3318933" cy="927476"/>
          </a:xfrm>
          <a:prstGeom prst="roundRect">
            <a:avLst>
              <a:gd name="adj" fmla="val 59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18_c1"/>
          <p:cNvSpPr/>
          <p:nvPr/>
        </p:nvSpPr>
        <p:spPr>
          <a:xfrm>
            <a:off x="10657366" y="3227558"/>
            <a:ext cx="859093" cy="214518"/>
          </a:xfrm>
          <a:prstGeom prst="roundRect">
            <a:avLst>
              <a:gd name="adj" fmla="val 2557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18_c2"/>
          <p:cNvSpPr/>
          <p:nvPr/>
        </p:nvSpPr>
        <p:spPr>
          <a:xfrm>
            <a:off x="8147912" y="3101370"/>
            <a:ext cx="3496657" cy="1880189"/>
          </a:xfrm>
          <a:prstGeom prst="roundRect">
            <a:avLst>
              <a:gd name="adj" fmla="val 29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758311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/>
          <p:cNvSpPr/>
          <p:nvPr/>
        </p:nvSpPr>
        <p:spPr>
          <a:xfrm>
            <a:off x="6760159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Phases 1-4</dc:title>
  <dc:subject>PptxGenJS Presentation</dc:subject>
  <dc:creator>Ashfia Tabassum</dc:creator>
  <cp:lastModifiedBy>Ashfia Tabassum</cp:lastModifiedBy>
  <cp:revision>1</cp:revision>
  <dcterms:created xsi:type="dcterms:W3CDTF">2026-09-12T17:35:05Z</dcterms:created>
  <dcterms:modified xsi:type="dcterms:W3CDTF">2026-09-12T17:35:05Z</dcterms:modified>
</cp:coreProperties>
</file>