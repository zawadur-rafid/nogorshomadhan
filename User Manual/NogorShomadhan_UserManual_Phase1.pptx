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7.xml"/><Relationship Id="rId9" Type="http://schemas.openxmlformats.org/officeDocument/2006/relationships/slide" Target="slide8.xml"/><Relationship Id="rId10" Type="http://schemas.openxmlformats.org/officeDocument/2006/relationships/slide" Target="slide9.xml"/><Relationship Id="rId11" Type="http://schemas.openxmlformats.org/officeDocument/2006/relationships/slide" Target="slide10.xml"/><Relationship Id="rId12" Type="http://schemas.openxmlformats.org/officeDocument/2006/relationships/slide" Target="slide11.xml"/><Relationship Id="rId13" Type="http://schemas.openxmlformats.org/officeDocument/2006/relationships/slide" Target="slide12.xml"/><Relationship Id="rId14" Type="http://schemas.openxmlformats.org/officeDocument/2006/relationships/slide" Target="slide13.xml"/><Relationship Id="rId15" Type="http://schemas.openxmlformats.org/officeDocument/2006/relationships/slide" Target="slide14.xml"/><Relationship Id="rId1" Type="http://schemas.openxmlformats.org/officeDocument/2006/relationships/image" Target="../media/image-1-1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7.xml"/><Relationship Id="rId8" Type="http://schemas.openxmlformats.org/officeDocument/2006/relationships/slide" Target="slide8.xml"/><Relationship Id="rId9" Type="http://schemas.openxmlformats.org/officeDocument/2006/relationships/slide" Target="slide9.xml"/><Relationship Id="rId10" Type="http://schemas.openxmlformats.org/officeDocument/2006/relationships/slide" Target="slide10.xml"/><Relationship Id="rId11" Type="http://schemas.openxmlformats.org/officeDocument/2006/relationships/slide" Target="slide11.xml"/><Relationship Id="rId12" Type="http://schemas.openxmlformats.org/officeDocument/2006/relationships/slide" Target="slide12.xml"/><Relationship Id="rId13" Type="http://schemas.openxmlformats.org/officeDocument/2006/relationships/slide" Target="slide13.xml"/><Relationship Id="rId14" Type="http://schemas.openxmlformats.org/officeDocument/2006/relationships/slide" Target="slide14.xml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" Type="http://schemas.openxmlformats.org/officeDocument/2006/relationships/image" Target="../media/image-3-1.jpeg"/><Relationship Id="rId2" Type="http://schemas.openxmlformats.org/officeDocument/2006/relationships/image" Target="../media/image-3-2.jpeg"/><Relationship Id="rId3" Type="http://schemas.openxmlformats.org/officeDocument/2006/relationships/image" Target="../media/image-3-3.jpe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image" Target="../media/image-7-3.jpe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" Type="http://schemas.openxmlformats.org/officeDocument/2006/relationships/image" Target="../media/image-11-1.jpeg"/><Relationship Id="rId2" Type="http://schemas.openxmlformats.org/officeDocument/2006/relationships/image" Target="../media/image-11-2.jpeg"/><Relationship Id="rId3" Type="http://schemas.openxmlformats.org/officeDocument/2006/relationships/image" Target="../media/image-11-3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slide" Target="slide1.xml"/><Relationship Id="rId6" Type="http://schemas.openxmlformats.org/officeDocument/2006/relationships/slide" Target="slide2.xml"/><Relationship Id="rId7" Type="http://schemas.openxmlformats.org/officeDocument/2006/relationships/slide" Target="slide3.xml"/><Relationship Id="rId8" Type="http://schemas.openxmlformats.org/officeDocument/2006/relationships/slide" Target="slide4.xml"/><Relationship Id="rId9" Type="http://schemas.openxmlformats.org/officeDocument/2006/relationships/slide" Target="slide5.xml"/><Relationship Id="rId10" Type="http://schemas.openxmlformats.org/officeDocument/2006/relationships/slide" Target="slide6.xml"/><Relationship Id="rId11" Type="http://schemas.openxmlformats.org/officeDocument/2006/relationships/slide" Target="slide7.xml"/><Relationship Id="rId12" Type="http://schemas.openxmlformats.org/officeDocument/2006/relationships/slide" Target="slide8.xml"/><Relationship Id="rId13" Type="http://schemas.openxmlformats.org/officeDocument/2006/relationships/slide" Target="slide9.xml"/><Relationship Id="rId14" Type="http://schemas.openxmlformats.org/officeDocument/2006/relationships/slide" Target="slide10.xml"/><Relationship Id="rId15" Type="http://schemas.openxmlformats.org/officeDocument/2006/relationships/slide" Target="slide11.xml"/><Relationship Id="rId16" Type="http://schemas.openxmlformats.org/officeDocument/2006/relationships/slide" Target="slide12.xml"/><Relationship Id="rId17" Type="http://schemas.openxmlformats.org/officeDocument/2006/relationships/slide" Target="slide13.xml"/><Relationship Id="rId18" Type="http://schemas.openxmlformats.org/officeDocument/2006/relationships/slide" Target="slide14.xm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 ·  WHY THIS PLATFORM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0" name="a_stmt_bg"/>
          <p:cNvSpPr/>
          <p:nvPr/>
        </p:nvSpPr>
        <p:spPr>
          <a:xfrm>
            <a:off x="411480" y="1417320"/>
            <a:ext cx="594360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1" name="a_stmt_bar"/>
          <p:cNvSpPr/>
          <p:nvPr/>
        </p:nvSpPr>
        <p:spPr>
          <a:xfrm>
            <a:off x="411480" y="1417320"/>
            <a:ext cx="82296" cy="932688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12" name="a_stmt_tx"/>
          <p:cNvSpPr/>
          <p:nvPr/>
        </p:nvSpPr>
        <p:spPr>
          <a:xfrm>
            <a:off x="704088" y="1417320"/>
            <a:ext cx="539496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maintenance complaints remain fragmented and difficult to track</a:t>
            </a:r>
            <a:endParaRPr lang="en-US" sz="2200" dirty="0"/>
          </a:p>
        </p:txBody>
      </p:sp>
      <p:sp>
        <p:nvSpPr>
          <p:cNvPr id="13" name="p1_1_c"/>
          <p:cNvSpPr/>
          <p:nvPr/>
        </p:nvSpPr>
        <p:spPr>
          <a:xfrm>
            <a:off x="466344" y="2523744"/>
            <a:ext cx="347472" cy="3474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p1_1_t"/>
          <p:cNvSpPr/>
          <p:nvPr/>
        </p:nvSpPr>
        <p:spPr>
          <a:xfrm>
            <a:off x="1014984" y="2505456"/>
            <a:ext cx="528523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rely on phone calls, social media groups, and informal messages.</a:t>
            </a:r>
            <a:endParaRPr lang="en-US" sz="1800" dirty="0"/>
          </a:p>
        </p:txBody>
      </p:sp>
      <p:sp>
        <p:nvSpPr>
          <p:cNvPr id="15" name="p1_2_c"/>
          <p:cNvSpPr/>
          <p:nvPr/>
        </p:nvSpPr>
        <p:spPr>
          <a:xfrm>
            <a:off x="466344" y="3267456"/>
            <a:ext cx="347472" cy="3474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p1_2_t"/>
          <p:cNvSpPr/>
          <p:nvPr/>
        </p:nvSpPr>
        <p:spPr>
          <a:xfrm>
            <a:off x="1014984" y="3249168"/>
            <a:ext cx="528523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often arrive without structured evidence or accurate location details.</a:t>
            </a:r>
            <a:endParaRPr lang="en-US" sz="1800" dirty="0"/>
          </a:p>
        </p:txBody>
      </p:sp>
      <p:sp>
        <p:nvSpPr>
          <p:cNvPr id="17" name="p1_3_c"/>
          <p:cNvSpPr/>
          <p:nvPr/>
        </p:nvSpPr>
        <p:spPr>
          <a:xfrm>
            <a:off x="466344" y="4011168"/>
            <a:ext cx="347472" cy="3474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p1_3_t"/>
          <p:cNvSpPr/>
          <p:nvPr/>
        </p:nvSpPr>
        <p:spPr>
          <a:xfrm>
            <a:off x="1014984" y="3992880"/>
            <a:ext cx="528523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reports and disconnected channels delay verification and assignment.</a:t>
            </a:r>
            <a:endParaRPr lang="en-US" sz="1800" dirty="0"/>
          </a:p>
        </p:txBody>
      </p:sp>
      <p:sp>
        <p:nvSpPr>
          <p:cNvPr id="19" name="p1_4_c"/>
          <p:cNvSpPr/>
          <p:nvPr/>
        </p:nvSpPr>
        <p:spPr>
          <a:xfrm>
            <a:off x="466344" y="4754880"/>
            <a:ext cx="347472" cy="3474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p1_4_t"/>
          <p:cNvSpPr/>
          <p:nvPr/>
        </p:nvSpPr>
        <p:spPr>
          <a:xfrm>
            <a:off x="1014984" y="4736592"/>
            <a:ext cx="528523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have limited visibility into progress, reducing trust and accountability.</a:t>
            </a:r>
            <a:endParaRPr lang="en-US" sz="1800" dirty="0"/>
          </a:p>
        </p:txBody>
      </p:sp>
      <p:sp>
        <p:nvSpPr>
          <p:cNvPr id="21" name="a_close_bg"/>
          <p:cNvSpPr/>
          <p:nvPr/>
        </p:nvSpPr>
        <p:spPr>
          <a:xfrm>
            <a:off x="411480" y="5486400"/>
            <a:ext cx="5943600" cy="749808"/>
          </a:xfrm>
          <a:prstGeom prst="roundRect">
            <a:avLst>
              <a:gd name="adj" fmla="val 12195"/>
            </a:avLst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2" name="a_close_tx"/>
          <p:cNvSpPr/>
          <p:nvPr/>
        </p:nvSpPr>
        <p:spPr>
          <a:xfrm>
            <a:off x="667512" y="5486400"/>
            <a:ext cx="543153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provides one verified workflow from reporting to resolution.</a:t>
            </a:r>
            <a:endParaRPr lang="en-US" sz="1850" dirty="0"/>
          </a:p>
        </p:txBody>
      </p:sp>
      <p:sp>
        <p:nvSpPr>
          <p:cNvPr id="23" name="Shape 21"/>
          <p:cNvSpPr/>
          <p:nvPr/>
        </p:nvSpPr>
        <p:spPr>
          <a:xfrm>
            <a:off x="6656832" y="1417320"/>
            <a:ext cx="5120640" cy="3968592"/>
          </a:xfrm>
          <a:prstGeom prst="roundRect">
            <a:avLst>
              <a:gd name="adj" fmla="val 2304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4" name="Image 0" descr="C:/NogorShomadhan/Images/Road bro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481328"/>
            <a:ext cx="4992624" cy="3840576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6656832" y="5477256"/>
            <a:ext cx="51206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6912864" y="5559552"/>
            <a:ext cx="46085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EVERYDAY REALITY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912864" y="5779008"/>
            <a:ext cx="460857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to everyone, yet no record of who reported it or what happens next.</a:t>
            </a:r>
            <a:endParaRPr lang="en-US" sz="1650" dirty="0"/>
          </a:p>
        </p:txBody>
      </p:sp>
      <p:sp>
        <p:nvSpPr>
          <p:cNvPr id="28" name="Text 25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29" name="Text 26">
            <a:hlinkClick r:id="rId2" tooltip="1. Problem Statement" action="ppaction://hlinksldjump"/>
          </p:cNvPr>
          <p:cNvSpPr/>
          <p:nvPr/>
        </p:nvSpPr>
        <p:spPr>
          <a:xfrm>
            <a:off x="8099755" y="6528816"/>
            <a:ext cx="173736" cy="173736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0" name="Text 27">
            <a:hlinkClick r:id="rId3" tooltip="2. Stakeholders and Responsibilities" action="ppaction://hlinksldjump"/>
          </p:cNvPr>
          <p:cNvSpPr/>
          <p:nvPr/>
        </p:nvSpPr>
        <p:spPr>
          <a:xfrm>
            <a:off x="8369503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1" name="Text 28">
            <a:hlinkClick r:id="rId4" tooltip="3. Resident Account Registration" action="ppaction://hlinksldjump"/>
          </p:cNvPr>
          <p:cNvSpPr/>
          <p:nvPr/>
        </p:nvSpPr>
        <p:spPr>
          <a:xfrm>
            <a:off x="8639251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2" name="Text 29">
            <a:hlinkClick r:id="rId5" tooltip="4. Registration Request Submitted" action="ppaction://hlinksldjump"/>
          </p:cNvPr>
          <p:cNvSpPr/>
          <p:nvPr/>
        </p:nvSpPr>
        <p:spPr>
          <a:xfrm>
            <a:off x="8908999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3" name="Text 30">
            <a:hlinkClick r:id="rId6" tooltip="5. Admin Receives the Verification Request" action="ppaction://hlinksldjump"/>
          </p:cNvPr>
          <p:cNvSpPr/>
          <p:nvPr/>
        </p:nvSpPr>
        <p:spPr>
          <a:xfrm>
            <a:off x="9178747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4" name="Text 31">
            <a:hlinkClick r:id="rId7" tooltip="6. Admin Reviews and Approves the Account" action="ppaction://hlinksldjump"/>
          </p:cNvPr>
          <p:cNvSpPr/>
          <p:nvPr/>
        </p:nvSpPr>
        <p:spPr>
          <a:xfrm>
            <a:off x="9448495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5" name="Text 32">
            <a:hlinkClick r:id="rId8" tooltip="7. Account Verification Completed" action="ppaction://hlinksldjump"/>
          </p:cNvPr>
          <p:cNvSpPr/>
          <p:nvPr/>
        </p:nvSpPr>
        <p:spPr>
          <a:xfrm>
            <a:off x="9718243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6" name="Text 33">
            <a:hlinkClick r:id="rId9" tooltip="8. Create a New Complaint" action="ppaction://hlinksldjump"/>
          </p:cNvPr>
          <p:cNvSpPr/>
          <p:nvPr/>
        </p:nvSpPr>
        <p:spPr>
          <a:xfrm>
            <a:off x="9987991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7" name="Text 34">
            <a:hlinkClick r:id="rId10" tooltip="9. Add Evidence and Review the Category" action="ppaction://hlinksldjump"/>
          </p:cNvPr>
          <p:cNvSpPr/>
          <p:nvPr/>
        </p:nvSpPr>
        <p:spPr>
          <a:xfrm>
            <a:off x="10257739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5">
            <a:hlinkClick r:id="rId11" tooltip="10. Confirm the Complaint Submission" action="ppaction://hlinksldjump"/>
          </p:cNvPr>
          <p:cNvSpPr/>
          <p:nvPr/>
        </p:nvSpPr>
        <p:spPr>
          <a:xfrm>
            <a:off x="10527487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6">
            <a:hlinkClick r:id="rId12" tooltip="11. Admin Opens the Review Queue" action="ppaction://hlinksldjump"/>
          </p:cNvPr>
          <p:cNvSpPr/>
          <p:nvPr/>
        </p:nvSpPr>
        <p:spPr>
          <a:xfrm>
            <a:off x="10797235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7">
            <a:hlinkClick r:id="rId13" tooltip="12. Complaint Check and Duplicate Comparison" action="ppaction://hlinksldjump"/>
          </p:cNvPr>
          <p:cNvSpPr/>
          <p:nvPr/>
        </p:nvSpPr>
        <p:spPr>
          <a:xfrm>
            <a:off x="11066983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8">
            <a:hlinkClick r:id="rId14" tooltip="13. Duplicate Review Outcomes" action="ppaction://hlinksldjump"/>
          </p:cNvPr>
          <p:cNvSpPr/>
          <p:nvPr/>
        </p:nvSpPr>
        <p:spPr>
          <a:xfrm>
            <a:off x="11336731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9">
            <a:hlinkClick r:id="rId15" tooltip="14. Pending Complaint Visibility" action="ppaction://hlinksldjump"/>
          </p:cNvPr>
          <p:cNvSpPr/>
          <p:nvPr/>
        </p:nvSpPr>
        <p:spPr>
          <a:xfrm>
            <a:off x="11606479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40"/>
          <p:cNvSpPr/>
          <p:nvPr/>
        </p:nvSpPr>
        <p:spPr>
          <a:xfrm>
            <a:off x="7276795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14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 ·  WHO USES THE PLATFORM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and Responsibilities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383012" y="475488"/>
            <a:ext cx="1397203" cy="420624"/>
          </a:xfrm>
          <a:prstGeom prst="roundRect">
            <a:avLst>
              <a:gd name="adj" fmla="val 50000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383012" y="475488"/>
            <a:ext cx="1397203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roles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0" name="c_res_bg"/>
          <p:cNvSpPr/>
          <p:nvPr/>
        </p:nvSpPr>
        <p:spPr>
          <a:xfrm>
            <a:off x="440284" y="1426464"/>
            <a:ext cx="3502152" cy="406908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1" name="c_res_hd"/>
          <p:cNvSpPr/>
          <p:nvPr/>
        </p:nvSpPr>
        <p:spPr>
          <a:xfrm>
            <a:off x="440284" y="1426464"/>
            <a:ext cx="3502152" cy="658368"/>
          </a:xfrm>
          <a:prstGeom prst="roundRect">
            <a:avLst>
              <a:gd name="adj" fmla="val 1388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12" name="c_res_hd2"/>
          <p:cNvSpPr/>
          <p:nvPr/>
        </p:nvSpPr>
        <p:spPr>
          <a:xfrm>
            <a:off x="440284" y="1847088"/>
            <a:ext cx="3502152" cy="23774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13" name="c_res_hdt"/>
          <p:cNvSpPr/>
          <p:nvPr/>
        </p:nvSpPr>
        <p:spPr>
          <a:xfrm>
            <a:off x="440284" y="1426464"/>
            <a:ext cx="35021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2000" dirty="0"/>
          </a:p>
        </p:txBody>
      </p:sp>
      <p:sp>
        <p:nvSpPr>
          <p:cNvPr id="14" name="c_res_bl"/>
          <p:cNvSpPr/>
          <p:nvPr/>
        </p:nvSpPr>
        <p:spPr>
          <a:xfrm>
            <a:off x="696316" y="2231136"/>
            <a:ext cx="2990088" cy="3136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community problems with location and optional photographic evidence.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complaint status and receives important notifications.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Participates through urgency votes, forum discussions, and feedback.</a:t>
            </a:r>
            <a:endParaRPr lang="en-US" sz="1800" dirty="0"/>
          </a:p>
        </p:txBody>
      </p:sp>
      <p:sp>
        <p:nvSpPr>
          <p:cNvPr id="15" name="c_adm_bg"/>
          <p:cNvSpPr/>
          <p:nvPr/>
        </p:nvSpPr>
        <p:spPr>
          <a:xfrm>
            <a:off x="4344772" y="1426464"/>
            <a:ext cx="3502152" cy="406908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6" name="c_adm_hd"/>
          <p:cNvSpPr/>
          <p:nvPr/>
        </p:nvSpPr>
        <p:spPr>
          <a:xfrm>
            <a:off x="4344772" y="1426464"/>
            <a:ext cx="3502152" cy="658368"/>
          </a:xfrm>
          <a:prstGeom prst="roundRect">
            <a:avLst>
              <a:gd name="adj" fmla="val 13889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17" name="c_adm_hd2"/>
          <p:cNvSpPr/>
          <p:nvPr/>
        </p:nvSpPr>
        <p:spPr>
          <a:xfrm>
            <a:off x="4344772" y="1847088"/>
            <a:ext cx="3502152" cy="237744"/>
          </a:xfrm>
          <a:prstGeom prst="rect">
            <a:avLst/>
          </a:prstGeom>
          <a:solidFill>
            <a:srgbClr val="B86A12"/>
          </a:solidFill>
          <a:ln/>
        </p:spPr>
      </p:sp>
      <p:sp>
        <p:nvSpPr>
          <p:cNvPr id="18" name="c_adm_hdt"/>
          <p:cNvSpPr/>
          <p:nvPr/>
        </p:nvSpPr>
        <p:spPr>
          <a:xfrm>
            <a:off x="4344772" y="1426464"/>
            <a:ext cx="35021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2000" dirty="0"/>
          </a:p>
        </p:txBody>
      </p:sp>
      <p:sp>
        <p:nvSpPr>
          <p:cNvPr id="19" name="c_adm_bl"/>
          <p:cNvSpPr/>
          <p:nvPr/>
        </p:nvSpPr>
        <p:spPr>
          <a:xfrm>
            <a:off x="4600804" y="2231136"/>
            <a:ext cx="2990088" cy="3136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resident accounts and newly submitted complaints.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possible duplicates identified by the system.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 valid records and maintains platform integrity.</a:t>
            </a:r>
            <a:endParaRPr lang="en-US" sz="1800" dirty="0"/>
          </a:p>
        </p:txBody>
      </p:sp>
      <p:sp>
        <p:nvSpPr>
          <p:cNvPr id="20" name="c_aut_bg"/>
          <p:cNvSpPr/>
          <p:nvPr/>
        </p:nvSpPr>
        <p:spPr>
          <a:xfrm>
            <a:off x="8249260" y="1426464"/>
            <a:ext cx="3502152" cy="406908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1" name="c_aut_hd"/>
          <p:cNvSpPr/>
          <p:nvPr/>
        </p:nvSpPr>
        <p:spPr>
          <a:xfrm>
            <a:off x="8249260" y="1426464"/>
            <a:ext cx="3502152" cy="658368"/>
          </a:xfrm>
          <a:prstGeom prst="roundRect">
            <a:avLst>
              <a:gd name="adj" fmla="val 13889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22" name="c_aut_hd2"/>
          <p:cNvSpPr/>
          <p:nvPr/>
        </p:nvSpPr>
        <p:spPr>
          <a:xfrm>
            <a:off x="8249260" y="1847088"/>
            <a:ext cx="3502152" cy="237744"/>
          </a:xfrm>
          <a:prstGeom prst="rect">
            <a:avLst/>
          </a:prstGeom>
          <a:solidFill>
            <a:srgbClr val="237A57"/>
          </a:solidFill>
          <a:ln/>
        </p:spPr>
      </p:sp>
      <p:sp>
        <p:nvSpPr>
          <p:cNvPr id="23" name="c_aut_hdt"/>
          <p:cNvSpPr/>
          <p:nvPr/>
        </p:nvSpPr>
        <p:spPr>
          <a:xfrm>
            <a:off x="8249260" y="1426464"/>
            <a:ext cx="35021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Authority</a:t>
            </a:r>
            <a:endParaRPr lang="en-US" sz="2000" dirty="0"/>
          </a:p>
        </p:txBody>
      </p:sp>
      <p:sp>
        <p:nvSpPr>
          <p:cNvPr id="24" name="c_aut_bl"/>
          <p:cNvSpPr/>
          <p:nvPr/>
        </p:nvSpPr>
        <p:spPr>
          <a:xfrm>
            <a:off x="8505292" y="2231136"/>
            <a:ext cx="2990088" cy="3136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verified complaints and begins the required work.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deadlines, budgets, contractors, notes, and evidence.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complaints and responds to resident feedback.</a:t>
            </a:r>
            <a:endParaRPr lang="en-US" sz="1800" dirty="0"/>
          </a:p>
        </p:txBody>
      </p:sp>
      <p:sp>
        <p:nvSpPr>
          <p:cNvPr id="25" name="sys_bg"/>
          <p:cNvSpPr/>
          <p:nvPr/>
        </p:nvSpPr>
        <p:spPr>
          <a:xfrm>
            <a:off x="440284" y="5605272"/>
            <a:ext cx="11311128" cy="731520"/>
          </a:xfrm>
          <a:prstGeom prst="roundRect">
            <a:avLst>
              <a:gd name="adj" fmla="val 12500"/>
            </a:avLst>
          </a:prstGeom>
          <a:solidFill>
            <a:srgbClr val="E9ECF1"/>
          </a:solidFill>
          <a:ln w="12700">
            <a:solidFill>
              <a:srgbClr val="D8DD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9740" y="5797296"/>
            <a:ext cx="1874520" cy="347472"/>
          </a:xfrm>
          <a:prstGeom prst="roundRect">
            <a:avLst>
              <a:gd name="adj" fmla="val 50000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9740" y="5797296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LAYER</a:t>
            </a:r>
            <a:endParaRPr lang="en-US" sz="1400" dirty="0"/>
          </a:p>
        </p:txBody>
      </p:sp>
      <p:sp>
        <p:nvSpPr>
          <p:cNvPr id="28" name="sys_tx"/>
          <p:cNvSpPr/>
          <p:nvPr/>
        </p:nvSpPr>
        <p:spPr>
          <a:xfrm>
            <a:off x="2744572" y="5605272"/>
            <a:ext cx="87873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and AI: categorization, duplicate screening, status tracking, and notifications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0" name="Text 28">
            <a:hlinkClick r:id="rId1" tooltip="1. Problem Statement" action="ppaction://hlinksldjump"/>
          </p:cNvPr>
          <p:cNvSpPr/>
          <p:nvPr/>
        </p:nvSpPr>
        <p:spPr>
          <a:xfrm>
            <a:off x="8099755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1" name="Text 29">
            <a:hlinkClick r:id="rId2" tooltip="2. Stakeholders and Responsibilities" action="ppaction://hlinksldjump"/>
          </p:cNvPr>
          <p:cNvSpPr/>
          <p:nvPr/>
        </p:nvSpPr>
        <p:spPr>
          <a:xfrm>
            <a:off x="8369503" y="6528816"/>
            <a:ext cx="173736" cy="173736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2" name="Text 30">
            <a:hlinkClick r:id="rId3" tooltip="3. Resident Account Registration" action="ppaction://hlinksldjump"/>
          </p:cNvPr>
          <p:cNvSpPr/>
          <p:nvPr/>
        </p:nvSpPr>
        <p:spPr>
          <a:xfrm>
            <a:off x="8639251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3" name="Text 31">
            <a:hlinkClick r:id="rId4" tooltip="4. Registration Request Submitted" action="ppaction://hlinksldjump"/>
          </p:cNvPr>
          <p:cNvSpPr/>
          <p:nvPr/>
        </p:nvSpPr>
        <p:spPr>
          <a:xfrm>
            <a:off x="8908999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4" name="Text 32">
            <a:hlinkClick r:id="rId5" tooltip="5. Admin Receives the Verification Request" action="ppaction://hlinksldjump"/>
          </p:cNvPr>
          <p:cNvSpPr/>
          <p:nvPr/>
        </p:nvSpPr>
        <p:spPr>
          <a:xfrm>
            <a:off x="9178747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5" name="Text 33">
            <a:hlinkClick r:id="rId6" tooltip="6. Admin Reviews and Approves the Account" action="ppaction://hlinksldjump"/>
          </p:cNvPr>
          <p:cNvSpPr/>
          <p:nvPr/>
        </p:nvSpPr>
        <p:spPr>
          <a:xfrm>
            <a:off x="9448495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6" name="Text 34">
            <a:hlinkClick r:id="rId7" tooltip="7. Account Verification Completed" action="ppaction://hlinksldjump"/>
          </p:cNvPr>
          <p:cNvSpPr/>
          <p:nvPr/>
        </p:nvSpPr>
        <p:spPr>
          <a:xfrm>
            <a:off x="9718243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7" name="Text 35">
            <a:hlinkClick r:id="rId8" tooltip="8. Create a New Complaint" action="ppaction://hlinksldjump"/>
          </p:cNvPr>
          <p:cNvSpPr/>
          <p:nvPr/>
        </p:nvSpPr>
        <p:spPr>
          <a:xfrm>
            <a:off x="9987991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6">
            <a:hlinkClick r:id="rId9" tooltip="9. Add Evidence and Review the Category" action="ppaction://hlinksldjump"/>
          </p:cNvPr>
          <p:cNvSpPr/>
          <p:nvPr/>
        </p:nvSpPr>
        <p:spPr>
          <a:xfrm>
            <a:off x="10257739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7">
            <a:hlinkClick r:id="rId10" tooltip="10. Confirm the Complaint Submission" action="ppaction://hlinksldjump"/>
          </p:cNvPr>
          <p:cNvSpPr/>
          <p:nvPr/>
        </p:nvSpPr>
        <p:spPr>
          <a:xfrm>
            <a:off x="10527487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8">
            <a:hlinkClick r:id="rId11" tooltip="11. Admin Opens the Review Queue" action="ppaction://hlinksldjump"/>
          </p:cNvPr>
          <p:cNvSpPr/>
          <p:nvPr/>
        </p:nvSpPr>
        <p:spPr>
          <a:xfrm>
            <a:off x="10797235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9">
            <a:hlinkClick r:id="rId12" tooltip="12. Complaint Check and Duplicate Comparison" action="ppaction://hlinksldjump"/>
          </p:cNvPr>
          <p:cNvSpPr/>
          <p:nvPr/>
        </p:nvSpPr>
        <p:spPr>
          <a:xfrm>
            <a:off x="11066983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40">
            <a:hlinkClick r:id="rId13" tooltip="13. Duplicate Review Outcomes" action="ppaction://hlinksldjump"/>
          </p:cNvPr>
          <p:cNvSpPr/>
          <p:nvPr/>
        </p:nvSpPr>
        <p:spPr>
          <a:xfrm>
            <a:off x="11336731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41">
            <a:hlinkClick r:id="rId14" tooltip="14. Pending Complaint Visibility" action="ppaction://hlinksldjump"/>
          </p:cNvPr>
          <p:cNvSpPr/>
          <p:nvPr/>
        </p:nvSpPr>
        <p:spPr>
          <a:xfrm>
            <a:off x="11606479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7276795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Account Registration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FE3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417320"/>
            <a:ext cx="3584448" cy="4636008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1" name="p3_1_c"/>
          <p:cNvSpPr/>
          <p:nvPr/>
        </p:nvSpPr>
        <p:spPr>
          <a:xfrm>
            <a:off x="685800" y="180136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p3_1_t"/>
          <p:cNvSpPr/>
          <p:nvPr/>
        </p:nvSpPr>
        <p:spPr>
          <a:xfrm>
            <a:off x="1234440" y="1783080"/>
            <a:ext cx="2487168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Register from the public home page.</a:t>
            </a:r>
            <a:endParaRPr lang="en-US" sz="1800" dirty="0"/>
          </a:p>
        </p:txBody>
      </p:sp>
      <p:sp>
        <p:nvSpPr>
          <p:cNvPr id="13" name="p3_2_c"/>
          <p:cNvSpPr/>
          <p:nvPr/>
        </p:nvSpPr>
        <p:spPr>
          <a:xfrm>
            <a:off x="685800" y="279196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p3_2_t"/>
          <p:cNvSpPr/>
          <p:nvPr/>
        </p:nvSpPr>
        <p:spPr>
          <a:xfrm>
            <a:off x="1234440" y="2773680"/>
            <a:ext cx="2487168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identity and contact information.</a:t>
            </a:r>
            <a:endParaRPr lang="en-US" sz="1800" dirty="0"/>
          </a:p>
        </p:txBody>
      </p:sp>
      <p:sp>
        <p:nvSpPr>
          <p:cNvPr id="15" name="p3_3_c"/>
          <p:cNvSpPr/>
          <p:nvPr/>
        </p:nvSpPr>
        <p:spPr>
          <a:xfrm>
            <a:off x="685800" y="378256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p3_3_t"/>
          <p:cNvSpPr/>
          <p:nvPr/>
        </p:nvSpPr>
        <p:spPr>
          <a:xfrm>
            <a:off x="1234440" y="3764280"/>
            <a:ext cx="2487168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residential address and secure login credentials.</a:t>
            </a:r>
            <a:endParaRPr lang="en-US" sz="1800" dirty="0"/>
          </a:p>
        </p:txBody>
      </p:sp>
      <p:sp>
        <p:nvSpPr>
          <p:cNvPr id="17" name="p3_4_c"/>
          <p:cNvSpPr/>
          <p:nvPr/>
        </p:nvSpPr>
        <p:spPr>
          <a:xfrm>
            <a:off x="685800" y="5056632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p3_4_t"/>
          <p:cNvSpPr/>
          <p:nvPr/>
        </p:nvSpPr>
        <p:spPr>
          <a:xfrm>
            <a:off x="1234440" y="5038344"/>
            <a:ext cx="2487168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information before registration.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85800" y="6144768"/>
            <a:ext cx="32186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details masked for this presentation.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163800" y="2327148"/>
            <a:ext cx="1935058" cy="3712464"/>
          </a:xfrm>
          <a:prstGeom prst="roundRect">
            <a:avLst>
              <a:gd name="adj" fmla="val 3780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0" descr="C:/NogorShomadhan/User Manual/Phase 1/registration/01-public-home-registration-entry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14092" y="2377440"/>
            <a:ext cx="1834474" cy="361188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3894052" y="6099048"/>
            <a:ext cx="247455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home page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236018" y="1641348"/>
            <a:ext cx="3246916" cy="4398264"/>
          </a:xfrm>
          <a:prstGeom prst="roundRect">
            <a:avLst>
              <a:gd name="adj" fmla="val 2253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4" name="Image 1" descr="C:/NogorShomadhan/User Manual/Phase 1/registration/02-resident-registration-personal-information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310" y="1691640"/>
            <a:ext cx="3146332" cy="429768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5966270" y="6099048"/>
            <a:ext cx="37864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information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9620094" y="1641348"/>
            <a:ext cx="2303145" cy="4398264"/>
          </a:xfrm>
          <a:prstGeom prst="roundRect">
            <a:avLst>
              <a:gd name="adj" fmla="val 317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7" name="Image 2" descr="C:/NogorShomadhan/User Manual/Phase 1/registration/03-resident-registration-address-and-security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386" y="1691640"/>
            <a:ext cx="2202561" cy="429768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9350346" y="6099048"/>
            <a:ext cx="28426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and credentials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6890406" y="4321820"/>
            <a:ext cx="582071" cy="184800"/>
          </a:xfrm>
          <a:prstGeom prst="roundRect">
            <a:avLst>
              <a:gd name="adj" fmla="val 24740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890406" y="4966472"/>
            <a:ext cx="1116948" cy="184800"/>
          </a:xfrm>
          <a:prstGeom prst="roundRect">
            <a:avLst>
              <a:gd name="adj" fmla="val 24740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931308" y="5611124"/>
            <a:ext cx="456218" cy="184800"/>
          </a:xfrm>
          <a:prstGeom prst="roundRect">
            <a:avLst>
              <a:gd name="adj" fmla="val 24740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9952314" y="2357780"/>
            <a:ext cx="176205" cy="116037"/>
          </a:xfrm>
          <a:prstGeom prst="roundRect">
            <a:avLst>
              <a:gd name="adj" fmla="val 39401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3" name="h3_1"/>
          <p:cNvSpPr/>
          <p:nvPr/>
        </p:nvSpPr>
        <p:spPr>
          <a:xfrm>
            <a:off x="5389990" y="2381052"/>
            <a:ext cx="388908" cy="180594"/>
          </a:xfrm>
          <a:prstGeom prst="roundRect">
            <a:avLst>
              <a:gd name="adj" fmla="val 30380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4" name="h3_4"/>
          <p:cNvSpPr/>
          <p:nvPr/>
        </p:nvSpPr>
        <p:spPr>
          <a:xfrm>
            <a:off x="9868616" y="5293096"/>
            <a:ext cx="1810505" cy="249265"/>
          </a:xfrm>
          <a:prstGeom prst="roundRect">
            <a:avLst>
              <a:gd name="adj" fmla="val 22010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5" name="b3_1"/>
          <p:cNvSpPr/>
          <p:nvPr/>
        </p:nvSpPr>
        <p:spPr>
          <a:xfrm>
            <a:off x="4159626" y="2310140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6" name="b3_1_t"/>
          <p:cNvSpPr/>
          <p:nvPr/>
        </p:nvSpPr>
        <p:spPr>
          <a:xfrm>
            <a:off x="4159626" y="23101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7" name="b3_2"/>
          <p:cNvSpPr/>
          <p:nvPr/>
        </p:nvSpPr>
        <p:spPr>
          <a:xfrm>
            <a:off x="6245015" y="1637690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8" name="b3_2_t"/>
          <p:cNvSpPr/>
          <p:nvPr/>
        </p:nvSpPr>
        <p:spPr>
          <a:xfrm>
            <a:off x="6245015" y="163769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9" name="b3_3"/>
          <p:cNvSpPr/>
          <p:nvPr/>
        </p:nvSpPr>
        <p:spPr>
          <a:xfrm>
            <a:off x="9619659" y="1646286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0" name="b3_3_t"/>
          <p:cNvSpPr/>
          <p:nvPr/>
        </p:nvSpPr>
        <p:spPr>
          <a:xfrm>
            <a:off x="9619659" y="164628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41" name="b3_4"/>
          <p:cNvSpPr/>
          <p:nvPr/>
        </p:nvSpPr>
        <p:spPr>
          <a:xfrm>
            <a:off x="9597634" y="5234849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2" name="b3_4_t"/>
          <p:cNvSpPr/>
          <p:nvPr/>
        </p:nvSpPr>
        <p:spPr>
          <a:xfrm>
            <a:off x="9597634" y="5234849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43" name="Text 38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4" name="Text 39">
            <a:hlinkClick r:id="rId4" tooltip="1. Problem Statement" action="ppaction://hlinksldjump"/>
          </p:cNvPr>
          <p:cNvSpPr/>
          <p:nvPr/>
        </p:nvSpPr>
        <p:spPr>
          <a:xfrm>
            <a:off x="8099755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5" tooltip="2. Stakeholders and Responsibilities" action="ppaction://hlinksldjump"/>
          </p:cNvPr>
          <p:cNvSpPr/>
          <p:nvPr/>
        </p:nvSpPr>
        <p:spPr>
          <a:xfrm>
            <a:off x="8369503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6" tooltip="3. Resident Account Registration" action="ppaction://hlinksldjump"/>
          </p:cNvPr>
          <p:cNvSpPr/>
          <p:nvPr/>
        </p:nvSpPr>
        <p:spPr>
          <a:xfrm>
            <a:off x="8639251" y="6528816"/>
            <a:ext cx="173736" cy="173736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7" tooltip="4. Registration Request Submitted" action="ppaction://hlinksldjump"/>
          </p:cNvPr>
          <p:cNvSpPr/>
          <p:nvPr/>
        </p:nvSpPr>
        <p:spPr>
          <a:xfrm>
            <a:off x="8908999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8" tooltip="5. Admin Receives the Verification Request" action="ppaction://hlinksldjump"/>
          </p:cNvPr>
          <p:cNvSpPr/>
          <p:nvPr/>
        </p:nvSpPr>
        <p:spPr>
          <a:xfrm>
            <a:off x="9178747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9" tooltip="6. Admin Reviews and Approves the Account" action="ppaction://hlinksldjump"/>
          </p:cNvPr>
          <p:cNvSpPr/>
          <p:nvPr/>
        </p:nvSpPr>
        <p:spPr>
          <a:xfrm>
            <a:off x="9448495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0" tooltip="7. Account Verification Completed" action="ppaction://hlinksldjump"/>
          </p:cNvPr>
          <p:cNvSpPr/>
          <p:nvPr/>
        </p:nvSpPr>
        <p:spPr>
          <a:xfrm>
            <a:off x="9718243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1" tooltip="8. Create a New Complaint" action="ppaction://hlinksldjump"/>
          </p:cNvPr>
          <p:cNvSpPr/>
          <p:nvPr/>
        </p:nvSpPr>
        <p:spPr>
          <a:xfrm>
            <a:off x="9987991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12" tooltip="9. Add Evidence and Review the Category" action="ppaction://hlinksldjump"/>
          </p:cNvPr>
          <p:cNvSpPr/>
          <p:nvPr/>
        </p:nvSpPr>
        <p:spPr>
          <a:xfrm>
            <a:off x="10257739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13" tooltip="10. Confirm the Complaint Submission" action="ppaction://hlinksldjump"/>
          </p:cNvPr>
          <p:cNvSpPr/>
          <p:nvPr/>
        </p:nvSpPr>
        <p:spPr>
          <a:xfrm>
            <a:off x="10527487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14" tooltip="11. Admin Opens the Review Queue" action="ppaction://hlinksldjump"/>
          </p:cNvPr>
          <p:cNvSpPr/>
          <p:nvPr/>
        </p:nvSpPr>
        <p:spPr>
          <a:xfrm>
            <a:off x="10797235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15" tooltip="12. Complaint Check and Duplicate Comparison" action="ppaction://hlinksldjump"/>
          </p:cNvPr>
          <p:cNvSpPr/>
          <p:nvPr/>
        </p:nvSpPr>
        <p:spPr>
          <a:xfrm>
            <a:off x="11066983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16" tooltip="13. Duplicate Review Outcomes" action="ppaction://hlinksldjump"/>
          </p:cNvPr>
          <p:cNvSpPr/>
          <p:nvPr/>
        </p:nvSpPr>
        <p:spPr>
          <a:xfrm>
            <a:off x="11336731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17" tooltip="14. Pending Complaint Visibility" action="ppaction://hlinksldjump"/>
          </p:cNvPr>
          <p:cNvSpPr/>
          <p:nvPr/>
        </p:nvSpPr>
        <p:spPr>
          <a:xfrm>
            <a:off x="11606479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/>
          <p:cNvSpPr/>
          <p:nvPr/>
        </p:nvSpPr>
        <p:spPr>
          <a:xfrm>
            <a:off x="7276795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Request Submitted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28302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728302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2" name="Shape 10"/>
          <p:cNvSpPr/>
          <p:nvPr/>
        </p:nvSpPr>
        <p:spPr>
          <a:xfrm>
            <a:off x="411480" y="1417320"/>
            <a:ext cx="3383280" cy="4636008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3" name="p4_1_c"/>
          <p:cNvSpPr/>
          <p:nvPr/>
        </p:nvSpPr>
        <p:spPr>
          <a:xfrm>
            <a:off x="667512" y="1773936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p4_1_t"/>
          <p:cNvSpPr/>
          <p:nvPr/>
        </p:nvSpPr>
        <p:spPr>
          <a:xfrm>
            <a:off x="1216152" y="1755648"/>
            <a:ext cx="2322576" cy="8734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submits the completed registration form.</a:t>
            </a:r>
            <a:endParaRPr lang="en-US" sz="1800" dirty="0"/>
          </a:p>
        </p:txBody>
      </p:sp>
      <p:sp>
        <p:nvSpPr>
          <p:cNvPr id="15" name="p4_2_c"/>
          <p:cNvSpPr/>
          <p:nvPr/>
        </p:nvSpPr>
        <p:spPr>
          <a:xfrm>
            <a:off x="667512" y="2757119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p4_2_t"/>
          <p:cNvSpPr/>
          <p:nvPr/>
        </p:nvSpPr>
        <p:spPr>
          <a:xfrm>
            <a:off x="1216152" y="2738831"/>
            <a:ext cx="2322576" cy="11469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creates the account with an unverified status.</a:t>
            </a:r>
            <a:endParaRPr lang="en-US" sz="1800" dirty="0"/>
          </a:p>
        </p:txBody>
      </p:sp>
      <p:sp>
        <p:nvSpPr>
          <p:cNvPr id="17" name="p4_3_c"/>
          <p:cNvSpPr/>
          <p:nvPr/>
        </p:nvSpPr>
        <p:spPr>
          <a:xfrm>
            <a:off x="667512" y="4013809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p4_3_t"/>
          <p:cNvSpPr/>
          <p:nvPr/>
        </p:nvSpPr>
        <p:spPr>
          <a:xfrm>
            <a:off x="1216152" y="3995521"/>
            <a:ext cx="2322576" cy="8734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sees an awaiting-verification confirmation.</a:t>
            </a:r>
            <a:endParaRPr lang="en-US" sz="1800" dirty="0"/>
          </a:p>
        </p:txBody>
      </p:sp>
      <p:sp>
        <p:nvSpPr>
          <p:cNvPr id="19" name="p4_4_c"/>
          <p:cNvSpPr/>
          <p:nvPr/>
        </p:nvSpPr>
        <p:spPr>
          <a:xfrm>
            <a:off x="667512" y="4996993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p4_4_t"/>
          <p:cNvSpPr/>
          <p:nvPr/>
        </p:nvSpPr>
        <p:spPr>
          <a:xfrm>
            <a:off x="1216152" y="4978705"/>
            <a:ext cx="2322576" cy="8734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dashboard displays a new pending account.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114800" y="1417320"/>
            <a:ext cx="3383280" cy="4636008"/>
          </a:xfrm>
          <a:prstGeom prst="roundRect">
            <a:avLst>
              <a:gd name="adj" fmla="val 3243"/>
            </a:avLst>
          </a:prstGeom>
          <a:solidFill>
            <a:srgbClr val="F2F8FD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34256" y="1536192"/>
            <a:ext cx="1320394" cy="347472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34256" y="1536192"/>
            <a:ext cx="13203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396935" y="1417320"/>
            <a:ext cx="3383280" cy="4636008"/>
          </a:xfrm>
          <a:prstGeom prst="roundRect">
            <a:avLst>
              <a:gd name="adj" fmla="val 3243"/>
            </a:avLst>
          </a:prstGeom>
          <a:solidFill>
            <a:srgbClr val="FFFAF2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616391" y="1536192"/>
            <a:ext cx="996696" cy="347472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16391" y="1536192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742499" y="1924812"/>
            <a:ext cx="2127882" cy="4032504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8" name="Image 0" descr="C:/NogorShomadhan/User Manual/Phase 1/registration/04-registration-success-awaiting-admin-verification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2791" y="1975104"/>
            <a:ext cx="2027298" cy="3931920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9046456" y="1924812"/>
            <a:ext cx="2084238" cy="4032504"/>
          </a:xfrm>
          <a:prstGeom prst="roundRect">
            <a:avLst>
              <a:gd name="adj" fmla="val 3510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30" name="Image 1" descr="C:/NogorShomadhan/User Manual/Phase 1/admin verification/05-admin-dashboard-new-account-alert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6748" y="1975104"/>
            <a:ext cx="1983654" cy="3931920"/>
          </a:xfrm>
          <a:prstGeom prst="rect">
            <a:avLst/>
          </a:prstGeom>
        </p:spPr>
      </p:pic>
      <p:sp>
        <p:nvSpPr>
          <p:cNvPr id="31" name="Shape 27"/>
          <p:cNvSpPr/>
          <p:nvPr/>
        </p:nvSpPr>
        <p:spPr>
          <a:xfrm>
            <a:off x="5060394" y="2572756"/>
            <a:ext cx="158129" cy="106162"/>
          </a:xfrm>
          <a:prstGeom prst="roundRect">
            <a:avLst>
              <a:gd name="adj" fmla="val 43066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2" name="arrow4"/>
          <p:cNvSpPr/>
          <p:nvPr/>
        </p:nvSpPr>
        <p:spPr>
          <a:xfrm>
            <a:off x="7626096" y="3675888"/>
            <a:ext cx="642823" cy="530352"/>
          </a:xfrm>
          <a:prstGeom prst="rightArrow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33" name="arrow4t"/>
          <p:cNvSpPr/>
          <p:nvPr/>
        </p:nvSpPr>
        <p:spPr>
          <a:xfrm>
            <a:off x="7516368" y="3054096"/>
            <a:ext cx="862279" cy="51206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spc="6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OVER TO</a:t>
            </a:r>
            <a:endParaRPr lang="en-US" sz="1200" dirty="0"/>
          </a:p>
        </p:txBody>
      </p:sp>
      <p:sp>
        <p:nvSpPr>
          <p:cNvPr id="34" name="h4_3"/>
          <p:cNvSpPr/>
          <p:nvPr/>
        </p:nvSpPr>
        <p:spPr>
          <a:xfrm>
            <a:off x="5230687" y="1986900"/>
            <a:ext cx="1524528" cy="424647"/>
          </a:xfrm>
          <a:prstGeom prst="roundRect">
            <a:avLst>
              <a:gd name="adj" fmla="val 12920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5" name="b4_3"/>
          <p:cNvSpPr/>
          <p:nvPr/>
        </p:nvSpPr>
        <p:spPr>
          <a:xfrm>
            <a:off x="4731549" y="2008480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6" name="b4_3_t"/>
          <p:cNvSpPr/>
          <p:nvPr/>
        </p:nvSpPr>
        <p:spPr>
          <a:xfrm>
            <a:off x="4731549" y="2008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7" name="h4_4"/>
          <p:cNvSpPr/>
          <p:nvPr/>
        </p:nvSpPr>
        <p:spPr>
          <a:xfrm>
            <a:off x="9168160" y="2218883"/>
            <a:ext cx="1836863" cy="562265"/>
          </a:xfrm>
          <a:prstGeom prst="roundRect">
            <a:avLst>
              <a:gd name="adj" fmla="val 9758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8" name="b4_4"/>
          <p:cNvSpPr/>
          <p:nvPr/>
        </p:nvSpPr>
        <p:spPr>
          <a:xfrm>
            <a:off x="8973378" y="2146097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9" name="b4_4_t"/>
          <p:cNvSpPr/>
          <p:nvPr/>
        </p:nvSpPr>
        <p:spPr>
          <a:xfrm>
            <a:off x="8973378" y="2146097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40" name="Text 36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1" name="Text 37">
            <a:hlinkClick r:id="rId3" tooltip="1. Problem Statement" action="ppaction://hlinksldjump"/>
          </p:cNvPr>
          <p:cNvSpPr/>
          <p:nvPr/>
        </p:nvSpPr>
        <p:spPr>
          <a:xfrm>
            <a:off x="8099755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8">
            <a:hlinkClick r:id="rId4" tooltip="2. Stakeholders and Responsibilities" action="ppaction://hlinksldjump"/>
          </p:cNvPr>
          <p:cNvSpPr/>
          <p:nvPr/>
        </p:nvSpPr>
        <p:spPr>
          <a:xfrm>
            <a:off x="8369503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9">
            <a:hlinkClick r:id="rId5" tooltip="3. Resident Account Registration" action="ppaction://hlinksldjump"/>
          </p:cNvPr>
          <p:cNvSpPr/>
          <p:nvPr/>
        </p:nvSpPr>
        <p:spPr>
          <a:xfrm>
            <a:off x="8639251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0">
            <a:hlinkClick r:id="rId6" tooltip="4. Registration Request Submitted" action="ppaction://hlinksldjump"/>
          </p:cNvPr>
          <p:cNvSpPr/>
          <p:nvPr/>
        </p:nvSpPr>
        <p:spPr>
          <a:xfrm>
            <a:off x="8908999" y="6528816"/>
            <a:ext cx="173736" cy="173736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1">
            <a:hlinkClick r:id="rId7" tooltip="5. Admin Receives the Verification Request" action="ppaction://hlinksldjump"/>
          </p:cNvPr>
          <p:cNvSpPr/>
          <p:nvPr/>
        </p:nvSpPr>
        <p:spPr>
          <a:xfrm>
            <a:off x="9178747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2">
            <a:hlinkClick r:id="rId8" tooltip="6. Admin Reviews and Approves the Account" action="ppaction://hlinksldjump"/>
          </p:cNvPr>
          <p:cNvSpPr/>
          <p:nvPr/>
        </p:nvSpPr>
        <p:spPr>
          <a:xfrm>
            <a:off x="9448495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3">
            <a:hlinkClick r:id="rId9" tooltip="7. Account Verification Completed" action="ppaction://hlinksldjump"/>
          </p:cNvPr>
          <p:cNvSpPr/>
          <p:nvPr/>
        </p:nvSpPr>
        <p:spPr>
          <a:xfrm>
            <a:off x="9718243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4">
            <a:hlinkClick r:id="rId10" tooltip="8. Create a New Complaint" action="ppaction://hlinksldjump"/>
          </p:cNvPr>
          <p:cNvSpPr/>
          <p:nvPr/>
        </p:nvSpPr>
        <p:spPr>
          <a:xfrm>
            <a:off x="9987991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5">
            <a:hlinkClick r:id="rId11" tooltip="9. Add Evidence and Review the Category" action="ppaction://hlinksldjump"/>
          </p:cNvPr>
          <p:cNvSpPr/>
          <p:nvPr/>
        </p:nvSpPr>
        <p:spPr>
          <a:xfrm>
            <a:off x="10257739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6">
            <a:hlinkClick r:id="rId12" tooltip="10. Confirm the Complaint Submission" action="ppaction://hlinksldjump"/>
          </p:cNvPr>
          <p:cNvSpPr/>
          <p:nvPr/>
        </p:nvSpPr>
        <p:spPr>
          <a:xfrm>
            <a:off x="10527487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7">
            <a:hlinkClick r:id="rId13" tooltip="11. Admin Opens the Review Queue" action="ppaction://hlinksldjump"/>
          </p:cNvPr>
          <p:cNvSpPr/>
          <p:nvPr/>
        </p:nvSpPr>
        <p:spPr>
          <a:xfrm>
            <a:off x="10797235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8">
            <a:hlinkClick r:id="rId14" tooltip="12. Complaint Check and Duplicate Comparison" action="ppaction://hlinksldjump"/>
          </p:cNvPr>
          <p:cNvSpPr/>
          <p:nvPr/>
        </p:nvSpPr>
        <p:spPr>
          <a:xfrm>
            <a:off x="11066983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9">
            <a:hlinkClick r:id="rId15" tooltip="13. Duplicate Review Outcomes" action="ppaction://hlinksldjump"/>
          </p:cNvPr>
          <p:cNvSpPr/>
          <p:nvPr/>
        </p:nvSpPr>
        <p:spPr>
          <a:xfrm>
            <a:off x="11336731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50">
            <a:hlinkClick r:id="rId16" tooltip="14. Pending Complaint Visibility" action="ppaction://hlinksldjump"/>
          </p:cNvPr>
          <p:cNvSpPr/>
          <p:nvPr/>
        </p:nvSpPr>
        <p:spPr>
          <a:xfrm>
            <a:off x="11606479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1"/>
          <p:cNvSpPr/>
          <p:nvPr/>
        </p:nvSpPr>
        <p:spPr>
          <a:xfrm>
            <a:off x="7276795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4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B86A12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Receives the Verification Request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F2DBBB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417320"/>
            <a:ext cx="3931920" cy="4636008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1" name="p5_1_c"/>
          <p:cNvSpPr/>
          <p:nvPr/>
        </p:nvSpPr>
        <p:spPr>
          <a:xfrm>
            <a:off x="685800" y="1801368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p5_1_t"/>
          <p:cNvSpPr/>
          <p:nvPr/>
        </p:nvSpPr>
        <p:spPr>
          <a:xfrm>
            <a:off x="1234440" y="1783080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receives a new resident account notification.</a:t>
            </a:r>
            <a:endParaRPr lang="en-US" sz="1800" dirty="0"/>
          </a:p>
        </p:txBody>
      </p:sp>
      <p:sp>
        <p:nvSpPr>
          <p:cNvPr id="13" name="p5_2_c"/>
          <p:cNvSpPr/>
          <p:nvPr/>
        </p:nvSpPr>
        <p:spPr>
          <a:xfrm>
            <a:off x="685800" y="2886456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p5_2_t"/>
          <p:cNvSpPr/>
          <p:nvPr/>
        </p:nvSpPr>
        <p:spPr>
          <a:xfrm>
            <a:off x="1234440" y="2868168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Selecting the notification opens Pending Accounts.</a:t>
            </a:r>
            <a:endParaRPr lang="en-US" sz="1800" dirty="0"/>
          </a:p>
        </p:txBody>
      </p:sp>
      <p:sp>
        <p:nvSpPr>
          <p:cNvPr id="15" name="p5_3_c"/>
          <p:cNvSpPr/>
          <p:nvPr/>
        </p:nvSpPr>
        <p:spPr>
          <a:xfrm>
            <a:off x="685800" y="3971544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p5_3_t"/>
          <p:cNvSpPr/>
          <p:nvPr/>
        </p:nvSpPr>
        <p:spPr>
          <a:xfrm>
            <a:off x="1234440" y="3953256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resident appears in the verification queue.</a:t>
            </a:r>
            <a:endParaRPr lang="en-US" sz="1800" dirty="0"/>
          </a:p>
        </p:txBody>
      </p:sp>
      <p:sp>
        <p:nvSpPr>
          <p:cNvPr id="17" name="p5_4_c"/>
          <p:cNvSpPr/>
          <p:nvPr/>
        </p:nvSpPr>
        <p:spPr>
          <a:xfrm>
            <a:off x="685800" y="5056632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p5_4_t"/>
          <p:cNvSpPr/>
          <p:nvPr/>
        </p:nvSpPr>
        <p:spPr>
          <a:xfrm>
            <a:off x="1234440" y="5038344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can review, approve, or reject the request.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85800" y="6144768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details masked for this presentation.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017564" y="1367028"/>
            <a:ext cx="2589438" cy="4690872"/>
          </a:xfrm>
          <a:prstGeom prst="roundRect">
            <a:avLst>
              <a:gd name="adj" fmla="val 2825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0" descr="C:/NogorShomadhan/User Manual/Phase 1/admin verification/06-admin-notification-new-resident-account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7856" y="1417320"/>
            <a:ext cx="2488854" cy="459028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4747816" y="6117336"/>
            <a:ext cx="31289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notification inbox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996890" y="1367028"/>
            <a:ext cx="2420057" cy="4690872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4" name="Image 1" descr="C:/NogorShomadhan/User Manual/Phase 1/admin verification/07-admin-pending-account-verification-list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7182" y="1417320"/>
            <a:ext cx="2319473" cy="4590288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8727142" y="6117336"/>
            <a:ext cx="295955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account verifications</a:t>
            </a:r>
            <a:endParaRPr lang="en-US" sz="1600" dirty="0"/>
          </a:p>
        </p:txBody>
      </p:sp>
      <p:sp>
        <p:nvSpPr>
          <p:cNvPr id="26" name="arrow5"/>
          <p:cNvSpPr/>
          <p:nvPr/>
        </p:nvSpPr>
        <p:spPr>
          <a:xfrm>
            <a:off x="7867606" y="3456432"/>
            <a:ext cx="868680" cy="512064"/>
          </a:xfrm>
          <a:prstGeom prst="rightArrow">
            <a:avLst/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7" name="arrow5t"/>
          <p:cNvSpPr/>
          <p:nvPr/>
        </p:nvSpPr>
        <p:spPr>
          <a:xfrm>
            <a:off x="7684726" y="3072384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9824206" y="4107229"/>
            <a:ext cx="405908" cy="128528"/>
          </a:xfrm>
          <a:prstGeom prst="roundRect">
            <a:avLst>
              <a:gd name="adj" fmla="val 35572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9" name="h5_1"/>
          <p:cNvSpPr/>
          <p:nvPr/>
        </p:nvSpPr>
        <p:spPr>
          <a:xfrm>
            <a:off x="5157455" y="3280977"/>
            <a:ext cx="2309657" cy="550835"/>
          </a:xfrm>
          <a:prstGeom prst="roundRect">
            <a:avLst>
              <a:gd name="adj" fmla="val 9960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0" name="b5_1"/>
          <p:cNvSpPr/>
          <p:nvPr/>
        </p:nvSpPr>
        <p:spPr>
          <a:xfrm>
            <a:off x="4959642" y="3098097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1" name="b5_1_t"/>
          <p:cNvSpPr/>
          <p:nvPr/>
        </p:nvSpPr>
        <p:spPr>
          <a:xfrm>
            <a:off x="4959642" y="3098097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2" name="h5_3"/>
          <p:cNvSpPr/>
          <p:nvPr/>
        </p:nvSpPr>
        <p:spPr>
          <a:xfrm>
            <a:off x="9126044" y="3840992"/>
            <a:ext cx="2157109" cy="587557"/>
          </a:xfrm>
          <a:prstGeom prst="roundRect">
            <a:avLst>
              <a:gd name="adj" fmla="val 9338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3" name="b5_3"/>
          <p:cNvSpPr/>
          <p:nvPr/>
        </p:nvSpPr>
        <p:spPr>
          <a:xfrm>
            <a:off x="8933887" y="3667293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4" name="b5_3_t"/>
          <p:cNvSpPr/>
          <p:nvPr/>
        </p:nvSpPr>
        <p:spPr>
          <a:xfrm>
            <a:off x="8933887" y="366729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5" name="h5_4"/>
          <p:cNvSpPr/>
          <p:nvPr/>
        </p:nvSpPr>
        <p:spPr>
          <a:xfrm>
            <a:off x="9139961" y="4456091"/>
            <a:ext cx="2133915" cy="229514"/>
          </a:xfrm>
          <a:prstGeom prst="roundRect">
            <a:avLst>
              <a:gd name="adj" fmla="val 23904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6" name="b5_4"/>
          <p:cNvSpPr/>
          <p:nvPr/>
        </p:nvSpPr>
        <p:spPr>
          <a:xfrm>
            <a:off x="10024039" y="4732239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7" name="b5_4_t"/>
          <p:cNvSpPr/>
          <p:nvPr/>
        </p:nvSpPr>
        <p:spPr>
          <a:xfrm>
            <a:off x="10024039" y="4732239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38" name="b5_2"/>
          <p:cNvSpPr/>
          <p:nvPr/>
        </p:nvSpPr>
        <p:spPr>
          <a:xfrm>
            <a:off x="8119066" y="2956072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9" name="b5_2_t"/>
          <p:cNvSpPr/>
          <p:nvPr/>
        </p:nvSpPr>
        <p:spPr>
          <a:xfrm>
            <a:off x="8119066" y="295607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40" name="Text 36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1" name="Text 37">
            <a:hlinkClick r:id="rId3" tooltip="1. Problem Statement" action="ppaction://hlinksldjump"/>
          </p:cNvPr>
          <p:cNvSpPr/>
          <p:nvPr/>
        </p:nvSpPr>
        <p:spPr>
          <a:xfrm>
            <a:off x="8099755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8">
            <a:hlinkClick r:id="rId4" tooltip="2. Stakeholders and Responsibilities" action="ppaction://hlinksldjump"/>
          </p:cNvPr>
          <p:cNvSpPr/>
          <p:nvPr/>
        </p:nvSpPr>
        <p:spPr>
          <a:xfrm>
            <a:off x="8369503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9">
            <a:hlinkClick r:id="rId5" tooltip="3. Resident Account Registration" action="ppaction://hlinksldjump"/>
          </p:cNvPr>
          <p:cNvSpPr/>
          <p:nvPr/>
        </p:nvSpPr>
        <p:spPr>
          <a:xfrm>
            <a:off x="8639251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0">
            <a:hlinkClick r:id="rId6" tooltip="4. Registration Request Submitted" action="ppaction://hlinksldjump"/>
          </p:cNvPr>
          <p:cNvSpPr/>
          <p:nvPr/>
        </p:nvSpPr>
        <p:spPr>
          <a:xfrm>
            <a:off x="8908999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1">
            <a:hlinkClick r:id="rId7" tooltip="5. Admin Receives the Verification Request" action="ppaction://hlinksldjump"/>
          </p:cNvPr>
          <p:cNvSpPr/>
          <p:nvPr/>
        </p:nvSpPr>
        <p:spPr>
          <a:xfrm>
            <a:off x="9178747" y="6528816"/>
            <a:ext cx="173736" cy="173736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2">
            <a:hlinkClick r:id="rId8" tooltip="6. Admin Reviews and Approves the Account" action="ppaction://hlinksldjump"/>
          </p:cNvPr>
          <p:cNvSpPr/>
          <p:nvPr/>
        </p:nvSpPr>
        <p:spPr>
          <a:xfrm>
            <a:off x="9448495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3">
            <a:hlinkClick r:id="rId9" tooltip="7. Account Verification Completed" action="ppaction://hlinksldjump"/>
          </p:cNvPr>
          <p:cNvSpPr/>
          <p:nvPr/>
        </p:nvSpPr>
        <p:spPr>
          <a:xfrm>
            <a:off x="9718243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4">
            <a:hlinkClick r:id="rId10" tooltip="8. Create a New Complaint" action="ppaction://hlinksldjump"/>
          </p:cNvPr>
          <p:cNvSpPr/>
          <p:nvPr/>
        </p:nvSpPr>
        <p:spPr>
          <a:xfrm>
            <a:off x="9987991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5">
            <a:hlinkClick r:id="rId11" tooltip="9. Add Evidence and Review the Category" action="ppaction://hlinksldjump"/>
          </p:cNvPr>
          <p:cNvSpPr/>
          <p:nvPr/>
        </p:nvSpPr>
        <p:spPr>
          <a:xfrm>
            <a:off x="10257739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6">
            <a:hlinkClick r:id="rId12" tooltip="10. Confirm the Complaint Submission" action="ppaction://hlinksldjump"/>
          </p:cNvPr>
          <p:cNvSpPr/>
          <p:nvPr/>
        </p:nvSpPr>
        <p:spPr>
          <a:xfrm>
            <a:off x="10527487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7">
            <a:hlinkClick r:id="rId13" tooltip="11. Admin Opens the Review Queue" action="ppaction://hlinksldjump"/>
          </p:cNvPr>
          <p:cNvSpPr/>
          <p:nvPr/>
        </p:nvSpPr>
        <p:spPr>
          <a:xfrm>
            <a:off x="10797235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8">
            <a:hlinkClick r:id="rId14" tooltip="12. Complaint Check and Duplicate Comparison" action="ppaction://hlinksldjump"/>
          </p:cNvPr>
          <p:cNvSpPr/>
          <p:nvPr/>
        </p:nvSpPr>
        <p:spPr>
          <a:xfrm>
            <a:off x="11066983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9">
            <a:hlinkClick r:id="rId15" tooltip="13. Duplicate Review Outcomes" action="ppaction://hlinksldjump"/>
          </p:cNvPr>
          <p:cNvSpPr/>
          <p:nvPr/>
        </p:nvSpPr>
        <p:spPr>
          <a:xfrm>
            <a:off x="11336731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50">
            <a:hlinkClick r:id="rId16" tooltip="14. Pending Complaint Visibility" action="ppaction://hlinksldjump"/>
          </p:cNvPr>
          <p:cNvSpPr/>
          <p:nvPr/>
        </p:nvSpPr>
        <p:spPr>
          <a:xfrm>
            <a:off x="11606479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1"/>
          <p:cNvSpPr/>
          <p:nvPr/>
        </p:nvSpPr>
        <p:spPr>
          <a:xfrm>
            <a:off x="7276795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4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B86A12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Reviews and Approves the Account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F2DBBB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417320"/>
            <a:ext cx="4343400" cy="4636008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1" name="p6_1_c"/>
          <p:cNvSpPr/>
          <p:nvPr/>
        </p:nvSpPr>
        <p:spPr>
          <a:xfrm>
            <a:off x="704088" y="1828800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p6_1_t"/>
          <p:cNvSpPr/>
          <p:nvPr/>
        </p:nvSpPr>
        <p:spPr>
          <a:xfrm>
            <a:off x="1252728" y="1810512"/>
            <a:ext cx="320954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resident’s submitted account information.</a:t>
            </a:r>
            <a:endParaRPr lang="en-US" sz="1800" dirty="0"/>
          </a:p>
        </p:txBody>
      </p:sp>
      <p:sp>
        <p:nvSpPr>
          <p:cNvPr id="13" name="p6_2_c"/>
          <p:cNvSpPr/>
          <p:nvPr/>
        </p:nvSpPr>
        <p:spPr>
          <a:xfrm>
            <a:off x="704088" y="2834640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p6_2_t"/>
          <p:cNvSpPr/>
          <p:nvPr/>
        </p:nvSpPr>
        <p:spPr>
          <a:xfrm>
            <a:off x="1252728" y="2816352"/>
            <a:ext cx="3209544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that the identity and address details are valid.</a:t>
            </a:r>
            <a:endParaRPr lang="en-US" sz="1800" dirty="0"/>
          </a:p>
        </p:txBody>
      </p:sp>
      <p:sp>
        <p:nvSpPr>
          <p:cNvPr id="15" name="p6_3_c"/>
          <p:cNvSpPr/>
          <p:nvPr/>
        </p:nvSpPr>
        <p:spPr>
          <a:xfrm>
            <a:off x="704088" y="4123944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p6_3_t"/>
          <p:cNvSpPr/>
          <p:nvPr/>
        </p:nvSpPr>
        <p:spPr>
          <a:xfrm>
            <a:off x="1252728" y="4105656"/>
            <a:ext cx="320954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Approve for a valid registration.</a:t>
            </a:r>
            <a:endParaRPr lang="en-US" sz="1800" dirty="0"/>
          </a:p>
        </p:txBody>
      </p:sp>
      <p:sp>
        <p:nvSpPr>
          <p:cNvPr id="17" name="p6_4_c"/>
          <p:cNvSpPr/>
          <p:nvPr/>
        </p:nvSpPr>
        <p:spPr>
          <a:xfrm>
            <a:off x="704088" y="5129784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p6_4_t"/>
          <p:cNvSpPr/>
          <p:nvPr/>
        </p:nvSpPr>
        <p:spPr>
          <a:xfrm>
            <a:off x="1252728" y="5111496"/>
            <a:ext cx="320954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approval action.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04088" y="6144768"/>
            <a:ext cx="39410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details masked for this presentation.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734991" y="1367028"/>
            <a:ext cx="2434745" cy="4690872"/>
          </a:xfrm>
          <a:prstGeom prst="roundRect">
            <a:avLst>
              <a:gd name="adj" fmla="val 3005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0" descr="C:/NogorShomadhan/User Manual/Phase 1/admin verification/08-admin-review-resident-account-details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5283" y="1417320"/>
            <a:ext cx="2334161" cy="459028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5465243" y="6117336"/>
            <a:ext cx="2974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account details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709232" y="1367028"/>
            <a:ext cx="2420057" cy="4690872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4" name="Image 1" descr="C:/NogorShomadhan/User Manual/Phase 1/admin verification/09-admin-approve-account-confirmation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524" y="1417320"/>
            <a:ext cx="2319473" cy="4590288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8439484" y="6117336"/>
            <a:ext cx="295955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confirmation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6147078" y="2867851"/>
            <a:ext cx="396807" cy="119347"/>
          </a:xfrm>
          <a:prstGeom prst="roundRect">
            <a:avLst>
              <a:gd name="adj" fmla="val 38308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147078" y="3170810"/>
            <a:ext cx="816957" cy="119347"/>
          </a:xfrm>
          <a:prstGeom prst="roundRect">
            <a:avLst>
              <a:gd name="adj" fmla="val 38308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182090" y="3492130"/>
            <a:ext cx="326783" cy="119347"/>
          </a:xfrm>
          <a:prstGeom prst="roundRect">
            <a:avLst>
              <a:gd name="adj" fmla="val 38308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990689" y="3795089"/>
            <a:ext cx="175062" cy="110167"/>
          </a:xfrm>
          <a:prstGeom prst="roundRect">
            <a:avLst>
              <a:gd name="adj" fmla="val 41501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0" name="h6_1"/>
          <p:cNvSpPr/>
          <p:nvPr/>
        </p:nvSpPr>
        <p:spPr>
          <a:xfrm>
            <a:off x="5948674" y="2427183"/>
            <a:ext cx="1984037" cy="1156753"/>
          </a:xfrm>
          <a:prstGeom prst="roundRect">
            <a:avLst>
              <a:gd name="adj" fmla="val 4743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1" name="b6_1"/>
          <p:cNvSpPr/>
          <p:nvPr/>
        </p:nvSpPr>
        <p:spPr>
          <a:xfrm>
            <a:off x="5730781" y="2244303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2" name="b6_1_t"/>
          <p:cNvSpPr/>
          <p:nvPr/>
        </p:nvSpPr>
        <p:spPr>
          <a:xfrm>
            <a:off x="5730781" y="224430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3" name="h6_2"/>
          <p:cNvSpPr/>
          <p:nvPr/>
        </p:nvSpPr>
        <p:spPr>
          <a:xfrm>
            <a:off x="5948674" y="3611478"/>
            <a:ext cx="1984037" cy="973141"/>
          </a:xfrm>
          <a:prstGeom prst="roundRect">
            <a:avLst>
              <a:gd name="adj" fmla="val 5638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4" name="b6_2"/>
          <p:cNvSpPr/>
          <p:nvPr/>
        </p:nvSpPr>
        <p:spPr>
          <a:xfrm>
            <a:off x="5730781" y="3428598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5" name="b6_2_t"/>
          <p:cNvSpPr/>
          <p:nvPr/>
        </p:nvSpPr>
        <p:spPr>
          <a:xfrm>
            <a:off x="5730781" y="342859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6" name="h6_3"/>
          <p:cNvSpPr/>
          <p:nvPr/>
        </p:nvSpPr>
        <p:spPr>
          <a:xfrm>
            <a:off x="10341404" y="4483632"/>
            <a:ext cx="579868" cy="183612"/>
          </a:xfrm>
          <a:prstGeom prst="roundRect">
            <a:avLst>
              <a:gd name="adj" fmla="val 29880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7" name="b6_3"/>
          <p:cNvSpPr/>
          <p:nvPr/>
        </p:nvSpPr>
        <p:spPr>
          <a:xfrm>
            <a:off x="10432222" y="4667975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8" name="b6_3_t"/>
          <p:cNvSpPr/>
          <p:nvPr/>
        </p:nvSpPr>
        <p:spPr>
          <a:xfrm>
            <a:off x="10432222" y="4667975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9" name="h6_4"/>
          <p:cNvSpPr/>
          <p:nvPr/>
        </p:nvSpPr>
        <p:spPr>
          <a:xfrm>
            <a:off x="9942455" y="3932798"/>
            <a:ext cx="777023" cy="252466"/>
          </a:xfrm>
          <a:prstGeom prst="roundRect">
            <a:avLst>
              <a:gd name="adj" fmla="val 21731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40" name="b6_4"/>
          <p:cNvSpPr/>
          <p:nvPr/>
        </p:nvSpPr>
        <p:spPr>
          <a:xfrm>
            <a:off x="10606183" y="3873856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1" name="b6_4_t"/>
          <p:cNvSpPr/>
          <p:nvPr/>
        </p:nvSpPr>
        <p:spPr>
          <a:xfrm>
            <a:off x="10606183" y="38738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42" name="Text 38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3" name="Text 39">
            <a:hlinkClick r:id="rId3" tooltip="1. Problem Statement" action="ppaction://hlinksldjump"/>
          </p:cNvPr>
          <p:cNvSpPr/>
          <p:nvPr/>
        </p:nvSpPr>
        <p:spPr>
          <a:xfrm>
            <a:off x="8099755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0">
            <a:hlinkClick r:id="rId4" tooltip="2. Stakeholders and Responsibilities" action="ppaction://hlinksldjump"/>
          </p:cNvPr>
          <p:cNvSpPr/>
          <p:nvPr/>
        </p:nvSpPr>
        <p:spPr>
          <a:xfrm>
            <a:off x="8369503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1">
            <a:hlinkClick r:id="rId5" tooltip="3. Resident Account Registration" action="ppaction://hlinksldjump"/>
          </p:cNvPr>
          <p:cNvSpPr/>
          <p:nvPr/>
        </p:nvSpPr>
        <p:spPr>
          <a:xfrm>
            <a:off x="8639251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2">
            <a:hlinkClick r:id="rId6" tooltip="4. Registration Request Submitted" action="ppaction://hlinksldjump"/>
          </p:cNvPr>
          <p:cNvSpPr/>
          <p:nvPr/>
        </p:nvSpPr>
        <p:spPr>
          <a:xfrm>
            <a:off x="8908999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3">
            <a:hlinkClick r:id="rId7" tooltip="5. Admin Receives the Verification Request" action="ppaction://hlinksldjump"/>
          </p:cNvPr>
          <p:cNvSpPr/>
          <p:nvPr/>
        </p:nvSpPr>
        <p:spPr>
          <a:xfrm>
            <a:off x="9178747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4">
            <a:hlinkClick r:id="rId8" tooltip="6. Admin Reviews and Approves the Account" action="ppaction://hlinksldjump"/>
          </p:cNvPr>
          <p:cNvSpPr/>
          <p:nvPr/>
        </p:nvSpPr>
        <p:spPr>
          <a:xfrm>
            <a:off x="9448495" y="6528816"/>
            <a:ext cx="173736" cy="173736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5">
            <a:hlinkClick r:id="rId9" tooltip="7. Account Verification Completed" action="ppaction://hlinksldjump"/>
          </p:cNvPr>
          <p:cNvSpPr/>
          <p:nvPr/>
        </p:nvSpPr>
        <p:spPr>
          <a:xfrm>
            <a:off x="9718243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6">
            <a:hlinkClick r:id="rId10" tooltip="8. Create a New Complaint" action="ppaction://hlinksldjump"/>
          </p:cNvPr>
          <p:cNvSpPr/>
          <p:nvPr/>
        </p:nvSpPr>
        <p:spPr>
          <a:xfrm>
            <a:off x="9987991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7">
            <a:hlinkClick r:id="rId11" tooltip="9. Add Evidence and Review the Category" action="ppaction://hlinksldjump"/>
          </p:cNvPr>
          <p:cNvSpPr/>
          <p:nvPr/>
        </p:nvSpPr>
        <p:spPr>
          <a:xfrm>
            <a:off x="10257739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8">
            <a:hlinkClick r:id="rId12" tooltip="10. Confirm the Complaint Submission" action="ppaction://hlinksldjump"/>
          </p:cNvPr>
          <p:cNvSpPr/>
          <p:nvPr/>
        </p:nvSpPr>
        <p:spPr>
          <a:xfrm>
            <a:off x="10527487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9">
            <a:hlinkClick r:id="rId13" tooltip="11. Admin Opens the Review Queue" action="ppaction://hlinksldjump"/>
          </p:cNvPr>
          <p:cNvSpPr/>
          <p:nvPr/>
        </p:nvSpPr>
        <p:spPr>
          <a:xfrm>
            <a:off x="10797235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50">
            <a:hlinkClick r:id="rId14" tooltip="12. Complaint Check and Duplicate Comparison" action="ppaction://hlinksldjump"/>
          </p:cNvPr>
          <p:cNvSpPr/>
          <p:nvPr/>
        </p:nvSpPr>
        <p:spPr>
          <a:xfrm>
            <a:off x="11066983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1">
            <a:hlinkClick r:id="rId15" tooltip="13. Duplicate Review Outcomes" action="ppaction://hlinksldjump"/>
          </p:cNvPr>
          <p:cNvSpPr/>
          <p:nvPr/>
        </p:nvSpPr>
        <p:spPr>
          <a:xfrm>
            <a:off x="11336731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2">
            <a:hlinkClick r:id="rId16" tooltip="14. Pending Complaint Visibility" action="ppaction://hlinksldjump"/>
          </p:cNvPr>
          <p:cNvSpPr/>
          <p:nvPr/>
        </p:nvSpPr>
        <p:spPr>
          <a:xfrm>
            <a:off x="11606479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3"/>
          <p:cNvSpPr/>
          <p:nvPr/>
        </p:nvSpPr>
        <p:spPr>
          <a:xfrm>
            <a:off x="7276795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Verification Completed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28302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728302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2" name="Shape 10"/>
          <p:cNvSpPr/>
          <p:nvPr/>
        </p:nvSpPr>
        <p:spPr>
          <a:xfrm>
            <a:off x="411480" y="1417320"/>
            <a:ext cx="475488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3" name="p7_1_c"/>
          <p:cNvSpPr/>
          <p:nvPr/>
        </p:nvSpPr>
        <p:spPr>
          <a:xfrm>
            <a:off x="685800" y="166420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p7_1_t"/>
          <p:cNvSpPr/>
          <p:nvPr/>
        </p:nvSpPr>
        <p:spPr>
          <a:xfrm>
            <a:off x="1234440" y="1645920"/>
            <a:ext cx="3657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receives an SMS confirming account approval.</a:t>
            </a:r>
            <a:endParaRPr lang="en-US" sz="1800" dirty="0"/>
          </a:p>
        </p:txBody>
      </p:sp>
      <p:sp>
        <p:nvSpPr>
          <p:cNvPr id="15" name="p7_2_c"/>
          <p:cNvSpPr/>
          <p:nvPr/>
        </p:nvSpPr>
        <p:spPr>
          <a:xfrm>
            <a:off x="685800" y="2417064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p7_2_t"/>
          <p:cNvSpPr/>
          <p:nvPr/>
        </p:nvSpPr>
        <p:spPr>
          <a:xfrm>
            <a:off x="1234440" y="2398776"/>
            <a:ext cx="3657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Registered Accounts to view all approved profiles.</a:t>
            </a:r>
            <a:endParaRPr lang="en-US" sz="1800" dirty="0"/>
          </a:p>
        </p:txBody>
      </p:sp>
      <p:sp>
        <p:nvSpPr>
          <p:cNvPr id="17" name="p7_3_c"/>
          <p:cNvSpPr/>
          <p:nvPr/>
        </p:nvSpPr>
        <p:spPr>
          <a:xfrm>
            <a:off x="685800" y="3169920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p7_3_t"/>
          <p:cNvSpPr/>
          <p:nvPr/>
        </p:nvSpPr>
        <p:spPr>
          <a:xfrm>
            <a:off x="1234440" y="3151632"/>
            <a:ext cx="3657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appears in the Registered Accounts list.</a:t>
            </a:r>
            <a:endParaRPr lang="en-US" sz="1800" dirty="0"/>
          </a:p>
        </p:txBody>
      </p:sp>
      <p:sp>
        <p:nvSpPr>
          <p:cNvPr id="19" name="p7_4_c"/>
          <p:cNvSpPr/>
          <p:nvPr/>
        </p:nvSpPr>
        <p:spPr>
          <a:xfrm>
            <a:off x="685800" y="3922776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p7_4_t"/>
          <p:cNvSpPr/>
          <p:nvPr/>
        </p:nvSpPr>
        <p:spPr>
          <a:xfrm>
            <a:off x="1234440" y="3904488"/>
            <a:ext cx="3657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status changes to Verified.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11480" y="4727448"/>
            <a:ext cx="4754880" cy="1216152"/>
          </a:xfrm>
          <a:prstGeom prst="roundRect">
            <a:avLst>
              <a:gd name="adj" fmla="val 9023"/>
            </a:avLst>
          </a:prstGeom>
          <a:solidFill>
            <a:srgbClr val="F2F8FD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30936" y="4782312"/>
            <a:ext cx="4315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TO THE RESIDENT</a:t>
            </a:r>
            <a:endParaRPr lang="en-US" sz="1200" dirty="0"/>
          </a:p>
        </p:txBody>
      </p:sp>
      <p:sp>
        <p:nvSpPr>
          <p:cNvPr id="23" name="s7_sms_f"/>
          <p:cNvSpPr/>
          <p:nvPr/>
        </p:nvSpPr>
        <p:spPr>
          <a:xfrm>
            <a:off x="1120140" y="4965192"/>
            <a:ext cx="3337560" cy="1004888"/>
          </a:xfrm>
          <a:prstGeom prst="roundRect">
            <a:avLst>
              <a:gd name="adj" fmla="val 6370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pic>
        <p:nvPicPr>
          <p:cNvPr id="24" name="s7_sms" descr="C:/NogorShomadhan/User Manual/Phase 1/admin verification/10-resident-account-approved-sms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5010912"/>
            <a:ext cx="3246120" cy="913448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5486400" y="1417320"/>
            <a:ext cx="6293815" cy="4526280"/>
          </a:xfrm>
          <a:prstGeom prst="roundRect">
            <a:avLst>
              <a:gd name="adj" fmla="val 2424"/>
            </a:avLst>
          </a:prstGeom>
          <a:solidFill>
            <a:srgbClr val="FFFAF2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5661402" y="1517904"/>
            <a:ext cx="252228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9079798" y="1517904"/>
            <a:ext cx="25254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accounts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5885430" y="1906524"/>
            <a:ext cx="2074229" cy="4014216"/>
          </a:xfrm>
          <a:prstGeom prst="roundRect">
            <a:avLst>
              <a:gd name="adj" fmla="val 3527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9" name="Image 1" descr="C:/NogorShomadhan/User Manual/Phase 1/admin registration accounts view/11-admin-dashboard-showing-registeredaccounts-option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5722" y="1956816"/>
            <a:ext cx="1973645" cy="3913632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9303826" y="1906524"/>
            <a:ext cx="2077360" cy="4014216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31" name="Image 2" descr="C:/NogorShomadhan/User Manual/Phase 1/admin registration accounts view/12-admin-registered-account-verified-list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4118" y="1956816"/>
            <a:ext cx="1976776" cy="3913632"/>
          </a:xfrm>
          <a:prstGeom prst="rect">
            <a:avLst/>
          </a:prstGeom>
        </p:spPr>
      </p:pic>
      <p:sp>
        <p:nvSpPr>
          <p:cNvPr id="32" name="arrow7"/>
          <p:cNvSpPr/>
          <p:nvPr/>
        </p:nvSpPr>
        <p:spPr>
          <a:xfrm>
            <a:off x="8220262" y="3657600"/>
            <a:ext cx="822960" cy="512064"/>
          </a:xfrm>
          <a:prstGeom prst="rightArrow">
            <a:avLst/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33" name="Shape 28"/>
          <p:cNvSpPr/>
          <p:nvPr/>
        </p:nvSpPr>
        <p:spPr>
          <a:xfrm>
            <a:off x="9660518" y="4737452"/>
            <a:ext cx="711639" cy="93927"/>
          </a:xfrm>
          <a:prstGeom prst="roundRect">
            <a:avLst>
              <a:gd name="adj" fmla="val 48676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9660518" y="5034888"/>
            <a:ext cx="256981" cy="93927"/>
          </a:xfrm>
          <a:prstGeom prst="roundRect">
            <a:avLst>
              <a:gd name="adj" fmla="val 48676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5" name="h7_2"/>
          <p:cNvSpPr/>
          <p:nvPr/>
        </p:nvSpPr>
        <p:spPr>
          <a:xfrm>
            <a:off x="6006773" y="4864645"/>
            <a:ext cx="1831542" cy="461809"/>
          </a:xfrm>
          <a:prstGeom prst="roundRect">
            <a:avLst>
              <a:gd name="adj" fmla="val 11880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6" name="b7_2"/>
          <p:cNvSpPr/>
          <p:nvPr/>
        </p:nvSpPr>
        <p:spPr>
          <a:xfrm>
            <a:off x="5812051" y="4681765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7" name="b7_2_t"/>
          <p:cNvSpPr/>
          <p:nvPr/>
        </p:nvSpPr>
        <p:spPr>
          <a:xfrm>
            <a:off x="5812051" y="4681765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8" name="h7_3"/>
          <p:cNvSpPr/>
          <p:nvPr/>
        </p:nvSpPr>
        <p:spPr>
          <a:xfrm>
            <a:off x="9425282" y="4140623"/>
            <a:ext cx="1834448" cy="1260190"/>
          </a:xfrm>
          <a:prstGeom prst="roundRect">
            <a:avLst>
              <a:gd name="adj" fmla="val 4354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9" name="b7_3"/>
          <p:cNvSpPr/>
          <p:nvPr/>
        </p:nvSpPr>
        <p:spPr>
          <a:xfrm>
            <a:off x="9230541" y="3957743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0" name="b7_3_t"/>
          <p:cNvSpPr/>
          <p:nvPr/>
        </p:nvSpPr>
        <p:spPr>
          <a:xfrm>
            <a:off x="9230541" y="395774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41" name="h7_4"/>
          <p:cNvSpPr/>
          <p:nvPr/>
        </p:nvSpPr>
        <p:spPr>
          <a:xfrm>
            <a:off x="10840653" y="4234550"/>
            <a:ext cx="365703" cy="117409"/>
          </a:xfrm>
          <a:prstGeom prst="roundRect">
            <a:avLst>
              <a:gd name="adj" fmla="val 46729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42" name="b7_4"/>
          <p:cNvSpPr/>
          <p:nvPr/>
        </p:nvSpPr>
        <p:spPr>
          <a:xfrm>
            <a:off x="10466026" y="4036015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3" name="b7_4_t"/>
          <p:cNvSpPr/>
          <p:nvPr/>
        </p:nvSpPr>
        <p:spPr>
          <a:xfrm>
            <a:off x="10466026" y="4036015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44" name="b7_1"/>
          <p:cNvSpPr/>
          <p:nvPr/>
        </p:nvSpPr>
        <p:spPr>
          <a:xfrm>
            <a:off x="804443" y="5284756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5" name="b7_1_t"/>
          <p:cNvSpPr/>
          <p:nvPr/>
        </p:nvSpPr>
        <p:spPr>
          <a:xfrm>
            <a:off x="804443" y="52847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6" name="out7_bg"/>
          <p:cNvSpPr/>
          <p:nvPr/>
        </p:nvSpPr>
        <p:spPr>
          <a:xfrm>
            <a:off x="411480" y="6035040"/>
            <a:ext cx="11368735" cy="457200"/>
          </a:xfrm>
          <a:prstGeom prst="roundRect">
            <a:avLst>
              <a:gd name="adj" fmla="val 20000"/>
            </a:avLst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7" name="out7_tx"/>
          <p:cNvSpPr/>
          <p:nvPr/>
        </p:nvSpPr>
        <p:spPr>
          <a:xfrm>
            <a:off x="411480" y="6035040"/>
            <a:ext cx="113687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can now sign in and begin reporting community problems.</a:t>
            </a:r>
            <a:endParaRPr lang="en-US" sz="1850" dirty="0"/>
          </a:p>
        </p:txBody>
      </p:sp>
      <p:sp>
        <p:nvSpPr>
          <p:cNvPr id="48" name="Text 43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9" name="Text 44">
            <a:hlinkClick r:id="rId4" tooltip="1. Problem Statement" action="ppaction://hlinksldjump"/>
          </p:cNvPr>
          <p:cNvSpPr/>
          <p:nvPr/>
        </p:nvSpPr>
        <p:spPr>
          <a:xfrm>
            <a:off x="8099755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5" tooltip="2. Stakeholders and Responsibilities" action="ppaction://hlinksldjump"/>
          </p:cNvPr>
          <p:cNvSpPr/>
          <p:nvPr/>
        </p:nvSpPr>
        <p:spPr>
          <a:xfrm>
            <a:off x="8369503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6" tooltip="3. Resident Account Registration" action="ppaction://hlinksldjump"/>
          </p:cNvPr>
          <p:cNvSpPr/>
          <p:nvPr/>
        </p:nvSpPr>
        <p:spPr>
          <a:xfrm>
            <a:off x="8639251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7" tooltip="4. Registration Request Submitted" action="ppaction://hlinksldjump"/>
          </p:cNvPr>
          <p:cNvSpPr/>
          <p:nvPr/>
        </p:nvSpPr>
        <p:spPr>
          <a:xfrm>
            <a:off x="8908999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8" tooltip="5. Admin Receives the Verification Request" action="ppaction://hlinksldjump"/>
          </p:cNvPr>
          <p:cNvSpPr/>
          <p:nvPr/>
        </p:nvSpPr>
        <p:spPr>
          <a:xfrm>
            <a:off x="9178747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9" tooltip="6. Admin Reviews and Approves the Account" action="ppaction://hlinksldjump"/>
          </p:cNvPr>
          <p:cNvSpPr/>
          <p:nvPr/>
        </p:nvSpPr>
        <p:spPr>
          <a:xfrm>
            <a:off x="9448495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10" tooltip="7. Account Verification Completed" action="ppaction://hlinksldjump"/>
          </p:cNvPr>
          <p:cNvSpPr/>
          <p:nvPr/>
        </p:nvSpPr>
        <p:spPr>
          <a:xfrm>
            <a:off x="9718243" y="6528816"/>
            <a:ext cx="173736" cy="173736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11" tooltip="8. Create a New Complaint" action="ppaction://hlinksldjump"/>
          </p:cNvPr>
          <p:cNvSpPr/>
          <p:nvPr/>
        </p:nvSpPr>
        <p:spPr>
          <a:xfrm>
            <a:off x="9987991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12" tooltip="9. Add Evidence and Review the Category" action="ppaction://hlinksldjump"/>
          </p:cNvPr>
          <p:cNvSpPr/>
          <p:nvPr/>
        </p:nvSpPr>
        <p:spPr>
          <a:xfrm>
            <a:off x="10257739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13" tooltip="10. Confirm the Complaint Submission" action="ppaction://hlinksldjump"/>
          </p:cNvPr>
          <p:cNvSpPr/>
          <p:nvPr/>
        </p:nvSpPr>
        <p:spPr>
          <a:xfrm>
            <a:off x="10527487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14" tooltip="11. Admin Opens the Review Queue" action="ppaction://hlinksldjump"/>
          </p:cNvPr>
          <p:cNvSpPr/>
          <p:nvPr/>
        </p:nvSpPr>
        <p:spPr>
          <a:xfrm>
            <a:off x="10797235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15" tooltip="12. Complaint Check and Duplicate Comparison" action="ppaction://hlinksldjump"/>
          </p:cNvPr>
          <p:cNvSpPr/>
          <p:nvPr/>
        </p:nvSpPr>
        <p:spPr>
          <a:xfrm>
            <a:off x="11066983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>
            <a:hlinkClick r:id="rId16" tooltip="13. Duplicate Review Outcomes" action="ppaction://hlinksldjump"/>
          </p:cNvPr>
          <p:cNvSpPr/>
          <p:nvPr/>
        </p:nvSpPr>
        <p:spPr>
          <a:xfrm>
            <a:off x="11336731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7">
            <a:hlinkClick r:id="rId17" tooltip="14. Pending Complaint Visibility" action="ppaction://hlinksldjump"/>
          </p:cNvPr>
          <p:cNvSpPr/>
          <p:nvPr/>
        </p:nvSpPr>
        <p:spPr>
          <a:xfrm>
            <a:off x="11606479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8"/>
          <p:cNvSpPr/>
          <p:nvPr/>
        </p:nvSpPr>
        <p:spPr>
          <a:xfrm>
            <a:off x="7276795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2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·  RESIDENT SUBMITS A COMPLAINT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Complaint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FE3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89888"/>
            <a:ext cx="11368735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11480" y="1389888"/>
            <a:ext cx="82296" cy="69494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1389888"/>
            <a:ext cx="10783519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opens the complaint form and provides clear information about the community issue and its location.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11480" y="2176272"/>
            <a:ext cx="3474720" cy="4151376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p8_1_c"/>
          <p:cNvSpPr/>
          <p:nvPr/>
        </p:nvSpPr>
        <p:spPr>
          <a:xfrm>
            <a:off x="667512" y="2505456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p8_1_t"/>
          <p:cNvSpPr/>
          <p:nvPr/>
        </p:nvSpPr>
        <p:spPr>
          <a:xfrm>
            <a:off x="1216152" y="2487168"/>
            <a:ext cx="2414016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Complaints from the Resident Dashboard.</a:t>
            </a:r>
            <a:endParaRPr lang="en-US" sz="1800" dirty="0"/>
          </a:p>
        </p:txBody>
      </p:sp>
      <p:sp>
        <p:nvSpPr>
          <p:cNvPr id="16" name="p8_2_c"/>
          <p:cNvSpPr/>
          <p:nvPr/>
        </p:nvSpPr>
        <p:spPr>
          <a:xfrm>
            <a:off x="667512" y="3589020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p8_2_t"/>
          <p:cNvSpPr/>
          <p:nvPr/>
        </p:nvSpPr>
        <p:spPr>
          <a:xfrm>
            <a:off x="1216152" y="3570732"/>
            <a:ext cx="2414016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New Complaint tab.</a:t>
            </a:r>
            <a:endParaRPr lang="en-US" sz="1800" dirty="0"/>
          </a:p>
        </p:txBody>
      </p:sp>
      <p:sp>
        <p:nvSpPr>
          <p:cNvPr id="18" name="p8_3_c"/>
          <p:cNvSpPr/>
          <p:nvPr/>
        </p:nvSpPr>
        <p:spPr>
          <a:xfrm>
            <a:off x="667512" y="4389120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p8_3_t"/>
          <p:cNvSpPr/>
          <p:nvPr/>
        </p:nvSpPr>
        <p:spPr>
          <a:xfrm>
            <a:off x="1216152" y="4370832"/>
            <a:ext cx="2414016" cy="1755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complaint title, description, incident address, nearby landmark, and additional location details.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480768" y="2125980"/>
            <a:ext cx="2228164" cy="4251960"/>
          </a:xfrm>
          <a:prstGeom prst="roundRect">
            <a:avLst>
              <a:gd name="adj" fmla="val 3283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0" descr="C:/NogorShomadhan/User Manual/Phase 2/resident submits complaint/13-resident-dashboard selecting-complaint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31060" y="2176272"/>
            <a:ext cx="2127580" cy="4151376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6882669" y="2125980"/>
            <a:ext cx="2218616" cy="4251960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1" descr="C:/NogorShomadhan/User Manual/Phase 2/resident submits complaint/14-resident-opens-submit-compl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2961" y="2176272"/>
            <a:ext cx="2118032" cy="4151376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9275021" y="2125980"/>
            <a:ext cx="2221522" cy="4251960"/>
          </a:xfrm>
          <a:prstGeom prst="roundRect">
            <a:avLst>
              <a:gd name="adj" fmla="val 3293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5" name="Image 2" descr="C:/NogorShomadhan/User Manual/Phase 2/resident submits complaint/15-add-title-description-addres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5313" y="2176272"/>
            <a:ext cx="2120938" cy="4151376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686073" y="4078224"/>
            <a:ext cx="219456" cy="347472"/>
          </a:xfrm>
          <a:prstGeom prst="chevron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9078425" y="4078224"/>
            <a:ext cx="219456" cy="347472"/>
          </a:xfrm>
          <a:prstGeom prst="chevron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28" name="h8_1"/>
          <p:cNvSpPr/>
          <p:nvPr/>
        </p:nvSpPr>
        <p:spPr>
          <a:xfrm>
            <a:off x="5158697" y="6095171"/>
            <a:ext cx="372327" cy="190963"/>
          </a:xfrm>
          <a:prstGeom prst="roundRect">
            <a:avLst>
              <a:gd name="adj" fmla="val 28730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29" name="b8_1"/>
          <p:cNvSpPr/>
          <p:nvPr/>
        </p:nvSpPr>
        <p:spPr>
          <a:xfrm>
            <a:off x="5163044" y="5721328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0" name="b8_1_t"/>
          <p:cNvSpPr/>
          <p:nvPr/>
        </p:nvSpPr>
        <p:spPr>
          <a:xfrm>
            <a:off x="5163044" y="57213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1" name="h8_2"/>
          <p:cNvSpPr/>
          <p:nvPr/>
        </p:nvSpPr>
        <p:spPr>
          <a:xfrm>
            <a:off x="7021918" y="2641226"/>
            <a:ext cx="677770" cy="224174"/>
          </a:xfrm>
          <a:prstGeom prst="roundRect">
            <a:avLst>
              <a:gd name="adj" fmla="val 24474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2" name="b8_2"/>
          <p:cNvSpPr/>
          <p:nvPr/>
        </p:nvSpPr>
        <p:spPr>
          <a:xfrm>
            <a:off x="6881399" y="2890089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3" name="b8_2_t"/>
          <p:cNvSpPr/>
          <p:nvPr/>
        </p:nvSpPr>
        <p:spPr>
          <a:xfrm>
            <a:off x="6881399" y="2890089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4" name="h8_3a"/>
          <p:cNvSpPr/>
          <p:nvPr/>
        </p:nvSpPr>
        <p:spPr>
          <a:xfrm>
            <a:off x="9431360" y="3155997"/>
            <a:ext cx="1908844" cy="896697"/>
          </a:xfrm>
          <a:prstGeom prst="roundRect">
            <a:avLst>
              <a:gd name="adj" fmla="val 6118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5" name="h8_3b"/>
          <p:cNvSpPr/>
          <p:nvPr/>
        </p:nvSpPr>
        <p:spPr>
          <a:xfrm>
            <a:off x="9431360" y="4119116"/>
            <a:ext cx="1908844" cy="1619037"/>
          </a:xfrm>
          <a:prstGeom prst="roundRect">
            <a:avLst>
              <a:gd name="adj" fmla="val 3389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6" name="b8_3"/>
          <p:cNvSpPr/>
          <p:nvPr/>
        </p:nvSpPr>
        <p:spPr>
          <a:xfrm>
            <a:off x="9248480" y="3936236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7" name="b8_3_t"/>
          <p:cNvSpPr/>
          <p:nvPr/>
        </p:nvSpPr>
        <p:spPr>
          <a:xfrm>
            <a:off x="9248480" y="393623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8" name="Text 33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9" name="Text 34">
            <a:hlinkClick r:id="rId4" tooltip="1. Problem Statement" action="ppaction://hlinksldjump"/>
          </p:cNvPr>
          <p:cNvSpPr/>
          <p:nvPr/>
        </p:nvSpPr>
        <p:spPr>
          <a:xfrm>
            <a:off x="8099755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5" tooltip="2. Stakeholders and Responsibilities" action="ppaction://hlinksldjump"/>
          </p:cNvPr>
          <p:cNvSpPr/>
          <p:nvPr/>
        </p:nvSpPr>
        <p:spPr>
          <a:xfrm>
            <a:off x="8369503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6" tooltip="3. Resident Account Registration" action="ppaction://hlinksldjump"/>
          </p:cNvPr>
          <p:cNvSpPr/>
          <p:nvPr/>
        </p:nvSpPr>
        <p:spPr>
          <a:xfrm>
            <a:off x="8639251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7" tooltip="4. Registration Request Submitted" action="ppaction://hlinksldjump"/>
          </p:cNvPr>
          <p:cNvSpPr/>
          <p:nvPr/>
        </p:nvSpPr>
        <p:spPr>
          <a:xfrm>
            <a:off x="8908999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8" tooltip="5. Admin Receives the Verification Request" action="ppaction://hlinksldjump"/>
          </p:cNvPr>
          <p:cNvSpPr/>
          <p:nvPr/>
        </p:nvSpPr>
        <p:spPr>
          <a:xfrm>
            <a:off x="9178747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9" tooltip="6. Admin Reviews and Approves the Account" action="ppaction://hlinksldjump"/>
          </p:cNvPr>
          <p:cNvSpPr/>
          <p:nvPr/>
        </p:nvSpPr>
        <p:spPr>
          <a:xfrm>
            <a:off x="9448495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0" tooltip="7. Account Verification Completed" action="ppaction://hlinksldjump"/>
          </p:cNvPr>
          <p:cNvSpPr/>
          <p:nvPr/>
        </p:nvSpPr>
        <p:spPr>
          <a:xfrm>
            <a:off x="9718243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1" tooltip="8. Create a New Complaint" action="ppaction://hlinksldjump"/>
          </p:cNvPr>
          <p:cNvSpPr/>
          <p:nvPr/>
        </p:nvSpPr>
        <p:spPr>
          <a:xfrm>
            <a:off x="9987991" y="6528816"/>
            <a:ext cx="173736" cy="173736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2" tooltip="9. Add Evidence and Review the Category" action="ppaction://hlinksldjump"/>
          </p:cNvPr>
          <p:cNvSpPr/>
          <p:nvPr/>
        </p:nvSpPr>
        <p:spPr>
          <a:xfrm>
            <a:off x="10257739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3" tooltip="10. Confirm the Complaint Submission" action="ppaction://hlinksldjump"/>
          </p:cNvPr>
          <p:cNvSpPr/>
          <p:nvPr/>
        </p:nvSpPr>
        <p:spPr>
          <a:xfrm>
            <a:off x="10527487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4" tooltip="11. Admin Opens the Review Queue" action="ppaction://hlinksldjump"/>
          </p:cNvPr>
          <p:cNvSpPr/>
          <p:nvPr/>
        </p:nvSpPr>
        <p:spPr>
          <a:xfrm>
            <a:off x="10797235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5" tooltip="12. Complaint Check and Duplicate Comparison" action="ppaction://hlinksldjump"/>
          </p:cNvPr>
          <p:cNvSpPr/>
          <p:nvPr/>
        </p:nvSpPr>
        <p:spPr>
          <a:xfrm>
            <a:off x="11066983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6" tooltip="13. Duplicate Review Outcomes" action="ppaction://hlinksldjump"/>
          </p:cNvPr>
          <p:cNvSpPr/>
          <p:nvPr/>
        </p:nvSpPr>
        <p:spPr>
          <a:xfrm>
            <a:off x="11336731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17" tooltip="14. Pending Complaint Visibility" action="ppaction://hlinksldjump"/>
          </p:cNvPr>
          <p:cNvSpPr/>
          <p:nvPr/>
        </p:nvSpPr>
        <p:spPr>
          <a:xfrm>
            <a:off x="11606479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/>
          <p:cNvSpPr/>
          <p:nvPr/>
        </p:nvSpPr>
        <p:spPr>
          <a:xfrm>
            <a:off x="7276795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·  RESIDENT SUBMITS A COMPLAINT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Evidence and Review the Category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FE3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89888"/>
            <a:ext cx="11368735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11480" y="1389888"/>
            <a:ext cx="82296" cy="69494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1389888"/>
            <a:ext cx="10783519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evidence is optional. The system suggests a category from the complaint information, but the resident can change it before submission.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11480" y="2176272"/>
            <a:ext cx="3931920" cy="4151376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p9_1_c"/>
          <p:cNvSpPr/>
          <p:nvPr/>
        </p:nvSpPr>
        <p:spPr>
          <a:xfrm>
            <a:off x="685800" y="2523744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p9_1_t"/>
          <p:cNvSpPr/>
          <p:nvPr/>
        </p:nvSpPr>
        <p:spPr>
          <a:xfrm>
            <a:off x="1234440" y="2505456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attach photo evidence using the camera or gallery.</a:t>
            </a:r>
            <a:endParaRPr lang="en-US" sz="1800" dirty="0"/>
          </a:p>
        </p:txBody>
      </p:sp>
      <p:sp>
        <p:nvSpPr>
          <p:cNvPr id="16" name="p9_2_c"/>
          <p:cNvSpPr/>
          <p:nvPr/>
        </p:nvSpPr>
        <p:spPr>
          <a:xfrm>
            <a:off x="685800" y="3739896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p9_2_t"/>
          <p:cNvSpPr/>
          <p:nvPr/>
        </p:nvSpPr>
        <p:spPr>
          <a:xfrm>
            <a:off x="1234440" y="3721608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category automatically suggested by the AI.</a:t>
            </a:r>
            <a:endParaRPr lang="en-US" sz="1800" dirty="0"/>
          </a:p>
        </p:txBody>
      </p:sp>
      <p:sp>
        <p:nvSpPr>
          <p:cNvPr id="18" name="p9_3_c"/>
          <p:cNvSpPr/>
          <p:nvPr/>
        </p:nvSpPr>
        <p:spPr>
          <a:xfrm>
            <a:off x="685800" y="495604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p9_3_t"/>
          <p:cNvSpPr/>
          <p:nvPr/>
        </p:nvSpPr>
        <p:spPr>
          <a:xfrm>
            <a:off x="1234440" y="4937760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necessary, open the category menu and select a more appropriate category manually.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347935" y="2125980"/>
            <a:ext cx="2185820" cy="4251960"/>
          </a:xfrm>
          <a:prstGeom prst="roundRect">
            <a:avLst>
              <a:gd name="adj" fmla="val 3347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0" descr="C:/NogorShomadhan/User Manual/Phase 2/resident submits complaint/16-add-photo-evidence-if-desi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8227" y="2176272"/>
            <a:ext cx="2085236" cy="4151376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8877923" y="2125980"/>
            <a:ext cx="2208653" cy="4251960"/>
          </a:xfrm>
          <a:prstGeom prst="roundRect">
            <a:avLst>
              <a:gd name="adj" fmla="val 3312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1" descr="C:/NogorShomadhan/User Manual/Phase 2/categorization/19-choose-from-category op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8215" y="2176272"/>
            <a:ext cx="2108069" cy="4151376"/>
          </a:xfrm>
          <a:prstGeom prst="rect">
            <a:avLst/>
          </a:prstGeom>
        </p:spPr>
      </p:pic>
      <p:sp>
        <p:nvSpPr>
          <p:cNvPr id="24" name="arrow9"/>
          <p:cNvSpPr/>
          <p:nvPr/>
        </p:nvSpPr>
        <p:spPr>
          <a:xfrm>
            <a:off x="7794359" y="3995928"/>
            <a:ext cx="822960" cy="512064"/>
          </a:xfrm>
          <a:prstGeom prst="rightArrow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5" name="arrow9t"/>
          <p:cNvSpPr/>
          <p:nvPr/>
        </p:nvSpPr>
        <p:spPr>
          <a:xfrm>
            <a:off x="7611479" y="359359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</a:t>
            </a:r>
            <a:endParaRPr lang="en-US" sz="1300" dirty="0"/>
          </a:p>
        </p:txBody>
      </p:sp>
      <p:sp>
        <p:nvSpPr>
          <p:cNvPr id="26" name="h9_1a"/>
          <p:cNvSpPr/>
          <p:nvPr/>
        </p:nvSpPr>
        <p:spPr>
          <a:xfrm>
            <a:off x="5585898" y="3629254"/>
            <a:ext cx="1709894" cy="855183"/>
          </a:xfrm>
          <a:prstGeom prst="roundRect">
            <a:avLst>
              <a:gd name="adj" fmla="val 6415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27" name="h9_1b"/>
          <p:cNvSpPr/>
          <p:nvPr/>
        </p:nvSpPr>
        <p:spPr>
          <a:xfrm>
            <a:off x="5577557" y="4501043"/>
            <a:ext cx="471263" cy="489862"/>
          </a:xfrm>
          <a:prstGeom prst="roundRect">
            <a:avLst>
              <a:gd name="adj" fmla="val 11642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28" name="b9_1"/>
          <p:cNvSpPr/>
          <p:nvPr/>
        </p:nvSpPr>
        <p:spPr>
          <a:xfrm>
            <a:off x="5267478" y="3446374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9" name="b9_1_t"/>
          <p:cNvSpPr/>
          <p:nvPr/>
        </p:nvSpPr>
        <p:spPr>
          <a:xfrm>
            <a:off x="5267478" y="344637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0" name="h9_2a"/>
          <p:cNvSpPr/>
          <p:nvPr/>
        </p:nvSpPr>
        <p:spPr>
          <a:xfrm>
            <a:off x="5585898" y="5347923"/>
            <a:ext cx="1709894" cy="315505"/>
          </a:xfrm>
          <a:prstGeom prst="roundRect">
            <a:avLst>
              <a:gd name="adj" fmla="val 17389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1" name="h9_2b"/>
          <p:cNvSpPr/>
          <p:nvPr/>
        </p:nvSpPr>
        <p:spPr>
          <a:xfrm>
            <a:off x="5573387" y="5646822"/>
            <a:ext cx="1634825" cy="157752"/>
          </a:xfrm>
          <a:prstGeom prst="roundRect">
            <a:avLst>
              <a:gd name="adj" fmla="val 34779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2" name="b9_2"/>
          <p:cNvSpPr/>
          <p:nvPr/>
        </p:nvSpPr>
        <p:spPr>
          <a:xfrm>
            <a:off x="5267478" y="5314493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3" name="b9_2_t"/>
          <p:cNvSpPr/>
          <p:nvPr/>
        </p:nvSpPr>
        <p:spPr>
          <a:xfrm>
            <a:off x="5267478" y="531449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4" name="h9_3"/>
          <p:cNvSpPr/>
          <p:nvPr/>
        </p:nvSpPr>
        <p:spPr>
          <a:xfrm>
            <a:off x="9160103" y="2857098"/>
            <a:ext cx="1644294" cy="273991"/>
          </a:xfrm>
          <a:prstGeom prst="roundRect">
            <a:avLst>
              <a:gd name="adj" fmla="val 20024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5" name="b9_3"/>
          <p:cNvSpPr/>
          <p:nvPr/>
        </p:nvSpPr>
        <p:spPr>
          <a:xfrm>
            <a:off x="8888684" y="2811213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6" name="b9_3_t"/>
          <p:cNvSpPr/>
          <p:nvPr/>
        </p:nvSpPr>
        <p:spPr>
          <a:xfrm>
            <a:off x="8888684" y="281121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7" name="Text 33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8" name="Text 34">
            <a:hlinkClick r:id="rId3" tooltip="1. Problem Statement" action="ppaction://hlinksldjump"/>
          </p:cNvPr>
          <p:cNvSpPr/>
          <p:nvPr/>
        </p:nvSpPr>
        <p:spPr>
          <a:xfrm>
            <a:off x="8099755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5">
            <a:hlinkClick r:id="rId4" tooltip="2. Stakeholders and Responsibilities" action="ppaction://hlinksldjump"/>
          </p:cNvPr>
          <p:cNvSpPr/>
          <p:nvPr/>
        </p:nvSpPr>
        <p:spPr>
          <a:xfrm>
            <a:off x="8369503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6">
            <a:hlinkClick r:id="rId5" tooltip="3. Resident Account Registration" action="ppaction://hlinksldjump"/>
          </p:cNvPr>
          <p:cNvSpPr/>
          <p:nvPr/>
        </p:nvSpPr>
        <p:spPr>
          <a:xfrm>
            <a:off x="8639251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7">
            <a:hlinkClick r:id="rId6" tooltip="4. Registration Request Submitted" action="ppaction://hlinksldjump"/>
          </p:cNvPr>
          <p:cNvSpPr/>
          <p:nvPr/>
        </p:nvSpPr>
        <p:spPr>
          <a:xfrm>
            <a:off x="8908999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8">
            <a:hlinkClick r:id="rId7" tooltip="5. Admin Receives the Verification Request" action="ppaction://hlinksldjump"/>
          </p:cNvPr>
          <p:cNvSpPr/>
          <p:nvPr/>
        </p:nvSpPr>
        <p:spPr>
          <a:xfrm>
            <a:off x="9178747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9">
            <a:hlinkClick r:id="rId8" tooltip="6. Admin Reviews and Approves the Account" action="ppaction://hlinksldjump"/>
          </p:cNvPr>
          <p:cNvSpPr/>
          <p:nvPr/>
        </p:nvSpPr>
        <p:spPr>
          <a:xfrm>
            <a:off x="9448495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0">
            <a:hlinkClick r:id="rId9" tooltip="7. Account Verification Completed" action="ppaction://hlinksldjump"/>
          </p:cNvPr>
          <p:cNvSpPr/>
          <p:nvPr/>
        </p:nvSpPr>
        <p:spPr>
          <a:xfrm>
            <a:off x="9718243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1">
            <a:hlinkClick r:id="rId10" tooltip="8. Create a New Complaint" action="ppaction://hlinksldjump"/>
          </p:cNvPr>
          <p:cNvSpPr/>
          <p:nvPr/>
        </p:nvSpPr>
        <p:spPr>
          <a:xfrm>
            <a:off x="9987991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2">
            <a:hlinkClick r:id="rId11" tooltip="9. Add Evidence and Review the Category" action="ppaction://hlinksldjump"/>
          </p:cNvPr>
          <p:cNvSpPr/>
          <p:nvPr/>
        </p:nvSpPr>
        <p:spPr>
          <a:xfrm>
            <a:off x="10257739" y="6528816"/>
            <a:ext cx="173736" cy="173736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3">
            <a:hlinkClick r:id="rId12" tooltip="10. Confirm the Complaint Submission" action="ppaction://hlinksldjump"/>
          </p:cNvPr>
          <p:cNvSpPr/>
          <p:nvPr/>
        </p:nvSpPr>
        <p:spPr>
          <a:xfrm>
            <a:off x="10527487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4">
            <a:hlinkClick r:id="rId13" tooltip="11. Admin Opens the Review Queue" action="ppaction://hlinksldjump"/>
          </p:cNvPr>
          <p:cNvSpPr/>
          <p:nvPr/>
        </p:nvSpPr>
        <p:spPr>
          <a:xfrm>
            <a:off x="10797235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5">
            <a:hlinkClick r:id="rId14" tooltip="12. Complaint Check and Duplicate Comparison" action="ppaction://hlinksldjump"/>
          </p:cNvPr>
          <p:cNvSpPr/>
          <p:nvPr/>
        </p:nvSpPr>
        <p:spPr>
          <a:xfrm>
            <a:off x="11066983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6">
            <a:hlinkClick r:id="rId15" tooltip="13. Duplicate Review Outcomes" action="ppaction://hlinksldjump"/>
          </p:cNvPr>
          <p:cNvSpPr/>
          <p:nvPr/>
        </p:nvSpPr>
        <p:spPr>
          <a:xfrm>
            <a:off x="11336731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7">
            <a:hlinkClick r:id="rId16" tooltip="14. Pending Complaint Visibility" action="ppaction://hlinksldjump"/>
          </p:cNvPr>
          <p:cNvSpPr/>
          <p:nvPr/>
        </p:nvSpPr>
        <p:spPr>
          <a:xfrm>
            <a:off x="11606479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8"/>
          <p:cNvSpPr/>
          <p:nvPr/>
        </p:nvSpPr>
        <p:spPr>
          <a:xfrm>
            <a:off x="7276795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·  RESIDENT SUBMITS A COMPLAINT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Complaint Submission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FE3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89888"/>
            <a:ext cx="11368735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11480" y="1389888"/>
            <a:ext cx="82296" cy="69494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1389888"/>
            <a:ext cx="10783519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complaint is submitted successfully and placed in the review queue. Administrative processing continues in Phase 3.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11480" y="2176272"/>
            <a:ext cx="4480560" cy="3584448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p10_1_c"/>
          <p:cNvSpPr/>
          <p:nvPr/>
        </p:nvSpPr>
        <p:spPr>
          <a:xfrm>
            <a:off x="685800" y="2468880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p10_1_t"/>
          <p:cNvSpPr/>
          <p:nvPr/>
        </p:nvSpPr>
        <p:spPr>
          <a:xfrm>
            <a:off x="1234440" y="245059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Submit Complaint.</a:t>
            </a:r>
            <a:endParaRPr lang="en-US" sz="1800" dirty="0"/>
          </a:p>
        </p:txBody>
      </p:sp>
      <p:sp>
        <p:nvSpPr>
          <p:cNvPr id="16" name="p10_2_c"/>
          <p:cNvSpPr/>
          <p:nvPr/>
        </p:nvSpPr>
        <p:spPr>
          <a:xfrm>
            <a:off x="685800" y="2958084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p10_2_t"/>
          <p:cNvSpPr/>
          <p:nvPr/>
        </p:nvSpPr>
        <p:spPr>
          <a:xfrm>
            <a:off x="1234440" y="2939796"/>
            <a:ext cx="33832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confirmation prompt and select Yes.</a:t>
            </a:r>
            <a:endParaRPr lang="en-US" sz="1800" dirty="0"/>
          </a:p>
        </p:txBody>
      </p:sp>
      <p:sp>
        <p:nvSpPr>
          <p:cNvPr id="18" name="p10_3_c"/>
          <p:cNvSpPr/>
          <p:nvPr/>
        </p:nvSpPr>
        <p:spPr>
          <a:xfrm>
            <a:off x="685800" y="372160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p10_3_t"/>
          <p:cNvSpPr/>
          <p:nvPr/>
        </p:nvSpPr>
        <p:spPr>
          <a:xfrm>
            <a:off x="1234440" y="3703320"/>
            <a:ext cx="338328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 message confirms the complaint was logged and queued for review.</a:t>
            </a:r>
            <a:endParaRPr lang="en-US" sz="1800" dirty="0"/>
          </a:p>
        </p:txBody>
      </p:sp>
      <p:sp>
        <p:nvSpPr>
          <p:cNvPr id="20" name="note10_bg"/>
          <p:cNvSpPr/>
          <p:nvPr/>
        </p:nvSpPr>
        <p:spPr>
          <a:xfrm>
            <a:off x="667512" y="4700016"/>
            <a:ext cx="3968496" cy="987552"/>
          </a:xfrm>
          <a:prstGeom prst="roundRect">
            <a:avLst>
              <a:gd name="adj" fmla="val 7407"/>
            </a:avLst>
          </a:prstGeom>
          <a:solidFill>
            <a:srgbClr val="F2F8FD"/>
          </a:solidFill>
          <a:ln w="12700">
            <a:solidFill>
              <a:srgbClr val="CFE3F4"/>
            </a:solidFill>
            <a:prstDash val="solid"/>
          </a:ln>
        </p:spPr>
      </p:sp>
      <p:sp>
        <p:nvSpPr>
          <p:cNvPr id="21" name="note10_tx"/>
          <p:cNvSpPr/>
          <p:nvPr/>
        </p:nvSpPr>
        <p:spPr>
          <a:xfrm>
            <a:off x="813816" y="4700016"/>
            <a:ext cx="367588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
</a:t>
            </a:r>
            <a:pPr indent="0" marL="0">
              <a:buNone/>
            </a:pPr>
            <a:r>
              <a:rPr lang="en-US" sz="16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empty form behind the message is the reset form, ready for the next complaint.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56599" y="2125980"/>
            <a:ext cx="1928652" cy="3685032"/>
          </a:xfrm>
          <a:prstGeom prst="roundRect">
            <a:avLst>
              <a:gd name="adj" fmla="val 3793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0" descr="C:/NogorShomadhan/User Manual/Phase 2/final submit/20-confirm-submis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891" y="2176272"/>
            <a:ext cx="1828068" cy="3584448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8816188" y="2125980"/>
            <a:ext cx="1928652" cy="3685032"/>
          </a:xfrm>
          <a:prstGeom prst="roundRect">
            <a:avLst>
              <a:gd name="adj" fmla="val 3793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5" name="Image 1" descr="C:/NogorShomadhan/User Manual/Phase 2/final submit/21-queue-for-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480" y="2176272"/>
            <a:ext cx="1828068" cy="3584448"/>
          </a:xfrm>
          <a:prstGeom prst="rect">
            <a:avLst/>
          </a:prstGeom>
        </p:spPr>
      </p:pic>
      <p:sp>
        <p:nvSpPr>
          <p:cNvPr id="26" name="h10_1"/>
          <p:cNvSpPr/>
          <p:nvPr/>
        </p:nvSpPr>
        <p:spPr>
          <a:xfrm>
            <a:off x="6390982" y="4721230"/>
            <a:ext cx="1656230" cy="279587"/>
          </a:xfrm>
          <a:prstGeom prst="roundRect">
            <a:avLst>
              <a:gd name="adj" fmla="val 19623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27" name="b10_1"/>
          <p:cNvSpPr/>
          <p:nvPr/>
        </p:nvSpPr>
        <p:spPr>
          <a:xfrm>
            <a:off x="6178853" y="4678144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8" name="b10_1_t"/>
          <p:cNvSpPr/>
          <p:nvPr/>
        </p:nvSpPr>
        <p:spPr>
          <a:xfrm>
            <a:off x="6178853" y="46781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29" name="h10_2"/>
          <p:cNvSpPr/>
          <p:nvPr/>
        </p:nvSpPr>
        <p:spPr>
          <a:xfrm>
            <a:off x="7239206" y="4190732"/>
            <a:ext cx="676385" cy="236574"/>
          </a:xfrm>
          <a:prstGeom prst="roundRect">
            <a:avLst>
              <a:gd name="adj" fmla="val 23191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0" name="b10_2"/>
          <p:cNvSpPr/>
          <p:nvPr/>
        </p:nvSpPr>
        <p:spPr>
          <a:xfrm>
            <a:off x="7403659" y="4344790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1" name="b10_2_t"/>
          <p:cNvSpPr/>
          <p:nvPr/>
        </p:nvSpPr>
        <p:spPr>
          <a:xfrm>
            <a:off x="7403659" y="434479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2" name="h10_3"/>
          <p:cNvSpPr/>
          <p:nvPr/>
        </p:nvSpPr>
        <p:spPr>
          <a:xfrm>
            <a:off x="9109613" y="3022202"/>
            <a:ext cx="1502672" cy="480316"/>
          </a:xfrm>
          <a:prstGeom prst="roundRect">
            <a:avLst>
              <a:gd name="adj" fmla="val 11422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3" name="b10_3"/>
          <p:cNvSpPr/>
          <p:nvPr/>
        </p:nvSpPr>
        <p:spPr>
          <a:xfrm>
            <a:off x="8873719" y="2839322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4" name="b10_3_t"/>
          <p:cNvSpPr/>
          <p:nvPr/>
        </p:nvSpPr>
        <p:spPr>
          <a:xfrm>
            <a:off x="8873719" y="283932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5" name="flow10_bg"/>
          <p:cNvSpPr/>
          <p:nvPr/>
        </p:nvSpPr>
        <p:spPr>
          <a:xfrm>
            <a:off x="411480" y="5870448"/>
            <a:ext cx="11368735" cy="566928"/>
          </a:xfrm>
          <a:prstGeom prst="roundRect">
            <a:avLst>
              <a:gd name="adj" fmla="val 16129"/>
            </a:avLst>
          </a:prstGeom>
          <a:solidFill>
            <a:srgbClr val="F2F8FD"/>
          </a:solidFill>
          <a:ln w="12700">
            <a:solidFill>
              <a:srgbClr val="CFE3F4"/>
            </a:solidFill>
            <a:prstDash val="solid"/>
          </a:ln>
        </p:spPr>
      </p:sp>
      <p:sp>
        <p:nvSpPr>
          <p:cNvPr id="36" name="flow10_p0"/>
          <p:cNvSpPr/>
          <p:nvPr/>
        </p:nvSpPr>
        <p:spPr>
          <a:xfrm>
            <a:off x="547268" y="5961888"/>
            <a:ext cx="1978762" cy="384048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37" name="flow10_p0_t"/>
          <p:cNvSpPr/>
          <p:nvPr/>
        </p:nvSpPr>
        <p:spPr>
          <a:xfrm>
            <a:off x="547268" y="5961888"/>
            <a:ext cx="197876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Details</a:t>
            </a:r>
            <a:endParaRPr lang="en-US" sz="1600" dirty="0"/>
          </a:p>
        </p:txBody>
      </p:sp>
      <p:sp>
        <p:nvSpPr>
          <p:cNvPr id="38" name="flow10_c0"/>
          <p:cNvSpPr/>
          <p:nvPr/>
        </p:nvSpPr>
        <p:spPr>
          <a:xfrm>
            <a:off x="2626614" y="6044184"/>
            <a:ext cx="274320" cy="219456"/>
          </a:xfrm>
          <a:prstGeom prst="chevron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39" name="flow10_p1"/>
          <p:cNvSpPr/>
          <p:nvPr/>
        </p:nvSpPr>
        <p:spPr>
          <a:xfrm>
            <a:off x="3001518" y="5961888"/>
            <a:ext cx="2915107" cy="384048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40" name="flow10_p1_t"/>
          <p:cNvSpPr/>
          <p:nvPr/>
        </p:nvSpPr>
        <p:spPr>
          <a:xfrm>
            <a:off x="3001518" y="5961888"/>
            <a:ext cx="29151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Optional Evidence</a:t>
            </a:r>
            <a:endParaRPr lang="en-US" sz="1600" dirty="0"/>
          </a:p>
        </p:txBody>
      </p:sp>
      <p:sp>
        <p:nvSpPr>
          <p:cNvPr id="41" name="flow10_c1"/>
          <p:cNvSpPr/>
          <p:nvPr/>
        </p:nvSpPr>
        <p:spPr>
          <a:xfrm>
            <a:off x="6017209" y="6044184"/>
            <a:ext cx="274320" cy="219456"/>
          </a:xfrm>
          <a:prstGeom prst="chevron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42" name="flow10_p2"/>
          <p:cNvSpPr/>
          <p:nvPr/>
        </p:nvSpPr>
        <p:spPr>
          <a:xfrm>
            <a:off x="6392113" y="5961888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43" name="flow10_p2_t"/>
          <p:cNvSpPr/>
          <p:nvPr/>
        </p:nvSpPr>
        <p:spPr>
          <a:xfrm>
            <a:off x="6392113" y="596188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Category</a:t>
            </a:r>
            <a:endParaRPr lang="en-US" sz="1600" dirty="0"/>
          </a:p>
        </p:txBody>
      </p:sp>
      <p:sp>
        <p:nvSpPr>
          <p:cNvPr id="44" name="flow10_c2"/>
          <p:cNvSpPr/>
          <p:nvPr/>
        </p:nvSpPr>
        <p:spPr>
          <a:xfrm>
            <a:off x="8705545" y="6044184"/>
            <a:ext cx="274320" cy="219456"/>
          </a:xfrm>
          <a:prstGeom prst="chevron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45" name="flow10_p3"/>
          <p:cNvSpPr/>
          <p:nvPr/>
        </p:nvSpPr>
        <p:spPr>
          <a:xfrm>
            <a:off x="9080449" y="5961888"/>
            <a:ext cx="2563978" cy="384048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46" name="flow10_p3_t"/>
          <p:cNvSpPr/>
          <p:nvPr/>
        </p:nvSpPr>
        <p:spPr>
          <a:xfrm>
            <a:off x="9080449" y="5961888"/>
            <a:ext cx="2563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Submission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8" name="Text 44">
            <a:hlinkClick r:id="rId3" tooltip="1. Problem Statement" action="ppaction://hlinksldjump"/>
          </p:cNvPr>
          <p:cNvSpPr/>
          <p:nvPr/>
        </p:nvSpPr>
        <p:spPr>
          <a:xfrm>
            <a:off x="8099755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5">
            <a:hlinkClick r:id="rId4" tooltip="2. Stakeholders and Responsibilities" action="ppaction://hlinksldjump"/>
          </p:cNvPr>
          <p:cNvSpPr/>
          <p:nvPr/>
        </p:nvSpPr>
        <p:spPr>
          <a:xfrm>
            <a:off x="8369503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6">
            <a:hlinkClick r:id="rId5" tooltip="3. Resident Account Registration" action="ppaction://hlinksldjump"/>
          </p:cNvPr>
          <p:cNvSpPr/>
          <p:nvPr/>
        </p:nvSpPr>
        <p:spPr>
          <a:xfrm>
            <a:off x="8639251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7">
            <a:hlinkClick r:id="rId6" tooltip="4. Registration Request Submitted" action="ppaction://hlinksldjump"/>
          </p:cNvPr>
          <p:cNvSpPr/>
          <p:nvPr/>
        </p:nvSpPr>
        <p:spPr>
          <a:xfrm>
            <a:off x="8908999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8">
            <a:hlinkClick r:id="rId7" tooltip="5. Admin Receives the Verification Request" action="ppaction://hlinksldjump"/>
          </p:cNvPr>
          <p:cNvSpPr/>
          <p:nvPr/>
        </p:nvSpPr>
        <p:spPr>
          <a:xfrm>
            <a:off x="9178747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9">
            <a:hlinkClick r:id="rId8" tooltip="6. Admin Reviews and Approves the Account" action="ppaction://hlinksldjump"/>
          </p:cNvPr>
          <p:cNvSpPr/>
          <p:nvPr/>
        </p:nvSpPr>
        <p:spPr>
          <a:xfrm>
            <a:off x="9448495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50">
            <a:hlinkClick r:id="rId9" tooltip="7. Account Verification Completed" action="ppaction://hlinksldjump"/>
          </p:cNvPr>
          <p:cNvSpPr/>
          <p:nvPr/>
        </p:nvSpPr>
        <p:spPr>
          <a:xfrm>
            <a:off x="9718243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1">
            <a:hlinkClick r:id="rId10" tooltip="8. Create a New Complaint" action="ppaction://hlinksldjump"/>
          </p:cNvPr>
          <p:cNvSpPr/>
          <p:nvPr/>
        </p:nvSpPr>
        <p:spPr>
          <a:xfrm>
            <a:off x="9987991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2">
            <a:hlinkClick r:id="rId11" tooltip="9. Add Evidence and Review the Category" action="ppaction://hlinksldjump"/>
          </p:cNvPr>
          <p:cNvSpPr/>
          <p:nvPr/>
        </p:nvSpPr>
        <p:spPr>
          <a:xfrm>
            <a:off x="10257739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3">
            <a:hlinkClick r:id="rId12" tooltip="10. Confirm the Complaint Submission" action="ppaction://hlinksldjump"/>
          </p:cNvPr>
          <p:cNvSpPr/>
          <p:nvPr/>
        </p:nvSpPr>
        <p:spPr>
          <a:xfrm>
            <a:off x="10527487" y="6528816"/>
            <a:ext cx="173736" cy="173736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4">
            <a:hlinkClick r:id="rId13" tooltip="11. Admin Opens the Review Queue" action="ppaction://hlinksldjump"/>
          </p:cNvPr>
          <p:cNvSpPr/>
          <p:nvPr/>
        </p:nvSpPr>
        <p:spPr>
          <a:xfrm>
            <a:off x="10797235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5">
            <a:hlinkClick r:id="rId14" tooltip="12. Complaint Check and Duplicate Comparison" action="ppaction://hlinksldjump"/>
          </p:cNvPr>
          <p:cNvSpPr/>
          <p:nvPr/>
        </p:nvSpPr>
        <p:spPr>
          <a:xfrm>
            <a:off x="11066983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6">
            <a:hlinkClick r:id="rId15" tooltip="13. Duplicate Review Outcomes" action="ppaction://hlinksldjump"/>
          </p:cNvPr>
          <p:cNvSpPr/>
          <p:nvPr/>
        </p:nvSpPr>
        <p:spPr>
          <a:xfrm>
            <a:off x="11336731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7">
            <a:hlinkClick r:id="rId16" tooltip="14. Pending Complaint Visibility" action="ppaction://hlinksldjump"/>
          </p:cNvPr>
          <p:cNvSpPr/>
          <p:nvPr/>
        </p:nvSpPr>
        <p:spPr>
          <a:xfrm>
            <a:off x="11606479" y="6528816"/>
            <a:ext cx="173736" cy="173736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8"/>
          <p:cNvSpPr/>
          <p:nvPr/>
        </p:nvSpPr>
        <p:spPr>
          <a:xfrm>
            <a:off x="7276795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4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B86A12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·  ADMIN COMPLAINT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Opens the Review Queue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F2DBBB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417320"/>
            <a:ext cx="3474720" cy="4910328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1" name="p11_1_c"/>
          <p:cNvSpPr/>
          <p:nvPr/>
        </p:nvSpPr>
        <p:spPr>
          <a:xfrm>
            <a:off x="667512" y="1746504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p11_1_t"/>
          <p:cNvSpPr/>
          <p:nvPr/>
        </p:nvSpPr>
        <p:spPr>
          <a:xfrm>
            <a:off x="1216152" y="1728216"/>
            <a:ext cx="2414016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— 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opens Review Complaints from Administrative Actions.</a:t>
            </a:r>
            <a:endParaRPr lang="en-US" sz="1800" dirty="0"/>
          </a:p>
        </p:txBody>
      </p:sp>
      <p:sp>
        <p:nvSpPr>
          <p:cNvPr id="13" name="p11_2_c"/>
          <p:cNvSpPr/>
          <p:nvPr/>
        </p:nvSpPr>
        <p:spPr>
          <a:xfrm>
            <a:off x="667512" y="3305556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p11_2_t"/>
          <p:cNvSpPr/>
          <p:nvPr/>
        </p:nvSpPr>
        <p:spPr>
          <a:xfrm>
            <a:off x="1216152" y="3287268"/>
            <a:ext cx="2414016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— 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complaints and possible duplicates are listed.</a:t>
            </a:r>
            <a:endParaRPr lang="en-US" sz="1800" dirty="0"/>
          </a:p>
        </p:txBody>
      </p:sp>
      <p:sp>
        <p:nvSpPr>
          <p:cNvPr id="15" name="p11_3_c"/>
          <p:cNvSpPr/>
          <p:nvPr/>
        </p:nvSpPr>
        <p:spPr>
          <a:xfrm>
            <a:off x="667512" y="4864608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p11_3_t"/>
          <p:cNvSpPr/>
          <p:nvPr/>
        </p:nvSpPr>
        <p:spPr>
          <a:xfrm>
            <a:off x="1216152" y="4846320"/>
            <a:ext cx="2414016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Queue — 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complaint appears with an Unverified status.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181524" y="1367028"/>
            <a:ext cx="2392240" cy="4626864"/>
          </a:xfrm>
          <a:prstGeom prst="roundRect">
            <a:avLst>
              <a:gd name="adj" fmla="val 3058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8" name="Image 0" descr="C:/NogorShomadhan/User Manual/Phase 3/review complaint/IMG_4442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1816" y="1417320"/>
            <a:ext cx="2291656" cy="452628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3911776" y="6053328"/>
            <a:ext cx="29317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747499" y="1367028"/>
            <a:ext cx="2468281" cy="4626864"/>
          </a:xfrm>
          <a:prstGeom prst="roundRect">
            <a:avLst>
              <a:gd name="adj" fmla="val 2964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1" descr="C:/NogorShomadhan/User Manual/Phase 3/review complaint/IMG_4441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7791" y="1417320"/>
            <a:ext cx="2367697" cy="45262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6477751" y="6053328"/>
            <a:ext cx="300777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notifications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9389516" y="1367028"/>
            <a:ext cx="2406271" cy="4626864"/>
          </a:xfrm>
          <a:prstGeom prst="roundRect">
            <a:avLst>
              <a:gd name="adj" fmla="val 3040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4" name="Image 2" descr="C:/NogorShomadhan/User Manual/Phase 3/review complaint/22-complaint-in-admin-revie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9808" y="1417320"/>
            <a:ext cx="2305687" cy="452628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9119768" y="6053328"/>
            <a:ext cx="294576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queue</a:t>
            </a:r>
            <a:endParaRPr lang="en-US" sz="1600" dirty="0"/>
          </a:p>
        </p:txBody>
      </p:sp>
      <p:sp>
        <p:nvSpPr>
          <p:cNvPr id="26" name="Shape 21"/>
          <p:cNvSpPr/>
          <p:nvPr/>
        </p:nvSpPr>
        <p:spPr>
          <a:xfrm>
            <a:off x="6550903" y="3506724"/>
            <a:ext cx="219456" cy="347472"/>
          </a:xfrm>
          <a:prstGeom prst="chevron">
            <a:avLst/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9192920" y="3506724"/>
            <a:ext cx="219456" cy="347472"/>
          </a:xfrm>
          <a:prstGeom prst="chevron">
            <a:avLst/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28" name="h11_1a"/>
          <p:cNvSpPr/>
          <p:nvPr/>
        </p:nvSpPr>
        <p:spPr>
          <a:xfrm>
            <a:off x="4314315" y="3336463"/>
            <a:ext cx="2126656" cy="488838"/>
          </a:xfrm>
          <a:prstGeom prst="roundRect">
            <a:avLst>
              <a:gd name="adj" fmla="val 11223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29" name="h11_1b"/>
          <p:cNvSpPr/>
          <p:nvPr/>
        </p:nvSpPr>
        <p:spPr>
          <a:xfrm>
            <a:off x="6042224" y="1462583"/>
            <a:ext cx="192499" cy="171999"/>
          </a:xfrm>
          <a:prstGeom prst="roundRect">
            <a:avLst>
              <a:gd name="adj" fmla="val 31898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0" name="b11_1"/>
          <p:cNvSpPr/>
          <p:nvPr/>
        </p:nvSpPr>
        <p:spPr>
          <a:xfrm>
            <a:off x="4117685" y="3153583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1" name="b11_1_t"/>
          <p:cNvSpPr/>
          <p:nvPr/>
        </p:nvSpPr>
        <p:spPr>
          <a:xfrm>
            <a:off x="4117685" y="315358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2" name="h11_2a"/>
          <p:cNvSpPr/>
          <p:nvPr/>
        </p:nvSpPr>
        <p:spPr>
          <a:xfrm>
            <a:off x="6887764" y="2883835"/>
            <a:ext cx="2201958" cy="534101"/>
          </a:xfrm>
          <a:prstGeom prst="roundRect">
            <a:avLst>
              <a:gd name="adj" fmla="val 10272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3" name="h11_2b"/>
          <p:cNvSpPr/>
          <p:nvPr/>
        </p:nvSpPr>
        <p:spPr>
          <a:xfrm>
            <a:off x="6887764" y="3408883"/>
            <a:ext cx="2201958" cy="452628"/>
          </a:xfrm>
          <a:prstGeom prst="roundRect">
            <a:avLst>
              <a:gd name="adj" fmla="val 12121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4" name="b11_2"/>
          <p:cNvSpPr/>
          <p:nvPr/>
        </p:nvSpPr>
        <p:spPr>
          <a:xfrm>
            <a:off x="6685942" y="2700955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5" name="b11_2_t"/>
          <p:cNvSpPr/>
          <p:nvPr/>
        </p:nvSpPr>
        <p:spPr>
          <a:xfrm>
            <a:off x="6685942" y="2700955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6" name="h11_3a"/>
          <p:cNvSpPr/>
          <p:nvPr/>
        </p:nvSpPr>
        <p:spPr>
          <a:xfrm>
            <a:off x="11026121" y="2920045"/>
            <a:ext cx="548754" cy="181051"/>
          </a:xfrm>
          <a:prstGeom prst="roundRect">
            <a:avLst>
              <a:gd name="adj" fmla="val 30303"/>
            </a:avLst>
          </a:prstGeom>
          <a:ln w="28575">
            <a:solidFill>
              <a:srgbClr val="B4480A"/>
            </a:solidFill>
            <a:prstDash val="solid"/>
          </a:ln>
        </p:spPr>
      </p:sp>
      <p:sp>
        <p:nvSpPr>
          <p:cNvPr id="37" name="h11_3b"/>
          <p:cNvSpPr/>
          <p:nvPr/>
        </p:nvSpPr>
        <p:spPr>
          <a:xfrm>
            <a:off x="9619652" y="4839188"/>
            <a:ext cx="645592" cy="226314"/>
          </a:xfrm>
          <a:prstGeom prst="roundRect">
            <a:avLst>
              <a:gd name="adj" fmla="val 24242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8" name="b11_3"/>
          <p:cNvSpPr/>
          <p:nvPr/>
        </p:nvSpPr>
        <p:spPr>
          <a:xfrm>
            <a:off x="10732568" y="2583271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9" name="b11_3_t"/>
          <p:cNvSpPr/>
          <p:nvPr/>
        </p:nvSpPr>
        <p:spPr>
          <a:xfrm>
            <a:off x="10732568" y="2583271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40" name="Text 35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1" name="Text 36">
            <a:hlinkClick r:id="rId4" tooltip="1. Problem Statement" action="ppaction://hlinksldjump"/>
          </p:cNvPr>
          <p:cNvSpPr/>
          <p:nvPr/>
        </p:nvSpPr>
        <p:spPr>
          <a:xfrm>
            <a:off x="8099755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5" tooltip="2. Stakeholders and Responsibilities" action="ppaction://hlinksldjump"/>
          </p:cNvPr>
          <p:cNvSpPr/>
          <p:nvPr/>
        </p:nvSpPr>
        <p:spPr>
          <a:xfrm>
            <a:off x="8369503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6" tooltip="3. Resident Account Registration" action="ppaction://hlinksldjump"/>
          </p:cNvPr>
          <p:cNvSpPr/>
          <p:nvPr/>
        </p:nvSpPr>
        <p:spPr>
          <a:xfrm>
            <a:off x="8639251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7" tooltip="4. Registration Request Submitted" action="ppaction://hlinksldjump"/>
          </p:cNvPr>
          <p:cNvSpPr/>
          <p:nvPr/>
        </p:nvSpPr>
        <p:spPr>
          <a:xfrm>
            <a:off x="8908999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8" tooltip="5. Admin Receives the Verification Request" action="ppaction://hlinksldjump"/>
          </p:cNvPr>
          <p:cNvSpPr/>
          <p:nvPr/>
        </p:nvSpPr>
        <p:spPr>
          <a:xfrm>
            <a:off x="9178747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9" tooltip="6. Admin Reviews and Approves the Account" action="ppaction://hlinksldjump"/>
          </p:cNvPr>
          <p:cNvSpPr/>
          <p:nvPr/>
        </p:nvSpPr>
        <p:spPr>
          <a:xfrm>
            <a:off x="9448495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0" tooltip="7. Account Verification Completed" action="ppaction://hlinksldjump"/>
          </p:cNvPr>
          <p:cNvSpPr/>
          <p:nvPr/>
        </p:nvSpPr>
        <p:spPr>
          <a:xfrm>
            <a:off x="9718243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1" tooltip="8. Create a New Complaint" action="ppaction://hlinksldjump"/>
          </p:cNvPr>
          <p:cNvSpPr/>
          <p:nvPr/>
        </p:nvSpPr>
        <p:spPr>
          <a:xfrm>
            <a:off x="9987991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2" tooltip="9. Add Evidence and Review the Category" action="ppaction://hlinksldjump"/>
          </p:cNvPr>
          <p:cNvSpPr/>
          <p:nvPr/>
        </p:nvSpPr>
        <p:spPr>
          <a:xfrm>
            <a:off x="10257739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3" tooltip="10. Confirm the Complaint Submission" action="ppaction://hlinksldjump"/>
          </p:cNvPr>
          <p:cNvSpPr/>
          <p:nvPr/>
        </p:nvSpPr>
        <p:spPr>
          <a:xfrm>
            <a:off x="10527487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4" tooltip="11. Admin Opens the Review Queue" action="ppaction://hlinksldjump"/>
          </p:cNvPr>
          <p:cNvSpPr/>
          <p:nvPr/>
        </p:nvSpPr>
        <p:spPr>
          <a:xfrm>
            <a:off x="10797235" y="6528816"/>
            <a:ext cx="173736" cy="173736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15" tooltip="12. Complaint Check and Duplicate Comparison" action="ppaction://hlinksldjump"/>
          </p:cNvPr>
          <p:cNvSpPr/>
          <p:nvPr/>
        </p:nvSpPr>
        <p:spPr>
          <a:xfrm>
            <a:off x="11066983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16" tooltip="13. Duplicate Review Outcomes" action="ppaction://hlinksldjump"/>
          </p:cNvPr>
          <p:cNvSpPr/>
          <p:nvPr/>
        </p:nvSpPr>
        <p:spPr>
          <a:xfrm>
            <a:off x="11336731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17" tooltip="14. Pending Complaint Visibility" action="ppaction://hlinksldjump"/>
          </p:cNvPr>
          <p:cNvSpPr/>
          <p:nvPr/>
        </p:nvSpPr>
        <p:spPr>
          <a:xfrm>
            <a:off x="11606479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/>
          <p:cNvSpPr/>
          <p:nvPr/>
        </p:nvSpPr>
        <p:spPr>
          <a:xfrm>
            <a:off x="7276795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4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B86A12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·  ADMIN COMPLAINT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Check and Duplicate Comparison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F2DBBB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417320"/>
            <a:ext cx="475488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1" name="p12_4_c"/>
          <p:cNvSpPr/>
          <p:nvPr/>
        </p:nvSpPr>
        <p:spPr>
          <a:xfrm>
            <a:off x="685800" y="1728216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2" name="p12_4_t"/>
          <p:cNvSpPr/>
          <p:nvPr/>
        </p:nvSpPr>
        <p:spPr>
          <a:xfrm>
            <a:off x="1234440" y="1709928"/>
            <a:ext cx="3657600" cy="7453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Information — 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category, location, submitted, evidence.</a:t>
            </a:r>
            <a:endParaRPr lang="en-US" sz="1800" dirty="0"/>
          </a:p>
        </p:txBody>
      </p:sp>
      <p:sp>
        <p:nvSpPr>
          <p:cNvPr id="13" name="p12_5_c"/>
          <p:cNvSpPr/>
          <p:nvPr/>
        </p:nvSpPr>
        <p:spPr>
          <a:xfrm>
            <a:off x="685800" y="2583249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4" name="p12_5_t"/>
          <p:cNvSpPr/>
          <p:nvPr/>
        </p:nvSpPr>
        <p:spPr>
          <a:xfrm>
            <a:off x="1234440" y="2564961"/>
            <a:ext cx="3657600" cy="7453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Duplicate Warning — 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score, reason, base complaint ID.</a:t>
            </a:r>
            <a:endParaRPr lang="en-US" sz="1800" dirty="0"/>
          </a:p>
        </p:txBody>
      </p:sp>
      <p:sp>
        <p:nvSpPr>
          <p:cNvPr id="15" name="p12_6_c"/>
          <p:cNvSpPr/>
          <p:nvPr/>
        </p:nvSpPr>
        <p:spPr>
          <a:xfrm>
            <a:off x="685800" y="3438282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16" name="p12_6_t"/>
          <p:cNvSpPr/>
          <p:nvPr/>
        </p:nvSpPr>
        <p:spPr>
          <a:xfrm>
            <a:off x="1234440" y="3419994"/>
            <a:ext cx="3657600" cy="51192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Decision — 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duplicate, or reject it.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68096" y="4137660"/>
            <a:ext cx="4041648" cy="2167431"/>
          </a:xfrm>
          <a:prstGeom prst="roundRect">
            <a:avLst>
              <a:gd name="adj" fmla="val 3375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8" name="Image 0" descr="C:\Users\ASUS\AppData\Local\Temp\claude\C--NogorShomadhan\6d8323a9-c937-42c6-8eb9-13e28f50f09f\scratchpad\deck\crops/25-deci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" y="4187952"/>
            <a:ext cx="3941064" cy="2066847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832854" y="1367028"/>
            <a:ext cx="2551820" cy="5010912"/>
          </a:xfrm>
          <a:prstGeom prst="roundRect">
            <a:avLst>
              <a:gd name="adj" fmla="val 2867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0" name="Image 1" descr="C:/NogorShomadhan/User Manual/Phase 3/review complaint/23-check-inf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146" y="1417320"/>
            <a:ext cx="2451236" cy="491032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8969890" y="1367028"/>
            <a:ext cx="2509591" cy="5010912"/>
          </a:xfrm>
          <a:prstGeom prst="roundRect">
            <a:avLst>
              <a:gd name="adj" fmla="val 2915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2" name="Image 2" descr="C:/NogorShomadhan/User Manual/Phase 3/review complaint/24-view-duplicacy-metric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0182" y="1417320"/>
            <a:ext cx="2409007" cy="4910328"/>
          </a:xfrm>
          <a:prstGeom prst="rect">
            <a:avLst/>
          </a:prstGeom>
        </p:spPr>
      </p:pic>
      <p:sp>
        <p:nvSpPr>
          <p:cNvPr id="23" name="arrow12"/>
          <p:cNvSpPr/>
          <p:nvPr/>
        </p:nvSpPr>
        <p:spPr>
          <a:xfrm>
            <a:off x="8425822" y="3634740"/>
            <a:ext cx="502920" cy="475488"/>
          </a:xfrm>
          <a:prstGeom prst="rightArrow">
            <a:avLst/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4" name="h12_4"/>
          <p:cNvSpPr/>
          <p:nvPr/>
        </p:nvSpPr>
        <p:spPr>
          <a:xfrm>
            <a:off x="5981196" y="2173511"/>
            <a:ext cx="2255137" cy="1404354"/>
          </a:xfrm>
          <a:prstGeom prst="roundRect">
            <a:avLst>
              <a:gd name="adj" fmla="val 3907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25" name="b12_4"/>
          <p:cNvSpPr/>
          <p:nvPr/>
        </p:nvSpPr>
        <p:spPr>
          <a:xfrm>
            <a:off x="5810572" y="2098658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6" name="b12_4_t"/>
          <p:cNvSpPr/>
          <p:nvPr/>
        </p:nvSpPr>
        <p:spPr>
          <a:xfrm>
            <a:off x="5810572" y="209865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7" name="h12_5a"/>
          <p:cNvSpPr/>
          <p:nvPr/>
        </p:nvSpPr>
        <p:spPr>
          <a:xfrm>
            <a:off x="5981196" y="3607326"/>
            <a:ext cx="2255137" cy="2347137"/>
          </a:xfrm>
          <a:prstGeom prst="roundRect">
            <a:avLst>
              <a:gd name="adj" fmla="val 2433"/>
            </a:avLst>
          </a:prstGeom>
          <a:ln w="28575">
            <a:solidFill>
              <a:srgbClr val="B4480A"/>
            </a:solidFill>
            <a:prstDash val="solid"/>
          </a:ln>
        </p:spPr>
      </p:sp>
      <p:sp>
        <p:nvSpPr>
          <p:cNvPr id="28" name="h12_5b"/>
          <p:cNvSpPr/>
          <p:nvPr/>
        </p:nvSpPr>
        <p:spPr>
          <a:xfrm>
            <a:off x="6821970" y="4186745"/>
            <a:ext cx="416710" cy="147310"/>
          </a:xfrm>
          <a:prstGeom prst="roundRect">
            <a:avLst>
              <a:gd name="adj" fmla="val 37244"/>
            </a:avLst>
          </a:prstGeom>
          <a:ln w="28575">
            <a:solidFill>
              <a:srgbClr val="B4480A"/>
            </a:solidFill>
            <a:prstDash val="solid"/>
          </a:ln>
        </p:spPr>
      </p:sp>
      <p:sp>
        <p:nvSpPr>
          <p:cNvPr id="29" name="h12_5c"/>
          <p:cNvSpPr/>
          <p:nvPr/>
        </p:nvSpPr>
        <p:spPr>
          <a:xfrm>
            <a:off x="6569492" y="5738409"/>
            <a:ext cx="1093251" cy="157130"/>
          </a:xfrm>
          <a:prstGeom prst="roundRect">
            <a:avLst>
              <a:gd name="adj" fmla="val 34916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0" name="b12_5"/>
          <p:cNvSpPr/>
          <p:nvPr/>
        </p:nvSpPr>
        <p:spPr>
          <a:xfrm>
            <a:off x="5810572" y="3532474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1" name="b12_5_t"/>
          <p:cNvSpPr/>
          <p:nvPr/>
        </p:nvSpPr>
        <p:spPr>
          <a:xfrm>
            <a:off x="5810572" y="353247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32" name="h12_6a"/>
          <p:cNvSpPr/>
          <p:nvPr/>
        </p:nvSpPr>
        <p:spPr>
          <a:xfrm>
            <a:off x="10812483" y="1898532"/>
            <a:ext cx="529982" cy="363364"/>
          </a:xfrm>
          <a:prstGeom prst="roundRect">
            <a:avLst>
              <a:gd name="adj" fmla="val 15099"/>
            </a:avLst>
          </a:prstGeom>
          <a:ln w="28575">
            <a:solidFill>
              <a:srgbClr val="18835C"/>
            </a:solidFill>
            <a:prstDash val="solid"/>
          </a:ln>
        </p:spPr>
      </p:sp>
      <p:sp>
        <p:nvSpPr>
          <p:cNvPr id="33" name="h12_6b"/>
          <p:cNvSpPr/>
          <p:nvPr/>
        </p:nvSpPr>
        <p:spPr>
          <a:xfrm>
            <a:off x="9130996" y="3951049"/>
            <a:ext cx="1079235" cy="2327495"/>
          </a:xfrm>
          <a:prstGeom prst="roundRect">
            <a:avLst>
              <a:gd name="adj" fmla="val 5084"/>
            </a:avLst>
          </a:prstGeom>
          <a:ln w="28575">
            <a:solidFill>
              <a:srgbClr val="B4480A"/>
            </a:solidFill>
            <a:prstDash val="solid"/>
          </a:ln>
        </p:spPr>
      </p:sp>
      <p:sp>
        <p:nvSpPr>
          <p:cNvPr id="34" name="h12_6c"/>
          <p:cNvSpPr/>
          <p:nvPr/>
        </p:nvSpPr>
        <p:spPr>
          <a:xfrm>
            <a:off x="10248776" y="3951049"/>
            <a:ext cx="1084053" cy="2327495"/>
          </a:xfrm>
          <a:prstGeom prst="roundRect">
            <a:avLst>
              <a:gd name="adj" fmla="val 5061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5" name="h12_6d"/>
          <p:cNvSpPr/>
          <p:nvPr/>
        </p:nvSpPr>
        <p:spPr>
          <a:xfrm>
            <a:off x="1023323" y="5500400"/>
            <a:ext cx="3594250" cy="516712"/>
          </a:xfrm>
          <a:prstGeom prst="roundRect">
            <a:avLst>
              <a:gd name="adj" fmla="val 10618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6" name="b12_6"/>
          <p:cNvSpPr/>
          <p:nvPr/>
        </p:nvSpPr>
        <p:spPr>
          <a:xfrm>
            <a:off x="761622" y="4315099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7" name="b12_6_t"/>
          <p:cNvSpPr/>
          <p:nvPr/>
        </p:nvSpPr>
        <p:spPr>
          <a:xfrm>
            <a:off x="761622" y="4315099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38" name="Text 33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9" name="Text 34">
            <a:hlinkClick r:id="rId4" tooltip="1. Problem Statement" action="ppaction://hlinksldjump"/>
          </p:cNvPr>
          <p:cNvSpPr/>
          <p:nvPr/>
        </p:nvSpPr>
        <p:spPr>
          <a:xfrm>
            <a:off x="8099755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5" tooltip="2. Stakeholders and Responsibilities" action="ppaction://hlinksldjump"/>
          </p:cNvPr>
          <p:cNvSpPr/>
          <p:nvPr/>
        </p:nvSpPr>
        <p:spPr>
          <a:xfrm>
            <a:off x="8369503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6" tooltip="3. Resident Account Registration" action="ppaction://hlinksldjump"/>
          </p:cNvPr>
          <p:cNvSpPr/>
          <p:nvPr/>
        </p:nvSpPr>
        <p:spPr>
          <a:xfrm>
            <a:off x="8639251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7" tooltip="4. Registration Request Submitted" action="ppaction://hlinksldjump"/>
          </p:cNvPr>
          <p:cNvSpPr/>
          <p:nvPr/>
        </p:nvSpPr>
        <p:spPr>
          <a:xfrm>
            <a:off x="8908999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8" tooltip="5. Admin Receives the Verification Request" action="ppaction://hlinksldjump"/>
          </p:cNvPr>
          <p:cNvSpPr/>
          <p:nvPr/>
        </p:nvSpPr>
        <p:spPr>
          <a:xfrm>
            <a:off x="9178747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9" tooltip="6. Admin Reviews and Approves the Account" action="ppaction://hlinksldjump"/>
          </p:cNvPr>
          <p:cNvSpPr/>
          <p:nvPr/>
        </p:nvSpPr>
        <p:spPr>
          <a:xfrm>
            <a:off x="9448495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0" tooltip="7. Account Verification Completed" action="ppaction://hlinksldjump"/>
          </p:cNvPr>
          <p:cNvSpPr/>
          <p:nvPr/>
        </p:nvSpPr>
        <p:spPr>
          <a:xfrm>
            <a:off x="9718243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1" tooltip="8. Create a New Complaint" action="ppaction://hlinksldjump"/>
          </p:cNvPr>
          <p:cNvSpPr/>
          <p:nvPr/>
        </p:nvSpPr>
        <p:spPr>
          <a:xfrm>
            <a:off x="9987991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2" tooltip="9. Add Evidence and Review the Category" action="ppaction://hlinksldjump"/>
          </p:cNvPr>
          <p:cNvSpPr/>
          <p:nvPr/>
        </p:nvSpPr>
        <p:spPr>
          <a:xfrm>
            <a:off x="10257739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3" tooltip="10. Confirm the Complaint Submission" action="ppaction://hlinksldjump"/>
          </p:cNvPr>
          <p:cNvSpPr/>
          <p:nvPr/>
        </p:nvSpPr>
        <p:spPr>
          <a:xfrm>
            <a:off x="10527487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4" tooltip="11. Admin Opens the Review Queue" action="ppaction://hlinksldjump"/>
          </p:cNvPr>
          <p:cNvSpPr/>
          <p:nvPr/>
        </p:nvSpPr>
        <p:spPr>
          <a:xfrm>
            <a:off x="10797235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5" tooltip="12. Complaint Check and Duplicate Comparison" action="ppaction://hlinksldjump"/>
          </p:cNvPr>
          <p:cNvSpPr/>
          <p:nvPr/>
        </p:nvSpPr>
        <p:spPr>
          <a:xfrm>
            <a:off x="11066983" y="6528816"/>
            <a:ext cx="173736" cy="173736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6" tooltip="13. Duplicate Review Outcomes" action="ppaction://hlinksldjump"/>
          </p:cNvPr>
          <p:cNvSpPr/>
          <p:nvPr/>
        </p:nvSpPr>
        <p:spPr>
          <a:xfrm>
            <a:off x="11336731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17" tooltip="14. Pending Complaint Visibility" action="ppaction://hlinksldjump"/>
          </p:cNvPr>
          <p:cNvSpPr/>
          <p:nvPr/>
        </p:nvSpPr>
        <p:spPr>
          <a:xfrm>
            <a:off x="11606479" y="6528816"/>
            <a:ext cx="173736" cy="173736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/>
          <p:cNvSpPr/>
          <p:nvPr/>
        </p:nvSpPr>
        <p:spPr>
          <a:xfrm>
            <a:off x="7276795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·  ADMIN COMPLAINT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Review Outcomes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28302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728302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2" name="Shape 10"/>
          <p:cNvSpPr/>
          <p:nvPr/>
        </p:nvSpPr>
        <p:spPr>
          <a:xfrm>
            <a:off x="411480" y="1389888"/>
            <a:ext cx="5500116" cy="4901184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2700">
            <a:solidFill>
              <a:srgbClr val="EFD6BC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11480" y="1389888"/>
            <a:ext cx="5500116" cy="54864"/>
          </a:xfrm>
          <a:prstGeom prst="rect">
            <a:avLst/>
          </a:prstGeom>
          <a:solidFill>
            <a:srgbClr val="B4480A"/>
          </a:solidFill>
          <a:ln/>
        </p:spPr>
      </p:sp>
      <p:sp>
        <p:nvSpPr>
          <p:cNvPr id="14" name="Shape 12"/>
          <p:cNvSpPr/>
          <p:nvPr/>
        </p:nvSpPr>
        <p:spPr>
          <a:xfrm>
            <a:off x="667512" y="1517904"/>
            <a:ext cx="2507285" cy="347472"/>
          </a:xfrm>
          <a:prstGeom prst="roundRect">
            <a:avLst>
              <a:gd name="adj" fmla="val 50000"/>
            </a:avLst>
          </a:prstGeom>
          <a:solidFill>
            <a:srgbClr val="B4480A"/>
          </a:solidFill>
          <a:ln w="12700">
            <a:solidFill>
              <a:srgbClr val="B4480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" y="1517904"/>
            <a:ext cx="250728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CONFIRMED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7512" y="1901952"/>
            <a:ext cx="49880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30" kern="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DECISION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054350" y="2107692"/>
            <a:ext cx="2214375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2700">
            <a:solidFill>
              <a:srgbClr val="EFD6BC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8" name="Image 0" descr="C:\Users\ASUS\AppData\Local\Temp\claude\C--NogorShomadhan\6d8323a9-c937-42c6-8eb9-13e28f50f09f\scratchpad\deck\crops/26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4642" y="2157984"/>
            <a:ext cx="2113791" cy="1417320"/>
          </a:xfrm>
          <a:prstGeom prst="rect">
            <a:avLst/>
          </a:prstGeom>
        </p:spPr>
      </p:pic>
      <p:sp>
        <p:nvSpPr>
          <p:cNvPr id="19" name="l13a_cap"/>
          <p:cNvSpPr/>
          <p:nvPr/>
        </p:nvSpPr>
        <p:spPr>
          <a:xfrm>
            <a:off x="667512" y="3630168"/>
            <a:ext cx="49880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confirms the match. The submitted copy is deleted and linked to the base complaint.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67512" y="4297680"/>
            <a:ext cx="49880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3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OUTCOME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1731862" y="4503420"/>
            <a:ext cx="285935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EFD6BC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2" name="Image 1" descr="C:\Users\ASUS\AppData\Local\Temp\claude\C--NogorShomadhan\6d8323a9-c937-42c6-8eb9-13e28f50f09f\scratchpad\deck\crops/27-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154" y="4553712"/>
            <a:ext cx="2758768" cy="1051560"/>
          </a:xfrm>
          <a:prstGeom prst="rect">
            <a:avLst/>
          </a:prstGeom>
        </p:spPr>
      </p:pic>
      <p:sp>
        <p:nvSpPr>
          <p:cNvPr id="23" name="l13b_cap"/>
          <p:cNvSpPr/>
          <p:nvPr/>
        </p:nvSpPr>
        <p:spPr>
          <a:xfrm>
            <a:off x="667512" y="5660136"/>
            <a:ext cx="49880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is notified with both complaint IDs and follows the base complaint.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6277356" y="1389888"/>
            <a:ext cx="5500116" cy="4901184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2700">
            <a:solidFill>
              <a:srgbClr val="C2E0D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277356" y="1389888"/>
            <a:ext cx="5500116" cy="54864"/>
          </a:xfrm>
          <a:prstGeom prst="rect">
            <a:avLst/>
          </a:prstGeom>
          <a:solidFill>
            <a:srgbClr val="18835C"/>
          </a:solidFill>
          <a:ln/>
        </p:spPr>
      </p:sp>
      <p:sp>
        <p:nvSpPr>
          <p:cNvPr id="26" name="Shape 22"/>
          <p:cNvSpPr/>
          <p:nvPr/>
        </p:nvSpPr>
        <p:spPr>
          <a:xfrm>
            <a:off x="6533388" y="1517904"/>
            <a:ext cx="2075688" cy="347472"/>
          </a:xfrm>
          <a:prstGeom prst="roundRect">
            <a:avLst>
              <a:gd name="adj" fmla="val 50000"/>
            </a:avLst>
          </a:prstGeom>
          <a:solidFill>
            <a:srgbClr val="18835C"/>
          </a:solidFill>
          <a:ln w="12700">
            <a:solidFill>
              <a:srgbClr val="18835C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533388" y="1517904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DUPLICATE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6533388" y="1901952"/>
            <a:ext cx="49880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30" kern="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DECISION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7802093" y="2107692"/>
            <a:ext cx="2450642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2700">
            <a:solidFill>
              <a:srgbClr val="C2E0D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30" name="Image 2" descr="C:\Users\ASUS\AppData\Local\Temp\claude\C--NogorShomadhan\6d8323a9-c937-42c6-8eb9-13e28f50f09f\scratchpad\deck\crops/28-cr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2385" y="2157984"/>
            <a:ext cx="2350058" cy="1417320"/>
          </a:xfrm>
          <a:prstGeom prst="rect">
            <a:avLst/>
          </a:prstGeom>
        </p:spPr>
      </p:pic>
      <p:sp>
        <p:nvSpPr>
          <p:cNvPr id="31" name="r13a_cap"/>
          <p:cNvSpPr/>
          <p:nvPr/>
        </p:nvSpPr>
        <p:spPr>
          <a:xfrm>
            <a:off x="6533388" y="3630168"/>
            <a:ext cx="49880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rejects the duplicate suggestion, not the complaint. It is kept and set to Pending.</a:t>
            </a:r>
            <a:endParaRPr lang="en-US" sz="1800" dirty="0"/>
          </a:p>
        </p:txBody>
      </p:sp>
      <p:sp>
        <p:nvSpPr>
          <p:cNvPr id="32" name="Text 27"/>
          <p:cNvSpPr/>
          <p:nvPr/>
        </p:nvSpPr>
        <p:spPr>
          <a:xfrm>
            <a:off x="6533388" y="4297680"/>
            <a:ext cx="49880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3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OUTCOME</a:t>
            </a:r>
            <a:endParaRPr lang="en-US" sz="1300" dirty="0"/>
          </a:p>
        </p:txBody>
      </p:sp>
      <p:sp>
        <p:nvSpPr>
          <p:cNvPr id="33" name="Shape 28"/>
          <p:cNvSpPr/>
          <p:nvPr/>
        </p:nvSpPr>
        <p:spPr>
          <a:xfrm>
            <a:off x="7191100" y="4503420"/>
            <a:ext cx="3672628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C2E0D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34" name="Image 3" descr="C:\Users\ASUS\AppData\Local\Temp\claude\C--NogorShomadhan\6d8323a9-c937-42c6-8eb9-13e28f50f09f\scratchpad\deck\crops/29-cro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1392" y="4553712"/>
            <a:ext cx="3572044" cy="1051560"/>
          </a:xfrm>
          <a:prstGeom prst="rect">
            <a:avLst/>
          </a:prstGeom>
        </p:spPr>
      </p:pic>
      <p:sp>
        <p:nvSpPr>
          <p:cNvPr id="35" name="r13b_cap"/>
          <p:cNvSpPr/>
          <p:nvPr/>
        </p:nvSpPr>
        <p:spPr>
          <a:xfrm>
            <a:off x="6533388" y="5660136"/>
            <a:ext cx="49880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is notified that the complaint was accepted and tracks it as Pending.</a:t>
            </a:r>
            <a:endParaRPr lang="en-US" sz="1800" dirty="0"/>
          </a:p>
        </p:txBody>
      </p:sp>
      <p:sp>
        <p:nvSpPr>
          <p:cNvPr id="36" name="Text 30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7" name="Text 31">
            <a:hlinkClick r:id="rId5" tooltip="1. Problem Statement" action="ppaction://hlinksldjump"/>
          </p:cNvPr>
          <p:cNvSpPr/>
          <p:nvPr/>
        </p:nvSpPr>
        <p:spPr>
          <a:xfrm>
            <a:off x="8099755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2">
            <a:hlinkClick r:id="rId6" tooltip="2. Stakeholders and Responsibilities" action="ppaction://hlinksldjump"/>
          </p:cNvPr>
          <p:cNvSpPr/>
          <p:nvPr/>
        </p:nvSpPr>
        <p:spPr>
          <a:xfrm>
            <a:off x="8369503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3">
            <a:hlinkClick r:id="rId7" tooltip="3. Resident Account Registration" action="ppaction://hlinksldjump"/>
          </p:cNvPr>
          <p:cNvSpPr/>
          <p:nvPr/>
        </p:nvSpPr>
        <p:spPr>
          <a:xfrm>
            <a:off x="8639251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4">
            <a:hlinkClick r:id="rId8" tooltip="4. Registration Request Submitted" action="ppaction://hlinksldjump"/>
          </p:cNvPr>
          <p:cNvSpPr/>
          <p:nvPr/>
        </p:nvSpPr>
        <p:spPr>
          <a:xfrm>
            <a:off x="8908999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5">
            <a:hlinkClick r:id="rId9" tooltip="5. Admin Receives the Verification Request" action="ppaction://hlinksldjump"/>
          </p:cNvPr>
          <p:cNvSpPr/>
          <p:nvPr/>
        </p:nvSpPr>
        <p:spPr>
          <a:xfrm>
            <a:off x="9178747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6">
            <a:hlinkClick r:id="rId10" tooltip="6. Admin Reviews and Approves the Account" action="ppaction://hlinksldjump"/>
          </p:cNvPr>
          <p:cNvSpPr/>
          <p:nvPr/>
        </p:nvSpPr>
        <p:spPr>
          <a:xfrm>
            <a:off x="9448495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7">
            <a:hlinkClick r:id="rId11" tooltip="7. Account Verification Completed" action="ppaction://hlinksldjump"/>
          </p:cNvPr>
          <p:cNvSpPr/>
          <p:nvPr/>
        </p:nvSpPr>
        <p:spPr>
          <a:xfrm>
            <a:off x="9718243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8">
            <a:hlinkClick r:id="rId12" tooltip="8. Create a New Complaint" action="ppaction://hlinksldjump"/>
          </p:cNvPr>
          <p:cNvSpPr/>
          <p:nvPr/>
        </p:nvSpPr>
        <p:spPr>
          <a:xfrm>
            <a:off x="9987991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39">
            <a:hlinkClick r:id="rId13" tooltip="9. Add Evidence and Review the Category" action="ppaction://hlinksldjump"/>
          </p:cNvPr>
          <p:cNvSpPr/>
          <p:nvPr/>
        </p:nvSpPr>
        <p:spPr>
          <a:xfrm>
            <a:off x="10257739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0">
            <a:hlinkClick r:id="rId14" tooltip="10. Confirm the Complaint Submission" action="ppaction://hlinksldjump"/>
          </p:cNvPr>
          <p:cNvSpPr/>
          <p:nvPr/>
        </p:nvSpPr>
        <p:spPr>
          <a:xfrm>
            <a:off x="10527487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1">
            <a:hlinkClick r:id="rId15" tooltip="11. Admin Opens the Review Queue" action="ppaction://hlinksldjump"/>
          </p:cNvPr>
          <p:cNvSpPr/>
          <p:nvPr/>
        </p:nvSpPr>
        <p:spPr>
          <a:xfrm>
            <a:off x="10797235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2">
            <a:hlinkClick r:id="rId16" tooltip="12. Complaint Check and Duplicate Comparison" action="ppaction://hlinksldjump"/>
          </p:cNvPr>
          <p:cNvSpPr/>
          <p:nvPr/>
        </p:nvSpPr>
        <p:spPr>
          <a:xfrm>
            <a:off x="11066983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3">
            <a:hlinkClick r:id="rId17" tooltip="13. Duplicate Review Outcomes" action="ppaction://hlinksldjump"/>
          </p:cNvPr>
          <p:cNvSpPr/>
          <p:nvPr/>
        </p:nvSpPr>
        <p:spPr>
          <a:xfrm>
            <a:off x="11336731" y="6528816"/>
            <a:ext cx="173736" cy="173736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4">
            <a:hlinkClick r:id="rId18" tooltip="14. Pending Complaint Visibility" action="ppaction://hlinksldjump"/>
          </p:cNvPr>
          <p:cNvSpPr/>
          <p:nvPr/>
        </p:nvSpPr>
        <p:spPr>
          <a:xfrm>
            <a:off x="11606479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5"/>
          <p:cNvSpPr/>
          <p:nvPr/>
        </p:nvSpPr>
        <p:spPr>
          <a:xfrm>
            <a:off x="7276795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·  ADMIN COMPLAINT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Complaint Visibility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9987991" y="475488"/>
            <a:ext cx="1792224" cy="420624"/>
          </a:xfrm>
          <a:prstGeom prst="roundRect">
            <a:avLst>
              <a:gd name="adj" fmla="val 50000"/>
            </a:avLst>
          </a:prstGeom>
          <a:solidFill>
            <a:srgbClr val="18835C"/>
          </a:solidFill>
          <a:ln w="12700">
            <a:solidFill>
              <a:srgbClr val="18835C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987991" y="475488"/>
            <a:ext cx="17922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duplicate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0" name="Shape 8"/>
          <p:cNvSpPr/>
          <p:nvPr/>
        </p:nvSpPr>
        <p:spPr>
          <a:xfrm>
            <a:off x="1731279" y="1463040"/>
            <a:ext cx="996696" cy="347472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31279" y="1463040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376329" y="1815084"/>
            <a:ext cx="1706596" cy="3282696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3" name="Image 0" descr="C:/NogorShomadhan/User Manual/Phase 3/post duplicate actions/30-added-in-all-compla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6621" y="1865376"/>
            <a:ext cx="1606012" cy="3182112"/>
          </a:xfrm>
          <a:prstGeom prst="rect">
            <a:avLst/>
          </a:prstGeom>
        </p:spPr>
      </p:pic>
      <p:sp>
        <p:nvSpPr>
          <p:cNvPr id="14" name="c14_a"/>
          <p:cNvSpPr/>
          <p:nvPr/>
        </p:nvSpPr>
        <p:spPr>
          <a:xfrm>
            <a:off x="502920" y="5120640"/>
            <a:ext cx="345341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Appears in All Complaints with Pending status.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932319" y="1463040"/>
            <a:ext cx="2507285" cy="347472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932319" y="1463040"/>
            <a:ext cx="250728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AUTHORITY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325186" y="1815084"/>
            <a:ext cx="1721552" cy="3282696"/>
          </a:xfrm>
          <a:prstGeom prst="roundRect">
            <a:avLst>
              <a:gd name="adj" fmla="val 4249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8" name="Image 1" descr="C:/NogorShomadhan/User Manual/Phase 3/post duplicate actions/31-available-in-author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478" y="1865376"/>
            <a:ext cx="1620968" cy="3182112"/>
          </a:xfrm>
          <a:prstGeom prst="rect">
            <a:avLst/>
          </a:prstGeom>
        </p:spPr>
      </p:pic>
      <p:sp>
        <p:nvSpPr>
          <p:cNvPr id="19" name="c14_b"/>
          <p:cNvSpPr/>
          <p:nvPr/>
        </p:nvSpPr>
        <p:spPr>
          <a:xfrm>
            <a:off x="4459254" y="5120640"/>
            <a:ext cx="345341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to the assigned authority for mitigation.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9482099" y="1463040"/>
            <a:ext cx="1320394" cy="347472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9482099" y="1463040"/>
            <a:ext cx="13203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8904917" y="1815084"/>
            <a:ext cx="2474758" cy="3282696"/>
          </a:xfrm>
          <a:prstGeom prst="roundRect">
            <a:avLst>
              <a:gd name="adj" fmla="val 295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2" descr="C:/NogorShomadhan/User Manual/Phase 3/post duplicate actions/32-available-in-resid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5209" y="1865376"/>
            <a:ext cx="2374174" cy="3182112"/>
          </a:xfrm>
          <a:prstGeom prst="rect">
            <a:avLst/>
          </a:prstGeom>
        </p:spPr>
      </p:pic>
      <p:sp>
        <p:nvSpPr>
          <p:cNvPr id="24" name="c14_c"/>
          <p:cNvSpPr/>
          <p:nvPr/>
        </p:nvSpPr>
        <p:spPr>
          <a:xfrm>
            <a:off x="8415589" y="5120640"/>
            <a:ext cx="345341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in My Complaints with status and progress.</a:t>
            </a:r>
            <a:endParaRPr lang="en-US" sz="1800" dirty="0"/>
          </a:p>
        </p:txBody>
      </p:sp>
      <p:sp>
        <p:nvSpPr>
          <p:cNvPr id="25" name="Shape 20"/>
          <p:cNvSpPr/>
          <p:nvPr/>
        </p:nvSpPr>
        <p:spPr>
          <a:xfrm>
            <a:off x="1908425" y="4161270"/>
            <a:ext cx="305142" cy="66824"/>
          </a:xfrm>
          <a:prstGeom prst="roundRect">
            <a:avLst>
              <a:gd name="adj" fmla="val 684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1796004" y="4361743"/>
            <a:ext cx="340475" cy="66824"/>
          </a:xfrm>
          <a:prstGeom prst="roundRect">
            <a:avLst>
              <a:gd name="adj" fmla="val 684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1747824" y="4559034"/>
            <a:ext cx="369383" cy="66824"/>
          </a:xfrm>
          <a:prstGeom prst="roundRect">
            <a:avLst>
              <a:gd name="adj" fmla="val 684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1792792" y="4759507"/>
            <a:ext cx="224842" cy="66824"/>
          </a:xfrm>
          <a:prstGeom prst="roundRect">
            <a:avLst>
              <a:gd name="adj" fmla="val 684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9" name="h14_a"/>
          <p:cNvSpPr/>
          <p:nvPr/>
        </p:nvSpPr>
        <p:spPr>
          <a:xfrm>
            <a:off x="1558314" y="2412699"/>
            <a:ext cx="411139" cy="133649"/>
          </a:xfrm>
          <a:prstGeom prst="roundRect">
            <a:avLst>
              <a:gd name="adj" fmla="val 41051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0" name="h14_b"/>
          <p:cNvSpPr/>
          <p:nvPr/>
        </p:nvSpPr>
        <p:spPr>
          <a:xfrm>
            <a:off x="5505155" y="2279051"/>
            <a:ext cx="376065" cy="127284"/>
          </a:xfrm>
          <a:prstGeom prst="roundRect">
            <a:avLst>
              <a:gd name="adj" fmla="val 43104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1" name="h14_c"/>
          <p:cNvSpPr/>
          <p:nvPr/>
        </p:nvSpPr>
        <p:spPr>
          <a:xfrm>
            <a:off x="10735840" y="3825557"/>
            <a:ext cx="389364" cy="133649"/>
          </a:xfrm>
          <a:prstGeom prst="roundRect">
            <a:avLst>
              <a:gd name="adj" fmla="val 41051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2" name="out14_bg"/>
          <p:cNvSpPr/>
          <p:nvPr/>
        </p:nvSpPr>
        <p:spPr>
          <a:xfrm>
            <a:off x="411480" y="5760720"/>
            <a:ext cx="11368735" cy="694944"/>
          </a:xfrm>
          <a:prstGeom prst="roundRect">
            <a:avLst>
              <a:gd name="adj" fmla="val 13158"/>
            </a:avLst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3" name="out14_tx"/>
          <p:cNvSpPr/>
          <p:nvPr/>
        </p:nvSpPr>
        <p:spPr>
          <a:xfrm>
            <a:off x="685800" y="5760720"/>
            <a:ext cx="10820095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complaint that is not a duplicate continues as a separate Pending complaint and becomes visible to every relevant role.</a:t>
            </a:r>
            <a:endParaRPr lang="en-US" sz="1850" dirty="0"/>
          </a:p>
        </p:txBody>
      </p:sp>
      <p:sp>
        <p:nvSpPr>
          <p:cNvPr id="34" name="Text 29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5" name="Text 30">
            <a:hlinkClick r:id="rId4" tooltip="1. Problem Statement" action="ppaction://hlinksldjump"/>
          </p:cNvPr>
          <p:cNvSpPr/>
          <p:nvPr/>
        </p:nvSpPr>
        <p:spPr>
          <a:xfrm>
            <a:off x="8099755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6" name="Text 31">
            <a:hlinkClick r:id="rId5" tooltip="2. Stakeholders and Responsibilities" action="ppaction://hlinksldjump"/>
          </p:cNvPr>
          <p:cNvSpPr/>
          <p:nvPr/>
        </p:nvSpPr>
        <p:spPr>
          <a:xfrm>
            <a:off x="8369503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7" name="Text 32">
            <a:hlinkClick r:id="rId6" tooltip="3. Resident Account Registration" action="ppaction://hlinksldjump"/>
          </p:cNvPr>
          <p:cNvSpPr/>
          <p:nvPr/>
        </p:nvSpPr>
        <p:spPr>
          <a:xfrm>
            <a:off x="8639251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3">
            <a:hlinkClick r:id="rId7" tooltip="4. Registration Request Submitted" action="ppaction://hlinksldjump"/>
          </p:cNvPr>
          <p:cNvSpPr/>
          <p:nvPr/>
        </p:nvSpPr>
        <p:spPr>
          <a:xfrm>
            <a:off x="8908999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4">
            <a:hlinkClick r:id="rId8" tooltip="5. Admin Receives the Verification Request" action="ppaction://hlinksldjump"/>
          </p:cNvPr>
          <p:cNvSpPr/>
          <p:nvPr/>
        </p:nvSpPr>
        <p:spPr>
          <a:xfrm>
            <a:off x="9178747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9" tooltip="6. Admin Reviews and Approves the Account" action="ppaction://hlinksldjump"/>
          </p:cNvPr>
          <p:cNvSpPr/>
          <p:nvPr/>
        </p:nvSpPr>
        <p:spPr>
          <a:xfrm>
            <a:off x="9448495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10" tooltip="7. Account Verification Completed" action="ppaction://hlinksldjump"/>
          </p:cNvPr>
          <p:cNvSpPr/>
          <p:nvPr/>
        </p:nvSpPr>
        <p:spPr>
          <a:xfrm>
            <a:off x="9718243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11" tooltip="8. Create a New Complaint" action="ppaction://hlinksldjump"/>
          </p:cNvPr>
          <p:cNvSpPr/>
          <p:nvPr/>
        </p:nvSpPr>
        <p:spPr>
          <a:xfrm>
            <a:off x="9987991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12" tooltip="9. Add Evidence and Review the Category" action="ppaction://hlinksldjump"/>
          </p:cNvPr>
          <p:cNvSpPr/>
          <p:nvPr/>
        </p:nvSpPr>
        <p:spPr>
          <a:xfrm>
            <a:off x="10257739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13" tooltip="10. Confirm the Complaint Submission" action="ppaction://hlinksldjump"/>
          </p:cNvPr>
          <p:cNvSpPr/>
          <p:nvPr/>
        </p:nvSpPr>
        <p:spPr>
          <a:xfrm>
            <a:off x="10527487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4" tooltip="11. Admin Opens the Review Queue" action="ppaction://hlinksldjump"/>
          </p:cNvPr>
          <p:cNvSpPr/>
          <p:nvPr/>
        </p:nvSpPr>
        <p:spPr>
          <a:xfrm>
            <a:off x="10797235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5" tooltip="12. Complaint Check and Duplicate Comparison" action="ppaction://hlinksldjump"/>
          </p:cNvPr>
          <p:cNvSpPr/>
          <p:nvPr/>
        </p:nvSpPr>
        <p:spPr>
          <a:xfrm>
            <a:off x="11066983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6" tooltip="13. Duplicate Review Outcomes" action="ppaction://hlinksldjump"/>
          </p:cNvPr>
          <p:cNvSpPr/>
          <p:nvPr/>
        </p:nvSpPr>
        <p:spPr>
          <a:xfrm>
            <a:off x="11336731" y="6528816"/>
            <a:ext cx="173736" cy="173736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7" tooltip="14. Pending Complaint Visibility" action="ppaction://hlinksldjump"/>
          </p:cNvPr>
          <p:cNvSpPr/>
          <p:nvPr/>
        </p:nvSpPr>
        <p:spPr>
          <a:xfrm>
            <a:off x="11606479" y="6528816"/>
            <a:ext cx="173736" cy="173736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/>
          <p:cNvSpPr/>
          <p:nvPr/>
        </p:nvSpPr>
        <p:spPr>
          <a:xfrm>
            <a:off x="7276795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14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Nogor Shomadhan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Nogor Shomadhan — User Manual: Phases 1-3</dc:title>
  <dc:subject>PptxGenJS Presentation</dc:subject>
  <dc:creator>Ashfia Tabassum</dc:creator>
  <cp:lastModifiedBy>Ashfia Tabassum</cp:lastModifiedBy>
  <cp:revision>1</cp:revision>
  <dcterms:created xsi:type="dcterms:W3CDTF">2026-09-12T15:37:17Z</dcterms:created>
  <dcterms:modified xsi:type="dcterms:W3CDTF">2026-09-12T15:37:17Z</dcterms:modified>
</cp:coreProperties>
</file>