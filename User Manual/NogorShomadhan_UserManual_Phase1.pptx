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slide" Target="slide9.xml"/><Relationship Id="rId11" Type="http://schemas.openxmlformats.org/officeDocument/2006/relationships/slide" Target="slide10.xml"/><Relationship Id="rId12" Type="http://schemas.openxmlformats.org/officeDocument/2006/relationships/slide" Target="slide11.xml"/><Relationship Id="rId13" Type="http://schemas.openxmlformats.org/officeDocument/2006/relationships/slide" Target="slide12.xml"/><Relationship Id="rId14" Type="http://schemas.openxmlformats.org/officeDocument/2006/relationships/slide" Target="slide13.xml"/><Relationship Id="rId15" Type="http://schemas.openxmlformats.org/officeDocument/2006/relationships/slide" Target="slide14.xml"/><Relationship Id="rId16" Type="http://schemas.openxmlformats.org/officeDocument/2006/relationships/slide" Target="slide15.xml"/><Relationship Id="rId17" Type="http://schemas.openxmlformats.org/officeDocument/2006/relationships/slide" Target="slide16.xml"/><Relationship Id="rId18" Type="http://schemas.openxmlformats.org/officeDocument/2006/relationships/slide" Target="slide17.xml"/><Relationship Id="rId19" Type="http://schemas.openxmlformats.org/officeDocument/2006/relationships/slide" Target="slide18.xml"/><Relationship Id="rId20" Type="http://schemas.openxmlformats.org/officeDocument/2006/relationships/slide" Target="slide19.xml"/><Relationship Id="rId21" Type="http://schemas.openxmlformats.org/officeDocument/2006/relationships/slide" Target="slide20.xml"/><Relationship Id="rId22" Type="http://schemas.openxmlformats.org/officeDocument/2006/relationships/slide" Target="slide21.xml"/><Relationship Id="rId23" Type="http://schemas.openxmlformats.org/officeDocument/2006/relationships/slide" Target="slide22.xml"/><Relationship Id="rId24" Type="http://schemas.openxmlformats.org/officeDocument/2006/relationships/slide" Target="slide23.xml"/><Relationship Id="rId25" Type="http://schemas.openxmlformats.org/officeDocument/2006/relationships/slide" Target="slide24.xml"/><Relationship Id="rId26" Type="http://schemas.openxmlformats.org/officeDocument/2006/relationships/slide" Target="slide25.xml"/><Relationship Id="rId27" Type="http://schemas.openxmlformats.org/officeDocument/2006/relationships/slide" Target="slide26.xml"/><Relationship Id="rId28" Type="http://schemas.openxmlformats.org/officeDocument/2006/relationships/slide" Target="slide27.xml"/><Relationship Id="rId1" Type="http://schemas.openxmlformats.org/officeDocument/2006/relationships/image" Target="../media/image-1-1.pn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slide" Target="slide10.xml"/><Relationship Id="rId11" Type="http://schemas.openxmlformats.org/officeDocument/2006/relationships/slide" Target="slide11.xml"/><Relationship Id="rId12" Type="http://schemas.openxmlformats.org/officeDocument/2006/relationships/slide" Target="slide12.xml"/><Relationship Id="rId13" Type="http://schemas.openxmlformats.org/officeDocument/2006/relationships/slide" Target="slide13.xml"/><Relationship Id="rId14" Type="http://schemas.openxmlformats.org/officeDocument/2006/relationships/slide" Target="slide14.xml"/><Relationship Id="rId15" Type="http://schemas.openxmlformats.org/officeDocument/2006/relationships/slide" Target="slide15.xml"/><Relationship Id="rId16" Type="http://schemas.openxmlformats.org/officeDocument/2006/relationships/slide" Target="slide16.xml"/><Relationship Id="rId17" Type="http://schemas.openxmlformats.org/officeDocument/2006/relationships/slide" Target="slide17.xml"/><Relationship Id="rId18" Type="http://schemas.openxmlformats.org/officeDocument/2006/relationships/slide" Target="slide18.xml"/><Relationship Id="rId19" Type="http://schemas.openxmlformats.org/officeDocument/2006/relationships/slide" Target="slide19.xml"/><Relationship Id="rId20" Type="http://schemas.openxmlformats.org/officeDocument/2006/relationships/slide" Target="slide20.xml"/><Relationship Id="rId21" Type="http://schemas.openxmlformats.org/officeDocument/2006/relationships/slide" Target="slide21.xml"/><Relationship Id="rId22" Type="http://schemas.openxmlformats.org/officeDocument/2006/relationships/slide" Target="slide22.xml"/><Relationship Id="rId23" Type="http://schemas.openxmlformats.org/officeDocument/2006/relationships/slide" Target="slide23.xml"/><Relationship Id="rId24" Type="http://schemas.openxmlformats.org/officeDocument/2006/relationships/slide" Target="slide24.xml"/><Relationship Id="rId25" Type="http://schemas.openxmlformats.org/officeDocument/2006/relationships/slide" Target="slide25.xml"/><Relationship Id="rId26" Type="http://schemas.openxmlformats.org/officeDocument/2006/relationships/slide" Target="slide26.xml"/><Relationship Id="rId27" Type="http://schemas.openxmlformats.org/officeDocument/2006/relationships/slide" Target="slide27.xml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29" Type="http://schemas.openxmlformats.org/officeDocument/2006/relationships/slide" Target="slide26.xml"/><Relationship Id="rId30" Type="http://schemas.openxmlformats.org/officeDocument/2006/relationships/slide" Target="slide27.xml"/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image" Target="../media/image-3-3.jpe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Relationship Id="rId25" Type="http://schemas.openxmlformats.org/officeDocument/2006/relationships/slide" Target="slide23.xml"/><Relationship Id="rId26" Type="http://schemas.openxmlformats.org/officeDocument/2006/relationships/slide" Target="slide24.xml"/><Relationship Id="rId27" Type="http://schemas.openxmlformats.org/officeDocument/2006/relationships/slide" Target="slide25.xml"/><Relationship Id="rId28" Type="http://schemas.openxmlformats.org/officeDocument/2006/relationships/slide" Target="slide26.xml"/><Relationship Id="rId29" Type="http://schemas.openxmlformats.org/officeDocument/2006/relationships/slide" Target="slide27.xml"/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Relationship Id="rId25" Type="http://schemas.openxmlformats.org/officeDocument/2006/relationships/slide" Target="slide23.xml"/><Relationship Id="rId26" Type="http://schemas.openxmlformats.org/officeDocument/2006/relationships/slide" Target="slide24.xml"/><Relationship Id="rId27" Type="http://schemas.openxmlformats.org/officeDocument/2006/relationships/slide" Target="slide25.xml"/><Relationship Id="rId28" Type="http://schemas.openxmlformats.org/officeDocument/2006/relationships/slide" Target="slide26.xml"/><Relationship Id="rId29" Type="http://schemas.openxmlformats.org/officeDocument/2006/relationships/slide" Target="slide27.xml"/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Relationship Id="rId25" Type="http://schemas.openxmlformats.org/officeDocument/2006/relationships/slide" Target="slide23.xml"/><Relationship Id="rId26" Type="http://schemas.openxmlformats.org/officeDocument/2006/relationships/slide" Target="slide24.xml"/><Relationship Id="rId27" Type="http://schemas.openxmlformats.org/officeDocument/2006/relationships/slide" Target="slide25.xml"/><Relationship Id="rId28" Type="http://schemas.openxmlformats.org/officeDocument/2006/relationships/slide" Target="slide26.xml"/><Relationship Id="rId29" Type="http://schemas.openxmlformats.org/officeDocument/2006/relationships/slide" Target="slide27.xml"/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29" Type="http://schemas.openxmlformats.org/officeDocument/2006/relationships/slide" Target="slide26.xml"/><Relationship Id="rId30" Type="http://schemas.openxmlformats.org/officeDocument/2006/relationships/slide" Target="slide27.xml"/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jpe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29" Type="http://schemas.openxmlformats.org/officeDocument/2006/relationships/slide" Target="slide26.xml"/><Relationship Id="rId30" Type="http://schemas.openxmlformats.org/officeDocument/2006/relationships/slide" Target="slide27.xml"/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Relationship Id="rId25" Type="http://schemas.openxmlformats.org/officeDocument/2006/relationships/slide" Target="slide23.xml"/><Relationship Id="rId26" Type="http://schemas.openxmlformats.org/officeDocument/2006/relationships/slide" Target="slide24.xml"/><Relationship Id="rId27" Type="http://schemas.openxmlformats.org/officeDocument/2006/relationships/slide" Target="slide25.xml"/><Relationship Id="rId28" Type="http://schemas.openxmlformats.org/officeDocument/2006/relationships/slide" Target="slide26.xml"/><Relationship Id="rId29" Type="http://schemas.openxmlformats.org/officeDocument/2006/relationships/slide" Target="slide2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Relationship Id="rId25" Type="http://schemas.openxmlformats.org/officeDocument/2006/relationships/slide" Target="slide23.xml"/><Relationship Id="rId26" Type="http://schemas.openxmlformats.org/officeDocument/2006/relationships/slide" Target="slide24.xml"/><Relationship Id="rId27" Type="http://schemas.openxmlformats.org/officeDocument/2006/relationships/slide" Target="slide25.xml"/><Relationship Id="rId28" Type="http://schemas.openxmlformats.org/officeDocument/2006/relationships/slide" Target="slide26.xml"/><Relationship Id="rId29" Type="http://schemas.openxmlformats.org/officeDocument/2006/relationships/slide" Target="slide27.xm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29" Type="http://schemas.openxmlformats.org/officeDocument/2006/relationships/slide" Target="slide26.xml"/><Relationship Id="rId30" Type="http://schemas.openxmlformats.org/officeDocument/2006/relationships/slide" Target="slide27.xml"/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29" Type="http://schemas.openxmlformats.org/officeDocument/2006/relationships/slide" Target="slide26.xml"/><Relationship Id="rId30" Type="http://schemas.openxmlformats.org/officeDocument/2006/relationships/slide" Target="slide27.xm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slide" Target="slide1.xml"/><Relationship Id="rId6" Type="http://schemas.openxmlformats.org/officeDocument/2006/relationships/slide" Target="slide2.xml"/><Relationship Id="rId7" Type="http://schemas.openxmlformats.org/officeDocument/2006/relationships/slide" Target="slide3.xml"/><Relationship Id="rId8" Type="http://schemas.openxmlformats.org/officeDocument/2006/relationships/slide" Target="slide4.xml"/><Relationship Id="rId9" Type="http://schemas.openxmlformats.org/officeDocument/2006/relationships/slide" Target="slide5.xml"/><Relationship Id="rId10" Type="http://schemas.openxmlformats.org/officeDocument/2006/relationships/slide" Target="slide6.xml"/><Relationship Id="rId11" Type="http://schemas.openxmlformats.org/officeDocument/2006/relationships/slide" Target="slide7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10.xml"/><Relationship Id="rId15" Type="http://schemas.openxmlformats.org/officeDocument/2006/relationships/slide" Target="slide11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4.xml"/><Relationship Id="rId19" Type="http://schemas.openxmlformats.org/officeDocument/2006/relationships/slide" Target="slide15.xml"/><Relationship Id="rId20" Type="http://schemas.openxmlformats.org/officeDocument/2006/relationships/slide" Target="slide16.xml"/><Relationship Id="rId21" Type="http://schemas.openxmlformats.org/officeDocument/2006/relationships/slide" Target="slide17.xml"/><Relationship Id="rId22" Type="http://schemas.openxmlformats.org/officeDocument/2006/relationships/slide" Target="slide18.xml"/><Relationship Id="rId23" Type="http://schemas.openxmlformats.org/officeDocument/2006/relationships/slide" Target="slide19.xml"/><Relationship Id="rId24" Type="http://schemas.openxmlformats.org/officeDocument/2006/relationships/slide" Target="slide20.xml"/><Relationship Id="rId25" Type="http://schemas.openxmlformats.org/officeDocument/2006/relationships/slide" Target="slide21.xml"/><Relationship Id="rId26" Type="http://schemas.openxmlformats.org/officeDocument/2006/relationships/slide" Target="slide22.xml"/><Relationship Id="rId27" Type="http://schemas.openxmlformats.org/officeDocument/2006/relationships/slide" Target="slide23.xml"/><Relationship Id="rId28" Type="http://schemas.openxmlformats.org/officeDocument/2006/relationships/slide" Target="slide24.xml"/><Relationship Id="rId29" Type="http://schemas.openxmlformats.org/officeDocument/2006/relationships/slide" Target="slide25.xml"/><Relationship Id="rId30" Type="http://schemas.openxmlformats.org/officeDocument/2006/relationships/slide" Target="slide26.xml"/><Relationship Id="rId31" Type="http://schemas.openxmlformats.org/officeDocument/2006/relationships/slide" Target="slide27.xm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32" Type="http://schemas.openxmlformats.org/officeDocument/2006/relationships/slideLayout" Target="../slideLayouts/slideLayout1.xml"/><Relationship Id="rId3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29" Type="http://schemas.openxmlformats.org/officeDocument/2006/relationships/slide" Target="slide26.xml"/><Relationship Id="rId30" Type="http://schemas.openxmlformats.org/officeDocument/2006/relationships/slide" Target="slide27.xm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29" Type="http://schemas.openxmlformats.org/officeDocument/2006/relationships/slide" Target="slide26.xml"/><Relationship Id="rId30" Type="http://schemas.openxmlformats.org/officeDocument/2006/relationships/slide" Target="slide27.xml"/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29" Type="http://schemas.openxmlformats.org/officeDocument/2006/relationships/slide" Target="slide26.xml"/><Relationship Id="rId30" Type="http://schemas.openxmlformats.org/officeDocument/2006/relationships/slide" Target="slide27.xml"/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jpe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29" Type="http://schemas.openxmlformats.org/officeDocument/2006/relationships/slide" Target="slide26.xml"/><Relationship Id="rId30" Type="http://schemas.openxmlformats.org/officeDocument/2006/relationships/slide" Target="slide27.xml"/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jpe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29" Type="http://schemas.openxmlformats.org/officeDocument/2006/relationships/slide" Target="slide26.xml"/><Relationship Id="rId30" Type="http://schemas.openxmlformats.org/officeDocument/2006/relationships/slide" Target="slide27.xml"/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jpe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29" Type="http://schemas.openxmlformats.org/officeDocument/2006/relationships/slide" Target="slide26.xml"/><Relationship Id="rId30" Type="http://schemas.openxmlformats.org/officeDocument/2006/relationships/slide" Target="slide27.xml"/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jpe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29" Type="http://schemas.openxmlformats.org/officeDocument/2006/relationships/slide" Target="slide26.xml"/><Relationship Id="rId30" Type="http://schemas.openxmlformats.org/officeDocument/2006/relationships/slide" Target="slide27.xml"/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jpe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Relationship Id="rId25" Type="http://schemas.openxmlformats.org/officeDocument/2006/relationships/slide" Target="slide23.xml"/><Relationship Id="rId26" Type="http://schemas.openxmlformats.org/officeDocument/2006/relationships/slide" Target="slide24.xml"/><Relationship Id="rId27" Type="http://schemas.openxmlformats.org/officeDocument/2006/relationships/slide" Target="slide25.xml"/><Relationship Id="rId28" Type="http://schemas.openxmlformats.org/officeDocument/2006/relationships/slide" Target="slide26.xml"/><Relationship Id="rId29" Type="http://schemas.openxmlformats.org/officeDocument/2006/relationships/slide" Target="slide27.xml"/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29" Type="http://schemas.openxmlformats.org/officeDocument/2006/relationships/slide" Target="slide26.xml"/><Relationship Id="rId30" Type="http://schemas.openxmlformats.org/officeDocument/2006/relationships/slide" Target="slide27.xml"/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jpe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29" Type="http://schemas.openxmlformats.org/officeDocument/2006/relationships/slide" Target="slide26.xml"/><Relationship Id="rId30" Type="http://schemas.openxmlformats.org/officeDocument/2006/relationships/slide" Target="slide27.xml"/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jpe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29" Type="http://schemas.openxmlformats.org/officeDocument/2006/relationships/slide" Target="slide26.xml"/><Relationship Id="rId30" Type="http://schemas.openxmlformats.org/officeDocument/2006/relationships/slide" Target="slide27.xml"/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jpe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29" Type="http://schemas.openxmlformats.org/officeDocument/2006/relationships/slide" Target="slide26.xml"/><Relationship Id="rId30" Type="http://schemas.openxmlformats.org/officeDocument/2006/relationships/slide" Target="slide27.xml"/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jpe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Relationship Id="rId26" Type="http://schemas.openxmlformats.org/officeDocument/2006/relationships/slide" Target="slide23.xml"/><Relationship Id="rId27" Type="http://schemas.openxmlformats.org/officeDocument/2006/relationships/slide" Target="slide24.xml"/><Relationship Id="rId28" Type="http://schemas.openxmlformats.org/officeDocument/2006/relationships/slide" Target="slide25.xml"/><Relationship Id="rId29" Type="http://schemas.openxmlformats.org/officeDocument/2006/relationships/slide" Target="slide26.xml"/><Relationship Id="rId30" Type="http://schemas.openxmlformats.org/officeDocument/2006/relationships/slide" Target="slide27.xml"/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jpe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Relationship Id="rId25" Type="http://schemas.openxmlformats.org/officeDocument/2006/relationships/slide" Target="slide23.xml"/><Relationship Id="rId26" Type="http://schemas.openxmlformats.org/officeDocument/2006/relationships/slide" Target="slide24.xml"/><Relationship Id="rId27" Type="http://schemas.openxmlformats.org/officeDocument/2006/relationships/slide" Target="slide25.xml"/><Relationship Id="rId28" Type="http://schemas.openxmlformats.org/officeDocument/2006/relationships/slide" Target="slide26.xml"/><Relationship Id="rId29" Type="http://schemas.openxmlformats.org/officeDocument/2006/relationships/slide" Target="slide27.xml"/><Relationship Id="rId1" Type="http://schemas.openxmlformats.org/officeDocument/2006/relationships/image" Target="../media/image-27-1.jpeg"/><Relationship Id="rId2" Type="http://schemas.openxmlformats.org/officeDocument/2006/relationships/image" Target="../media/image-27-2.jpeg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 ·  WHY THIS PLATFORM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a_stmt_bg"/>
          <p:cNvSpPr/>
          <p:nvPr/>
        </p:nvSpPr>
        <p:spPr>
          <a:xfrm>
            <a:off x="411480" y="1417320"/>
            <a:ext cx="5943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a_stmt_bar"/>
          <p:cNvSpPr/>
          <p:nvPr/>
        </p:nvSpPr>
        <p:spPr>
          <a:xfrm>
            <a:off x="411480" y="1417320"/>
            <a:ext cx="82296" cy="932688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12" name="a_stmt_tx"/>
          <p:cNvSpPr/>
          <p:nvPr/>
        </p:nvSpPr>
        <p:spPr>
          <a:xfrm>
            <a:off x="704088" y="1417320"/>
            <a:ext cx="53949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maintenance complaints remain fragmented and difficult to track</a:t>
            </a:r>
            <a:endParaRPr lang="en-US" sz="2200" dirty="0"/>
          </a:p>
        </p:txBody>
      </p:sp>
      <p:sp>
        <p:nvSpPr>
          <p:cNvPr id="13" name="p1_1_c"/>
          <p:cNvSpPr/>
          <p:nvPr/>
        </p:nvSpPr>
        <p:spPr>
          <a:xfrm>
            <a:off x="466344" y="2523744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1_1_t"/>
          <p:cNvSpPr/>
          <p:nvPr/>
        </p:nvSpPr>
        <p:spPr>
          <a:xfrm>
            <a:off x="1014984" y="2505456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rely on phone calls, social media groups, and informal messages.</a:t>
            </a:r>
            <a:endParaRPr lang="en-US" sz="1800" dirty="0"/>
          </a:p>
        </p:txBody>
      </p:sp>
      <p:sp>
        <p:nvSpPr>
          <p:cNvPr id="15" name="p1_2_c"/>
          <p:cNvSpPr/>
          <p:nvPr/>
        </p:nvSpPr>
        <p:spPr>
          <a:xfrm>
            <a:off x="466344" y="3267456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1_2_t"/>
          <p:cNvSpPr/>
          <p:nvPr/>
        </p:nvSpPr>
        <p:spPr>
          <a:xfrm>
            <a:off x="1014984" y="3249168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often arrive without structured evidence or accurate location details.</a:t>
            </a:r>
            <a:endParaRPr lang="en-US" sz="1800" dirty="0"/>
          </a:p>
        </p:txBody>
      </p:sp>
      <p:sp>
        <p:nvSpPr>
          <p:cNvPr id="17" name="p1_3_c"/>
          <p:cNvSpPr/>
          <p:nvPr/>
        </p:nvSpPr>
        <p:spPr>
          <a:xfrm>
            <a:off x="466344" y="4011168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1_3_t"/>
          <p:cNvSpPr/>
          <p:nvPr/>
        </p:nvSpPr>
        <p:spPr>
          <a:xfrm>
            <a:off x="1014984" y="3992880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reports and disconnected channels delay verification and assignment.</a:t>
            </a:r>
            <a:endParaRPr lang="en-US" sz="1800" dirty="0"/>
          </a:p>
        </p:txBody>
      </p:sp>
      <p:sp>
        <p:nvSpPr>
          <p:cNvPr id="19" name="p1_4_c"/>
          <p:cNvSpPr/>
          <p:nvPr/>
        </p:nvSpPr>
        <p:spPr>
          <a:xfrm>
            <a:off x="466344" y="4754880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1_4_t"/>
          <p:cNvSpPr/>
          <p:nvPr/>
        </p:nvSpPr>
        <p:spPr>
          <a:xfrm>
            <a:off x="1014984" y="4736592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have limited visibility into progress, reducing trust and accountability.</a:t>
            </a:r>
            <a:endParaRPr lang="en-US" sz="1800" dirty="0"/>
          </a:p>
        </p:txBody>
      </p:sp>
      <p:sp>
        <p:nvSpPr>
          <p:cNvPr id="21" name="a_close_bg"/>
          <p:cNvSpPr/>
          <p:nvPr/>
        </p:nvSpPr>
        <p:spPr>
          <a:xfrm>
            <a:off x="411480" y="5486400"/>
            <a:ext cx="5943600" cy="749808"/>
          </a:xfrm>
          <a:prstGeom prst="roundRect">
            <a:avLst>
              <a:gd name="adj" fmla="val 12195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2" name="a_close_tx"/>
          <p:cNvSpPr/>
          <p:nvPr/>
        </p:nvSpPr>
        <p:spPr>
          <a:xfrm>
            <a:off x="667512" y="5486400"/>
            <a:ext cx="54315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provides one verified workflow from reporting to resolution.</a:t>
            </a:r>
            <a:endParaRPr lang="en-US" sz="1850" dirty="0"/>
          </a:p>
        </p:txBody>
      </p:sp>
      <p:sp>
        <p:nvSpPr>
          <p:cNvPr id="23" name="Shape 21"/>
          <p:cNvSpPr/>
          <p:nvPr/>
        </p:nvSpPr>
        <p:spPr>
          <a:xfrm>
            <a:off x="6656832" y="1417320"/>
            <a:ext cx="5120640" cy="3968592"/>
          </a:xfrm>
          <a:prstGeom prst="roundRect">
            <a:avLst>
              <a:gd name="adj" fmla="val 2304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0" descr="C:/NogorShomadhan/Images/Road bro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481328"/>
            <a:ext cx="4992624" cy="3840576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656832" y="5477256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912864" y="5559552"/>
            <a:ext cx="46085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EVERYDAY REALITY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912864" y="5779008"/>
            <a:ext cx="460857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everyone, yet no record of who reported it or what happens next.</a:t>
            </a:r>
            <a:endParaRPr lang="en-US" sz="1650" dirty="0"/>
          </a:p>
        </p:txBody>
      </p:sp>
      <p:sp>
        <p:nvSpPr>
          <p:cNvPr id="28" name="Text 25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29" name="Text 26">
            <a:hlinkClick r:id="rId2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0" name="Text 27">
            <a:hlinkClick r:id="rId3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1" name="Text 28">
            <a:hlinkClick r:id="rId4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2" name="Text 29">
            <a:hlinkClick r:id="rId5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3" name="Text 30">
            <a:hlinkClick r:id="rId6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4" name="Text 31">
            <a:hlinkClick r:id="rId7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5" name="Text 32">
            <a:hlinkClick r:id="rId8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3">
            <a:hlinkClick r:id="rId9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4">
            <a:hlinkClick r:id="rId10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5">
            <a:hlinkClick r:id="rId11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6">
            <a:hlinkClick r:id="rId12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7">
            <a:hlinkClick r:id="rId13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8">
            <a:hlinkClick r:id="rId14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9">
            <a:hlinkClick r:id="rId15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40">
            <a:hlinkClick r:id="rId16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1">
            <a:hlinkClick r:id="rId17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2">
            <a:hlinkClick r:id="rId18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3">
            <a:hlinkClick r:id="rId19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4">
            <a:hlinkClick r:id="rId20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5">
            <a:hlinkClick r:id="rId21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6">
            <a:hlinkClick r:id="rId22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7">
            <a:hlinkClick r:id="rId23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8">
            <a:hlinkClick r:id="rId24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9">
            <a:hlinkClick r:id="rId25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50">
            <a:hlinkClick r:id="rId26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1">
            <a:hlinkClick r:id="rId27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2">
            <a:hlinkClick r:id="rId28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3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 ·  WHO USES THE PLATFORM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and Responsibilities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383012" y="475488"/>
            <a:ext cx="1397203" cy="420624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383012" y="475488"/>
            <a:ext cx="139720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c_res_bg"/>
          <p:cNvSpPr/>
          <p:nvPr/>
        </p:nvSpPr>
        <p:spPr>
          <a:xfrm>
            <a:off x="440284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c_res_hd"/>
          <p:cNvSpPr/>
          <p:nvPr/>
        </p:nvSpPr>
        <p:spPr>
          <a:xfrm>
            <a:off x="440284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2" name="c_res_hd2"/>
          <p:cNvSpPr/>
          <p:nvPr/>
        </p:nvSpPr>
        <p:spPr>
          <a:xfrm>
            <a:off x="440284" y="1847088"/>
            <a:ext cx="3502152" cy="2377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3" name="c_res_hdt"/>
          <p:cNvSpPr/>
          <p:nvPr/>
        </p:nvSpPr>
        <p:spPr>
          <a:xfrm>
            <a:off x="440284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2000" dirty="0"/>
          </a:p>
        </p:txBody>
      </p:sp>
      <p:sp>
        <p:nvSpPr>
          <p:cNvPr id="14" name="c_res_bl"/>
          <p:cNvSpPr/>
          <p:nvPr/>
        </p:nvSpPr>
        <p:spPr>
          <a:xfrm>
            <a:off x="696316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community problems with location and optional photographic evidence.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complaint status and receives important notifications.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Participates through urgency votes, forum discussions, and feedback.</a:t>
            </a:r>
            <a:endParaRPr lang="en-US" sz="1800" dirty="0"/>
          </a:p>
        </p:txBody>
      </p:sp>
      <p:sp>
        <p:nvSpPr>
          <p:cNvPr id="15" name="c_adm_bg"/>
          <p:cNvSpPr/>
          <p:nvPr/>
        </p:nvSpPr>
        <p:spPr>
          <a:xfrm>
            <a:off x="4344772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6" name="c_adm_hd"/>
          <p:cNvSpPr/>
          <p:nvPr/>
        </p:nvSpPr>
        <p:spPr>
          <a:xfrm>
            <a:off x="4344772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17" name="c_adm_hd2"/>
          <p:cNvSpPr/>
          <p:nvPr/>
        </p:nvSpPr>
        <p:spPr>
          <a:xfrm>
            <a:off x="4344772" y="1847088"/>
            <a:ext cx="3502152" cy="23774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18" name="c_adm_hdt"/>
          <p:cNvSpPr/>
          <p:nvPr/>
        </p:nvSpPr>
        <p:spPr>
          <a:xfrm>
            <a:off x="4344772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2000" dirty="0"/>
          </a:p>
        </p:txBody>
      </p:sp>
      <p:sp>
        <p:nvSpPr>
          <p:cNvPr id="19" name="c_adm_bl"/>
          <p:cNvSpPr/>
          <p:nvPr/>
        </p:nvSpPr>
        <p:spPr>
          <a:xfrm>
            <a:off x="4600804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resident accounts and newly submitted complaints.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possible duplicates identified by the system.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valid records and maintains platform integrity.</a:t>
            </a:r>
            <a:endParaRPr lang="en-US" sz="1800" dirty="0"/>
          </a:p>
        </p:txBody>
      </p:sp>
      <p:sp>
        <p:nvSpPr>
          <p:cNvPr id="20" name="c_aut_bg"/>
          <p:cNvSpPr/>
          <p:nvPr/>
        </p:nvSpPr>
        <p:spPr>
          <a:xfrm>
            <a:off x="8249260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1" name="c_aut_hd"/>
          <p:cNvSpPr/>
          <p:nvPr/>
        </p:nvSpPr>
        <p:spPr>
          <a:xfrm>
            <a:off x="8249260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2" name="c_aut_hd2"/>
          <p:cNvSpPr/>
          <p:nvPr/>
        </p:nvSpPr>
        <p:spPr>
          <a:xfrm>
            <a:off x="8249260" y="1847088"/>
            <a:ext cx="3502152" cy="23774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23" name="c_aut_hdt"/>
          <p:cNvSpPr/>
          <p:nvPr/>
        </p:nvSpPr>
        <p:spPr>
          <a:xfrm>
            <a:off x="8249260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Authority</a:t>
            </a:r>
            <a:endParaRPr lang="en-US" sz="2000" dirty="0"/>
          </a:p>
        </p:txBody>
      </p:sp>
      <p:sp>
        <p:nvSpPr>
          <p:cNvPr id="24" name="c_aut_bl"/>
          <p:cNvSpPr/>
          <p:nvPr/>
        </p:nvSpPr>
        <p:spPr>
          <a:xfrm>
            <a:off x="8505292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verified complaints and begins the required work.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deadlines, budgets, contractors, notes, and evidence.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complaints and responds to resident feedback.</a:t>
            </a:r>
            <a:endParaRPr lang="en-US" sz="1800" dirty="0"/>
          </a:p>
        </p:txBody>
      </p:sp>
      <p:sp>
        <p:nvSpPr>
          <p:cNvPr id="25" name="sys_bg"/>
          <p:cNvSpPr/>
          <p:nvPr/>
        </p:nvSpPr>
        <p:spPr>
          <a:xfrm>
            <a:off x="440284" y="5605272"/>
            <a:ext cx="11311128" cy="731520"/>
          </a:xfrm>
          <a:prstGeom prst="roundRect">
            <a:avLst>
              <a:gd name="adj" fmla="val 12500"/>
            </a:avLst>
          </a:prstGeom>
          <a:solidFill>
            <a:srgbClr val="E9ECF1"/>
          </a:solidFill>
          <a:ln w="12700">
            <a:solidFill>
              <a:srgbClr val="D8DD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9740" y="5797296"/>
            <a:ext cx="1874520" cy="347472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9740" y="579729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LAYER</a:t>
            </a:r>
            <a:endParaRPr lang="en-US" sz="1400" dirty="0"/>
          </a:p>
        </p:txBody>
      </p:sp>
      <p:sp>
        <p:nvSpPr>
          <p:cNvPr id="28" name="sys_tx"/>
          <p:cNvSpPr/>
          <p:nvPr/>
        </p:nvSpPr>
        <p:spPr>
          <a:xfrm>
            <a:off x="2744572" y="5605272"/>
            <a:ext cx="8787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and AI: categorization, duplicate screening, status tracking, and notifications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0" name="Text 28">
            <a:hlinkClick r:id="rId1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1" name="Text 29">
            <a:hlinkClick r:id="rId2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2" name="Text 30">
            <a:hlinkClick r:id="rId3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3" name="Text 31">
            <a:hlinkClick r:id="rId4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4" name="Text 32">
            <a:hlinkClick r:id="rId5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5" name="Text 33">
            <a:hlinkClick r:id="rId6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4">
            <a:hlinkClick r:id="rId7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5">
            <a:hlinkClick r:id="rId8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6">
            <a:hlinkClick r:id="rId9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7">
            <a:hlinkClick r:id="rId10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8">
            <a:hlinkClick r:id="rId11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9">
            <a:hlinkClick r:id="rId12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40">
            <a:hlinkClick r:id="rId13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41">
            <a:hlinkClick r:id="rId14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2">
            <a:hlinkClick r:id="rId15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3">
            <a:hlinkClick r:id="rId16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4">
            <a:hlinkClick r:id="rId17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5">
            <a:hlinkClick r:id="rId18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6">
            <a:hlinkClick r:id="rId19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7">
            <a:hlinkClick r:id="rId20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8">
            <a:hlinkClick r:id="rId21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9">
            <a:hlinkClick r:id="rId22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50">
            <a:hlinkClick r:id="rId23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51">
            <a:hlinkClick r:id="rId24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2">
            <a:hlinkClick r:id="rId25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3">
            <a:hlinkClick r:id="rId26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4">
            <a:hlinkClick r:id="rId27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Account Registration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584448" cy="4636008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3_1_c"/>
          <p:cNvSpPr/>
          <p:nvPr/>
        </p:nvSpPr>
        <p:spPr>
          <a:xfrm>
            <a:off x="685800" y="18013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3_1_t"/>
          <p:cNvSpPr/>
          <p:nvPr/>
        </p:nvSpPr>
        <p:spPr>
          <a:xfrm>
            <a:off x="1234440" y="1783080"/>
            <a:ext cx="2487168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Register from the public home page.</a:t>
            </a:r>
            <a:endParaRPr lang="en-US" sz="1800" dirty="0"/>
          </a:p>
        </p:txBody>
      </p:sp>
      <p:sp>
        <p:nvSpPr>
          <p:cNvPr id="13" name="p3_2_c"/>
          <p:cNvSpPr/>
          <p:nvPr/>
        </p:nvSpPr>
        <p:spPr>
          <a:xfrm>
            <a:off x="685800" y="27919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3_2_t"/>
          <p:cNvSpPr/>
          <p:nvPr/>
        </p:nvSpPr>
        <p:spPr>
          <a:xfrm>
            <a:off x="1234440" y="2773680"/>
            <a:ext cx="2487168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identity and contact information.</a:t>
            </a:r>
            <a:endParaRPr lang="en-US" sz="1800" dirty="0"/>
          </a:p>
        </p:txBody>
      </p:sp>
      <p:sp>
        <p:nvSpPr>
          <p:cNvPr id="15" name="p3_3_c"/>
          <p:cNvSpPr/>
          <p:nvPr/>
        </p:nvSpPr>
        <p:spPr>
          <a:xfrm>
            <a:off x="685800" y="37825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3_3_t"/>
          <p:cNvSpPr/>
          <p:nvPr/>
        </p:nvSpPr>
        <p:spPr>
          <a:xfrm>
            <a:off x="1234440" y="3764280"/>
            <a:ext cx="2487168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residential address and secure login credentials.</a:t>
            </a:r>
            <a:endParaRPr lang="en-US" sz="1800" dirty="0"/>
          </a:p>
        </p:txBody>
      </p:sp>
      <p:sp>
        <p:nvSpPr>
          <p:cNvPr id="17" name="p3_4_c"/>
          <p:cNvSpPr/>
          <p:nvPr/>
        </p:nvSpPr>
        <p:spPr>
          <a:xfrm>
            <a:off x="685800" y="5056632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3_4_t"/>
          <p:cNvSpPr/>
          <p:nvPr/>
        </p:nvSpPr>
        <p:spPr>
          <a:xfrm>
            <a:off x="1234440" y="5038344"/>
            <a:ext cx="2487168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information before registration.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5800" y="6144768"/>
            <a:ext cx="32186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details masked for this presentation.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63800" y="2327148"/>
            <a:ext cx="1935058" cy="3712464"/>
          </a:xfrm>
          <a:prstGeom prst="roundRect">
            <a:avLst>
              <a:gd name="adj" fmla="val 3780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registration/01-public-home-registration-entry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4092" y="2377440"/>
            <a:ext cx="1834474" cy="361188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3894052" y="6099048"/>
            <a:ext cx="24745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home page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236018" y="1641348"/>
            <a:ext cx="3246916" cy="4398264"/>
          </a:xfrm>
          <a:prstGeom prst="roundRect">
            <a:avLst>
              <a:gd name="adj" fmla="val 225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registration/02-resident-registration-personal-informa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310" y="1691640"/>
            <a:ext cx="3146332" cy="42976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966270" y="6099048"/>
            <a:ext cx="37864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9620094" y="1641348"/>
            <a:ext cx="2303145" cy="4398264"/>
          </a:xfrm>
          <a:prstGeom prst="roundRect">
            <a:avLst>
              <a:gd name="adj" fmla="val 317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7" name="Image 2" descr="C:/NogorShomadhan/User Manual/Phase 1/registration/03-resident-registration-address-and-security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386" y="1691640"/>
            <a:ext cx="2202561" cy="429768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9350346" y="6099048"/>
            <a:ext cx="28426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and credentials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6890406" y="4321820"/>
            <a:ext cx="582071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890406" y="4966472"/>
            <a:ext cx="1116948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931308" y="5611124"/>
            <a:ext cx="456218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9952314" y="2357780"/>
            <a:ext cx="176205" cy="116037"/>
          </a:xfrm>
          <a:prstGeom prst="roundRect">
            <a:avLst>
              <a:gd name="adj" fmla="val 39401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3" name="h3_1"/>
          <p:cNvSpPr/>
          <p:nvPr/>
        </p:nvSpPr>
        <p:spPr>
          <a:xfrm>
            <a:off x="5389990" y="2381052"/>
            <a:ext cx="388908" cy="180594"/>
          </a:xfrm>
          <a:prstGeom prst="roundRect">
            <a:avLst>
              <a:gd name="adj" fmla="val 3038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4" name="h3_4"/>
          <p:cNvSpPr/>
          <p:nvPr/>
        </p:nvSpPr>
        <p:spPr>
          <a:xfrm>
            <a:off x="9868616" y="5293096"/>
            <a:ext cx="1810505" cy="249265"/>
          </a:xfrm>
          <a:prstGeom prst="roundRect">
            <a:avLst>
              <a:gd name="adj" fmla="val 2201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b3_1"/>
          <p:cNvSpPr/>
          <p:nvPr/>
        </p:nvSpPr>
        <p:spPr>
          <a:xfrm>
            <a:off x="4159626" y="231014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b3_1_t"/>
          <p:cNvSpPr/>
          <p:nvPr/>
        </p:nvSpPr>
        <p:spPr>
          <a:xfrm>
            <a:off x="4159626" y="23101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7" name="b3_2"/>
          <p:cNvSpPr/>
          <p:nvPr/>
        </p:nvSpPr>
        <p:spPr>
          <a:xfrm>
            <a:off x="6245015" y="163769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8" name="b3_2_t"/>
          <p:cNvSpPr/>
          <p:nvPr/>
        </p:nvSpPr>
        <p:spPr>
          <a:xfrm>
            <a:off x="6245015" y="163769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9" name="b3_3"/>
          <p:cNvSpPr/>
          <p:nvPr/>
        </p:nvSpPr>
        <p:spPr>
          <a:xfrm>
            <a:off x="9619659" y="1646286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0" name="b3_3_t"/>
          <p:cNvSpPr/>
          <p:nvPr/>
        </p:nvSpPr>
        <p:spPr>
          <a:xfrm>
            <a:off x="9619659" y="16462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1" name="b3_4"/>
          <p:cNvSpPr/>
          <p:nvPr/>
        </p:nvSpPr>
        <p:spPr>
          <a:xfrm>
            <a:off x="9597634" y="5234849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2" name="b3_4_t"/>
          <p:cNvSpPr/>
          <p:nvPr/>
        </p:nvSpPr>
        <p:spPr>
          <a:xfrm>
            <a:off x="9597634" y="523484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3" name="Text 38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4" name="Text 39">
            <a:hlinkClick r:id="rId4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5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6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7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8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9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0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1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2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3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4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15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16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17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18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19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0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1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22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23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>
            <a:hlinkClick r:id="rId24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0">
            <a:hlinkClick r:id="rId25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1">
            <a:hlinkClick r:id="rId26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7" name="Text 62">
            <a:hlinkClick r:id="rId27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8" name="Text 63">
            <a:hlinkClick r:id="rId28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9" name="Text 64">
            <a:hlinkClick r:id="rId29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0" name="Text 65">
            <a:hlinkClick r:id="rId30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1" name="Text 66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Request Submitted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1417320"/>
            <a:ext cx="3383280" cy="4636008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3" name="p4_1_c"/>
          <p:cNvSpPr/>
          <p:nvPr/>
        </p:nvSpPr>
        <p:spPr>
          <a:xfrm>
            <a:off x="667512" y="1773936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4_1_t"/>
          <p:cNvSpPr/>
          <p:nvPr/>
        </p:nvSpPr>
        <p:spPr>
          <a:xfrm>
            <a:off x="1216152" y="1755648"/>
            <a:ext cx="2322576" cy="8734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submits the completed registration form.</a:t>
            </a:r>
            <a:endParaRPr lang="en-US" sz="1800" dirty="0"/>
          </a:p>
        </p:txBody>
      </p:sp>
      <p:sp>
        <p:nvSpPr>
          <p:cNvPr id="15" name="p4_2_c"/>
          <p:cNvSpPr/>
          <p:nvPr/>
        </p:nvSpPr>
        <p:spPr>
          <a:xfrm>
            <a:off x="667512" y="2757119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4_2_t"/>
          <p:cNvSpPr/>
          <p:nvPr/>
        </p:nvSpPr>
        <p:spPr>
          <a:xfrm>
            <a:off x="1216152" y="2738831"/>
            <a:ext cx="2322576" cy="11469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creates the account with an unverified status.</a:t>
            </a:r>
            <a:endParaRPr lang="en-US" sz="1800" dirty="0"/>
          </a:p>
        </p:txBody>
      </p:sp>
      <p:sp>
        <p:nvSpPr>
          <p:cNvPr id="17" name="p4_3_c"/>
          <p:cNvSpPr/>
          <p:nvPr/>
        </p:nvSpPr>
        <p:spPr>
          <a:xfrm>
            <a:off x="667512" y="4013809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4_3_t"/>
          <p:cNvSpPr/>
          <p:nvPr/>
        </p:nvSpPr>
        <p:spPr>
          <a:xfrm>
            <a:off x="1216152" y="3995521"/>
            <a:ext cx="2322576" cy="8734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sees an awaiting-verification confirmation.</a:t>
            </a:r>
            <a:endParaRPr lang="en-US" sz="1800" dirty="0"/>
          </a:p>
        </p:txBody>
      </p:sp>
      <p:sp>
        <p:nvSpPr>
          <p:cNvPr id="19" name="p4_4_c"/>
          <p:cNvSpPr/>
          <p:nvPr/>
        </p:nvSpPr>
        <p:spPr>
          <a:xfrm>
            <a:off x="667512" y="4996993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4_4_t"/>
          <p:cNvSpPr/>
          <p:nvPr/>
        </p:nvSpPr>
        <p:spPr>
          <a:xfrm>
            <a:off x="1216152" y="4978705"/>
            <a:ext cx="2322576" cy="8734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dashboard displays a new pending account.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114800" y="1417320"/>
            <a:ext cx="3383280" cy="4636008"/>
          </a:xfrm>
          <a:prstGeom prst="roundRect">
            <a:avLst>
              <a:gd name="adj" fmla="val 3243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536192"/>
            <a:ext cx="1320394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536192"/>
            <a:ext cx="13203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396935" y="1417320"/>
            <a:ext cx="3383280" cy="4636008"/>
          </a:xfrm>
          <a:prstGeom prst="roundRect">
            <a:avLst>
              <a:gd name="adj" fmla="val 3243"/>
            </a:avLst>
          </a:prstGeom>
          <a:solidFill>
            <a:srgbClr val="FFFAF2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16391" y="1536192"/>
            <a:ext cx="996696" cy="347472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16391" y="1536192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742499" y="1924812"/>
            <a:ext cx="2127882" cy="4032504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8" name="Image 0" descr="C:/NogorShomadhan/User Manual/Phase 1/registration/04-registration-success-awaiting-admin-verification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2791" y="1975104"/>
            <a:ext cx="2027298" cy="39319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9046456" y="1924812"/>
            <a:ext cx="2084238" cy="4032504"/>
          </a:xfrm>
          <a:prstGeom prst="roundRect">
            <a:avLst>
              <a:gd name="adj" fmla="val 3510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0" name="Image 1" descr="C:/NogorShomadhan/User Manual/Phase 1/admin verification/05-admin-dashboard-new-account-alert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6748" y="1975104"/>
            <a:ext cx="1983654" cy="3931920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>
            <a:off x="5060394" y="2572756"/>
            <a:ext cx="158129" cy="106162"/>
          </a:xfrm>
          <a:prstGeom prst="roundRect">
            <a:avLst>
              <a:gd name="adj" fmla="val 4306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2" name="arrow4"/>
          <p:cNvSpPr/>
          <p:nvPr/>
        </p:nvSpPr>
        <p:spPr>
          <a:xfrm>
            <a:off x="7626096" y="3675888"/>
            <a:ext cx="642823" cy="530352"/>
          </a:xfrm>
          <a:prstGeom prst="rightArrow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33" name="arrow4t"/>
          <p:cNvSpPr/>
          <p:nvPr/>
        </p:nvSpPr>
        <p:spPr>
          <a:xfrm>
            <a:off x="7516368" y="3054096"/>
            <a:ext cx="862279" cy="51206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spc="6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OVER TO</a:t>
            </a:r>
            <a:endParaRPr lang="en-US" sz="1200" dirty="0"/>
          </a:p>
        </p:txBody>
      </p:sp>
      <p:sp>
        <p:nvSpPr>
          <p:cNvPr id="34" name="h4_3"/>
          <p:cNvSpPr/>
          <p:nvPr/>
        </p:nvSpPr>
        <p:spPr>
          <a:xfrm>
            <a:off x="5230687" y="1986900"/>
            <a:ext cx="1524528" cy="424647"/>
          </a:xfrm>
          <a:prstGeom prst="roundRect">
            <a:avLst>
              <a:gd name="adj" fmla="val 1292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b4_3"/>
          <p:cNvSpPr/>
          <p:nvPr/>
        </p:nvSpPr>
        <p:spPr>
          <a:xfrm>
            <a:off x="4731549" y="200848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b4_3_t"/>
          <p:cNvSpPr/>
          <p:nvPr/>
        </p:nvSpPr>
        <p:spPr>
          <a:xfrm>
            <a:off x="4731549" y="2008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7" name="h4_4"/>
          <p:cNvSpPr/>
          <p:nvPr/>
        </p:nvSpPr>
        <p:spPr>
          <a:xfrm>
            <a:off x="9168160" y="2218883"/>
            <a:ext cx="1836863" cy="562265"/>
          </a:xfrm>
          <a:prstGeom prst="roundRect">
            <a:avLst>
              <a:gd name="adj" fmla="val 975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8" name="b4_4"/>
          <p:cNvSpPr/>
          <p:nvPr/>
        </p:nvSpPr>
        <p:spPr>
          <a:xfrm>
            <a:off x="8973378" y="2146097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9" name="b4_4_t"/>
          <p:cNvSpPr/>
          <p:nvPr/>
        </p:nvSpPr>
        <p:spPr>
          <a:xfrm>
            <a:off x="8973378" y="2146097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0" name="Text 36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7">
            <a:hlinkClick r:id="rId3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4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5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6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7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8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9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0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1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2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3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4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5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6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7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8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9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20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21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>
            <a:hlinkClick r:id="rId22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7">
            <a:hlinkClick r:id="rId23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8">
            <a:hlinkClick r:id="rId24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9">
            <a:hlinkClick r:id="rId25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60">
            <a:hlinkClick r:id="rId26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1">
            <a:hlinkClick r:id="rId27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2">
            <a:hlinkClick r:id="rId28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7" name="Text 63">
            <a:hlinkClick r:id="rId29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8" name="Text 64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Receives the Verification Request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931920" cy="463600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5_1_c"/>
          <p:cNvSpPr/>
          <p:nvPr/>
        </p:nvSpPr>
        <p:spPr>
          <a:xfrm>
            <a:off x="685800" y="1801368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5_1_t"/>
          <p:cNvSpPr/>
          <p:nvPr/>
        </p:nvSpPr>
        <p:spPr>
          <a:xfrm>
            <a:off x="1234440" y="1783080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receives a new resident account notification.</a:t>
            </a:r>
            <a:endParaRPr lang="en-US" sz="1800" dirty="0"/>
          </a:p>
        </p:txBody>
      </p:sp>
      <p:sp>
        <p:nvSpPr>
          <p:cNvPr id="13" name="p5_2_c"/>
          <p:cNvSpPr/>
          <p:nvPr/>
        </p:nvSpPr>
        <p:spPr>
          <a:xfrm>
            <a:off x="685800" y="288645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5_2_t"/>
          <p:cNvSpPr/>
          <p:nvPr/>
        </p:nvSpPr>
        <p:spPr>
          <a:xfrm>
            <a:off x="1234440" y="2868168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the notification opens Pending Accounts.</a:t>
            </a:r>
            <a:endParaRPr lang="en-US" sz="1800" dirty="0"/>
          </a:p>
        </p:txBody>
      </p:sp>
      <p:sp>
        <p:nvSpPr>
          <p:cNvPr id="15" name="p5_3_c"/>
          <p:cNvSpPr/>
          <p:nvPr/>
        </p:nvSpPr>
        <p:spPr>
          <a:xfrm>
            <a:off x="685800" y="397154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5_3_t"/>
          <p:cNvSpPr/>
          <p:nvPr/>
        </p:nvSpPr>
        <p:spPr>
          <a:xfrm>
            <a:off x="1234440" y="3953256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resident appears in the verification queue.</a:t>
            </a:r>
            <a:endParaRPr lang="en-US" sz="1800" dirty="0"/>
          </a:p>
        </p:txBody>
      </p:sp>
      <p:sp>
        <p:nvSpPr>
          <p:cNvPr id="17" name="p5_4_c"/>
          <p:cNvSpPr/>
          <p:nvPr/>
        </p:nvSpPr>
        <p:spPr>
          <a:xfrm>
            <a:off x="685800" y="5056632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5_4_t"/>
          <p:cNvSpPr/>
          <p:nvPr/>
        </p:nvSpPr>
        <p:spPr>
          <a:xfrm>
            <a:off x="1234440" y="5038344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can review, approve, or reject the request.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5800" y="614476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details masked for this presentation.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17564" y="1367028"/>
            <a:ext cx="2589438" cy="4690872"/>
          </a:xfrm>
          <a:prstGeom prst="roundRect">
            <a:avLst>
              <a:gd name="adj" fmla="val 282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admin verification/06-admin-notification-new-resident-accoun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7856" y="1417320"/>
            <a:ext cx="2488854" cy="45902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747816" y="6117336"/>
            <a:ext cx="31289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notification inbox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996890" y="1367028"/>
            <a:ext cx="2420057" cy="4690872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admin verification/07-admin-pending-account-verification-list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7182" y="1417320"/>
            <a:ext cx="2319473" cy="45902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8727142" y="6117336"/>
            <a:ext cx="29595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account verifications</a:t>
            </a:r>
            <a:endParaRPr lang="en-US" sz="1600" dirty="0"/>
          </a:p>
        </p:txBody>
      </p:sp>
      <p:sp>
        <p:nvSpPr>
          <p:cNvPr id="26" name="arrow5"/>
          <p:cNvSpPr/>
          <p:nvPr/>
        </p:nvSpPr>
        <p:spPr>
          <a:xfrm>
            <a:off x="7867606" y="3456432"/>
            <a:ext cx="868680" cy="512064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7" name="arrow5t"/>
          <p:cNvSpPr/>
          <p:nvPr/>
        </p:nvSpPr>
        <p:spPr>
          <a:xfrm>
            <a:off x="7684726" y="3072384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9824206" y="4107229"/>
            <a:ext cx="405908" cy="128528"/>
          </a:xfrm>
          <a:prstGeom prst="roundRect">
            <a:avLst>
              <a:gd name="adj" fmla="val 35572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5_1"/>
          <p:cNvSpPr/>
          <p:nvPr/>
        </p:nvSpPr>
        <p:spPr>
          <a:xfrm>
            <a:off x="5157455" y="3280977"/>
            <a:ext cx="2309657" cy="550835"/>
          </a:xfrm>
          <a:prstGeom prst="roundRect">
            <a:avLst>
              <a:gd name="adj" fmla="val 996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b5_1"/>
          <p:cNvSpPr/>
          <p:nvPr/>
        </p:nvSpPr>
        <p:spPr>
          <a:xfrm>
            <a:off x="4959642" y="3098097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5_1_t"/>
          <p:cNvSpPr/>
          <p:nvPr/>
        </p:nvSpPr>
        <p:spPr>
          <a:xfrm>
            <a:off x="4959642" y="3098097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h5_3"/>
          <p:cNvSpPr/>
          <p:nvPr/>
        </p:nvSpPr>
        <p:spPr>
          <a:xfrm>
            <a:off x="9126044" y="3840992"/>
            <a:ext cx="2157109" cy="587557"/>
          </a:xfrm>
          <a:prstGeom prst="roundRect">
            <a:avLst>
              <a:gd name="adj" fmla="val 933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3" name="b5_3"/>
          <p:cNvSpPr/>
          <p:nvPr/>
        </p:nvSpPr>
        <p:spPr>
          <a:xfrm>
            <a:off x="8933887" y="366729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4" name="b5_3_t"/>
          <p:cNvSpPr/>
          <p:nvPr/>
        </p:nvSpPr>
        <p:spPr>
          <a:xfrm>
            <a:off x="8933887" y="366729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5" name="h5_4"/>
          <p:cNvSpPr/>
          <p:nvPr/>
        </p:nvSpPr>
        <p:spPr>
          <a:xfrm>
            <a:off x="9139961" y="4456091"/>
            <a:ext cx="2133915" cy="229514"/>
          </a:xfrm>
          <a:prstGeom prst="roundRect">
            <a:avLst>
              <a:gd name="adj" fmla="val 23904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5_4"/>
          <p:cNvSpPr/>
          <p:nvPr/>
        </p:nvSpPr>
        <p:spPr>
          <a:xfrm>
            <a:off x="10024039" y="4732239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5_4_t"/>
          <p:cNvSpPr/>
          <p:nvPr/>
        </p:nvSpPr>
        <p:spPr>
          <a:xfrm>
            <a:off x="10024039" y="473223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38" name="b5_2"/>
          <p:cNvSpPr/>
          <p:nvPr/>
        </p:nvSpPr>
        <p:spPr>
          <a:xfrm>
            <a:off x="8119066" y="2956072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9" name="b5_2_t"/>
          <p:cNvSpPr/>
          <p:nvPr/>
        </p:nvSpPr>
        <p:spPr>
          <a:xfrm>
            <a:off x="8119066" y="29560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40" name="Text 36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7">
            <a:hlinkClick r:id="rId3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4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5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6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7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8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9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0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1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2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3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4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5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6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7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8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9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20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21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>
            <a:hlinkClick r:id="rId22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7">
            <a:hlinkClick r:id="rId23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8">
            <a:hlinkClick r:id="rId24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9">
            <a:hlinkClick r:id="rId25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60">
            <a:hlinkClick r:id="rId26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1">
            <a:hlinkClick r:id="rId27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2">
            <a:hlinkClick r:id="rId28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7" name="Text 63">
            <a:hlinkClick r:id="rId29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8" name="Text 64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Reviews and Approves the Account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4343400" cy="463600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6_1_c"/>
          <p:cNvSpPr/>
          <p:nvPr/>
        </p:nvSpPr>
        <p:spPr>
          <a:xfrm>
            <a:off x="704088" y="182880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6_1_t"/>
          <p:cNvSpPr/>
          <p:nvPr/>
        </p:nvSpPr>
        <p:spPr>
          <a:xfrm>
            <a:off x="1252728" y="1810512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resident’s submitted account information.</a:t>
            </a:r>
            <a:endParaRPr lang="en-US" sz="1800" dirty="0"/>
          </a:p>
        </p:txBody>
      </p:sp>
      <p:sp>
        <p:nvSpPr>
          <p:cNvPr id="13" name="p6_2_c"/>
          <p:cNvSpPr/>
          <p:nvPr/>
        </p:nvSpPr>
        <p:spPr>
          <a:xfrm>
            <a:off x="704088" y="283464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6_2_t"/>
          <p:cNvSpPr/>
          <p:nvPr/>
        </p:nvSpPr>
        <p:spPr>
          <a:xfrm>
            <a:off x="1252728" y="2816352"/>
            <a:ext cx="3209544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that the identity and address details are valid.</a:t>
            </a:r>
            <a:endParaRPr lang="en-US" sz="1800" dirty="0"/>
          </a:p>
        </p:txBody>
      </p:sp>
      <p:sp>
        <p:nvSpPr>
          <p:cNvPr id="15" name="p6_3_c"/>
          <p:cNvSpPr/>
          <p:nvPr/>
        </p:nvSpPr>
        <p:spPr>
          <a:xfrm>
            <a:off x="704088" y="412394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6_3_t"/>
          <p:cNvSpPr/>
          <p:nvPr/>
        </p:nvSpPr>
        <p:spPr>
          <a:xfrm>
            <a:off x="1252728" y="4105656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Approve for a valid registration.</a:t>
            </a:r>
            <a:endParaRPr lang="en-US" sz="1800" dirty="0"/>
          </a:p>
        </p:txBody>
      </p:sp>
      <p:sp>
        <p:nvSpPr>
          <p:cNvPr id="17" name="p6_4_c"/>
          <p:cNvSpPr/>
          <p:nvPr/>
        </p:nvSpPr>
        <p:spPr>
          <a:xfrm>
            <a:off x="704088" y="512978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6_4_t"/>
          <p:cNvSpPr/>
          <p:nvPr/>
        </p:nvSpPr>
        <p:spPr>
          <a:xfrm>
            <a:off x="1252728" y="5111496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approval action.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4088" y="6144768"/>
            <a:ext cx="3941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details masked for this presentation.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734991" y="1367028"/>
            <a:ext cx="2434745" cy="4690872"/>
          </a:xfrm>
          <a:prstGeom prst="roundRect">
            <a:avLst>
              <a:gd name="adj" fmla="val 300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admin verification/08-admin-review-resident-account-detail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5283" y="1417320"/>
            <a:ext cx="2334161" cy="45902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465243" y="6117336"/>
            <a:ext cx="2974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account details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709232" y="1367028"/>
            <a:ext cx="2420057" cy="4690872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admin verification/09-admin-approve-account-confirma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524" y="1417320"/>
            <a:ext cx="2319473" cy="45902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8439484" y="6117336"/>
            <a:ext cx="29595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confirmation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6147078" y="2867851"/>
            <a:ext cx="396807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147078" y="3170810"/>
            <a:ext cx="816957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182090" y="3492130"/>
            <a:ext cx="326783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990689" y="3795089"/>
            <a:ext cx="175062" cy="110167"/>
          </a:xfrm>
          <a:prstGeom prst="roundRect">
            <a:avLst>
              <a:gd name="adj" fmla="val 41501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h6_1"/>
          <p:cNvSpPr/>
          <p:nvPr/>
        </p:nvSpPr>
        <p:spPr>
          <a:xfrm>
            <a:off x="5948674" y="2427183"/>
            <a:ext cx="1984037" cy="1156753"/>
          </a:xfrm>
          <a:prstGeom prst="roundRect">
            <a:avLst>
              <a:gd name="adj" fmla="val 4743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1" name="b6_1"/>
          <p:cNvSpPr/>
          <p:nvPr/>
        </p:nvSpPr>
        <p:spPr>
          <a:xfrm>
            <a:off x="5730781" y="224430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2" name="b6_1_t"/>
          <p:cNvSpPr/>
          <p:nvPr/>
        </p:nvSpPr>
        <p:spPr>
          <a:xfrm>
            <a:off x="5730781" y="224430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3" name="h6_2"/>
          <p:cNvSpPr/>
          <p:nvPr/>
        </p:nvSpPr>
        <p:spPr>
          <a:xfrm>
            <a:off x="5948674" y="3611478"/>
            <a:ext cx="1984037" cy="973141"/>
          </a:xfrm>
          <a:prstGeom prst="roundRect">
            <a:avLst>
              <a:gd name="adj" fmla="val 563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4" name="b6_2"/>
          <p:cNvSpPr/>
          <p:nvPr/>
        </p:nvSpPr>
        <p:spPr>
          <a:xfrm>
            <a:off x="5730781" y="3428598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5" name="b6_2_t"/>
          <p:cNvSpPr/>
          <p:nvPr/>
        </p:nvSpPr>
        <p:spPr>
          <a:xfrm>
            <a:off x="5730781" y="342859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6" name="h6_3"/>
          <p:cNvSpPr/>
          <p:nvPr/>
        </p:nvSpPr>
        <p:spPr>
          <a:xfrm>
            <a:off x="10341404" y="4483632"/>
            <a:ext cx="579868" cy="183612"/>
          </a:xfrm>
          <a:prstGeom prst="roundRect">
            <a:avLst>
              <a:gd name="adj" fmla="val 2988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7" name="b6_3"/>
          <p:cNvSpPr/>
          <p:nvPr/>
        </p:nvSpPr>
        <p:spPr>
          <a:xfrm>
            <a:off x="10432222" y="466797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8" name="b6_3_t"/>
          <p:cNvSpPr/>
          <p:nvPr/>
        </p:nvSpPr>
        <p:spPr>
          <a:xfrm>
            <a:off x="10432222" y="466797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9" name="h6_4"/>
          <p:cNvSpPr/>
          <p:nvPr/>
        </p:nvSpPr>
        <p:spPr>
          <a:xfrm>
            <a:off x="9942455" y="3932798"/>
            <a:ext cx="777023" cy="252466"/>
          </a:xfrm>
          <a:prstGeom prst="roundRect">
            <a:avLst>
              <a:gd name="adj" fmla="val 2173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40" name="b6_4"/>
          <p:cNvSpPr/>
          <p:nvPr/>
        </p:nvSpPr>
        <p:spPr>
          <a:xfrm>
            <a:off x="10606183" y="3873856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1" name="b6_4_t"/>
          <p:cNvSpPr/>
          <p:nvPr/>
        </p:nvSpPr>
        <p:spPr>
          <a:xfrm>
            <a:off x="10606183" y="38738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2" name="Text 38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3" name="Text 39">
            <a:hlinkClick r:id="rId3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4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5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6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7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8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9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0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1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2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3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4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5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6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7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18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19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>
            <a:hlinkClick r:id="rId20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7">
            <a:hlinkClick r:id="rId21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8">
            <a:hlinkClick r:id="rId22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9">
            <a:hlinkClick r:id="rId23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60">
            <a:hlinkClick r:id="rId24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1">
            <a:hlinkClick r:id="rId25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2">
            <a:hlinkClick r:id="rId26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7" name="Text 63">
            <a:hlinkClick r:id="rId27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8" name="Text 64">
            <a:hlinkClick r:id="rId28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9" name="Text 65">
            <a:hlinkClick r:id="rId29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0" name="Text 66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Verification Completed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1417320"/>
            <a:ext cx="47548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3" name="p7_1_c"/>
          <p:cNvSpPr/>
          <p:nvPr/>
        </p:nvSpPr>
        <p:spPr>
          <a:xfrm>
            <a:off x="685800" y="166420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7_1_t"/>
          <p:cNvSpPr/>
          <p:nvPr/>
        </p:nvSpPr>
        <p:spPr>
          <a:xfrm>
            <a:off x="1234440" y="1645920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receives an SMS confirming account approval.</a:t>
            </a:r>
            <a:endParaRPr lang="en-US" sz="1800" dirty="0"/>
          </a:p>
        </p:txBody>
      </p:sp>
      <p:sp>
        <p:nvSpPr>
          <p:cNvPr id="15" name="p7_2_c"/>
          <p:cNvSpPr/>
          <p:nvPr/>
        </p:nvSpPr>
        <p:spPr>
          <a:xfrm>
            <a:off x="685800" y="241706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7_2_t"/>
          <p:cNvSpPr/>
          <p:nvPr/>
        </p:nvSpPr>
        <p:spPr>
          <a:xfrm>
            <a:off x="1234440" y="2398776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Registered Accounts to view all approved profiles.</a:t>
            </a:r>
            <a:endParaRPr lang="en-US" sz="1800" dirty="0"/>
          </a:p>
        </p:txBody>
      </p:sp>
      <p:sp>
        <p:nvSpPr>
          <p:cNvPr id="17" name="p7_3_c"/>
          <p:cNvSpPr/>
          <p:nvPr/>
        </p:nvSpPr>
        <p:spPr>
          <a:xfrm>
            <a:off x="685800" y="316992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7_3_t"/>
          <p:cNvSpPr/>
          <p:nvPr/>
        </p:nvSpPr>
        <p:spPr>
          <a:xfrm>
            <a:off x="1234440" y="3151632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appears in the Registered Accounts list.</a:t>
            </a:r>
            <a:endParaRPr lang="en-US" sz="1800" dirty="0"/>
          </a:p>
        </p:txBody>
      </p:sp>
      <p:sp>
        <p:nvSpPr>
          <p:cNvPr id="19" name="p7_4_c"/>
          <p:cNvSpPr/>
          <p:nvPr/>
        </p:nvSpPr>
        <p:spPr>
          <a:xfrm>
            <a:off x="685800" y="392277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7_4_t"/>
          <p:cNvSpPr/>
          <p:nvPr/>
        </p:nvSpPr>
        <p:spPr>
          <a:xfrm>
            <a:off x="1234440" y="3904488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status changes to Verified.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11480" y="4727448"/>
            <a:ext cx="4754880" cy="1216152"/>
          </a:xfrm>
          <a:prstGeom prst="roundRect">
            <a:avLst>
              <a:gd name="adj" fmla="val 9023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0936" y="4782312"/>
            <a:ext cx="4315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TO THE RESIDENT</a:t>
            </a:r>
            <a:endParaRPr lang="en-US" sz="1200" dirty="0"/>
          </a:p>
        </p:txBody>
      </p:sp>
      <p:sp>
        <p:nvSpPr>
          <p:cNvPr id="23" name="s7_sms_f"/>
          <p:cNvSpPr/>
          <p:nvPr/>
        </p:nvSpPr>
        <p:spPr>
          <a:xfrm>
            <a:off x="1120140" y="4965192"/>
            <a:ext cx="3337560" cy="1004888"/>
          </a:xfrm>
          <a:prstGeom prst="roundRect">
            <a:avLst>
              <a:gd name="adj" fmla="val 6370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pic>
        <p:nvPicPr>
          <p:cNvPr id="24" name="s7_sms" descr="C:/NogorShomadhan/User Manual/Phase 1/admin verification/10-resident-account-approved-sm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5010912"/>
            <a:ext cx="3246120" cy="913448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5486400" y="1417320"/>
            <a:ext cx="6293815" cy="4526280"/>
          </a:xfrm>
          <a:prstGeom prst="roundRect">
            <a:avLst>
              <a:gd name="adj" fmla="val 2424"/>
            </a:avLst>
          </a:prstGeom>
          <a:solidFill>
            <a:srgbClr val="FFFAF2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5661402" y="1517904"/>
            <a:ext cx="252228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9079798" y="1517904"/>
            <a:ext cx="25254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accounts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5885430" y="1906524"/>
            <a:ext cx="2074229" cy="4014216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9" name="Image 1" descr="C:/NogorShomadhan/User Manual/Phase 1/admin registration accounts view/11-admin-dashboard-showing-registeredaccounts-op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5722" y="1956816"/>
            <a:ext cx="1973645" cy="3913632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9303826" y="1906524"/>
            <a:ext cx="2077360" cy="4014216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1" name="Image 2" descr="C:/NogorShomadhan/User Manual/Phase 1/admin registration accounts view/12-admin-registered-account-verified-list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118" y="1956816"/>
            <a:ext cx="1976776" cy="3913632"/>
          </a:xfrm>
          <a:prstGeom prst="rect">
            <a:avLst/>
          </a:prstGeom>
        </p:spPr>
      </p:pic>
      <p:sp>
        <p:nvSpPr>
          <p:cNvPr id="32" name="arrow7"/>
          <p:cNvSpPr/>
          <p:nvPr/>
        </p:nvSpPr>
        <p:spPr>
          <a:xfrm>
            <a:off x="8220262" y="3657600"/>
            <a:ext cx="822960" cy="512064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9660518" y="4737452"/>
            <a:ext cx="711639" cy="93927"/>
          </a:xfrm>
          <a:prstGeom prst="roundRect">
            <a:avLst>
              <a:gd name="adj" fmla="val 4867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9660518" y="5034888"/>
            <a:ext cx="256981" cy="93927"/>
          </a:xfrm>
          <a:prstGeom prst="roundRect">
            <a:avLst>
              <a:gd name="adj" fmla="val 4867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5" name="h7_2"/>
          <p:cNvSpPr/>
          <p:nvPr/>
        </p:nvSpPr>
        <p:spPr>
          <a:xfrm>
            <a:off x="6006773" y="4864645"/>
            <a:ext cx="1831542" cy="461809"/>
          </a:xfrm>
          <a:prstGeom prst="roundRect">
            <a:avLst>
              <a:gd name="adj" fmla="val 1188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7_2"/>
          <p:cNvSpPr/>
          <p:nvPr/>
        </p:nvSpPr>
        <p:spPr>
          <a:xfrm>
            <a:off x="5812051" y="468176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7_2_t"/>
          <p:cNvSpPr/>
          <p:nvPr/>
        </p:nvSpPr>
        <p:spPr>
          <a:xfrm>
            <a:off x="5812051" y="468176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h7_3"/>
          <p:cNvSpPr/>
          <p:nvPr/>
        </p:nvSpPr>
        <p:spPr>
          <a:xfrm>
            <a:off x="9425282" y="4140623"/>
            <a:ext cx="1834448" cy="1260190"/>
          </a:xfrm>
          <a:prstGeom prst="roundRect">
            <a:avLst>
              <a:gd name="adj" fmla="val 4354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9" name="b7_3"/>
          <p:cNvSpPr/>
          <p:nvPr/>
        </p:nvSpPr>
        <p:spPr>
          <a:xfrm>
            <a:off x="9230541" y="395774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0" name="b7_3_t"/>
          <p:cNvSpPr/>
          <p:nvPr/>
        </p:nvSpPr>
        <p:spPr>
          <a:xfrm>
            <a:off x="9230541" y="395774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1" name="h7_4"/>
          <p:cNvSpPr/>
          <p:nvPr/>
        </p:nvSpPr>
        <p:spPr>
          <a:xfrm>
            <a:off x="10840653" y="4234550"/>
            <a:ext cx="365703" cy="117409"/>
          </a:xfrm>
          <a:prstGeom prst="roundRect">
            <a:avLst>
              <a:gd name="adj" fmla="val 46729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42" name="b7_4"/>
          <p:cNvSpPr/>
          <p:nvPr/>
        </p:nvSpPr>
        <p:spPr>
          <a:xfrm>
            <a:off x="10466026" y="403601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3" name="b7_4_t"/>
          <p:cNvSpPr/>
          <p:nvPr/>
        </p:nvSpPr>
        <p:spPr>
          <a:xfrm>
            <a:off x="10466026" y="403601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4" name="b7_1"/>
          <p:cNvSpPr/>
          <p:nvPr/>
        </p:nvSpPr>
        <p:spPr>
          <a:xfrm>
            <a:off x="804443" y="5284756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5" name="b7_1_t"/>
          <p:cNvSpPr/>
          <p:nvPr/>
        </p:nvSpPr>
        <p:spPr>
          <a:xfrm>
            <a:off x="804443" y="52847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6" name="out7_bg"/>
          <p:cNvSpPr/>
          <p:nvPr/>
        </p:nvSpPr>
        <p:spPr>
          <a:xfrm>
            <a:off x="411480" y="6035040"/>
            <a:ext cx="11368735" cy="457200"/>
          </a:xfrm>
          <a:prstGeom prst="roundRect">
            <a:avLst>
              <a:gd name="adj" fmla="val 20000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7" name="out7_tx"/>
          <p:cNvSpPr/>
          <p:nvPr/>
        </p:nvSpPr>
        <p:spPr>
          <a:xfrm>
            <a:off x="411480" y="6035040"/>
            <a:ext cx="113687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can now sign in and begin reporting community problems.</a:t>
            </a:r>
            <a:endParaRPr lang="en-US" sz="1850" dirty="0"/>
          </a:p>
        </p:txBody>
      </p:sp>
      <p:sp>
        <p:nvSpPr>
          <p:cNvPr id="48" name="Text 4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9" name="Text 44">
            <a:hlinkClick r:id="rId4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5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6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7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8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9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10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11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12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13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14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15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16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17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18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>
            <a:hlinkClick r:id="rId19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0">
            <a:hlinkClick r:id="rId20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1">
            <a:hlinkClick r:id="rId21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7" name="Text 62">
            <a:hlinkClick r:id="rId22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8" name="Text 63">
            <a:hlinkClick r:id="rId23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9" name="Text 64">
            <a:hlinkClick r:id="rId24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0" name="Text 65">
            <a:hlinkClick r:id="rId25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1" name="Text 66">
            <a:hlinkClick r:id="rId26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2" name="Text 67">
            <a:hlinkClick r:id="rId27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3" name="Text 68">
            <a:hlinkClick r:id="rId28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4" name="Text 69">
            <a:hlinkClick r:id="rId29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5" name="Text 70">
            <a:hlinkClick r:id="rId30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6" name="Text 71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RESIDENT SUBMITS A COMPLAINT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Complaint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89888"/>
            <a:ext cx="1136873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1389888"/>
            <a:ext cx="82296" cy="6949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138988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opens the complaint form and provides clear information about the community issue and its location.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" y="2176272"/>
            <a:ext cx="3474720" cy="4151376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8_1_c"/>
          <p:cNvSpPr/>
          <p:nvPr/>
        </p:nvSpPr>
        <p:spPr>
          <a:xfrm>
            <a:off x="667512" y="2505456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p8_1_t"/>
          <p:cNvSpPr/>
          <p:nvPr/>
        </p:nvSpPr>
        <p:spPr>
          <a:xfrm>
            <a:off x="1216152" y="2487168"/>
            <a:ext cx="2414016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Complaints from the Resident Dashboard.</a:t>
            </a:r>
            <a:endParaRPr lang="en-US" sz="1800" dirty="0"/>
          </a:p>
        </p:txBody>
      </p:sp>
      <p:sp>
        <p:nvSpPr>
          <p:cNvPr id="16" name="p8_2_c"/>
          <p:cNvSpPr/>
          <p:nvPr/>
        </p:nvSpPr>
        <p:spPr>
          <a:xfrm>
            <a:off x="667512" y="3589020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p8_2_t"/>
          <p:cNvSpPr/>
          <p:nvPr/>
        </p:nvSpPr>
        <p:spPr>
          <a:xfrm>
            <a:off x="1216152" y="3570732"/>
            <a:ext cx="241401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New Complaint tab.</a:t>
            </a:r>
            <a:endParaRPr lang="en-US" sz="1800" dirty="0"/>
          </a:p>
        </p:txBody>
      </p:sp>
      <p:sp>
        <p:nvSpPr>
          <p:cNvPr id="18" name="p8_3_c"/>
          <p:cNvSpPr/>
          <p:nvPr/>
        </p:nvSpPr>
        <p:spPr>
          <a:xfrm>
            <a:off x="667512" y="4389120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8_3_t"/>
          <p:cNvSpPr/>
          <p:nvPr/>
        </p:nvSpPr>
        <p:spPr>
          <a:xfrm>
            <a:off x="1216152" y="4370832"/>
            <a:ext cx="2414016" cy="1755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complaint title, description, incident address, nearby landmark, and additional location details.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480768" y="2125980"/>
            <a:ext cx="2228164" cy="4251960"/>
          </a:xfrm>
          <a:prstGeom prst="roundRect">
            <a:avLst>
              <a:gd name="adj" fmla="val 328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2/resident submits complaint/13-resident-dashboard selecting-complain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31060" y="2176272"/>
            <a:ext cx="2127580" cy="4151376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6882669" y="2125980"/>
            <a:ext cx="2218616" cy="4251960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1" descr="C:/NogorShomadhan/User Manual/Phase 2/resident submits complaint/14-resident-opens-submit-compl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2961" y="2176272"/>
            <a:ext cx="2118032" cy="4151376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9275021" y="2125980"/>
            <a:ext cx="2221522" cy="4251960"/>
          </a:xfrm>
          <a:prstGeom prst="roundRect">
            <a:avLst>
              <a:gd name="adj" fmla="val 329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5" name="Image 2" descr="C:/NogorShomadhan/User Manual/Phase 2/resident submits complaint/15-add-title-description-addres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5313" y="2176272"/>
            <a:ext cx="2120938" cy="4151376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686073" y="4078224"/>
            <a:ext cx="219456" cy="347472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078425" y="4078224"/>
            <a:ext cx="219456" cy="347472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8" name="h8_1"/>
          <p:cNvSpPr/>
          <p:nvPr/>
        </p:nvSpPr>
        <p:spPr>
          <a:xfrm>
            <a:off x="5158697" y="6095171"/>
            <a:ext cx="372327" cy="190963"/>
          </a:xfrm>
          <a:prstGeom prst="roundRect">
            <a:avLst>
              <a:gd name="adj" fmla="val 2873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9" name="b8_1"/>
          <p:cNvSpPr/>
          <p:nvPr/>
        </p:nvSpPr>
        <p:spPr>
          <a:xfrm>
            <a:off x="5163044" y="5721328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0" name="b8_1_t"/>
          <p:cNvSpPr/>
          <p:nvPr/>
        </p:nvSpPr>
        <p:spPr>
          <a:xfrm>
            <a:off x="5163044" y="5721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1" name="h8_2"/>
          <p:cNvSpPr/>
          <p:nvPr/>
        </p:nvSpPr>
        <p:spPr>
          <a:xfrm>
            <a:off x="7021918" y="2641226"/>
            <a:ext cx="677770" cy="224174"/>
          </a:xfrm>
          <a:prstGeom prst="roundRect">
            <a:avLst>
              <a:gd name="adj" fmla="val 24474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b8_2"/>
          <p:cNvSpPr/>
          <p:nvPr/>
        </p:nvSpPr>
        <p:spPr>
          <a:xfrm>
            <a:off x="6881399" y="2890089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3" name="b8_2_t"/>
          <p:cNvSpPr/>
          <p:nvPr/>
        </p:nvSpPr>
        <p:spPr>
          <a:xfrm>
            <a:off x="6881399" y="289008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4" name="h8_3a"/>
          <p:cNvSpPr/>
          <p:nvPr/>
        </p:nvSpPr>
        <p:spPr>
          <a:xfrm>
            <a:off x="9431360" y="3155997"/>
            <a:ext cx="1908844" cy="896697"/>
          </a:xfrm>
          <a:prstGeom prst="roundRect">
            <a:avLst>
              <a:gd name="adj" fmla="val 6118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h8_3b"/>
          <p:cNvSpPr/>
          <p:nvPr/>
        </p:nvSpPr>
        <p:spPr>
          <a:xfrm>
            <a:off x="9431360" y="4119116"/>
            <a:ext cx="1908844" cy="1619037"/>
          </a:xfrm>
          <a:prstGeom prst="roundRect">
            <a:avLst>
              <a:gd name="adj" fmla="val 3389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6" name="b8_3"/>
          <p:cNvSpPr/>
          <p:nvPr/>
        </p:nvSpPr>
        <p:spPr>
          <a:xfrm>
            <a:off x="9248480" y="3936236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8_3_t"/>
          <p:cNvSpPr/>
          <p:nvPr/>
        </p:nvSpPr>
        <p:spPr>
          <a:xfrm>
            <a:off x="9248480" y="39362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8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9" name="Text 34">
            <a:hlinkClick r:id="rId4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5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6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7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8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9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0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1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2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3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4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5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6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7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8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9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0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1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2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3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4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5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6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27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28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>
            <a:hlinkClick r:id="rId29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0">
            <a:hlinkClick r:id="rId30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1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RESIDENT SUBMITS A COMPLAINT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Evidence and Review the Category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89888"/>
            <a:ext cx="1136873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1389888"/>
            <a:ext cx="82296" cy="6949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138988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evidence is optional. The system suggests a category from the complaint information, but the resident can change it before submission.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" y="2176272"/>
            <a:ext cx="3931920" cy="4151376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9_1_c"/>
          <p:cNvSpPr/>
          <p:nvPr/>
        </p:nvSpPr>
        <p:spPr>
          <a:xfrm>
            <a:off x="685800" y="2523744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p9_1_t"/>
          <p:cNvSpPr/>
          <p:nvPr/>
        </p:nvSpPr>
        <p:spPr>
          <a:xfrm>
            <a:off x="1234440" y="2505456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attach photo evidence using the camera or gallery.</a:t>
            </a:r>
            <a:endParaRPr lang="en-US" sz="1800" dirty="0"/>
          </a:p>
        </p:txBody>
      </p:sp>
      <p:sp>
        <p:nvSpPr>
          <p:cNvPr id="16" name="p9_2_c"/>
          <p:cNvSpPr/>
          <p:nvPr/>
        </p:nvSpPr>
        <p:spPr>
          <a:xfrm>
            <a:off x="685800" y="3739896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p9_2_t"/>
          <p:cNvSpPr/>
          <p:nvPr/>
        </p:nvSpPr>
        <p:spPr>
          <a:xfrm>
            <a:off x="1234440" y="3721608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category automatically suggested by the AI.</a:t>
            </a:r>
            <a:endParaRPr lang="en-US" sz="1800" dirty="0"/>
          </a:p>
        </p:txBody>
      </p:sp>
      <p:sp>
        <p:nvSpPr>
          <p:cNvPr id="18" name="p9_3_c"/>
          <p:cNvSpPr/>
          <p:nvPr/>
        </p:nvSpPr>
        <p:spPr>
          <a:xfrm>
            <a:off x="685800" y="495604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9_3_t"/>
          <p:cNvSpPr/>
          <p:nvPr/>
        </p:nvSpPr>
        <p:spPr>
          <a:xfrm>
            <a:off x="1234440" y="49377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necessary, open the category menu and select a more appropriate category manually.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347935" y="2125980"/>
            <a:ext cx="2185820" cy="4251960"/>
          </a:xfrm>
          <a:prstGeom prst="roundRect">
            <a:avLst>
              <a:gd name="adj" fmla="val 334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2/resident submits complaint/16-add-photo-evidence-if-desi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8227" y="2176272"/>
            <a:ext cx="2085236" cy="4151376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877923" y="2125980"/>
            <a:ext cx="2208653" cy="4251960"/>
          </a:xfrm>
          <a:prstGeom prst="roundRect">
            <a:avLst>
              <a:gd name="adj" fmla="val 3312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1" descr="C:/NogorShomadhan/User Manual/Phase 2/categorization/19-choose-from-category op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8215" y="2176272"/>
            <a:ext cx="2108069" cy="4151376"/>
          </a:xfrm>
          <a:prstGeom prst="rect">
            <a:avLst/>
          </a:prstGeom>
        </p:spPr>
      </p:pic>
      <p:sp>
        <p:nvSpPr>
          <p:cNvPr id="24" name="arrow9"/>
          <p:cNvSpPr/>
          <p:nvPr/>
        </p:nvSpPr>
        <p:spPr>
          <a:xfrm>
            <a:off x="7794359" y="3995928"/>
            <a:ext cx="822960" cy="512064"/>
          </a:xfrm>
          <a:prstGeom prst="rightArrow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5" name="arrow9t"/>
          <p:cNvSpPr/>
          <p:nvPr/>
        </p:nvSpPr>
        <p:spPr>
          <a:xfrm>
            <a:off x="7611479" y="359359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</a:t>
            </a:r>
            <a:endParaRPr lang="en-US" sz="1300" dirty="0"/>
          </a:p>
        </p:txBody>
      </p:sp>
      <p:sp>
        <p:nvSpPr>
          <p:cNvPr id="26" name="h9_1a"/>
          <p:cNvSpPr/>
          <p:nvPr/>
        </p:nvSpPr>
        <p:spPr>
          <a:xfrm>
            <a:off x="5585898" y="3629254"/>
            <a:ext cx="1709894" cy="855183"/>
          </a:xfrm>
          <a:prstGeom prst="roundRect">
            <a:avLst>
              <a:gd name="adj" fmla="val 6415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7" name="h9_1b"/>
          <p:cNvSpPr/>
          <p:nvPr/>
        </p:nvSpPr>
        <p:spPr>
          <a:xfrm>
            <a:off x="5577557" y="4501043"/>
            <a:ext cx="471263" cy="489862"/>
          </a:xfrm>
          <a:prstGeom prst="roundRect">
            <a:avLst>
              <a:gd name="adj" fmla="val 1164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8" name="b9_1"/>
          <p:cNvSpPr/>
          <p:nvPr/>
        </p:nvSpPr>
        <p:spPr>
          <a:xfrm>
            <a:off x="5267478" y="3446374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9" name="b9_1_t"/>
          <p:cNvSpPr/>
          <p:nvPr/>
        </p:nvSpPr>
        <p:spPr>
          <a:xfrm>
            <a:off x="5267478" y="344637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0" name="h9_2a"/>
          <p:cNvSpPr/>
          <p:nvPr/>
        </p:nvSpPr>
        <p:spPr>
          <a:xfrm>
            <a:off x="5585898" y="5347923"/>
            <a:ext cx="1709894" cy="315505"/>
          </a:xfrm>
          <a:prstGeom prst="roundRect">
            <a:avLst>
              <a:gd name="adj" fmla="val 17389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1" name="h9_2b"/>
          <p:cNvSpPr/>
          <p:nvPr/>
        </p:nvSpPr>
        <p:spPr>
          <a:xfrm>
            <a:off x="5573387" y="5646822"/>
            <a:ext cx="1634825" cy="157752"/>
          </a:xfrm>
          <a:prstGeom prst="roundRect">
            <a:avLst>
              <a:gd name="adj" fmla="val 34779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b9_2"/>
          <p:cNvSpPr/>
          <p:nvPr/>
        </p:nvSpPr>
        <p:spPr>
          <a:xfrm>
            <a:off x="5267478" y="5314493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3" name="b9_2_t"/>
          <p:cNvSpPr/>
          <p:nvPr/>
        </p:nvSpPr>
        <p:spPr>
          <a:xfrm>
            <a:off x="5267478" y="531449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4" name="h9_3"/>
          <p:cNvSpPr/>
          <p:nvPr/>
        </p:nvSpPr>
        <p:spPr>
          <a:xfrm>
            <a:off x="9160103" y="2857098"/>
            <a:ext cx="1644294" cy="273991"/>
          </a:xfrm>
          <a:prstGeom prst="roundRect">
            <a:avLst>
              <a:gd name="adj" fmla="val 20024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b9_3"/>
          <p:cNvSpPr/>
          <p:nvPr/>
        </p:nvSpPr>
        <p:spPr>
          <a:xfrm>
            <a:off x="8888684" y="2811213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b9_3_t"/>
          <p:cNvSpPr/>
          <p:nvPr/>
        </p:nvSpPr>
        <p:spPr>
          <a:xfrm>
            <a:off x="8888684" y="281121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7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8" name="Text 34">
            <a:hlinkClick r:id="rId3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5">
            <a:hlinkClick r:id="rId4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6">
            <a:hlinkClick r:id="rId5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7">
            <a:hlinkClick r:id="rId6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7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8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9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10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11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12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3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4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5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6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7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8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9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20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21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22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23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24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>
            <a:hlinkClick r:id="rId25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7">
            <a:hlinkClick r:id="rId26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8">
            <a:hlinkClick r:id="rId27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9">
            <a:hlinkClick r:id="rId28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60">
            <a:hlinkClick r:id="rId29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1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RESIDENT SUBMITS A COMPLAINT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Complaint Submission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89888"/>
            <a:ext cx="1136873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1389888"/>
            <a:ext cx="82296" cy="6949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138988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complaint is submitted successfully and placed in the review queue. Administrative processing continues in Phase 3.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" y="2176272"/>
            <a:ext cx="4480560" cy="3584448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10_1_c"/>
          <p:cNvSpPr/>
          <p:nvPr/>
        </p:nvSpPr>
        <p:spPr>
          <a:xfrm>
            <a:off x="685800" y="2468880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p10_1_t"/>
          <p:cNvSpPr/>
          <p:nvPr/>
        </p:nvSpPr>
        <p:spPr>
          <a:xfrm>
            <a:off x="1234440" y="245059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Submit Complaint.</a:t>
            </a:r>
            <a:endParaRPr lang="en-US" sz="1800" dirty="0"/>
          </a:p>
        </p:txBody>
      </p:sp>
      <p:sp>
        <p:nvSpPr>
          <p:cNvPr id="16" name="p10_2_c"/>
          <p:cNvSpPr/>
          <p:nvPr/>
        </p:nvSpPr>
        <p:spPr>
          <a:xfrm>
            <a:off x="685800" y="2958084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p10_2_t"/>
          <p:cNvSpPr/>
          <p:nvPr/>
        </p:nvSpPr>
        <p:spPr>
          <a:xfrm>
            <a:off x="1234440" y="2939796"/>
            <a:ext cx="33832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confirmation prompt and select Yes.</a:t>
            </a:r>
            <a:endParaRPr lang="en-US" sz="1800" dirty="0"/>
          </a:p>
        </p:txBody>
      </p:sp>
      <p:sp>
        <p:nvSpPr>
          <p:cNvPr id="18" name="p10_3_c"/>
          <p:cNvSpPr/>
          <p:nvPr/>
        </p:nvSpPr>
        <p:spPr>
          <a:xfrm>
            <a:off x="685800" y="372160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10_3_t"/>
          <p:cNvSpPr/>
          <p:nvPr/>
        </p:nvSpPr>
        <p:spPr>
          <a:xfrm>
            <a:off x="1234440" y="3703320"/>
            <a:ext cx="338328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 message confirms the complaint was logged and queued for review.</a:t>
            </a:r>
            <a:endParaRPr lang="en-US" sz="1800" dirty="0"/>
          </a:p>
        </p:txBody>
      </p:sp>
      <p:sp>
        <p:nvSpPr>
          <p:cNvPr id="20" name="note10_bg"/>
          <p:cNvSpPr/>
          <p:nvPr/>
        </p:nvSpPr>
        <p:spPr>
          <a:xfrm>
            <a:off x="667512" y="4700016"/>
            <a:ext cx="3968496" cy="987552"/>
          </a:xfrm>
          <a:prstGeom prst="roundRect">
            <a:avLst>
              <a:gd name="adj" fmla="val 7407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</p:spPr>
      </p:sp>
      <p:sp>
        <p:nvSpPr>
          <p:cNvPr id="21" name="note10_tx"/>
          <p:cNvSpPr/>
          <p:nvPr/>
        </p:nvSpPr>
        <p:spPr>
          <a:xfrm>
            <a:off x="813816" y="4700016"/>
            <a:ext cx="367588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
</a:t>
            </a:r>
            <a:pPr indent="0" marL="0">
              <a:buNone/>
            </a:pPr>
            <a:r>
              <a:rPr lang="en-US" sz="16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form behind the message is the reset form, ready for the next complaint.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56599" y="2125980"/>
            <a:ext cx="1928652" cy="3685032"/>
          </a:xfrm>
          <a:prstGeom prst="roundRect">
            <a:avLst>
              <a:gd name="adj" fmla="val 379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0" descr="C:/NogorShomadhan/User Manual/Phase 2/final submit/20-confirm-submi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891" y="2176272"/>
            <a:ext cx="1828068" cy="3584448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8816188" y="2125980"/>
            <a:ext cx="1928652" cy="3685032"/>
          </a:xfrm>
          <a:prstGeom prst="roundRect">
            <a:avLst>
              <a:gd name="adj" fmla="val 379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5" name="Image 1" descr="C:/NogorShomadhan/User Manual/Phase 2/final submit/21-queue-for-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480" y="2176272"/>
            <a:ext cx="1828068" cy="3584448"/>
          </a:xfrm>
          <a:prstGeom prst="rect">
            <a:avLst/>
          </a:prstGeom>
        </p:spPr>
      </p:pic>
      <p:sp>
        <p:nvSpPr>
          <p:cNvPr id="26" name="h10_1"/>
          <p:cNvSpPr/>
          <p:nvPr/>
        </p:nvSpPr>
        <p:spPr>
          <a:xfrm>
            <a:off x="6390982" y="4721230"/>
            <a:ext cx="1656230" cy="279587"/>
          </a:xfrm>
          <a:prstGeom prst="roundRect">
            <a:avLst>
              <a:gd name="adj" fmla="val 19623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7" name="b10_1"/>
          <p:cNvSpPr/>
          <p:nvPr/>
        </p:nvSpPr>
        <p:spPr>
          <a:xfrm>
            <a:off x="6178853" y="4678144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8" name="b10_1_t"/>
          <p:cNvSpPr/>
          <p:nvPr/>
        </p:nvSpPr>
        <p:spPr>
          <a:xfrm>
            <a:off x="6178853" y="46781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29" name="h10_2"/>
          <p:cNvSpPr/>
          <p:nvPr/>
        </p:nvSpPr>
        <p:spPr>
          <a:xfrm>
            <a:off x="7239206" y="4190732"/>
            <a:ext cx="676385" cy="236574"/>
          </a:xfrm>
          <a:prstGeom prst="roundRect">
            <a:avLst>
              <a:gd name="adj" fmla="val 23191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0" name="b10_2"/>
          <p:cNvSpPr/>
          <p:nvPr/>
        </p:nvSpPr>
        <p:spPr>
          <a:xfrm>
            <a:off x="7403659" y="434479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10_2_t"/>
          <p:cNvSpPr/>
          <p:nvPr/>
        </p:nvSpPr>
        <p:spPr>
          <a:xfrm>
            <a:off x="7403659" y="434479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2" name="h10_3"/>
          <p:cNvSpPr/>
          <p:nvPr/>
        </p:nvSpPr>
        <p:spPr>
          <a:xfrm>
            <a:off x="9109613" y="3022202"/>
            <a:ext cx="1502672" cy="480316"/>
          </a:xfrm>
          <a:prstGeom prst="roundRect">
            <a:avLst>
              <a:gd name="adj" fmla="val 1142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3" name="b10_3"/>
          <p:cNvSpPr/>
          <p:nvPr/>
        </p:nvSpPr>
        <p:spPr>
          <a:xfrm>
            <a:off x="8873719" y="2839322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4" name="b10_3_t"/>
          <p:cNvSpPr/>
          <p:nvPr/>
        </p:nvSpPr>
        <p:spPr>
          <a:xfrm>
            <a:off x="8873719" y="283932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5" name="flow10_bg"/>
          <p:cNvSpPr/>
          <p:nvPr/>
        </p:nvSpPr>
        <p:spPr>
          <a:xfrm>
            <a:off x="411480" y="5870448"/>
            <a:ext cx="11368735" cy="566928"/>
          </a:xfrm>
          <a:prstGeom prst="roundRect">
            <a:avLst>
              <a:gd name="adj" fmla="val 16129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</p:spPr>
      </p:sp>
      <p:sp>
        <p:nvSpPr>
          <p:cNvPr id="36" name="flow10_p0"/>
          <p:cNvSpPr/>
          <p:nvPr/>
        </p:nvSpPr>
        <p:spPr>
          <a:xfrm>
            <a:off x="547268" y="5961888"/>
            <a:ext cx="1978762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37" name="flow10_p0_t"/>
          <p:cNvSpPr/>
          <p:nvPr/>
        </p:nvSpPr>
        <p:spPr>
          <a:xfrm>
            <a:off x="547268" y="5961888"/>
            <a:ext cx="19787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Details</a:t>
            </a:r>
            <a:endParaRPr lang="en-US" sz="1600" dirty="0"/>
          </a:p>
        </p:txBody>
      </p:sp>
      <p:sp>
        <p:nvSpPr>
          <p:cNvPr id="38" name="flow10_c0"/>
          <p:cNvSpPr/>
          <p:nvPr/>
        </p:nvSpPr>
        <p:spPr>
          <a:xfrm>
            <a:off x="2626614" y="6044184"/>
            <a:ext cx="274320" cy="219456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39" name="flow10_p1"/>
          <p:cNvSpPr/>
          <p:nvPr/>
        </p:nvSpPr>
        <p:spPr>
          <a:xfrm>
            <a:off x="3001518" y="5961888"/>
            <a:ext cx="2915107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0" name="flow10_p1_t"/>
          <p:cNvSpPr/>
          <p:nvPr/>
        </p:nvSpPr>
        <p:spPr>
          <a:xfrm>
            <a:off x="3001518" y="5961888"/>
            <a:ext cx="29151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Optional Evidence</a:t>
            </a:r>
            <a:endParaRPr lang="en-US" sz="1600" dirty="0"/>
          </a:p>
        </p:txBody>
      </p:sp>
      <p:sp>
        <p:nvSpPr>
          <p:cNvPr id="41" name="flow10_c1"/>
          <p:cNvSpPr/>
          <p:nvPr/>
        </p:nvSpPr>
        <p:spPr>
          <a:xfrm>
            <a:off x="6017209" y="6044184"/>
            <a:ext cx="274320" cy="219456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2" name="flow10_p2"/>
          <p:cNvSpPr/>
          <p:nvPr/>
        </p:nvSpPr>
        <p:spPr>
          <a:xfrm>
            <a:off x="6392113" y="5961888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3" name="flow10_p2_t"/>
          <p:cNvSpPr/>
          <p:nvPr/>
        </p:nvSpPr>
        <p:spPr>
          <a:xfrm>
            <a:off x="6392113" y="596188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Category</a:t>
            </a:r>
            <a:endParaRPr lang="en-US" sz="1600" dirty="0"/>
          </a:p>
        </p:txBody>
      </p:sp>
      <p:sp>
        <p:nvSpPr>
          <p:cNvPr id="44" name="flow10_c2"/>
          <p:cNvSpPr/>
          <p:nvPr/>
        </p:nvSpPr>
        <p:spPr>
          <a:xfrm>
            <a:off x="8705545" y="6044184"/>
            <a:ext cx="274320" cy="219456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5" name="flow10_p3"/>
          <p:cNvSpPr/>
          <p:nvPr/>
        </p:nvSpPr>
        <p:spPr>
          <a:xfrm>
            <a:off x="9080449" y="5961888"/>
            <a:ext cx="2563978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6" name="flow10_p3_t"/>
          <p:cNvSpPr/>
          <p:nvPr/>
        </p:nvSpPr>
        <p:spPr>
          <a:xfrm>
            <a:off x="9080449" y="5961888"/>
            <a:ext cx="2563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Submission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8" name="Text 44">
            <a:hlinkClick r:id="rId3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4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5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6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7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8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9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0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1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2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13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14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>
            <a:hlinkClick r:id="rId15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7">
            <a:hlinkClick r:id="rId16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8">
            <a:hlinkClick r:id="rId17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9">
            <a:hlinkClick r:id="rId18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60">
            <a:hlinkClick r:id="rId19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1">
            <a:hlinkClick r:id="rId20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2">
            <a:hlinkClick r:id="rId21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7" name="Text 63">
            <a:hlinkClick r:id="rId22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8" name="Text 64">
            <a:hlinkClick r:id="rId23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9" name="Text 65">
            <a:hlinkClick r:id="rId24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0" name="Text 66">
            <a:hlinkClick r:id="rId25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1" name="Text 67">
            <a:hlinkClick r:id="rId26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2" name="Text 68">
            <a:hlinkClick r:id="rId27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3" name="Text 69">
            <a:hlinkClick r:id="rId28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4" name="Text 70">
            <a:hlinkClick r:id="rId29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75" name="Text 71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Opens the Review Queue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474720" cy="491032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11_1_c"/>
          <p:cNvSpPr/>
          <p:nvPr/>
        </p:nvSpPr>
        <p:spPr>
          <a:xfrm>
            <a:off x="667512" y="174650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11_1_t"/>
          <p:cNvSpPr/>
          <p:nvPr/>
        </p:nvSpPr>
        <p:spPr>
          <a:xfrm>
            <a:off x="1216152" y="1728216"/>
            <a:ext cx="24140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opens Review Complaints from Administrative Actions.</a:t>
            </a:r>
            <a:endParaRPr lang="en-US" sz="1800" dirty="0"/>
          </a:p>
        </p:txBody>
      </p:sp>
      <p:sp>
        <p:nvSpPr>
          <p:cNvPr id="13" name="p11_2_c"/>
          <p:cNvSpPr/>
          <p:nvPr/>
        </p:nvSpPr>
        <p:spPr>
          <a:xfrm>
            <a:off x="667512" y="330555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11_2_t"/>
          <p:cNvSpPr/>
          <p:nvPr/>
        </p:nvSpPr>
        <p:spPr>
          <a:xfrm>
            <a:off x="1216152" y="3287268"/>
            <a:ext cx="24140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complaints and possible duplicates are listed.</a:t>
            </a:r>
            <a:endParaRPr lang="en-US" sz="1800" dirty="0"/>
          </a:p>
        </p:txBody>
      </p:sp>
      <p:sp>
        <p:nvSpPr>
          <p:cNvPr id="15" name="p11_3_c"/>
          <p:cNvSpPr/>
          <p:nvPr/>
        </p:nvSpPr>
        <p:spPr>
          <a:xfrm>
            <a:off x="667512" y="4864608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11_3_t"/>
          <p:cNvSpPr/>
          <p:nvPr/>
        </p:nvSpPr>
        <p:spPr>
          <a:xfrm>
            <a:off x="1216152" y="4846320"/>
            <a:ext cx="24140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complaint appears with an Unverified status.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181524" y="1367028"/>
            <a:ext cx="2392240" cy="4626864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0" descr="C:/NogorShomadhan/User Manual/Phase 3/review complaint/IMG_4442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1816" y="1417320"/>
            <a:ext cx="2291656" cy="452628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3911776" y="6053328"/>
            <a:ext cx="2931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747499" y="1367028"/>
            <a:ext cx="2468281" cy="4626864"/>
          </a:xfrm>
          <a:prstGeom prst="roundRect">
            <a:avLst>
              <a:gd name="adj" fmla="val 2964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1" descr="C:/NogorShomadhan/User Manual/Phase 3/review complaint/IMG_4441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7791" y="1417320"/>
            <a:ext cx="2367697" cy="45262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477751" y="6053328"/>
            <a:ext cx="300777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notifications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9389516" y="1367028"/>
            <a:ext cx="2406271" cy="4626864"/>
          </a:xfrm>
          <a:prstGeom prst="roundRect">
            <a:avLst>
              <a:gd name="adj" fmla="val 3040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2" descr="C:/NogorShomadhan/User Manual/Phase 3/review complaint/22-complaint-in-admin-revi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9808" y="1417320"/>
            <a:ext cx="2305687" cy="452628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19768" y="6053328"/>
            <a:ext cx="294576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</a:t>
            </a:r>
            <a:endParaRPr lang="en-US" sz="1600" dirty="0"/>
          </a:p>
        </p:txBody>
      </p:sp>
      <p:sp>
        <p:nvSpPr>
          <p:cNvPr id="26" name="Shape 21"/>
          <p:cNvSpPr/>
          <p:nvPr/>
        </p:nvSpPr>
        <p:spPr>
          <a:xfrm>
            <a:off x="6550903" y="3506724"/>
            <a:ext cx="219456" cy="347472"/>
          </a:xfrm>
          <a:prstGeom prst="chevron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192920" y="3506724"/>
            <a:ext cx="219456" cy="347472"/>
          </a:xfrm>
          <a:prstGeom prst="chevron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8" name="h11_1a"/>
          <p:cNvSpPr/>
          <p:nvPr/>
        </p:nvSpPr>
        <p:spPr>
          <a:xfrm>
            <a:off x="4314315" y="3336463"/>
            <a:ext cx="2126656" cy="488838"/>
          </a:xfrm>
          <a:prstGeom prst="roundRect">
            <a:avLst>
              <a:gd name="adj" fmla="val 11223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29" name="h11_1b"/>
          <p:cNvSpPr/>
          <p:nvPr/>
        </p:nvSpPr>
        <p:spPr>
          <a:xfrm>
            <a:off x="6042224" y="1462583"/>
            <a:ext cx="192499" cy="171999"/>
          </a:xfrm>
          <a:prstGeom prst="roundRect">
            <a:avLst>
              <a:gd name="adj" fmla="val 3189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b11_1"/>
          <p:cNvSpPr/>
          <p:nvPr/>
        </p:nvSpPr>
        <p:spPr>
          <a:xfrm>
            <a:off x="4117685" y="315358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11_1_t"/>
          <p:cNvSpPr/>
          <p:nvPr/>
        </p:nvSpPr>
        <p:spPr>
          <a:xfrm>
            <a:off x="4117685" y="315358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h11_2a"/>
          <p:cNvSpPr/>
          <p:nvPr/>
        </p:nvSpPr>
        <p:spPr>
          <a:xfrm>
            <a:off x="6887764" y="2883835"/>
            <a:ext cx="2201958" cy="534101"/>
          </a:xfrm>
          <a:prstGeom prst="roundRect">
            <a:avLst>
              <a:gd name="adj" fmla="val 10272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3" name="h11_2b"/>
          <p:cNvSpPr/>
          <p:nvPr/>
        </p:nvSpPr>
        <p:spPr>
          <a:xfrm>
            <a:off x="6887764" y="3408883"/>
            <a:ext cx="2201958" cy="452628"/>
          </a:xfrm>
          <a:prstGeom prst="roundRect">
            <a:avLst>
              <a:gd name="adj" fmla="val 1212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4" name="b11_2"/>
          <p:cNvSpPr/>
          <p:nvPr/>
        </p:nvSpPr>
        <p:spPr>
          <a:xfrm>
            <a:off x="6685942" y="270095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5" name="b11_2_t"/>
          <p:cNvSpPr/>
          <p:nvPr/>
        </p:nvSpPr>
        <p:spPr>
          <a:xfrm>
            <a:off x="6685942" y="270095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6" name="h11_3a"/>
          <p:cNvSpPr/>
          <p:nvPr/>
        </p:nvSpPr>
        <p:spPr>
          <a:xfrm>
            <a:off x="11026121" y="2920045"/>
            <a:ext cx="548754" cy="181051"/>
          </a:xfrm>
          <a:prstGeom prst="roundRect">
            <a:avLst>
              <a:gd name="adj" fmla="val 30303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37" name="h11_3b"/>
          <p:cNvSpPr/>
          <p:nvPr/>
        </p:nvSpPr>
        <p:spPr>
          <a:xfrm>
            <a:off x="9619652" y="4839188"/>
            <a:ext cx="645592" cy="226314"/>
          </a:xfrm>
          <a:prstGeom prst="roundRect">
            <a:avLst>
              <a:gd name="adj" fmla="val 24242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8" name="b11_3"/>
          <p:cNvSpPr/>
          <p:nvPr/>
        </p:nvSpPr>
        <p:spPr>
          <a:xfrm>
            <a:off x="10732568" y="2583271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9" name="b11_3_t"/>
          <p:cNvSpPr/>
          <p:nvPr/>
        </p:nvSpPr>
        <p:spPr>
          <a:xfrm>
            <a:off x="10732568" y="2583271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0" name="Text 35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6">
            <a:hlinkClick r:id="rId4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5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6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7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8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9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0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1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2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3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4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5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6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7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18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19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0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1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2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3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4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25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26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>
            <a:hlinkClick r:id="rId27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0">
            <a:hlinkClick r:id="rId28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1">
            <a:hlinkClick r:id="rId29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7" name="Text 62">
            <a:hlinkClick r:id="rId30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8" name="Text 63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Check and Duplicate Comparison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475488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12_4_c"/>
          <p:cNvSpPr/>
          <p:nvPr/>
        </p:nvSpPr>
        <p:spPr>
          <a:xfrm>
            <a:off x="685800" y="172821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p12_4_t"/>
          <p:cNvSpPr/>
          <p:nvPr/>
        </p:nvSpPr>
        <p:spPr>
          <a:xfrm>
            <a:off x="1234440" y="1709928"/>
            <a:ext cx="3657600" cy="7453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Information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location, submitted, evidence.</a:t>
            </a:r>
            <a:endParaRPr lang="en-US" sz="1800" dirty="0"/>
          </a:p>
        </p:txBody>
      </p:sp>
      <p:sp>
        <p:nvSpPr>
          <p:cNvPr id="13" name="p12_5_c"/>
          <p:cNvSpPr/>
          <p:nvPr/>
        </p:nvSpPr>
        <p:spPr>
          <a:xfrm>
            <a:off x="685800" y="2583249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4" name="p12_5_t"/>
          <p:cNvSpPr/>
          <p:nvPr/>
        </p:nvSpPr>
        <p:spPr>
          <a:xfrm>
            <a:off x="1234440" y="2564961"/>
            <a:ext cx="3657600" cy="7453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Duplicate Warning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score, reason, base complaint ID.</a:t>
            </a:r>
            <a:endParaRPr lang="en-US" sz="1800" dirty="0"/>
          </a:p>
        </p:txBody>
      </p:sp>
      <p:sp>
        <p:nvSpPr>
          <p:cNvPr id="15" name="p12_6_c"/>
          <p:cNvSpPr/>
          <p:nvPr/>
        </p:nvSpPr>
        <p:spPr>
          <a:xfrm>
            <a:off x="685800" y="3438282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16" name="p12_6_t"/>
          <p:cNvSpPr/>
          <p:nvPr/>
        </p:nvSpPr>
        <p:spPr>
          <a:xfrm>
            <a:off x="1234440" y="3419994"/>
            <a:ext cx="3657600" cy="5119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Decision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duplicate, or reject it.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68096" y="4137660"/>
            <a:ext cx="4041648" cy="2167431"/>
          </a:xfrm>
          <a:prstGeom prst="roundRect">
            <a:avLst>
              <a:gd name="adj" fmla="val 337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0" descr="C:\Users\ASUS\AppData\Local\Temp\claude\C--NogorShomadhan\6d8323a9-c937-42c6-8eb9-13e28f50f09f\scratchpad\deck\crops/25-deci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" y="4187952"/>
            <a:ext cx="3941064" cy="2066847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832854" y="1367028"/>
            <a:ext cx="2551820" cy="5010912"/>
          </a:xfrm>
          <a:prstGeom prst="roundRect">
            <a:avLst>
              <a:gd name="adj" fmla="val 2867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0" name="Image 1" descr="C:/NogorShomadhan/User Manual/Phase 3/review complaint/23-check-inf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146" y="1417320"/>
            <a:ext cx="2451236" cy="491032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8969890" y="1367028"/>
            <a:ext cx="2509591" cy="5010912"/>
          </a:xfrm>
          <a:prstGeom prst="roundRect">
            <a:avLst>
              <a:gd name="adj" fmla="val 291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2" name="Image 2" descr="C:/NogorShomadhan/User Manual/Phase 3/review complaint/24-view-duplicacy-metric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0182" y="1417320"/>
            <a:ext cx="2409007" cy="4910328"/>
          </a:xfrm>
          <a:prstGeom prst="rect">
            <a:avLst/>
          </a:prstGeom>
        </p:spPr>
      </p:pic>
      <p:sp>
        <p:nvSpPr>
          <p:cNvPr id="23" name="arrow12"/>
          <p:cNvSpPr/>
          <p:nvPr/>
        </p:nvSpPr>
        <p:spPr>
          <a:xfrm>
            <a:off x="8425822" y="3634740"/>
            <a:ext cx="502920" cy="475488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4" name="h12_4"/>
          <p:cNvSpPr/>
          <p:nvPr/>
        </p:nvSpPr>
        <p:spPr>
          <a:xfrm>
            <a:off x="5981196" y="2173511"/>
            <a:ext cx="2255137" cy="1404354"/>
          </a:xfrm>
          <a:prstGeom prst="roundRect">
            <a:avLst>
              <a:gd name="adj" fmla="val 3907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25" name="b12_4"/>
          <p:cNvSpPr/>
          <p:nvPr/>
        </p:nvSpPr>
        <p:spPr>
          <a:xfrm>
            <a:off x="5810572" y="2098658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b12_4_t"/>
          <p:cNvSpPr/>
          <p:nvPr/>
        </p:nvSpPr>
        <p:spPr>
          <a:xfrm>
            <a:off x="5810572" y="209865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7" name="h12_5a"/>
          <p:cNvSpPr/>
          <p:nvPr/>
        </p:nvSpPr>
        <p:spPr>
          <a:xfrm>
            <a:off x="5981196" y="3607326"/>
            <a:ext cx="2255137" cy="2347137"/>
          </a:xfrm>
          <a:prstGeom prst="roundRect">
            <a:avLst>
              <a:gd name="adj" fmla="val 2433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28" name="h12_5b"/>
          <p:cNvSpPr/>
          <p:nvPr/>
        </p:nvSpPr>
        <p:spPr>
          <a:xfrm>
            <a:off x="6821970" y="4186745"/>
            <a:ext cx="416710" cy="147310"/>
          </a:xfrm>
          <a:prstGeom prst="roundRect">
            <a:avLst>
              <a:gd name="adj" fmla="val 37244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29" name="h12_5c"/>
          <p:cNvSpPr/>
          <p:nvPr/>
        </p:nvSpPr>
        <p:spPr>
          <a:xfrm>
            <a:off x="6569492" y="5738409"/>
            <a:ext cx="1093251" cy="157130"/>
          </a:xfrm>
          <a:prstGeom prst="roundRect">
            <a:avLst>
              <a:gd name="adj" fmla="val 34916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b12_5"/>
          <p:cNvSpPr/>
          <p:nvPr/>
        </p:nvSpPr>
        <p:spPr>
          <a:xfrm>
            <a:off x="5810572" y="3532474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12_5_t"/>
          <p:cNvSpPr/>
          <p:nvPr/>
        </p:nvSpPr>
        <p:spPr>
          <a:xfrm>
            <a:off x="5810572" y="353247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32" name="h12_6a"/>
          <p:cNvSpPr/>
          <p:nvPr/>
        </p:nvSpPr>
        <p:spPr>
          <a:xfrm>
            <a:off x="10812483" y="1898532"/>
            <a:ext cx="529982" cy="363364"/>
          </a:xfrm>
          <a:prstGeom prst="roundRect">
            <a:avLst>
              <a:gd name="adj" fmla="val 15099"/>
            </a:avLst>
          </a:prstGeom>
          <a:ln w="28575">
            <a:solidFill>
              <a:srgbClr val="18835C"/>
            </a:solidFill>
            <a:prstDash val="solid"/>
          </a:ln>
        </p:spPr>
      </p:sp>
      <p:sp>
        <p:nvSpPr>
          <p:cNvPr id="33" name="h12_6b"/>
          <p:cNvSpPr/>
          <p:nvPr/>
        </p:nvSpPr>
        <p:spPr>
          <a:xfrm>
            <a:off x="9130996" y="3951049"/>
            <a:ext cx="1079235" cy="2327495"/>
          </a:xfrm>
          <a:prstGeom prst="roundRect">
            <a:avLst>
              <a:gd name="adj" fmla="val 5084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34" name="h12_6c"/>
          <p:cNvSpPr/>
          <p:nvPr/>
        </p:nvSpPr>
        <p:spPr>
          <a:xfrm>
            <a:off x="10248776" y="3951049"/>
            <a:ext cx="1084053" cy="2327495"/>
          </a:xfrm>
          <a:prstGeom prst="roundRect">
            <a:avLst>
              <a:gd name="adj" fmla="val 506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5" name="h12_6d"/>
          <p:cNvSpPr/>
          <p:nvPr/>
        </p:nvSpPr>
        <p:spPr>
          <a:xfrm>
            <a:off x="1023323" y="5500400"/>
            <a:ext cx="3594250" cy="516712"/>
          </a:xfrm>
          <a:prstGeom prst="roundRect">
            <a:avLst>
              <a:gd name="adj" fmla="val 1061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12_6"/>
          <p:cNvSpPr/>
          <p:nvPr/>
        </p:nvSpPr>
        <p:spPr>
          <a:xfrm>
            <a:off x="761622" y="4315099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12_6_t"/>
          <p:cNvSpPr/>
          <p:nvPr/>
        </p:nvSpPr>
        <p:spPr>
          <a:xfrm>
            <a:off x="761622" y="431509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38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9" name="Text 34">
            <a:hlinkClick r:id="rId4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5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6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7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8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9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0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1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2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3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4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5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6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7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8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9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0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1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2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3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4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5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6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27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28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>
            <a:hlinkClick r:id="rId29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0">
            <a:hlinkClick r:id="rId30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1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Review Outcomes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1389888"/>
            <a:ext cx="5500116" cy="4901184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2700">
            <a:solidFill>
              <a:srgbClr val="EFD6BC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1480" y="1389888"/>
            <a:ext cx="5500116" cy="54864"/>
          </a:xfrm>
          <a:prstGeom prst="rect">
            <a:avLst/>
          </a:prstGeom>
          <a:solidFill>
            <a:srgbClr val="B4480A"/>
          </a:solidFill>
          <a:ln/>
        </p:spPr>
      </p:sp>
      <p:sp>
        <p:nvSpPr>
          <p:cNvPr id="14" name="Shape 12"/>
          <p:cNvSpPr/>
          <p:nvPr/>
        </p:nvSpPr>
        <p:spPr>
          <a:xfrm>
            <a:off x="667512" y="1517904"/>
            <a:ext cx="2507285" cy="347472"/>
          </a:xfrm>
          <a:prstGeom prst="roundRect">
            <a:avLst>
              <a:gd name="adj" fmla="val 50000"/>
            </a:avLst>
          </a:prstGeom>
          <a:solidFill>
            <a:srgbClr val="B4480A"/>
          </a:solidFill>
          <a:ln w="12700">
            <a:solidFill>
              <a:srgbClr val="B448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" y="1517904"/>
            <a:ext cx="250728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CONFIRMED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" y="1901952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DECISION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054350" y="2107692"/>
            <a:ext cx="2214375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EFD6BC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0" descr="C:\Users\ASUS\AppData\Local\Temp\claude\C--NogorShomadhan\6d8323a9-c937-42c6-8eb9-13e28f50f09f\scratchpad\deck\crops/26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4642" y="2157984"/>
            <a:ext cx="2113791" cy="1417320"/>
          </a:xfrm>
          <a:prstGeom prst="rect">
            <a:avLst/>
          </a:prstGeom>
        </p:spPr>
      </p:pic>
      <p:sp>
        <p:nvSpPr>
          <p:cNvPr id="19" name="l13a_cap"/>
          <p:cNvSpPr/>
          <p:nvPr/>
        </p:nvSpPr>
        <p:spPr>
          <a:xfrm>
            <a:off x="667512" y="3630168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confirms the match. The submitted copy is deleted and linked to the base complaint.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67512" y="4297680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OUTCOME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1731862" y="4503420"/>
            <a:ext cx="285935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EFD6BC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2" name="Image 1" descr="C:\Users\ASUS\AppData\Local\Temp\claude\C--NogorShomadhan\6d8323a9-c937-42c6-8eb9-13e28f50f09f\scratchpad\deck\crops/27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154" y="4553712"/>
            <a:ext cx="2758768" cy="1051560"/>
          </a:xfrm>
          <a:prstGeom prst="rect">
            <a:avLst/>
          </a:prstGeom>
        </p:spPr>
      </p:pic>
      <p:sp>
        <p:nvSpPr>
          <p:cNvPr id="23" name="l13b_cap"/>
          <p:cNvSpPr/>
          <p:nvPr/>
        </p:nvSpPr>
        <p:spPr>
          <a:xfrm>
            <a:off x="667512" y="5660136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is notified with both complaint IDs and follows the base complaint.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6277356" y="1389888"/>
            <a:ext cx="5500116" cy="4901184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2700">
            <a:solidFill>
              <a:srgbClr val="C2E0D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277356" y="1389888"/>
            <a:ext cx="5500116" cy="54864"/>
          </a:xfrm>
          <a:prstGeom prst="rect">
            <a:avLst/>
          </a:prstGeom>
          <a:solidFill>
            <a:srgbClr val="18835C"/>
          </a:solidFill>
          <a:ln/>
        </p:spPr>
      </p:sp>
      <p:sp>
        <p:nvSpPr>
          <p:cNvPr id="26" name="Shape 22"/>
          <p:cNvSpPr/>
          <p:nvPr/>
        </p:nvSpPr>
        <p:spPr>
          <a:xfrm>
            <a:off x="6533388" y="1517904"/>
            <a:ext cx="2075688" cy="347472"/>
          </a:xfrm>
          <a:prstGeom prst="roundRect">
            <a:avLst>
              <a:gd name="adj" fmla="val 50000"/>
            </a:avLst>
          </a:prstGeom>
          <a:solidFill>
            <a:srgbClr val="18835C"/>
          </a:solidFill>
          <a:ln w="12700">
            <a:solidFill>
              <a:srgbClr val="18835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533388" y="1517904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DUPLICATE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533388" y="1901952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DECISION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7802093" y="2107692"/>
            <a:ext cx="2450642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C2E0D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0" name="Image 2" descr="C:\Users\ASUS\AppData\Local\Temp\claude\C--NogorShomadhan\6d8323a9-c937-42c6-8eb9-13e28f50f09f\scratchpad\deck\crops/28-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385" y="2157984"/>
            <a:ext cx="2350058" cy="1417320"/>
          </a:xfrm>
          <a:prstGeom prst="rect">
            <a:avLst/>
          </a:prstGeom>
        </p:spPr>
      </p:pic>
      <p:sp>
        <p:nvSpPr>
          <p:cNvPr id="31" name="r13a_cap"/>
          <p:cNvSpPr/>
          <p:nvPr/>
        </p:nvSpPr>
        <p:spPr>
          <a:xfrm>
            <a:off x="6533388" y="3630168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rejects the duplicate suggestion, not the complaint. It is kept and set to Pending.</a:t>
            </a:r>
            <a:endParaRPr lang="en-US" sz="1800" dirty="0"/>
          </a:p>
        </p:txBody>
      </p:sp>
      <p:sp>
        <p:nvSpPr>
          <p:cNvPr id="32" name="Text 27"/>
          <p:cNvSpPr/>
          <p:nvPr/>
        </p:nvSpPr>
        <p:spPr>
          <a:xfrm>
            <a:off x="6533388" y="4297680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OUTCOME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7191100" y="4503420"/>
            <a:ext cx="3672628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C2E0D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4" name="Image 3" descr="C:\Users\ASUS\AppData\Local\Temp\claude\C--NogorShomadhan\6d8323a9-c937-42c6-8eb9-13e28f50f09f\scratchpad\deck\crops/29-cr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1392" y="4553712"/>
            <a:ext cx="3572044" cy="1051560"/>
          </a:xfrm>
          <a:prstGeom prst="rect">
            <a:avLst/>
          </a:prstGeom>
        </p:spPr>
      </p:pic>
      <p:sp>
        <p:nvSpPr>
          <p:cNvPr id="35" name="r13b_cap"/>
          <p:cNvSpPr/>
          <p:nvPr/>
        </p:nvSpPr>
        <p:spPr>
          <a:xfrm>
            <a:off x="6533388" y="5660136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is notified that the complaint was accepted and tracks it as Pending.</a:t>
            </a:r>
            <a:endParaRPr lang="en-US" sz="1800" dirty="0"/>
          </a:p>
        </p:txBody>
      </p:sp>
      <p:sp>
        <p:nvSpPr>
          <p:cNvPr id="36" name="Text 30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7" name="Text 31">
            <a:hlinkClick r:id="rId5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2">
            <a:hlinkClick r:id="rId6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3">
            <a:hlinkClick r:id="rId7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4">
            <a:hlinkClick r:id="rId8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5">
            <a:hlinkClick r:id="rId9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6">
            <a:hlinkClick r:id="rId10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7">
            <a:hlinkClick r:id="rId11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8">
            <a:hlinkClick r:id="rId12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39">
            <a:hlinkClick r:id="rId13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0">
            <a:hlinkClick r:id="rId14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1">
            <a:hlinkClick r:id="rId15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2">
            <a:hlinkClick r:id="rId16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3">
            <a:hlinkClick r:id="rId17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4">
            <a:hlinkClick r:id="rId18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5">
            <a:hlinkClick r:id="rId19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6">
            <a:hlinkClick r:id="rId20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7">
            <a:hlinkClick r:id="rId21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8">
            <a:hlinkClick r:id="rId22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49">
            <a:hlinkClick r:id="rId23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0">
            <a:hlinkClick r:id="rId24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1">
            <a:hlinkClick r:id="rId25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2">
            <a:hlinkClick r:id="rId26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3">
            <a:hlinkClick r:id="rId27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4">
            <a:hlinkClick r:id="rId28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5">
            <a:hlinkClick r:id="rId29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6">
            <a:hlinkClick r:id="rId30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7">
            <a:hlinkClick r:id="rId31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1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8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Complaint Visibility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9987991" y="475488"/>
            <a:ext cx="1792224" cy="420624"/>
          </a:xfrm>
          <a:prstGeom prst="roundRect">
            <a:avLst>
              <a:gd name="adj" fmla="val 50000"/>
            </a:avLst>
          </a:prstGeom>
          <a:solidFill>
            <a:srgbClr val="18835C"/>
          </a:solidFill>
          <a:ln w="12700">
            <a:solidFill>
              <a:srgbClr val="18835C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987991" y="475488"/>
            <a:ext cx="17922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duplicate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Shape 8"/>
          <p:cNvSpPr/>
          <p:nvPr/>
        </p:nvSpPr>
        <p:spPr>
          <a:xfrm>
            <a:off x="1731279" y="1463040"/>
            <a:ext cx="996696" cy="347472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31279" y="1463040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376329" y="1815084"/>
            <a:ext cx="1706596" cy="3282696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3" name="Image 0" descr="C:/NogorShomadhan/User Manual/Phase 3/post duplicate actions/30-added-in-all-compla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6621" y="1865376"/>
            <a:ext cx="1606012" cy="3182112"/>
          </a:xfrm>
          <a:prstGeom prst="rect">
            <a:avLst/>
          </a:prstGeom>
        </p:spPr>
      </p:pic>
      <p:sp>
        <p:nvSpPr>
          <p:cNvPr id="14" name="c14_a"/>
          <p:cNvSpPr/>
          <p:nvPr/>
        </p:nvSpPr>
        <p:spPr>
          <a:xfrm>
            <a:off x="502920" y="5120640"/>
            <a:ext cx="345341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Appears in All Complaints with Pending status.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932319" y="1463040"/>
            <a:ext cx="2507285" cy="347472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32319" y="1463040"/>
            <a:ext cx="250728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AUTHORITY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325186" y="1815084"/>
            <a:ext cx="1721552" cy="3282696"/>
          </a:xfrm>
          <a:prstGeom prst="roundRect">
            <a:avLst>
              <a:gd name="adj" fmla="val 4249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1" descr="C:/NogorShomadhan/User Manual/Phase 3/post duplicate actions/31-available-in-autho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478" y="1865376"/>
            <a:ext cx="1620968" cy="3182112"/>
          </a:xfrm>
          <a:prstGeom prst="rect">
            <a:avLst/>
          </a:prstGeom>
        </p:spPr>
      </p:pic>
      <p:sp>
        <p:nvSpPr>
          <p:cNvPr id="19" name="c14_b"/>
          <p:cNvSpPr/>
          <p:nvPr/>
        </p:nvSpPr>
        <p:spPr>
          <a:xfrm>
            <a:off x="4459254" y="5120640"/>
            <a:ext cx="345341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to the assigned authority for mitigation.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9482099" y="1463040"/>
            <a:ext cx="1320394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482099" y="1463040"/>
            <a:ext cx="13203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8904917" y="1815084"/>
            <a:ext cx="2474758" cy="3282696"/>
          </a:xfrm>
          <a:prstGeom prst="roundRect">
            <a:avLst>
              <a:gd name="adj" fmla="val 295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3/post duplicate actions/32-available-in-resid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5209" y="1865376"/>
            <a:ext cx="2374174" cy="3182112"/>
          </a:xfrm>
          <a:prstGeom prst="rect">
            <a:avLst/>
          </a:prstGeom>
        </p:spPr>
      </p:pic>
      <p:sp>
        <p:nvSpPr>
          <p:cNvPr id="24" name="c14_c"/>
          <p:cNvSpPr/>
          <p:nvPr/>
        </p:nvSpPr>
        <p:spPr>
          <a:xfrm>
            <a:off x="8415589" y="5120640"/>
            <a:ext cx="345341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in My Complaints with status and progress.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1908425" y="4161270"/>
            <a:ext cx="305142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1796004" y="4361743"/>
            <a:ext cx="340475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1747824" y="4559034"/>
            <a:ext cx="369383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792792" y="4759507"/>
            <a:ext cx="224842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14_a"/>
          <p:cNvSpPr/>
          <p:nvPr/>
        </p:nvSpPr>
        <p:spPr>
          <a:xfrm>
            <a:off x="1558314" y="2412699"/>
            <a:ext cx="411139" cy="133649"/>
          </a:xfrm>
          <a:prstGeom prst="roundRect">
            <a:avLst>
              <a:gd name="adj" fmla="val 4105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h14_b"/>
          <p:cNvSpPr/>
          <p:nvPr/>
        </p:nvSpPr>
        <p:spPr>
          <a:xfrm>
            <a:off x="5505155" y="2279051"/>
            <a:ext cx="376065" cy="127284"/>
          </a:xfrm>
          <a:prstGeom prst="roundRect">
            <a:avLst>
              <a:gd name="adj" fmla="val 4310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1" name="h14_c"/>
          <p:cNvSpPr/>
          <p:nvPr/>
        </p:nvSpPr>
        <p:spPr>
          <a:xfrm>
            <a:off x="10735840" y="3825557"/>
            <a:ext cx="389364" cy="133649"/>
          </a:xfrm>
          <a:prstGeom prst="roundRect">
            <a:avLst>
              <a:gd name="adj" fmla="val 41051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out14_bg"/>
          <p:cNvSpPr/>
          <p:nvPr/>
        </p:nvSpPr>
        <p:spPr>
          <a:xfrm>
            <a:off x="411480" y="5760720"/>
            <a:ext cx="11368735" cy="694944"/>
          </a:xfrm>
          <a:prstGeom prst="roundRect">
            <a:avLst>
              <a:gd name="adj" fmla="val 13158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3" name="out14_tx"/>
          <p:cNvSpPr/>
          <p:nvPr/>
        </p:nvSpPr>
        <p:spPr>
          <a:xfrm>
            <a:off x="685800" y="5760720"/>
            <a:ext cx="10820095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complaint that is not a duplicate continues as a separate Pending complaint and becomes visible to every relevant role.</a:t>
            </a:r>
            <a:endParaRPr lang="en-US" sz="1850" dirty="0"/>
          </a:p>
        </p:txBody>
      </p:sp>
      <p:sp>
        <p:nvSpPr>
          <p:cNvPr id="34" name="Text 29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5" name="Text 30">
            <a:hlinkClick r:id="rId4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1">
            <a:hlinkClick r:id="rId5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6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7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8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9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10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1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2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3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4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5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6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7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8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9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20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21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2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3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4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5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6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7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8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9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30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3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 ·  AUTHORITY STARTS THE 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Opens the Complaint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6E5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22549" y="1385316"/>
            <a:ext cx="2015040" cy="3895344"/>
          </a:xfrm>
          <a:prstGeom prst="roundRect">
            <a:avLst>
              <a:gd name="adj" fmla="val 3630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Phase 4/Final/1-authority-dashboard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841" y="1435608"/>
            <a:ext cx="1914456" cy="3794760"/>
          </a:xfrm>
          <a:prstGeom prst="rect">
            <a:avLst/>
          </a:prstGeom>
        </p:spPr>
      </p:pic>
      <p:sp>
        <p:nvSpPr>
          <p:cNvPr id="12" name="p15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shows complaint counts and a notification badge.</a:t>
            </a:r>
            <a:endParaRPr lang="en-US" sz="1800" dirty="0"/>
          </a:p>
        </p:txBody>
      </p:sp>
      <p:sp>
        <p:nvSpPr>
          <p:cNvPr id="13" name="p15_ta"/>
          <p:cNvSpPr/>
          <p:nvPr/>
        </p:nvSpPr>
        <p:spPr>
          <a:xfrm>
            <a:off x="1114245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15_ta_t"/>
          <p:cNvSpPr/>
          <p:nvPr/>
        </p:nvSpPr>
        <p:spPr>
          <a:xfrm>
            <a:off x="1114245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9071" y="1385316"/>
            <a:ext cx="3033554" cy="3895344"/>
          </a:xfrm>
          <a:prstGeom prst="roundRect">
            <a:avLst>
              <a:gd name="adj" fmla="val 2411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7" name="Image 1" descr="C:/NogorShomadhan/User Manual/Phase 4/Final/2-choose-pothole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363" y="1435608"/>
            <a:ext cx="2932970" cy="3794760"/>
          </a:xfrm>
          <a:prstGeom prst="rect">
            <a:avLst/>
          </a:prstGeom>
        </p:spPr>
      </p:pic>
      <p:sp>
        <p:nvSpPr>
          <p:cNvPr id="18" name="p15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notification names the complaint that is ready for authority action.</a:t>
            </a:r>
            <a:endParaRPr lang="en-US" sz="1800" dirty="0"/>
          </a:p>
        </p:txBody>
      </p:sp>
      <p:sp>
        <p:nvSpPr>
          <p:cNvPr id="19" name="p15_tb"/>
          <p:cNvSpPr/>
          <p:nvPr/>
        </p:nvSpPr>
        <p:spPr>
          <a:xfrm>
            <a:off x="4542062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0" name="p15_tb_t"/>
          <p:cNvSpPr/>
          <p:nvPr/>
        </p:nvSpPr>
        <p:spPr>
          <a:xfrm>
            <a:off x="4542062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938927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4/Final/3-seethe-complaints-detail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9219" y="1435608"/>
            <a:ext cx="1944815" cy="3794760"/>
          </a:xfrm>
          <a:prstGeom prst="rect">
            <a:avLst/>
          </a:prstGeom>
        </p:spPr>
      </p:pic>
      <p:sp>
        <p:nvSpPr>
          <p:cNvPr id="24" name="p15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complaint to check its category, submission time, and location.</a:t>
            </a:r>
            <a:endParaRPr lang="en-US" sz="1800" dirty="0"/>
          </a:p>
        </p:txBody>
      </p:sp>
      <p:sp>
        <p:nvSpPr>
          <p:cNvPr id="25" name="p15_tc"/>
          <p:cNvSpPr/>
          <p:nvPr/>
        </p:nvSpPr>
        <p:spPr>
          <a:xfrm>
            <a:off x="8832748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p15_tc_t"/>
          <p:cNvSpPr/>
          <p:nvPr/>
        </p:nvSpPr>
        <p:spPr>
          <a:xfrm>
            <a:off x="8832748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h15_a1"/>
          <p:cNvSpPr/>
          <p:nvPr/>
        </p:nvSpPr>
        <p:spPr>
          <a:xfrm>
            <a:off x="2674223" y="1473556"/>
            <a:ext cx="183788" cy="166969"/>
          </a:xfrm>
          <a:prstGeom prst="roundRect">
            <a:avLst>
              <a:gd name="adj" fmla="val 32859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8" name="h15_a2"/>
          <p:cNvSpPr/>
          <p:nvPr/>
        </p:nvSpPr>
        <p:spPr>
          <a:xfrm>
            <a:off x="1334104" y="2536088"/>
            <a:ext cx="1784273" cy="1054943"/>
          </a:xfrm>
          <a:prstGeom prst="roundRect">
            <a:avLst>
              <a:gd name="adj" fmla="val 5201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9" name="h15_b1"/>
          <p:cNvSpPr/>
          <p:nvPr/>
        </p:nvSpPr>
        <p:spPr>
          <a:xfrm>
            <a:off x="4740815" y="4528337"/>
            <a:ext cx="2710064" cy="614751"/>
          </a:xfrm>
          <a:prstGeom prst="roundRect">
            <a:avLst>
              <a:gd name="adj" fmla="val 8925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0" name="h15_c1"/>
          <p:cNvSpPr/>
          <p:nvPr/>
        </p:nvSpPr>
        <p:spPr>
          <a:xfrm>
            <a:off x="9133135" y="1803700"/>
            <a:ext cx="427859" cy="121432"/>
          </a:xfrm>
          <a:prstGeom prst="roundRect">
            <a:avLst>
              <a:gd name="adj" fmla="val 45181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1" name="h15_c2"/>
          <p:cNvSpPr/>
          <p:nvPr/>
        </p:nvSpPr>
        <p:spPr>
          <a:xfrm>
            <a:off x="9059232" y="2369119"/>
            <a:ext cx="1804788" cy="956280"/>
          </a:xfrm>
          <a:prstGeom prst="roundRect">
            <a:avLst>
              <a:gd name="adj" fmla="val 5737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2" name="h15_c3"/>
          <p:cNvSpPr/>
          <p:nvPr/>
        </p:nvSpPr>
        <p:spPr>
          <a:xfrm>
            <a:off x="9059232" y="3386115"/>
            <a:ext cx="1804788" cy="1791127"/>
          </a:xfrm>
          <a:prstGeom prst="roundRect">
            <a:avLst>
              <a:gd name="adj" fmla="val 3063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4" name="Text 29">
            <a:hlinkClick r:id="rId4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5" name="Text 30">
            <a:hlinkClick r:id="rId5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1">
            <a:hlinkClick r:id="rId6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7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8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9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10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11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2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3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4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5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6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7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8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237A57"/>
          </a:solidFill>
          <a:ln>
            <a:solidFill>
              <a:srgbClr val="237A5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9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20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21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22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3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4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5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6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7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8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9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30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3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 ·  AUTHORITY STARTS THE 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Contractor and Start Work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6E5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370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Phase 4/Final/4-allthereporter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662" y="1435608"/>
            <a:ext cx="1944815" cy="3794760"/>
          </a:xfrm>
          <a:prstGeom prst="rect">
            <a:avLst/>
          </a:prstGeom>
        </p:spPr>
      </p:pic>
      <p:sp>
        <p:nvSpPr>
          <p:cNvPr id="12" name="p16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primary reporter and the other residents who reported the same issue.</a:t>
            </a:r>
            <a:endParaRPr lang="en-US" sz="1800" dirty="0"/>
          </a:p>
        </p:txBody>
      </p:sp>
      <p:sp>
        <p:nvSpPr>
          <p:cNvPr id="13" name="p16_ta"/>
          <p:cNvSpPr/>
          <p:nvPr/>
        </p:nvSpPr>
        <p:spPr>
          <a:xfrm>
            <a:off x="1101191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16_ta_t"/>
          <p:cNvSpPr/>
          <p:nvPr/>
        </p:nvSpPr>
        <p:spPr>
          <a:xfrm>
            <a:off x="1101191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73148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7" name="Image 1" descr="C:/NogorShomadhan/User Manual/Phase 4/Final/5-assign-and-other-details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440" y="1435608"/>
            <a:ext cx="1944815" cy="3794760"/>
          </a:xfrm>
          <a:prstGeom prst="rect">
            <a:avLst/>
          </a:prstGeom>
        </p:spPr>
      </p:pic>
      <p:sp>
        <p:nvSpPr>
          <p:cNvPr id="18" name="p16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contractor, phone, deadline, budget, and an initial work note.</a:t>
            </a:r>
            <a:endParaRPr lang="en-US" sz="1800" dirty="0"/>
          </a:p>
        </p:txBody>
      </p:sp>
      <p:sp>
        <p:nvSpPr>
          <p:cNvPr id="19" name="p16_tb"/>
          <p:cNvSpPr/>
          <p:nvPr/>
        </p:nvSpPr>
        <p:spPr>
          <a:xfrm>
            <a:off x="4966969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0" name="p16_tb_t"/>
          <p:cNvSpPr/>
          <p:nvPr/>
        </p:nvSpPr>
        <p:spPr>
          <a:xfrm>
            <a:off x="4966969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938927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4/Final/6-confirm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9219" y="1435608"/>
            <a:ext cx="1944815" cy="3794760"/>
          </a:xfrm>
          <a:prstGeom prst="rect">
            <a:avLst/>
          </a:prstGeom>
        </p:spPr>
      </p:pic>
      <p:sp>
        <p:nvSpPr>
          <p:cNvPr id="24" name="p16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prompt to start work on this complaint.</a:t>
            </a:r>
            <a:endParaRPr lang="en-US" sz="1800" dirty="0"/>
          </a:p>
        </p:txBody>
      </p:sp>
      <p:sp>
        <p:nvSpPr>
          <p:cNvPr id="25" name="p16_tc"/>
          <p:cNvSpPr/>
          <p:nvPr/>
        </p:nvSpPr>
        <p:spPr>
          <a:xfrm>
            <a:off x="8832748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p16_tc_t"/>
          <p:cNvSpPr/>
          <p:nvPr/>
        </p:nvSpPr>
        <p:spPr>
          <a:xfrm>
            <a:off x="8832748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1646625" y="1976361"/>
            <a:ext cx="326729" cy="62614"/>
          </a:xfrm>
          <a:prstGeom prst="roundRect">
            <a:avLst>
              <a:gd name="adj" fmla="val 730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5469617" y="3517034"/>
            <a:ext cx="307281" cy="81587"/>
          </a:xfrm>
          <a:prstGeom prst="roundRect">
            <a:avLst>
              <a:gd name="adj" fmla="val 5603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16_a1"/>
          <p:cNvSpPr/>
          <p:nvPr/>
        </p:nvSpPr>
        <p:spPr>
          <a:xfrm>
            <a:off x="1323786" y="1758163"/>
            <a:ext cx="1808677" cy="447782"/>
          </a:xfrm>
          <a:prstGeom prst="roundRect">
            <a:avLst>
              <a:gd name="adj" fmla="val 12252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0" name="h16_a2"/>
          <p:cNvSpPr/>
          <p:nvPr/>
        </p:nvSpPr>
        <p:spPr>
          <a:xfrm>
            <a:off x="1323786" y="2179381"/>
            <a:ext cx="1808677" cy="576804"/>
          </a:xfrm>
          <a:prstGeom prst="roundRect">
            <a:avLst>
              <a:gd name="adj" fmla="val 9512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31" name="h16_b1"/>
          <p:cNvSpPr/>
          <p:nvPr/>
        </p:nvSpPr>
        <p:spPr>
          <a:xfrm>
            <a:off x="5259577" y="3105302"/>
            <a:ext cx="1672540" cy="1753179"/>
          </a:xfrm>
          <a:prstGeom prst="roundRect">
            <a:avLst>
              <a:gd name="adj" fmla="val 3280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2" name="h16_b2"/>
          <p:cNvSpPr/>
          <p:nvPr/>
        </p:nvSpPr>
        <p:spPr>
          <a:xfrm>
            <a:off x="5259577" y="4987503"/>
            <a:ext cx="1672540" cy="212507"/>
          </a:xfrm>
          <a:prstGeom prst="roundRect">
            <a:avLst>
              <a:gd name="adj" fmla="val 25818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3" name="h16_c1"/>
          <p:cNvSpPr/>
          <p:nvPr/>
        </p:nvSpPr>
        <p:spPr>
          <a:xfrm>
            <a:off x="9187590" y="2687879"/>
            <a:ext cx="1551962" cy="1176376"/>
          </a:xfrm>
          <a:prstGeom prst="roundRect">
            <a:avLst>
              <a:gd name="adj" fmla="val 466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4" name="h16_c2"/>
          <p:cNvSpPr/>
          <p:nvPr/>
        </p:nvSpPr>
        <p:spPr>
          <a:xfrm>
            <a:off x="9984964" y="3537905"/>
            <a:ext cx="645678" cy="204917"/>
          </a:xfrm>
          <a:prstGeom prst="roundRect">
            <a:avLst>
              <a:gd name="adj" fmla="val 2677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6" name="Text 31">
            <a:hlinkClick r:id="rId4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5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6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7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8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9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0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1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2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3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4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5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6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7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8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9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237A57"/>
          </a:solidFill>
          <a:ln>
            <a:solidFill>
              <a:srgbClr val="237A5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20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1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2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3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4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5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6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7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8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9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30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3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 ·  AUTHORITY STARTS THE 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Complaint Moves to In Progress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6E5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370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Phase 4/Final/7-pendingtoinprogres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662" y="1435608"/>
            <a:ext cx="1944815" cy="3794760"/>
          </a:xfrm>
          <a:prstGeom prst="rect">
            <a:avLst/>
          </a:prstGeom>
        </p:spPr>
      </p:pic>
      <p:sp>
        <p:nvSpPr>
          <p:cNvPr id="12" name="p17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status changes from Pending to In Progress and approval is recorded.</a:t>
            </a:r>
            <a:endParaRPr lang="en-US" sz="1800" dirty="0"/>
          </a:p>
        </p:txBody>
      </p:sp>
      <p:sp>
        <p:nvSpPr>
          <p:cNvPr id="13" name="p17_ta"/>
          <p:cNvSpPr/>
          <p:nvPr/>
        </p:nvSpPr>
        <p:spPr>
          <a:xfrm>
            <a:off x="1101191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17_ta_t"/>
          <p:cNvSpPr/>
          <p:nvPr/>
        </p:nvSpPr>
        <p:spPr>
          <a:xfrm>
            <a:off x="1101191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73148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7" name="Image 1" descr="C:/NogorShomadhan/User Manual/Phase 4/Final/8-inprogressdetails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440" y="1435608"/>
            <a:ext cx="1944815" cy="3794760"/>
          </a:xfrm>
          <a:prstGeom prst="rect">
            <a:avLst/>
          </a:prstGeom>
        </p:spPr>
      </p:pic>
      <p:sp>
        <p:nvSpPr>
          <p:cNvPr id="18" name="p17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history records the assignment, the first note, and the budget.</a:t>
            </a:r>
            <a:endParaRPr lang="en-US" sz="1800" dirty="0"/>
          </a:p>
        </p:txBody>
      </p:sp>
      <p:sp>
        <p:nvSpPr>
          <p:cNvPr id="19" name="p17_tb"/>
          <p:cNvSpPr/>
          <p:nvPr/>
        </p:nvSpPr>
        <p:spPr>
          <a:xfrm>
            <a:off x="4966969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0" name="p17_tb_t"/>
          <p:cNvSpPr/>
          <p:nvPr/>
        </p:nvSpPr>
        <p:spPr>
          <a:xfrm>
            <a:off x="4966969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899841" y="1385316"/>
            <a:ext cx="2123571" cy="3895344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4/Final/9-inprgressdetails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0133" y="1435608"/>
            <a:ext cx="2022987" cy="3794760"/>
          </a:xfrm>
          <a:prstGeom prst="rect">
            <a:avLst/>
          </a:prstGeom>
        </p:spPr>
      </p:pic>
      <p:sp>
        <p:nvSpPr>
          <p:cNvPr id="24" name="p17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progress panel confirms the complaint is now In Progress.</a:t>
            </a:r>
            <a:endParaRPr lang="en-US" sz="1800" dirty="0"/>
          </a:p>
        </p:txBody>
      </p:sp>
      <p:sp>
        <p:nvSpPr>
          <p:cNvPr id="25" name="p17_tc"/>
          <p:cNvSpPr/>
          <p:nvPr/>
        </p:nvSpPr>
        <p:spPr>
          <a:xfrm>
            <a:off x="8799134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p17_tc_t"/>
          <p:cNvSpPr/>
          <p:nvPr/>
        </p:nvSpPr>
        <p:spPr>
          <a:xfrm>
            <a:off x="8799134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5473507" y="2169894"/>
            <a:ext cx="373404" cy="62614"/>
          </a:xfrm>
          <a:prstGeom prst="roundRect">
            <a:avLst>
              <a:gd name="adj" fmla="val 730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5516293" y="3266580"/>
            <a:ext cx="322839" cy="62614"/>
          </a:xfrm>
          <a:prstGeom prst="roundRect">
            <a:avLst>
              <a:gd name="adj" fmla="val 730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566858" y="4663051"/>
            <a:ext cx="412301" cy="62614"/>
          </a:xfrm>
          <a:prstGeom prst="roundRect">
            <a:avLst>
              <a:gd name="adj" fmla="val 730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411374" y="1718318"/>
            <a:ext cx="424827" cy="70203"/>
          </a:xfrm>
          <a:prstGeom prst="roundRect">
            <a:avLst>
              <a:gd name="adj" fmla="val 65125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1" name="h17_a1"/>
          <p:cNvSpPr/>
          <p:nvPr/>
        </p:nvSpPr>
        <p:spPr>
          <a:xfrm>
            <a:off x="1397689" y="1887184"/>
            <a:ext cx="563996" cy="136611"/>
          </a:xfrm>
          <a:prstGeom prst="roundRect">
            <a:avLst>
              <a:gd name="adj" fmla="val 40161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2" name="h17_a2"/>
          <p:cNvSpPr/>
          <p:nvPr/>
        </p:nvSpPr>
        <p:spPr>
          <a:xfrm>
            <a:off x="1323786" y="2463988"/>
            <a:ext cx="1808677" cy="440192"/>
          </a:xfrm>
          <a:prstGeom prst="roundRect">
            <a:avLst>
              <a:gd name="adj" fmla="val 1246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3" name="h17_b1"/>
          <p:cNvSpPr/>
          <p:nvPr/>
        </p:nvSpPr>
        <p:spPr>
          <a:xfrm>
            <a:off x="5189564" y="1739189"/>
            <a:ext cx="1808677" cy="1252271"/>
          </a:xfrm>
          <a:prstGeom prst="roundRect">
            <a:avLst>
              <a:gd name="adj" fmla="val 4381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4" name="h17_b2"/>
          <p:cNvSpPr/>
          <p:nvPr/>
        </p:nvSpPr>
        <p:spPr>
          <a:xfrm>
            <a:off x="5189564" y="3469599"/>
            <a:ext cx="1808677" cy="591983"/>
          </a:xfrm>
          <a:prstGeom prst="roundRect">
            <a:avLst>
              <a:gd name="adj" fmla="val 9268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35" name="h17_c1"/>
          <p:cNvSpPr/>
          <p:nvPr/>
        </p:nvSpPr>
        <p:spPr>
          <a:xfrm>
            <a:off x="9091742" y="4668744"/>
            <a:ext cx="1739768" cy="189738"/>
          </a:xfrm>
          <a:prstGeom prst="roundRect">
            <a:avLst>
              <a:gd name="adj" fmla="val 28916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7" name="Text 32">
            <a:hlinkClick r:id="rId4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5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6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7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8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9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0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1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2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3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4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5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6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7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8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9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0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237A57"/>
          </a:solidFill>
          <a:ln>
            <a:solidFill>
              <a:srgbClr val="237A5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1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2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3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4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5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6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7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8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29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30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 ·  AUTHORITY STARTS THE 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See the Progress Update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696700" y="1463040"/>
            <a:ext cx="2291486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6700" y="1463040"/>
            <a:ext cx="22914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REPORTER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1188" y="1833372"/>
            <a:ext cx="2962510" cy="3255264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3" name="Image 0" descr="C:/NogorShomadhan/User Manual/Phase 4/Final/10-resident-notification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83664"/>
            <a:ext cx="2861926" cy="3154680"/>
          </a:xfrm>
          <a:prstGeom prst="rect">
            <a:avLst/>
          </a:prstGeom>
        </p:spPr>
      </p:pic>
      <p:sp>
        <p:nvSpPr>
          <p:cNvPr id="14" name="p18_ca"/>
          <p:cNvSpPr/>
          <p:nvPr/>
        </p:nvSpPr>
        <p:spPr>
          <a:xfrm>
            <a:off x="320040" y="5294376"/>
            <a:ext cx="3044806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who reported the issue is notified that work has started.</a:t>
            </a:r>
            <a:endParaRPr lang="en-US" sz="1800" dirty="0"/>
          </a:p>
        </p:txBody>
      </p:sp>
      <p:sp>
        <p:nvSpPr>
          <p:cNvPr id="15" name="p18_ta"/>
          <p:cNvSpPr/>
          <p:nvPr/>
        </p:nvSpPr>
        <p:spPr>
          <a:xfrm>
            <a:off x="247659" y="1937385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6" name="p18_ta_t"/>
          <p:cNvSpPr/>
          <p:nvPr/>
        </p:nvSpPr>
        <p:spPr>
          <a:xfrm>
            <a:off x="247659" y="1937385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443143" y="1463040"/>
            <a:ext cx="2399386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43143" y="1463040"/>
            <a:ext cx="23993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REPORTER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796584" y="1833372"/>
            <a:ext cx="3692503" cy="3255264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0" name="Image 1" descr="C:/NogorShomadhan/User Manual/Phase 4/Final/11-duplicate-notifoica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6876" y="1883664"/>
            <a:ext cx="3591919" cy="3154680"/>
          </a:xfrm>
          <a:prstGeom prst="rect">
            <a:avLst/>
          </a:prstGeom>
        </p:spPr>
      </p:pic>
      <p:sp>
        <p:nvSpPr>
          <p:cNvPr id="21" name="p18_cb"/>
          <p:cNvSpPr/>
          <p:nvPr/>
        </p:nvSpPr>
        <p:spPr>
          <a:xfrm>
            <a:off x="3755436" y="5294376"/>
            <a:ext cx="3774799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whose duplicate was linked receives the same update.</a:t>
            </a:r>
            <a:endParaRPr lang="en-US" sz="1800" dirty="0"/>
          </a:p>
        </p:txBody>
      </p:sp>
      <p:sp>
        <p:nvSpPr>
          <p:cNvPr id="22" name="p18_tb"/>
          <p:cNvSpPr/>
          <p:nvPr/>
        </p:nvSpPr>
        <p:spPr>
          <a:xfrm>
            <a:off x="3715905" y="1937385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3" name="p18_tb_t"/>
          <p:cNvSpPr/>
          <p:nvPr/>
        </p:nvSpPr>
        <p:spPr>
          <a:xfrm>
            <a:off x="3715905" y="1937385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804447" y="1463040"/>
            <a:ext cx="2183587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804447" y="1463040"/>
            <a:ext cx="218358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MY COMPLAINTS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7961973" y="1833372"/>
            <a:ext cx="3868534" cy="3255264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7" name="Image 2" descr="C:/NogorShomadhan/User Manual/Phase 4/Final/12-residentcanalsoseethework[prpgress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2265" y="1883664"/>
            <a:ext cx="3767950" cy="3154680"/>
          </a:xfrm>
          <a:prstGeom prst="rect">
            <a:avLst/>
          </a:prstGeom>
        </p:spPr>
      </p:pic>
      <p:sp>
        <p:nvSpPr>
          <p:cNvPr id="28" name="p18_cc"/>
          <p:cNvSpPr/>
          <p:nvPr/>
        </p:nvSpPr>
        <p:spPr>
          <a:xfrm>
            <a:off x="7920825" y="5294376"/>
            <a:ext cx="395083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Complaints shows the complaint as In Progress.</a:t>
            </a:r>
            <a:endParaRPr lang="en-US" sz="1800" dirty="0"/>
          </a:p>
        </p:txBody>
      </p:sp>
      <p:sp>
        <p:nvSpPr>
          <p:cNvPr id="29" name="p18_tc"/>
          <p:cNvSpPr/>
          <p:nvPr/>
        </p:nvSpPr>
        <p:spPr>
          <a:xfrm>
            <a:off x="7889215" y="1937385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0" name="p18_tc_t"/>
          <p:cNvSpPr/>
          <p:nvPr/>
        </p:nvSpPr>
        <p:spPr>
          <a:xfrm>
            <a:off x="7889215" y="1937385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31" name="h18_a"/>
          <p:cNvSpPr/>
          <p:nvPr/>
        </p:nvSpPr>
        <p:spPr>
          <a:xfrm>
            <a:off x="520233" y="4274911"/>
            <a:ext cx="2644419" cy="738195"/>
          </a:xfrm>
          <a:prstGeom prst="roundRect">
            <a:avLst>
              <a:gd name="adj" fmla="val 743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h18_b"/>
          <p:cNvSpPr/>
          <p:nvPr/>
        </p:nvSpPr>
        <p:spPr>
          <a:xfrm>
            <a:off x="3983369" y="4079321"/>
            <a:ext cx="3318933" cy="927476"/>
          </a:xfrm>
          <a:prstGeom prst="roundRect">
            <a:avLst>
              <a:gd name="adj" fmla="val 5915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3" name="h18_c1"/>
          <p:cNvSpPr/>
          <p:nvPr/>
        </p:nvSpPr>
        <p:spPr>
          <a:xfrm>
            <a:off x="10657366" y="3227558"/>
            <a:ext cx="859093" cy="214518"/>
          </a:xfrm>
          <a:prstGeom prst="roundRect">
            <a:avLst>
              <a:gd name="adj" fmla="val 25575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4" name="h18_c2"/>
          <p:cNvSpPr/>
          <p:nvPr/>
        </p:nvSpPr>
        <p:spPr>
          <a:xfrm>
            <a:off x="8147912" y="3101370"/>
            <a:ext cx="3496657" cy="1880189"/>
          </a:xfrm>
          <a:prstGeom prst="roundRect">
            <a:avLst>
              <a:gd name="adj" fmla="val 2918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6" name="Text 31">
            <a:hlinkClick r:id="rId4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5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6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7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8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9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0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1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2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3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4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5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6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7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8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9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20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1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2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3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4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5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6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7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8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9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30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 ·  COMMUNITY FORUM DISCUSSION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Starts a Forum Discussion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370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Phase 5/New Final/1-resident-sees-theforum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662" y="1435608"/>
            <a:ext cx="1944815" cy="3794760"/>
          </a:xfrm>
          <a:prstGeom prst="rect">
            <a:avLst/>
          </a:prstGeom>
        </p:spPr>
      </p:pic>
      <p:sp>
        <p:nvSpPr>
          <p:cNvPr id="12" name="p19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Forum from the resident dashboard.</a:t>
            </a:r>
            <a:endParaRPr lang="en-US" sz="1800" dirty="0"/>
          </a:p>
        </p:txBody>
      </p:sp>
      <p:sp>
        <p:nvSpPr>
          <p:cNvPr id="13" name="p19_ta"/>
          <p:cNvSpPr/>
          <p:nvPr/>
        </p:nvSpPr>
        <p:spPr>
          <a:xfrm>
            <a:off x="1101191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19_ta_t"/>
          <p:cNvSpPr/>
          <p:nvPr/>
        </p:nvSpPr>
        <p:spPr>
          <a:xfrm>
            <a:off x="1101191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19295" y="1385316"/>
            <a:ext cx="2953105" cy="3895344"/>
          </a:xfrm>
          <a:prstGeom prst="roundRect">
            <a:avLst>
              <a:gd name="adj" fmla="val 247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7" name="Image 1" descr="C:/NogorShomadhan/User Manual/Phase 5/New Final/2-resident-writes-discuss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587" y="1435608"/>
            <a:ext cx="2852521" cy="3794760"/>
          </a:xfrm>
          <a:prstGeom prst="rect">
            <a:avLst/>
          </a:prstGeom>
        </p:spPr>
      </p:pic>
      <p:sp>
        <p:nvSpPr>
          <p:cNvPr id="18" name="p19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title, describe the issue, and post the discussion.</a:t>
            </a:r>
            <a:endParaRPr lang="en-US" sz="1800" dirty="0"/>
          </a:p>
        </p:txBody>
      </p:sp>
      <p:sp>
        <p:nvSpPr>
          <p:cNvPr id="19" name="p19_tb"/>
          <p:cNvSpPr/>
          <p:nvPr/>
        </p:nvSpPr>
        <p:spPr>
          <a:xfrm>
            <a:off x="4576656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0" name="p19_tb_t"/>
          <p:cNvSpPr/>
          <p:nvPr/>
        </p:nvSpPr>
        <p:spPr>
          <a:xfrm>
            <a:off x="4576656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495699" y="1385316"/>
            <a:ext cx="2931854" cy="3895344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5/New Final/3-resident-confirms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5991" y="1435608"/>
            <a:ext cx="2831270" cy="3794760"/>
          </a:xfrm>
          <a:prstGeom prst="rect">
            <a:avLst/>
          </a:prstGeom>
        </p:spPr>
      </p:pic>
      <p:sp>
        <p:nvSpPr>
          <p:cNvPr id="24" name="p19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prompt to publish the post to the community.</a:t>
            </a:r>
            <a:endParaRPr lang="en-US" sz="1800" dirty="0"/>
          </a:p>
        </p:txBody>
      </p:sp>
      <p:sp>
        <p:nvSpPr>
          <p:cNvPr id="25" name="p19_tc"/>
          <p:cNvSpPr/>
          <p:nvPr/>
        </p:nvSpPr>
        <p:spPr>
          <a:xfrm>
            <a:off x="8451572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p19_tc_t"/>
          <p:cNvSpPr/>
          <p:nvPr/>
        </p:nvSpPr>
        <p:spPr>
          <a:xfrm>
            <a:off x="8451572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h19_a1"/>
          <p:cNvSpPr/>
          <p:nvPr/>
        </p:nvSpPr>
        <p:spPr>
          <a:xfrm>
            <a:off x="2829072" y="5006477"/>
            <a:ext cx="237267" cy="197328"/>
          </a:xfrm>
          <a:prstGeom prst="roundRect">
            <a:avLst>
              <a:gd name="adj" fmla="val 27803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8" name="h19_a2"/>
          <p:cNvSpPr/>
          <p:nvPr/>
        </p:nvSpPr>
        <p:spPr>
          <a:xfrm>
            <a:off x="2840741" y="1473556"/>
            <a:ext cx="147806" cy="129022"/>
          </a:xfrm>
          <a:prstGeom prst="roundRect">
            <a:avLst>
              <a:gd name="adj" fmla="val 42523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9" name="h19_b1"/>
          <p:cNvSpPr/>
          <p:nvPr/>
        </p:nvSpPr>
        <p:spPr>
          <a:xfrm>
            <a:off x="4874969" y="3462010"/>
            <a:ext cx="2441758" cy="280812"/>
          </a:xfrm>
          <a:prstGeom prst="roundRect">
            <a:avLst>
              <a:gd name="adj" fmla="val 19538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0" name="h19_b2"/>
          <p:cNvSpPr/>
          <p:nvPr/>
        </p:nvSpPr>
        <p:spPr>
          <a:xfrm>
            <a:off x="4874969" y="3792154"/>
            <a:ext cx="2441758" cy="614751"/>
          </a:xfrm>
          <a:prstGeom prst="roundRect">
            <a:avLst>
              <a:gd name="adj" fmla="val 8925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1" name="h19_b3"/>
          <p:cNvSpPr/>
          <p:nvPr/>
        </p:nvSpPr>
        <p:spPr>
          <a:xfrm>
            <a:off x="4874969" y="4456237"/>
            <a:ext cx="2441758" cy="280812"/>
          </a:xfrm>
          <a:prstGeom prst="roundRect">
            <a:avLst>
              <a:gd name="adj" fmla="val 19538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h19_c1"/>
          <p:cNvSpPr/>
          <p:nvPr/>
        </p:nvSpPr>
        <p:spPr>
          <a:xfrm>
            <a:off x="8826287" y="3249503"/>
            <a:ext cx="2270679" cy="1738000"/>
          </a:xfrm>
          <a:prstGeom prst="roundRect">
            <a:avLst>
              <a:gd name="adj" fmla="val 3157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3" name="h19_c2"/>
          <p:cNvSpPr/>
          <p:nvPr/>
        </p:nvSpPr>
        <p:spPr>
          <a:xfrm>
            <a:off x="9995601" y="4520748"/>
            <a:ext cx="945644" cy="258044"/>
          </a:xfrm>
          <a:prstGeom prst="roundRect">
            <a:avLst>
              <a:gd name="adj" fmla="val 21261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5" name="Text 30">
            <a:hlinkClick r:id="rId4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1">
            <a:hlinkClick r:id="rId5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6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7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8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9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10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1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2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3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4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5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6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7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8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9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20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21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2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3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4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5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6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7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8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9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30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 ·  COMMUNITY FORUM DISCUSSION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Is Notified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629546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29546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382305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82305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4" name="Shape 12"/>
          <p:cNvSpPr/>
          <p:nvPr/>
        </p:nvSpPr>
        <p:spPr>
          <a:xfrm>
            <a:off x="1569872" y="1591056"/>
            <a:ext cx="1320394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69872" y="1591056"/>
            <a:ext cx="13203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7150" y="1961388"/>
            <a:ext cx="3585838" cy="3026664"/>
          </a:xfrm>
          <a:prstGeom prst="roundRect">
            <a:avLst>
              <a:gd name="adj" fmla="val 241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7" name="Image 0" descr="C:/NogorShomadhan/User Manual/Phase 5/New Final/4-other-residents-getnotification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7442" y="2011680"/>
            <a:ext cx="3485254" cy="2926080"/>
          </a:xfrm>
          <a:prstGeom prst="rect">
            <a:avLst/>
          </a:prstGeom>
        </p:spPr>
      </p:pic>
      <p:sp>
        <p:nvSpPr>
          <p:cNvPr id="18" name="p20_ca"/>
          <p:cNvSpPr/>
          <p:nvPr/>
        </p:nvSpPr>
        <p:spPr>
          <a:xfrm>
            <a:off x="484632" y="5175504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residents are notified that a new discussion was posted.</a:t>
            </a:r>
            <a:endParaRPr lang="en-US" sz="1800" dirty="0"/>
          </a:p>
        </p:txBody>
      </p:sp>
      <p:sp>
        <p:nvSpPr>
          <p:cNvPr id="19" name="p20_ta"/>
          <p:cNvSpPr/>
          <p:nvPr/>
        </p:nvSpPr>
        <p:spPr>
          <a:xfrm>
            <a:off x="369097" y="2062886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0" name="p20_ta_t"/>
          <p:cNvSpPr/>
          <p:nvPr/>
        </p:nvSpPr>
        <p:spPr>
          <a:xfrm>
            <a:off x="369097" y="2062886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h20_a"/>
          <p:cNvSpPr/>
          <p:nvPr/>
        </p:nvSpPr>
        <p:spPr>
          <a:xfrm>
            <a:off x="619882" y="4141866"/>
            <a:ext cx="3220375" cy="772485"/>
          </a:xfrm>
          <a:prstGeom prst="roundRect">
            <a:avLst>
              <a:gd name="adj" fmla="val 710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597500" y="1591056"/>
            <a:ext cx="996696" cy="347472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597500" y="1591056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291517" y="1961388"/>
            <a:ext cx="3608661" cy="3026664"/>
          </a:xfrm>
          <a:prstGeom prst="roundRect">
            <a:avLst>
              <a:gd name="adj" fmla="val 2417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5" name="Image 1" descr="C:/NogorShomadhan/User Manual/Phase 5/New Final/5-admin-gets-notifica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1809" y="2011680"/>
            <a:ext cx="3508077" cy="2926080"/>
          </a:xfrm>
          <a:prstGeom prst="rect">
            <a:avLst/>
          </a:prstGeom>
        </p:spPr>
      </p:pic>
      <p:sp>
        <p:nvSpPr>
          <p:cNvPr id="26" name="p20_cb"/>
          <p:cNvSpPr/>
          <p:nvPr/>
        </p:nvSpPr>
        <p:spPr>
          <a:xfrm>
            <a:off x="4350410" y="5175504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inbox receives the same discussion notification.</a:t>
            </a:r>
            <a:endParaRPr lang="en-US" sz="1800" dirty="0"/>
          </a:p>
        </p:txBody>
      </p:sp>
      <p:sp>
        <p:nvSpPr>
          <p:cNvPr id="27" name="p20_tb"/>
          <p:cNvSpPr/>
          <p:nvPr/>
        </p:nvSpPr>
        <p:spPr>
          <a:xfrm>
            <a:off x="4224605" y="2062886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8" name="p20_tb_t"/>
          <p:cNvSpPr/>
          <p:nvPr/>
        </p:nvSpPr>
        <p:spPr>
          <a:xfrm>
            <a:off x="4224605" y="2062886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h20_b"/>
          <p:cNvSpPr/>
          <p:nvPr/>
        </p:nvSpPr>
        <p:spPr>
          <a:xfrm>
            <a:off x="4475116" y="4141866"/>
            <a:ext cx="3241463" cy="772485"/>
          </a:xfrm>
          <a:prstGeom prst="roundRect">
            <a:avLst>
              <a:gd name="adj" fmla="val 7102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707984" y="1591056"/>
            <a:ext cx="2507285" cy="347472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707984" y="1591056"/>
            <a:ext cx="250728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AUTHORITY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8168707" y="1961388"/>
            <a:ext cx="3585838" cy="3026664"/>
          </a:xfrm>
          <a:prstGeom prst="roundRect">
            <a:avLst>
              <a:gd name="adj" fmla="val 2417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3" name="Image 2" descr="C:/NogorShomadhan/User Manual/Phase 5/New Final/5-community-authority-gets-notififcation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8999" y="2011680"/>
            <a:ext cx="3485254" cy="2926080"/>
          </a:xfrm>
          <a:prstGeom prst="rect">
            <a:avLst/>
          </a:prstGeom>
        </p:spPr>
      </p:pic>
      <p:sp>
        <p:nvSpPr>
          <p:cNvPr id="34" name="p20_cc"/>
          <p:cNvSpPr/>
          <p:nvPr/>
        </p:nvSpPr>
        <p:spPr>
          <a:xfrm>
            <a:off x="8216189" y="5175504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community authority is notified in its own inbox.</a:t>
            </a:r>
            <a:endParaRPr lang="en-US" sz="1800" dirty="0"/>
          </a:p>
        </p:txBody>
      </p:sp>
      <p:sp>
        <p:nvSpPr>
          <p:cNvPr id="35" name="p20_tc"/>
          <p:cNvSpPr/>
          <p:nvPr/>
        </p:nvSpPr>
        <p:spPr>
          <a:xfrm>
            <a:off x="8100654" y="2062886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p20_tc_t"/>
          <p:cNvSpPr/>
          <p:nvPr/>
        </p:nvSpPr>
        <p:spPr>
          <a:xfrm>
            <a:off x="8100654" y="2062886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h20_c"/>
          <p:cNvSpPr/>
          <p:nvPr/>
        </p:nvSpPr>
        <p:spPr>
          <a:xfrm>
            <a:off x="8351439" y="4141866"/>
            <a:ext cx="3220375" cy="772485"/>
          </a:xfrm>
          <a:prstGeom prst="roundRect">
            <a:avLst>
              <a:gd name="adj" fmla="val 7102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9" name="Text 34">
            <a:hlinkClick r:id="rId4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5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6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7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8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9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0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1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2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3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4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5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6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7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8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9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0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1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2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3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4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5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6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27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28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>
            <a:hlinkClick r:id="rId29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0">
            <a:hlinkClick r:id="rId30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1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 ·  COMMUNITY FORUM DISCUSSION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Post and Discuss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333281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333281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1463040"/>
            <a:ext cx="3035808" cy="347472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463040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OPENS THE POST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2628" y="1833372"/>
            <a:ext cx="4032504" cy="3386219"/>
          </a:xfrm>
          <a:prstGeom prst="roundRect">
            <a:avLst>
              <a:gd name="adj" fmla="val 2160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5" name="Image 0" descr="C:/NogorShomadhan/User Manual/Phase 5/New Final/6-they-navigate-to-this-notification-through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83664"/>
            <a:ext cx="3931920" cy="3285635"/>
          </a:xfrm>
          <a:prstGeom prst="rect">
            <a:avLst/>
          </a:prstGeom>
        </p:spPr>
      </p:pic>
      <p:sp>
        <p:nvSpPr>
          <p:cNvPr id="16" name="p21_ca"/>
          <p:cNvSpPr/>
          <p:nvPr/>
        </p:nvSpPr>
        <p:spPr>
          <a:xfrm>
            <a:off x="411480" y="5388755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the notification opens the discussion directly, ready to reply.</a:t>
            </a:r>
            <a:endParaRPr lang="en-US" sz="1800" dirty="0"/>
          </a:p>
        </p:txBody>
      </p:sp>
      <p:sp>
        <p:nvSpPr>
          <p:cNvPr id="17" name="p21_ta"/>
          <p:cNvSpPr/>
          <p:nvPr/>
        </p:nvSpPr>
        <p:spPr>
          <a:xfrm>
            <a:off x="406908" y="1980063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8" name="p21_ta_t"/>
          <p:cNvSpPr/>
          <p:nvPr/>
        </p:nvSpPr>
        <p:spPr>
          <a:xfrm>
            <a:off x="406908" y="1980063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19" name="h21_a"/>
          <p:cNvSpPr/>
          <p:nvPr/>
        </p:nvSpPr>
        <p:spPr>
          <a:xfrm>
            <a:off x="801746" y="4571314"/>
            <a:ext cx="2925348" cy="374562"/>
          </a:xfrm>
          <a:prstGeom prst="roundRect">
            <a:avLst>
              <a:gd name="adj" fmla="val 14648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31536" y="146304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431536" y="146304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917472" y="1833372"/>
            <a:ext cx="2326576" cy="4443984"/>
          </a:xfrm>
          <a:prstGeom prst="roundRect">
            <a:avLst>
              <a:gd name="adj" fmla="val 3144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1" descr="C:/NogorShomadhan/User Manual/Phase 5/New Final/7-everyone-comments-replies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4" y="1883664"/>
            <a:ext cx="2225992" cy="4343400"/>
          </a:xfrm>
          <a:prstGeom prst="rect">
            <a:avLst/>
          </a:prstGeom>
        </p:spPr>
      </p:pic>
      <p:sp>
        <p:nvSpPr>
          <p:cNvPr id="24" name="p21_tb"/>
          <p:cNvSpPr/>
          <p:nvPr/>
        </p:nvSpPr>
        <p:spPr>
          <a:xfrm>
            <a:off x="4830975" y="1909267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5" name="p21_tb_t"/>
          <p:cNvSpPr/>
          <p:nvPr/>
        </p:nvSpPr>
        <p:spPr>
          <a:xfrm>
            <a:off x="4830975" y="1909267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6" name="h21_b1"/>
          <p:cNvSpPr/>
          <p:nvPr/>
        </p:nvSpPr>
        <p:spPr>
          <a:xfrm>
            <a:off x="5123583" y="3195371"/>
            <a:ext cx="556498" cy="147676"/>
          </a:xfrm>
          <a:prstGeom prst="roundRect">
            <a:avLst>
              <a:gd name="adj" fmla="val 3715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7" name="h21_b2"/>
          <p:cNvSpPr/>
          <p:nvPr/>
        </p:nvSpPr>
        <p:spPr>
          <a:xfrm>
            <a:off x="5230431" y="3786073"/>
            <a:ext cx="1803054" cy="503834"/>
          </a:xfrm>
          <a:prstGeom prst="roundRect">
            <a:avLst>
              <a:gd name="adj" fmla="val 10889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28" name="h21_b3"/>
          <p:cNvSpPr/>
          <p:nvPr/>
        </p:nvSpPr>
        <p:spPr>
          <a:xfrm>
            <a:off x="5123583" y="4819802"/>
            <a:ext cx="1905450" cy="1025042"/>
          </a:xfrm>
          <a:prstGeom prst="roundRect">
            <a:avLst>
              <a:gd name="adj" fmla="val 5352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726680" y="1883664"/>
            <a:ext cx="4053535" cy="4343400"/>
          </a:xfrm>
          <a:prstGeom prst="roundRect">
            <a:avLst>
              <a:gd name="adj" fmla="val 2707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0" name="Text 26"/>
          <p:cNvSpPr/>
          <p:nvPr/>
        </p:nvSpPr>
        <p:spPr>
          <a:xfrm>
            <a:off x="7982712" y="2066544"/>
            <a:ext cx="354147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REPLIES IN ONE THREAD</a:t>
            </a:r>
            <a:endParaRPr lang="en-US" sz="1300" dirty="0"/>
          </a:p>
        </p:txBody>
      </p:sp>
      <p:sp>
        <p:nvSpPr>
          <p:cNvPr id="31" name="p21_cc"/>
          <p:cNvSpPr/>
          <p:nvPr/>
        </p:nvSpPr>
        <p:spPr>
          <a:xfrm>
            <a:off x="7982712" y="2377440"/>
            <a:ext cx="3541471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Residents, the admin, and the community authority all answer in the same discussion. Official replies are badged so residents can tell them apart.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7982712" y="3913632"/>
            <a:ext cx="354147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TOOK PART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7982712" y="4270248"/>
            <a:ext cx="146304" cy="146304"/>
          </a:xfrm>
          <a:prstGeom prst="ellipse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238744" y="4206240"/>
            <a:ext cx="32854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— follow-up questions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7982712" y="4654296"/>
            <a:ext cx="146304" cy="146304"/>
          </a:xfrm>
          <a:prstGeom prst="ellipse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238744" y="4590288"/>
            <a:ext cx="32854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— progress replies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7982712" y="5038344"/>
            <a:ext cx="146304" cy="146304"/>
          </a:xfrm>
          <a:prstGeom prst="ellipse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8238744" y="4974336"/>
            <a:ext cx="32854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— work updates</a:t>
            </a:r>
            <a:endParaRPr lang="en-US" sz="1700" dirty="0"/>
          </a:p>
        </p:txBody>
      </p:sp>
      <p:sp>
        <p:nvSpPr>
          <p:cNvPr id="39" name="p21_cd"/>
          <p:cNvSpPr/>
          <p:nvPr/>
        </p:nvSpPr>
        <p:spPr>
          <a:xfrm>
            <a:off x="7982712" y="5468112"/>
            <a:ext cx="3541471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new comment is sent to the other participants as a notification.</a:t>
            </a:r>
            <a:endParaRPr lang="en-US" sz="1700" dirty="0"/>
          </a:p>
        </p:txBody>
      </p:sp>
      <p:sp>
        <p:nvSpPr>
          <p:cNvPr id="40" name="Text 36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7">
            <a:hlinkClick r:id="rId3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4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5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6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7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8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9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0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1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2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3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4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5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6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7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8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9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20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21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>
            <a:hlinkClick r:id="rId22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7">
            <a:hlinkClick r:id="rId23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8">
            <a:hlinkClick r:id="rId24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9">
            <a:hlinkClick r:id="rId25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60">
            <a:hlinkClick r:id="rId26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1">
            <a:hlinkClick r:id="rId27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2">
            <a:hlinkClick r:id="rId28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7" name="Text 63">
            <a:hlinkClick r:id="rId29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8" name="Text 64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·  RESOLUTION AND RESIDENT FEEDBACK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Updates the Work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333281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333281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1213442" y="1385316"/>
            <a:ext cx="2033255" cy="3895344"/>
          </a:xfrm>
          <a:prstGeom prst="roundRect">
            <a:avLst>
              <a:gd name="adj" fmla="val 3598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3" name="Image 0" descr="C:/NogorShomadhan/User Manual/Phase 6/Final/1-authoritychangesthecontractortosolvetheisssue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3734" y="1435608"/>
            <a:ext cx="1932671" cy="3794760"/>
          </a:xfrm>
          <a:prstGeom prst="rect">
            <a:avLst/>
          </a:prstGeom>
        </p:spPr>
      </p:pic>
      <p:sp>
        <p:nvSpPr>
          <p:cNvPr id="14" name="p22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Record Progress to change the amount, deadline, or contractor.</a:t>
            </a:r>
            <a:endParaRPr lang="en-US" sz="1800" dirty="0"/>
          </a:p>
        </p:txBody>
      </p:sp>
      <p:sp>
        <p:nvSpPr>
          <p:cNvPr id="15" name="p22_ta"/>
          <p:cNvSpPr/>
          <p:nvPr/>
        </p:nvSpPr>
        <p:spPr>
          <a:xfrm>
            <a:off x="1106413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6" name="p22_ta_t"/>
          <p:cNvSpPr/>
          <p:nvPr/>
        </p:nvSpPr>
        <p:spPr>
          <a:xfrm>
            <a:off x="1106413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93656" y="1385316"/>
            <a:ext cx="2404383" cy="3895344"/>
          </a:xfrm>
          <a:prstGeom prst="roundRect">
            <a:avLst>
              <a:gd name="adj" fmla="val 3042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9" name="Image 1" descr="C:/NogorShomadhan/User Manual/Phase 6/Final/2-theupdateshow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3948" y="1435608"/>
            <a:ext cx="2303799" cy="3794760"/>
          </a:xfrm>
          <a:prstGeom prst="rect">
            <a:avLst/>
          </a:prstGeom>
        </p:spPr>
      </p:pic>
      <p:sp>
        <p:nvSpPr>
          <p:cNvPr id="20" name="p22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history records the contractor change and the new deadline.</a:t>
            </a:r>
            <a:endParaRPr lang="en-US" sz="1800" dirty="0"/>
          </a:p>
        </p:txBody>
      </p:sp>
      <p:sp>
        <p:nvSpPr>
          <p:cNvPr id="21" name="p22_tb"/>
          <p:cNvSpPr/>
          <p:nvPr/>
        </p:nvSpPr>
        <p:spPr>
          <a:xfrm>
            <a:off x="4812606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2" name="p22_tb_t"/>
          <p:cNvSpPr/>
          <p:nvPr/>
        </p:nvSpPr>
        <p:spPr>
          <a:xfrm>
            <a:off x="4812606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138465" y="2230701"/>
            <a:ext cx="3646322" cy="3049959"/>
          </a:xfrm>
          <a:prstGeom prst="roundRect">
            <a:avLst>
              <a:gd name="adj" fmla="val 2398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5" name="Image 2" descr="C:/NogorShomadhan/User Manual/Phase 6/Final/3-residengetsnotification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8757" y="2280993"/>
            <a:ext cx="3545738" cy="2949375"/>
          </a:xfrm>
          <a:prstGeom prst="rect">
            <a:avLst/>
          </a:prstGeom>
        </p:spPr>
      </p:pic>
      <p:sp>
        <p:nvSpPr>
          <p:cNvPr id="26" name="p22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is notified that the deadline and progress changed.</a:t>
            </a:r>
            <a:endParaRPr lang="en-US" sz="1800" dirty="0"/>
          </a:p>
        </p:txBody>
      </p:sp>
      <p:sp>
        <p:nvSpPr>
          <p:cNvPr id="27" name="p22_tc"/>
          <p:cNvSpPr/>
          <p:nvPr/>
        </p:nvSpPr>
        <p:spPr>
          <a:xfrm>
            <a:off x="8144350" y="221608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8" name="p22_tc_t"/>
          <p:cNvSpPr/>
          <p:nvPr/>
        </p:nvSpPr>
        <p:spPr>
          <a:xfrm>
            <a:off x="8144350" y="221608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1712113" y="2253379"/>
            <a:ext cx="401996" cy="58819"/>
          </a:xfrm>
          <a:prstGeom prst="roundRect">
            <a:avLst>
              <a:gd name="adj" fmla="val 7773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372455" y="2545575"/>
            <a:ext cx="414684" cy="66408"/>
          </a:xfrm>
          <a:prstGeom prst="roundRect">
            <a:avLst>
              <a:gd name="adj" fmla="val 68847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360936" y="4247525"/>
            <a:ext cx="405469" cy="66408"/>
          </a:xfrm>
          <a:prstGeom prst="roundRect">
            <a:avLst>
              <a:gd name="adj" fmla="val 68847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2" name="h22_a1"/>
          <p:cNvSpPr/>
          <p:nvPr/>
        </p:nvSpPr>
        <p:spPr>
          <a:xfrm>
            <a:off x="1404819" y="3048381"/>
            <a:ext cx="1650501" cy="144201"/>
          </a:xfrm>
          <a:prstGeom prst="roundRect">
            <a:avLst>
              <a:gd name="adj" fmla="val 38047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3" name="h22_a2"/>
          <p:cNvSpPr/>
          <p:nvPr/>
        </p:nvSpPr>
        <p:spPr>
          <a:xfrm>
            <a:off x="1406751" y="3689695"/>
            <a:ext cx="1646636" cy="197328"/>
          </a:xfrm>
          <a:prstGeom prst="roundRect">
            <a:avLst>
              <a:gd name="adj" fmla="val 27803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4" name="h22_b1"/>
          <p:cNvSpPr/>
          <p:nvPr/>
        </p:nvSpPr>
        <p:spPr>
          <a:xfrm>
            <a:off x="5174328" y="3469599"/>
            <a:ext cx="1893723" cy="554035"/>
          </a:xfrm>
          <a:prstGeom prst="roundRect">
            <a:avLst>
              <a:gd name="adj" fmla="val 9903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35" name="h22_b2"/>
          <p:cNvSpPr/>
          <p:nvPr/>
        </p:nvSpPr>
        <p:spPr>
          <a:xfrm>
            <a:off x="5169720" y="4539722"/>
            <a:ext cx="1898330" cy="508498"/>
          </a:xfrm>
          <a:prstGeom prst="roundRect">
            <a:avLst>
              <a:gd name="adj" fmla="val 10789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6" name="h22_c1"/>
          <p:cNvSpPr/>
          <p:nvPr/>
        </p:nvSpPr>
        <p:spPr>
          <a:xfrm>
            <a:off x="8316403" y="4439936"/>
            <a:ext cx="3290445" cy="772736"/>
          </a:xfrm>
          <a:prstGeom prst="roundRect">
            <a:avLst>
              <a:gd name="adj" fmla="val 710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8" name="Text 33">
            <a:hlinkClick r:id="rId4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5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6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7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8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9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0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1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2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3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4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5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6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7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8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9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0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1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2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3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4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5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6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7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28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29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>
            <a:hlinkClick r:id="rId30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0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3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·  RESOLUTION AND RESIDENT FEEDBACK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Resolves the Complaint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6E5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370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Phase 6/Final/4-resolvingthecomplain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662" y="1435608"/>
            <a:ext cx="1944815" cy="3794760"/>
          </a:xfrm>
          <a:prstGeom prst="rect">
            <a:avLst/>
          </a:prstGeom>
        </p:spPr>
      </p:pic>
      <p:sp>
        <p:nvSpPr>
          <p:cNvPr id="12" name="p23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final completion photo and the completion note.</a:t>
            </a:r>
            <a:endParaRPr lang="en-US" sz="1800" dirty="0"/>
          </a:p>
        </p:txBody>
      </p:sp>
      <p:sp>
        <p:nvSpPr>
          <p:cNvPr id="13" name="p23_ta"/>
          <p:cNvSpPr/>
          <p:nvPr/>
        </p:nvSpPr>
        <p:spPr>
          <a:xfrm>
            <a:off x="1101191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23_ta_t"/>
          <p:cNvSpPr/>
          <p:nvPr/>
        </p:nvSpPr>
        <p:spPr>
          <a:xfrm>
            <a:off x="1101191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73148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7" name="Image 1" descr="C:/NogorShomadhan/User Manual/Phase 6/Final/5-popup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440" y="1435608"/>
            <a:ext cx="1944815" cy="3794760"/>
          </a:xfrm>
          <a:prstGeom prst="rect">
            <a:avLst/>
          </a:prstGeom>
        </p:spPr>
      </p:pic>
      <p:sp>
        <p:nvSpPr>
          <p:cNvPr id="18" name="p23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prompt to resolve the complaint.</a:t>
            </a:r>
            <a:endParaRPr lang="en-US" sz="1800" dirty="0"/>
          </a:p>
        </p:txBody>
      </p:sp>
      <p:sp>
        <p:nvSpPr>
          <p:cNvPr id="19" name="p23_tb"/>
          <p:cNvSpPr/>
          <p:nvPr/>
        </p:nvSpPr>
        <p:spPr>
          <a:xfrm>
            <a:off x="4966969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0" name="p23_tb_t"/>
          <p:cNvSpPr/>
          <p:nvPr/>
        </p:nvSpPr>
        <p:spPr>
          <a:xfrm>
            <a:off x="4966969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938927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6/Final/6-statuschanged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9219" y="1435608"/>
            <a:ext cx="1944815" cy="3794760"/>
          </a:xfrm>
          <a:prstGeom prst="rect">
            <a:avLst/>
          </a:prstGeom>
        </p:spPr>
      </p:pic>
      <p:sp>
        <p:nvSpPr>
          <p:cNvPr id="24" name="p23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status changes to Resolved and the approval is recorded.</a:t>
            </a:r>
            <a:endParaRPr lang="en-US" sz="1800" dirty="0"/>
          </a:p>
        </p:txBody>
      </p:sp>
      <p:sp>
        <p:nvSpPr>
          <p:cNvPr id="25" name="p23_tc"/>
          <p:cNvSpPr/>
          <p:nvPr/>
        </p:nvSpPr>
        <p:spPr>
          <a:xfrm>
            <a:off x="8832748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p23_tc_t"/>
          <p:cNvSpPr/>
          <p:nvPr/>
        </p:nvSpPr>
        <p:spPr>
          <a:xfrm>
            <a:off x="8832748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1704969" y="2188868"/>
            <a:ext cx="373404" cy="58819"/>
          </a:xfrm>
          <a:prstGeom prst="roundRect">
            <a:avLst>
              <a:gd name="adj" fmla="val 7773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5570748" y="2188868"/>
            <a:ext cx="373404" cy="58819"/>
          </a:xfrm>
          <a:prstGeom prst="roundRect">
            <a:avLst>
              <a:gd name="adj" fmla="val 7773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23_a1"/>
          <p:cNvSpPr/>
          <p:nvPr/>
        </p:nvSpPr>
        <p:spPr>
          <a:xfrm>
            <a:off x="2502343" y="2987665"/>
            <a:ext cx="560107" cy="151790"/>
          </a:xfrm>
          <a:prstGeom prst="roundRect">
            <a:avLst>
              <a:gd name="adj" fmla="val 36145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0" name="h23_a2"/>
          <p:cNvSpPr/>
          <p:nvPr/>
        </p:nvSpPr>
        <p:spPr>
          <a:xfrm>
            <a:off x="1393799" y="3511342"/>
            <a:ext cx="1672540" cy="800694"/>
          </a:xfrm>
          <a:prstGeom prst="roundRect">
            <a:avLst>
              <a:gd name="adj" fmla="val 6852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1" name="h23_a3"/>
          <p:cNvSpPr/>
          <p:nvPr/>
        </p:nvSpPr>
        <p:spPr>
          <a:xfrm>
            <a:off x="1393799" y="4467621"/>
            <a:ext cx="1672540" cy="341528"/>
          </a:xfrm>
          <a:prstGeom prst="roundRect">
            <a:avLst>
              <a:gd name="adj" fmla="val 1606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2" name="h23_a4"/>
          <p:cNvSpPr/>
          <p:nvPr/>
        </p:nvSpPr>
        <p:spPr>
          <a:xfrm>
            <a:off x="1393799" y="4930582"/>
            <a:ext cx="1672540" cy="227686"/>
          </a:xfrm>
          <a:prstGeom prst="roundRect">
            <a:avLst>
              <a:gd name="adj" fmla="val 24096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3" name="h23_b1"/>
          <p:cNvSpPr/>
          <p:nvPr/>
        </p:nvSpPr>
        <p:spPr>
          <a:xfrm>
            <a:off x="5321811" y="2687879"/>
            <a:ext cx="1551962" cy="1176376"/>
          </a:xfrm>
          <a:prstGeom prst="roundRect">
            <a:avLst>
              <a:gd name="adj" fmla="val 466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4" name="h23_b2"/>
          <p:cNvSpPr/>
          <p:nvPr/>
        </p:nvSpPr>
        <p:spPr>
          <a:xfrm>
            <a:off x="6119185" y="3537905"/>
            <a:ext cx="645678" cy="204917"/>
          </a:xfrm>
          <a:prstGeom prst="roundRect">
            <a:avLst>
              <a:gd name="adj" fmla="val 2677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5" name="h23_c1"/>
          <p:cNvSpPr/>
          <p:nvPr/>
        </p:nvSpPr>
        <p:spPr>
          <a:xfrm>
            <a:off x="9129245" y="1887184"/>
            <a:ext cx="474535" cy="136611"/>
          </a:xfrm>
          <a:prstGeom prst="roundRect">
            <a:avLst>
              <a:gd name="adj" fmla="val 40161"/>
            </a:avLst>
          </a:prstGeom>
          <a:ln w="28575">
            <a:solidFill>
              <a:srgbClr val="18835C"/>
            </a:solidFill>
            <a:prstDash val="solid"/>
          </a:ln>
        </p:spPr>
      </p:sp>
      <p:sp>
        <p:nvSpPr>
          <p:cNvPr id="36" name="h23_c2"/>
          <p:cNvSpPr/>
          <p:nvPr/>
        </p:nvSpPr>
        <p:spPr>
          <a:xfrm>
            <a:off x="9059232" y="2551267"/>
            <a:ext cx="1804788" cy="425013"/>
          </a:xfrm>
          <a:prstGeom prst="roundRect">
            <a:avLst>
              <a:gd name="adj" fmla="val 12909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8" name="Text 33">
            <a:hlinkClick r:id="rId4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5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6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7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8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9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0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1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2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3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4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5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6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7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8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9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0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1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2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3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4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5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6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237A57"/>
          </a:solidFill>
          <a:ln>
            <a:solidFill>
              <a:srgbClr val="237A5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7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28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29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>
            <a:hlinkClick r:id="rId30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0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·  RESOLUTION AND RESIDENT FEEDBACK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Give Feedback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06908" y="2030268"/>
            <a:ext cx="3646322" cy="3250392"/>
          </a:xfrm>
          <a:prstGeom prst="roundRect">
            <a:avLst>
              <a:gd name="adj" fmla="val 225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Phase 6/Final/7-residentgetsnotification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80560"/>
            <a:ext cx="3545738" cy="3149808"/>
          </a:xfrm>
          <a:prstGeom prst="rect">
            <a:avLst/>
          </a:prstGeom>
        </p:spPr>
      </p:pic>
      <p:sp>
        <p:nvSpPr>
          <p:cNvPr id="12" name="p24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is notified that the complaint is resolved and can rate it.</a:t>
            </a:r>
            <a:endParaRPr lang="en-US" sz="1800" dirty="0"/>
          </a:p>
        </p:txBody>
      </p:sp>
      <p:sp>
        <p:nvSpPr>
          <p:cNvPr id="13" name="p24_ta"/>
          <p:cNvSpPr/>
          <p:nvPr/>
        </p:nvSpPr>
        <p:spPr>
          <a:xfrm>
            <a:off x="412794" y="2023673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24_ta_t"/>
          <p:cNvSpPr/>
          <p:nvPr/>
        </p:nvSpPr>
        <p:spPr>
          <a:xfrm>
            <a:off x="412794" y="2023673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73148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7" name="Image 1" descr="C:/NogorShomadhan/User Manual/Phase 6/Final/8-residentgivesfeedback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440" y="1435608"/>
            <a:ext cx="1944815" cy="3794760"/>
          </a:xfrm>
          <a:prstGeom prst="rect">
            <a:avLst/>
          </a:prstGeom>
        </p:spPr>
      </p:pic>
      <p:sp>
        <p:nvSpPr>
          <p:cNvPr id="18" name="p24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star rating and write a short comment.</a:t>
            </a:r>
            <a:endParaRPr lang="en-US" sz="1800" dirty="0"/>
          </a:p>
        </p:txBody>
      </p:sp>
      <p:sp>
        <p:nvSpPr>
          <p:cNvPr id="19" name="p24_tb"/>
          <p:cNvSpPr/>
          <p:nvPr/>
        </p:nvSpPr>
        <p:spPr>
          <a:xfrm>
            <a:off x="4966969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0" name="p24_tb_t"/>
          <p:cNvSpPr/>
          <p:nvPr/>
        </p:nvSpPr>
        <p:spPr>
          <a:xfrm>
            <a:off x="4966969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938927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6/Final/9-submitfeedback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9219" y="1435608"/>
            <a:ext cx="1944815" cy="3794760"/>
          </a:xfrm>
          <a:prstGeom prst="rect">
            <a:avLst/>
          </a:prstGeom>
        </p:spPr>
      </p:pic>
      <p:sp>
        <p:nvSpPr>
          <p:cNvPr id="24" name="p24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prompt to submit the feedback.</a:t>
            </a:r>
            <a:endParaRPr lang="en-US" sz="1800" dirty="0"/>
          </a:p>
        </p:txBody>
      </p:sp>
      <p:sp>
        <p:nvSpPr>
          <p:cNvPr id="25" name="p24_tc"/>
          <p:cNvSpPr/>
          <p:nvPr/>
        </p:nvSpPr>
        <p:spPr>
          <a:xfrm>
            <a:off x="8832748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p24_tc_t"/>
          <p:cNvSpPr/>
          <p:nvPr/>
        </p:nvSpPr>
        <p:spPr>
          <a:xfrm>
            <a:off x="8832748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5570748" y="2257174"/>
            <a:ext cx="373404" cy="58819"/>
          </a:xfrm>
          <a:prstGeom prst="roundRect">
            <a:avLst>
              <a:gd name="adj" fmla="val 7773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9436526" y="2257174"/>
            <a:ext cx="373404" cy="58819"/>
          </a:xfrm>
          <a:prstGeom prst="roundRect">
            <a:avLst>
              <a:gd name="adj" fmla="val 7773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24_a1"/>
          <p:cNvSpPr/>
          <p:nvPr/>
        </p:nvSpPr>
        <p:spPr>
          <a:xfrm>
            <a:off x="584847" y="4244478"/>
            <a:ext cx="3290445" cy="960691"/>
          </a:xfrm>
          <a:prstGeom prst="roundRect">
            <a:avLst>
              <a:gd name="adj" fmla="val 5711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0" name="h24_b1"/>
          <p:cNvSpPr/>
          <p:nvPr/>
        </p:nvSpPr>
        <p:spPr>
          <a:xfrm>
            <a:off x="5699105" y="3480984"/>
            <a:ext cx="793484" cy="182148"/>
          </a:xfrm>
          <a:prstGeom prst="roundRect">
            <a:avLst>
              <a:gd name="adj" fmla="val 30121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1" name="h24_b2"/>
          <p:cNvSpPr/>
          <p:nvPr/>
        </p:nvSpPr>
        <p:spPr>
          <a:xfrm>
            <a:off x="5263467" y="3678311"/>
            <a:ext cx="1664761" cy="318760"/>
          </a:xfrm>
          <a:prstGeom prst="roundRect">
            <a:avLst>
              <a:gd name="adj" fmla="val 1721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h24_b3"/>
          <p:cNvSpPr/>
          <p:nvPr/>
        </p:nvSpPr>
        <p:spPr>
          <a:xfrm>
            <a:off x="5263467" y="4042608"/>
            <a:ext cx="1664761" cy="189738"/>
          </a:xfrm>
          <a:prstGeom prst="roundRect">
            <a:avLst>
              <a:gd name="adj" fmla="val 28916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3" name="h24_c1"/>
          <p:cNvSpPr/>
          <p:nvPr/>
        </p:nvSpPr>
        <p:spPr>
          <a:xfrm>
            <a:off x="9187590" y="2687879"/>
            <a:ext cx="1551962" cy="1176376"/>
          </a:xfrm>
          <a:prstGeom prst="roundRect">
            <a:avLst>
              <a:gd name="adj" fmla="val 4664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4" name="h24_c2"/>
          <p:cNvSpPr/>
          <p:nvPr/>
        </p:nvSpPr>
        <p:spPr>
          <a:xfrm>
            <a:off x="9984964" y="3537905"/>
            <a:ext cx="645678" cy="204917"/>
          </a:xfrm>
          <a:prstGeom prst="roundRect">
            <a:avLst>
              <a:gd name="adj" fmla="val 26774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6" name="Text 31">
            <a:hlinkClick r:id="rId4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5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6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7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8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9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0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1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2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3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4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5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6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7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8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9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20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1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2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3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4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5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6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7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8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9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30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·  RESOLUTION AND RESIDENT FEEDBACK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Is Public and Answered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333281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333281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7370" y="1385316"/>
            <a:ext cx="2045399" cy="3895344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3" name="Image 0" descr="C:/NogorShomadhan/User Manual/Phase 6/Final/10-thefeedback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662" y="1435608"/>
            <a:ext cx="1944815" cy="3794760"/>
          </a:xfrm>
          <a:prstGeom prst="rect">
            <a:avLst/>
          </a:prstGeom>
        </p:spPr>
      </p:pic>
      <p:sp>
        <p:nvSpPr>
          <p:cNvPr id="14" name="p25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and comment appear on the complaint for everyone to see.</a:t>
            </a:r>
            <a:endParaRPr lang="en-US" sz="1800" dirty="0"/>
          </a:p>
        </p:txBody>
      </p:sp>
      <p:sp>
        <p:nvSpPr>
          <p:cNvPr id="15" name="p25_ta"/>
          <p:cNvSpPr/>
          <p:nvPr/>
        </p:nvSpPr>
        <p:spPr>
          <a:xfrm>
            <a:off x="1101191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6" name="p25_ta_t"/>
          <p:cNvSpPr/>
          <p:nvPr/>
        </p:nvSpPr>
        <p:spPr>
          <a:xfrm>
            <a:off x="1101191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72686" y="2217146"/>
            <a:ext cx="3646322" cy="3063514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9" name="Image 1" descr="C:/NogorShomadhan/User Manual/Phase 6/Final/11-authoritygetsfeedbacknoti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978" y="2267438"/>
            <a:ext cx="3545738" cy="2962930"/>
          </a:xfrm>
          <a:prstGeom prst="rect">
            <a:avLst/>
          </a:prstGeom>
        </p:spPr>
      </p:pic>
      <p:sp>
        <p:nvSpPr>
          <p:cNvPr id="20" name="p25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authority is notified that a resident left a rating.</a:t>
            </a:r>
            <a:endParaRPr lang="en-US" sz="1800" dirty="0"/>
          </a:p>
        </p:txBody>
      </p:sp>
      <p:sp>
        <p:nvSpPr>
          <p:cNvPr id="21" name="p25_tb"/>
          <p:cNvSpPr/>
          <p:nvPr/>
        </p:nvSpPr>
        <p:spPr>
          <a:xfrm>
            <a:off x="4278572" y="2203075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2" name="p25_tb_t"/>
          <p:cNvSpPr/>
          <p:nvPr/>
        </p:nvSpPr>
        <p:spPr>
          <a:xfrm>
            <a:off x="4278572" y="2203075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683160" y="1385316"/>
            <a:ext cx="2556932" cy="3895344"/>
          </a:xfrm>
          <a:prstGeom prst="roundRect">
            <a:avLst>
              <a:gd name="adj" fmla="val 2861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5" name="Image 2" descr="C:/NogorShomadhan/User Manual/Phase 6/Final/12-authorityreplies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3452" y="1435608"/>
            <a:ext cx="2456348" cy="3794760"/>
          </a:xfrm>
          <a:prstGeom prst="rect">
            <a:avLst/>
          </a:prstGeom>
        </p:spPr>
      </p:pic>
      <p:sp>
        <p:nvSpPr>
          <p:cNvPr id="26" name="p25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authority replies to the feedback in the community discussion.</a:t>
            </a:r>
            <a:endParaRPr lang="en-US" sz="1800" dirty="0"/>
          </a:p>
        </p:txBody>
      </p:sp>
      <p:sp>
        <p:nvSpPr>
          <p:cNvPr id="27" name="p25_tc"/>
          <p:cNvSpPr/>
          <p:nvPr/>
        </p:nvSpPr>
        <p:spPr>
          <a:xfrm>
            <a:off x="8612788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8" name="p25_tc_t"/>
          <p:cNvSpPr/>
          <p:nvPr/>
        </p:nvSpPr>
        <p:spPr>
          <a:xfrm>
            <a:off x="8612788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1652459" y="1866313"/>
            <a:ext cx="311170" cy="55024"/>
          </a:xfrm>
          <a:prstGeom prst="roundRect">
            <a:avLst>
              <a:gd name="adj" fmla="val 83091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1704969" y="2644239"/>
            <a:ext cx="373404" cy="58819"/>
          </a:xfrm>
          <a:prstGeom prst="roundRect">
            <a:avLst>
              <a:gd name="adj" fmla="val 7773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1" name="h25_a1"/>
          <p:cNvSpPr/>
          <p:nvPr/>
        </p:nvSpPr>
        <p:spPr>
          <a:xfrm>
            <a:off x="1401578" y="3773180"/>
            <a:ext cx="1656982" cy="326349"/>
          </a:xfrm>
          <a:prstGeom prst="roundRect">
            <a:avLst>
              <a:gd name="adj" fmla="val 16811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h25_a2"/>
          <p:cNvSpPr/>
          <p:nvPr/>
        </p:nvSpPr>
        <p:spPr>
          <a:xfrm>
            <a:off x="1401578" y="4156451"/>
            <a:ext cx="1656982" cy="443987"/>
          </a:xfrm>
          <a:prstGeom prst="roundRect">
            <a:avLst>
              <a:gd name="adj" fmla="val 12357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3" name="h25_b1"/>
          <p:cNvSpPr/>
          <p:nvPr/>
        </p:nvSpPr>
        <p:spPr>
          <a:xfrm>
            <a:off x="4450625" y="4436303"/>
            <a:ext cx="3290445" cy="776288"/>
          </a:xfrm>
          <a:prstGeom prst="roundRect">
            <a:avLst>
              <a:gd name="adj" fmla="val 7067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4" name="h25_c1"/>
          <p:cNvSpPr/>
          <p:nvPr/>
        </p:nvSpPr>
        <p:spPr>
          <a:xfrm>
            <a:off x="8915222" y="3784564"/>
            <a:ext cx="2092809" cy="379476"/>
          </a:xfrm>
          <a:prstGeom prst="roundRect">
            <a:avLst>
              <a:gd name="adj" fmla="val 14458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h25_c2"/>
          <p:cNvSpPr/>
          <p:nvPr/>
        </p:nvSpPr>
        <p:spPr>
          <a:xfrm>
            <a:off x="9133837" y="4881250"/>
            <a:ext cx="1621190" cy="235275"/>
          </a:xfrm>
          <a:prstGeom prst="roundRect">
            <a:avLst>
              <a:gd name="adj" fmla="val 23319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7" name="Text 32">
            <a:hlinkClick r:id="rId4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5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6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7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8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9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0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1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2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3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4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5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6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7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8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9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20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21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2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3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4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5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6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7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8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29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30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FEATURES  ·  ANALYTICS AND FORUM TOOLS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and Reporting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629546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29546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382305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82305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4" name="Shape 12"/>
          <p:cNvSpPr/>
          <p:nvPr/>
        </p:nvSpPr>
        <p:spPr>
          <a:xfrm>
            <a:off x="1256512" y="1385316"/>
            <a:ext cx="1947114" cy="3895344"/>
          </a:xfrm>
          <a:prstGeom prst="roundRect">
            <a:avLst>
              <a:gd name="adj" fmla="val 3757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5" name="Image 0" descr="C:/NogorShomadhan/User Manual/additional features/admin-analytics/1-admin_analytic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6804" y="1435608"/>
            <a:ext cx="1846530" cy="3794760"/>
          </a:xfrm>
          <a:prstGeom prst="rect">
            <a:avLst/>
          </a:prstGeom>
        </p:spPr>
      </p:pic>
      <p:sp>
        <p:nvSpPr>
          <p:cNvPr id="16" name="p26_ca"/>
          <p:cNvSpPr/>
          <p:nvPr/>
        </p:nvSpPr>
        <p:spPr>
          <a:xfrm>
            <a:off x="484632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volume, status, resolution rate, and response time at a glance.</a:t>
            </a:r>
            <a:endParaRPr lang="en-US" sz="1800" dirty="0"/>
          </a:p>
        </p:txBody>
      </p:sp>
      <p:sp>
        <p:nvSpPr>
          <p:cNvPr id="17" name="p26_ta"/>
          <p:cNvSpPr/>
          <p:nvPr/>
        </p:nvSpPr>
        <p:spPr>
          <a:xfrm>
            <a:off x="1143453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8" name="p26_ta_t"/>
          <p:cNvSpPr/>
          <p:nvPr/>
        </p:nvSpPr>
        <p:spPr>
          <a:xfrm>
            <a:off x="1143453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053230" y="3159252"/>
            <a:ext cx="219456" cy="347472"/>
          </a:xfrm>
          <a:prstGeom prst="chevron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105214" y="1385316"/>
            <a:ext cx="1981267" cy="3895344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1" descr="C:/NogorShomadhan/User Manual/additional features/authority-analytics/2_authority_analytics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5506" y="1435608"/>
            <a:ext cx="1880683" cy="3794760"/>
          </a:xfrm>
          <a:prstGeom prst="rect">
            <a:avLst/>
          </a:prstGeom>
        </p:spPr>
      </p:pic>
      <p:sp>
        <p:nvSpPr>
          <p:cNvPr id="22" name="p26_cb"/>
          <p:cNvSpPr/>
          <p:nvPr/>
        </p:nvSpPr>
        <p:spPr>
          <a:xfrm>
            <a:off x="4350410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Breakdowns by category and area, plus deadline and response performance.</a:t>
            </a:r>
            <a:endParaRPr lang="en-US" sz="1800" dirty="0"/>
          </a:p>
        </p:txBody>
      </p:sp>
      <p:sp>
        <p:nvSpPr>
          <p:cNvPr id="23" name="p26_tb"/>
          <p:cNvSpPr/>
          <p:nvPr/>
        </p:nvSpPr>
        <p:spPr>
          <a:xfrm>
            <a:off x="4994546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4" name="p26_tb_t"/>
          <p:cNvSpPr/>
          <p:nvPr/>
        </p:nvSpPr>
        <p:spPr>
          <a:xfrm>
            <a:off x="4994546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7919009" y="3159252"/>
            <a:ext cx="219456" cy="347472"/>
          </a:xfrm>
          <a:prstGeom prst="chevron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985413" y="1385316"/>
            <a:ext cx="1952427" cy="3895344"/>
          </a:xfrm>
          <a:prstGeom prst="roundRect">
            <a:avLst>
              <a:gd name="adj" fmla="val 3747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7" name="Image 2" descr="C:/NogorShomadhan/User Manual/additional features/admin-analytics/1_report_pdf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5705" y="1435608"/>
            <a:ext cx="1851843" cy="3794760"/>
          </a:xfrm>
          <a:prstGeom prst="rect">
            <a:avLst/>
          </a:prstGeom>
        </p:spPr>
      </p:pic>
      <p:sp>
        <p:nvSpPr>
          <p:cNvPr id="28" name="p26_cc"/>
          <p:cNvSpPr/>
          <p:nvPr/>
        </p:nvSpPr>
        <p:spPr>
          <a:xfrm>
            <a:off x="8216189" y="5431536"/>
            <a:ext cx="349087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Report PDF exports the selected period as a shareable file.</a:t>
            </a:r>
            <a:endParaRPr lang="en-US" sz="1800" dirty="0"/>
          </a:p>
        </p:txBody>
      </p:sp>
      <p:sp>
        <p:nvSpPr>
          <p:cNvPr id="29" name="p26_tc"/>
          <p:cNvSpPr/>
          <p:nvPr/>
        </p:nvSpPr>
        <p:spPr>
          <a:xfrm>
            <a:off x="8872726" y="140451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0" name="p26_tc_t"/>
          <p:cNvSpPr/>
          <p:nvPr/>
        </p:nvSpPr>
        <p:spPr>
          <a:xfrm>
            <a:off x="8872726" y="140451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h26_a1"/>
          <p:cNvSpPr/>
          <p:nvPr/>
        </p:nvSpPr>
        <p:spPr>
          <a:xfrm>
            <a:off x="1476685" y="2365324"/>
            <a:ext cx="812473" cy="220096"/>
          </a:xfrm>
          <a:prstGeom prst="roundRect">
            <a:avLst>
              <a:gd name="adj" fmla="val 24927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2" name="h26_a2"/>
          <p:cNvSpPr/>
          <p:nvPr/>
        </p:nvSpPr>
        <p:spPr>
          <a:xfrm>
            <a:off x="1376972" y="2923154"/>
            <a:ext cx="1026671" cy="155585"/>
          </a:xfrm>
          <a:prstGeom prst="roundRect">
            <a:avLst>
              <a:gd name="adj" fmla="val 35263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3" name="h26_a3"/>
          <p:cNvSpPr/>
          <p:nvPr/>
        </p:nvSpPr>
        <p:spPr>
          <a:xfrm>
            <a:off x="1376972" y="3135660"/>
            <a:ext cx="1706194" cy="1457188"/>
          </a:xfrm>
          <a:prstGeom prst="roundRect">
            <a:avLst>
              <a:gd name="adj" fmla="val 3765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4" name="h26_b1"/>
          <p:cNvSpPr/>
          <p:nvPr/>
        </p:nvSpPr>
        <p:spPr>
          <a:xfrm>
            <a:off x="5230733" y="2308403"/>
            <a:ext cx="1730228" cy="1252271"/>
          </a:xfrm>
          <a:prstGeom prst="roundRect">
            <a:avLst>
              <a:gd name="adj" fmla="val 4381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5" name="h26_b2"/>
          <p:cNvSpPr/>
          <p:nvPr/>
        </p:nvSpPr>
        <p:spPr>
          <a:xfrm>
            <a:off x="5230733" y="3655543"/>
            <a:ext cx="1730228" cy="1388882"/>
          </a:xfrm>
          <a:prstGeom prst="roundRect">
            <a:avLst>
              <a:gd name="adj" fmla="val 3950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6" name="h26_c1"/>
          <p:cNvSpPr/>
          <p:nvPr/>
        </p:nvSpPr>
        <p:spPr>
          <a:xfrm>
            <a:off x="9206074" y="2365324"/>
            <a:ext cx="681478" cy="204917"/>
          </a:xfrm>
          <a:prstGeom prst="roundRect">
            <a:avLst>
              <a:gd name="adj" fmla="val 26774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7" name="h26_c2"/>
          <p:cNvSpPr/>
          <p:nvPr/>
        </p:nvSpPr>
        <p:spPr>
          <a:xfrm>
            <a:off x="9135704" y="3492368"/>
            <a:ext cx="1666659" cy="402245"/>
          </a:xfrm>
          <a:prstGeom prst="roundRect">
            <a:avLst>
              <a:gd name="adj" fmla="val 13639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9" name="Text 34">
            <a:hlinkClick r:id="rId4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5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6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7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8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9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0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1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2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3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4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5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6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7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8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9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0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21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2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23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4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5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26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27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28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>
            <a:hlinkClick r:id="rId29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0">
            <a:hlinkClick r:id="rId30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1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FEATURES  ·  ANALYTICS AND FORUM TOOLS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 Announcements and Events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890907" y="1412748"/>
            <a:ext cx="1967226" cy="3895344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additional features/forum-features/event_creation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199" y="1463040"/>
            <a:ext cx="1866642" cy="3794760"/>
          </a:xfrm>
          <a:prstGeom prst="rect">
            <a:avLst/>
          </a:prstGeom>
        </p:spPr>
      </p:pic>
      <p:sp>
        <p:nvSpPr>
          <p:cNvPr id="12" name="p27_ca"/>
          <p:cNvSpPr/>
          <p:nvPr/>
        </p:nvSpPr>
        <p:spPr>
          <a:xfrm>
            <a:off x="274320" y="5477256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event, mark the dates, and post it to the community.</a:t>
            </a:r>
            <a:endParaRPr lang="en-US" sz="1800" dirty="0"/>
          </a:p>
        </p:txBody>
      </p:sp>
      <p:sp>
        <p:nvSpPr>
          <p:cNvPr id="13" name="p27_ta"/>
          <p:cNvSpPr/>
          <p:nvPr/>
        </p:nvSpPr>
        <p:spPr>
          <a:xfrm>
            <a:off x="779256" y="1431950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27_ta_t"/>
          <p:cNvSpPr/>
          <p:nvPr/>
        </p:nvSpPr>
        <p:spPr>
          <a:xfrm>
            <a:off x="779256" y="1431950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08784" y="1412748"/>
            <a:ext cx="1949391" cy="3895344"/>
          </a:xfrm>
          <a:prstGeom prst="roundRect">
            <a:avLst>
              <a:gd name="adj" fmla="val 3753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6" name="Image 1" descr="C:/NogorShomadhan/User Manual/additional features/forum-features/forum_alert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9076" y="1463040"/>
            <a:ext cx="1848807" cy="3794760"/>
          </a:xfrm>
          <a:prstGeom prst="rect">
            <a:avLst/>
          </a:prstGeom>
        </p:spPr>
      </p:pic>
      <p:sp>
        <p:nvSpPr>
          <p:cNvPr id="17" name="p27_cb"/>
          <p:cNvSpPr/>
          <p:nvPr/>
        </p:nvSpPr>
        <p:spPr>
          <a:xfrm>
            <a:off x="3383280" y="5477256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an official post and choose its message type before publishing.</a:t>
            </a:r>
            <a:endParaRPr lang="en-US" sz="1800" dirty="0"/>
          </a:p>
        </p:txBody>
      </p:sp>
      <p:sp>
        <p:nvSpPr>
          <p:cNvPr id="18" name="p27_tb"/>
          <p:cNvSpPr/>
          <p:nvPr/>
        </p:nvSpPr>
        <p:spPr>
          <a:xfrm>
            <a:off x="3895885" y="1431950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9" name="p27_tb_t"/>
          <p:cNvSpPr/>
          <p:nvPr/>
        </p:nvSpPr>
        <p:spPr>
          <a:xfrm>
            <a:off x="3895885" y="1431950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0" name="h27_a1"/>
          <p:cNvSpPr/>
          <p:nvPr/>
        </p:nvSpPr>
        <p:spPr>
          <a:xfrm>
            <a:off x="1101730" y="2271324"/>
            <a:ext cx="1545580" cy="258044"/>
          </a:xfrm>
          <a:prstGeom prst="roundRect">
            <a:avLst>
              <a:gd name="adj" fmla="val 2126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21" name="h27_a2"/>
          <p:cNvSpPr/>
          <p:nvPr/>
        </p:nvSpPr>
        <p:spPr>
          <a:xfrm>
            <a:off x="1101730" y="2677363"/>
            <a:ext cx="1545580" cy="1305397"/>
          </a:xfrm>
          <a:prstGeom prst="roundRect">
            <a:avLst>
              <a:gd name="adj" fmla="val 4203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22" name="h27_a3"/>
          <p:cNvSpPr/>
          <p:nvPr/>
        </p:nvSpPr>
        <p:spPr>
          <a:xfrm>
            <a:off x="1646790" y="4643049"/>
            <a:ext cx="1000520" cy="189738"/>
          </a:xfrm>
          <a:prstGeom prst="roundRect">
            <a:avLst>
              <a:gd name="adj" fmla="val 28916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23" name="h27_b1"/>
          <p:cNvSpPr/>
          <p:nvPr/>
        </p:nvSpPr>
        <p:spPr>
          <a:xfrm>
            <a:off x="4210679" y="2684953"/>
            <a:ext cx="1545603" cy="667878"/>
          </a:xfrm>
          <a:prstGeom prst="roundRect">
            <a:avLst>
              <a:gd name="adj" fmla="val 8215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24" name="h27_b2"/>
          <p:cNvSpPr/>
          <p:nvPr/>
        </p:nvSpPr>
        <p:spPr>
          <a:xfrm>
            <a:off x="5253406" y="3386983"/>
            <a:ext cx="502876" cy="459166"/>
          </a:xfrm>
          <a:prstGeom prst="roundRect">
            <a:avLst>
              <a:gd name="adj" fmla="val 11949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25" name="h27_b3"/>
          <p:cNvSpPr/>
          <p:nvPr/>
        </p:nvSpPr>
        <p:spPr>
          <a:xfrm>
            <a:off x="4210679" y="3884097"/>
            <a:ext cx="1545603" cy="227686"/>
          </a:xfrm>
          <a:prstGeom prst="roundRect">
            <a:avLst>
              <a:gd name="adj" fmla="val 24096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720840" y="1463040"/>
            <a:ext cx="5059375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7" name="Text 23"/>
          <p:cNvSpPr/>
          <p:nvPr/>
        </p:nvSpPr>
        <p:spPr>
          <a:xfrm>
            <a:off x="6995160" y="1664208"/>
            <a:ext cx="4510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POST TYPES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995160" y="2066544"/>
            <a:ext cx="1751990" cy="347472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995160" y="2066544"/>
            <a:ext cx="175199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</a:t>
            </a:r>
            <a:endParaRPr lang="en-US" sz="1400" dirty="0"/>
          </a:p>
        </p:txBody>
      </p:sp>
      <p:sp>
        <p:nvSpPr>
          <p:cNvPr id="30" name="p27_d0"/>
          <p:cNvSpPr/>
          <p:nvPr/>
        </p:nvSpPr>
        <p:spPr>
          <a:xfrm>
            <a:off x="6995160" y="2487168"/>
            <a:ext cx="451073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notices, schedules, and community events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6995160" y="3108960"/>
            <a:ext cx="1967789" cy="347472"/>
          </a:xfrm>
          <a:prstGeom prst="roundRect">
            <a:avLst>
              <a:gd name="adj" fmla="val 50000"/>
            </a:avLst>
          </a:prstGeom>
          <a:solidFill>
            <a:srgbClr val="18835C"/>
          </a:solidFill>
          <a:ln w="12700">
            <a:solidFill>
              <a:srgbClr val="18835C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995160" y="3108960"/>
            <a:ext cx="19677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UPDATE</a:t>
            </a:r>
            <a:endParaRPr lang="en-US" sz="1400" dirty="0"/>
          </a:p>
        </p:txBody>
      </p:sp>
      <p:sp>
        <p:nvSpPr>
          <p:cNvPr id="33" name="p27_d1"/>
          <p:cNvSpPr/>
          <p:nvPr/>
        </p:nvSpPr>
        <p:spPr>
          <a:xfrm>
            <a:off x="6995160" y="3529584"/>
            <a:ext cx="451073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or changes to community services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6995160" y="4151376"/>
            <a:ext cx="996696" cy="347472"/>
          </a:xfrm>
          <a:prstGeom prst="roundRect">
            <a:avLst>
              <a:gd name="adj" fmla="val 50000"/>
            </a:avLst>
          </a:prstGeom>
          <a:solidFill>
            <a:srgbClr val="B4480A"/>
          </a:solidFill>
          <a:ln w="12700">
            <a:solidFill>
              <a:srgbClr val="B4480A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995160" y="4151376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400" dirty="0"/>
          </a:p>
        </p:txBody>
      </p:sp>
      <p:sp>
        <p:nvSpPr>
          <p:cNvPr id="36" name="p27_d2"/>
          <p:cNvSpPr/>
          <p:nvPr/>
        </p:nvSpPr>
        <p:spPr>
          <a:xfrm>
            <a:off x="6995160" y="4572000"/>
            <a:ext cx="451073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Urgent, time-sensitive information</a:t>
            </a:r>
            <a:endParaRPr lang="en-US" sz="1700" dirty="0"/>
          </a:p>
        </p:txBody>
      </p:sp>
      <p:sp>
        <p:nvSpPr>
          <p:cNvPr id="37" name="p27_note"/>
          <p:cNvSpPr/>
          <p:nvPr/>
        </p:nvSpPr>
        <p:spPr>
          <a:xfrm>
            <a:off x="6995160" y="5248656"/>
            <a:ext cx="45107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can filter the forum by type.</a:t>
            </a:r>
            <a:endParaRPr lang="en-US" sz="1600" dirty="0"/>
          </a:p>
        </p:txBody>
      </p:sp>
      <p:sp>
        <p:nvSpPr>
          <p:cNvPr id="38" name="Text 34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9" name="Text 35">
            <a:hlinkClick r:id="rId3" tooltip="1. Problem Statement" action="ppaction://hlinksldjump"/>
          </p:cNvPr>
          <p:cNvSpPr/>
          <p:nvPr/>
        </p:nvSpPr>
        <p:spPr>
          <a:xfrm>
            <a:off x="69064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6">
            <a:hlinkClick r:id="rId4" tooltip="2. Stakeholders and Responsibilities" action="ppaction://hlinksldjump"/>
          </p:cNvPr>
          <p:cNvSpPr/>
          <p:nvPr/>
        </p:nvSpPr>
        <p:spPr>
          <a:xfrm>
            <a:off x="70893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7">
            <a:hlinkClick r:id="rId5" tooltip="3. Resident Account Registration" action="ppaction://hlinksldjump"/>
          </p:cNvPr>
          <p:cNvSpPr/>
          <p:nvPr/>
        </p:nvSpPr>
        <p:spPr>
          <a:xfrm>
            <a:off x="72722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6" tooltip="4. Registration Request Submitted" action="ppaction://hlinksldjump"/>
          </p:cNvPr>
          <p:cNvSpPr/>
          <p:nvPr/>
        </p:nvSpPr>
        <p:spPr>
          <a:xfrm>
            <a:off x="74551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7" tooltip="5. Admin Receives the Verification Request" action="ppaction://hlinksldjump"/>
          </p:cNvPr>
          <p:cNvSpPr/>
          <p:nvPr/>
        </p:nvSpPr>
        <p:spPr>
          <a:xfrm>
            <a:off x="76379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8" tooltip="6. Admin Reviews and Approves the Account" action="ppaction://hlinksldjump"/>
          </p:cNvPr>
          <p:cNvSpPr/>
          <p:nvPr/>
        </p:nvSpPr>
        <p:spPr>
          <a:xfrm>
            <a:off x="78208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9" tooltip="7. Account Verification Completed" action="ppaction://hlinksldjump"/>
          </p:cNvPr>
          <p:cNvSpPr/>
          <p:nvPr/>
        </p:nvSpPr>
        <p:spPr>
          <a:xfrm>
            <a:off x="80037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10" tooltip="8. Create a New Complaint" action="ppaction://hlinksldjump"/>
          </p:cNvPr>
          <p:cNvSpPr/>
          <p:nvPr/>
        </p:nvSpPr>
        <p:spPr>
          <a:xfrm>
            <a:off x="81866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11" tooltip="9. Add Evidence and Review the Category" action="ppaction://hlinksldjump"/>
          </p:cNvPr>
          <p:cNvSpPr/>
          <p:nvPr/>
        </p:nvSpPr>
        <p:spPr>
          <a:xfrm>
            <a:off x="83695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2" tooltip="10. Confirm the Complaint Submission" action="ppaction://hlinksldjump"/>
          </p:cNvPr>
          <p:cNvSpPr/>
          <p:nvPr/>
        </p:nvSpPr>
        <p:spPr>
          <a:xfrm>
            <a:off x="85523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3" tooltip="11. Admin Opens the Review Queue" action="ppaction://hlinksldjump"/>
          </p:cNvPr>
          <p:cNvSpPr/>
          <p:nvPr/>
        </p:nvSpPr>
        <p:spPr>
          <a:xfrm>
            <a:off x="87352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4" tooltip="12. Complaint Check and Duplicate Comparison" action="ppaction://hlinksldjump"/>
          </p:cNvPr>
          <p:cNvSpPr/>
          <p:nvPr/>
        </p:nvSpPr>
        <p:spPr>
          <a:xfrm>
            <a:off x="89181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5" tooltip="13. Duplicate Review Outcomes" action="ppaction://hlinksldjump"/>
          </p:cNvPr>
          <p:cNvSpPr/>
          <p:nvPr/>
        </p:nvSpPr>
        <p:spPr>
          <a:xfrm>
            <a:off x="91010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6" tooltip="14. Pending Complaint Visibility" action="ppaction://hlinksldjump"/>
          </p:cNvPr>
          <p:cNvSpPr/>
          <p:nvPr/>
        </p:nvSpPr>
        <p:spPr>
          <a:xfrm>
            <a:off x="92839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7" tooltip="15. Authority Opens the Complaint" action="ppaction://hlinksldjump"/>
          </p:cNvPr>
          <p:cNvSpPr/>
          <p:nvPr/>
        </p:nvSpPr>
        <p:spPr>
          <a:xfrm>
            <a:off x="94667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Open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8" tooltip="16. Assign a Contractor and Start Work" action="ppaction://hlinksldjump"/>
          </p:cNvPr>
          <p:cNvSpPr/>
          <p:nvPr/>
        </p:nvSpPr>
        <p:spPr>
          <a:xfrm>
            <a:off x="96496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Assign a Contractor and Start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9" tooltip="17. The Complaint Moves to In Progress" action="ppaction://hlinksldjump"/>
          </p:cNvPr>
          <p:cNvSpPr/>
          <p:nvPr/>
        </p:nvSpPr>
        <p:spPr>
          <a:xfrm>
            <a:off x="98325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The Complaint Moves to In Progre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20" tooltip="18. Residents See the Progress Update" action="ppaction://hlinksldjump"/>
          </p:cNvPr>
          <p:cNvSpPr/>
          <p:nvPr/>
        </p:nvSpPr>
        <p:spPr>
          <a:xfrm>
            <a:off x="100154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8. Residents See the Progress Upda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21" tooltip="19. Resident Starts a Forum Discussion" action="ppaction://hlinksldjump"/>
          </p:cNvPr>
          <p:cNvSpPr/>
          <p:nvPr/>
        </p:nvSpPr>
        <p:spPr>
          <a:xfrm>
            <a:off x="101983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9. Resident Starts a Forum Discu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22" tooltip="20. Everyone Is Notified" action="ppaction://hlinksldjump"/>
          </p:cNvPr>
          <p:cNvSpPr/>
          <p:nvPr/>
        </p:nvSpPr>
        <p:spPr>
          <a:xfrm>
            <a:off x="103811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action="ppaction://hlinksldjump" tooltip="20. Everyone Is Notifi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23" tooltip="21. Open the Post and Discuss" action="ppaction://hlinksldjump"/>
          </p:cNvPr>
          <p:cNvSpPr/>
          <p:nvPr/>
        </p:nvSpPr>
        <p:spPr>
          <a:xfrm>
            <a:off x="105640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action="ppaction://hlinksldjump" tooltip="21. Open the Post and Discus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>
            <a:hlinkClick r:id="rId24" tooltip="22. Authority Updates the Work" action="ppaction://hlinksldjump"/>
          </p:cNvPr>
          <p:cNvSpPr/>
          <p:nvPr/>
        </p:nvSpPr>
        <p:spPr>
          <a:xfrm>
            <a:off x="1074694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action="ppaction://hlinksldjump" tooltip="22. Authority Updates the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7">
            <a:hlinkClick r:id="rId25" tooltip="23. Authority Resolves the Complaint" action="ppaction://hlinksldjump"/>
          </p:cNvPr>
          <p:cNvSpPr/>
          <p:nvPr/>
        </p:nvSpPr>
        <p:spPr>
          <a:xfrm>
            <a:off x="1092982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action="ppaction://hlinksldjump" tooltip="23. Authority Resolves the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8">
            <a:hlinkClick r:id="rId26" tooltip="24. Residents Give Feedback" action="ppaction://hlinksldjump"/>
          </p:cNvPr>
          <p:cNvSpPr/>
          <p:nvPr/>
        </p:nvSpPr>
        <p:spPr>
          <a:xfrm>
            <a:off x="1111270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action="ppaction://hlinksldjump" tooltip="24. Residents Give Feedbac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9">
            <a:hlinkClick r:id="rId27" tooltip="25. Feedback Is Public and Answered" action="ppaction://hlinksldjump"/>
          </p:cNvPr>
          <p:cNvSpPr/>
          <p:nvPr/>
        </p:nvSpPr>
        <p:spPr>
          <a:xfrm>
            <a:off x="1129558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action="ppaction://hlinksldjump" tooltip="25. Feedback Is Public and Answer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60">
            <a:hlinkClick r:id="rId28" tooltip="26. Analytics and Reporting" action="ppaction://hlinksldjump"/>
          </p:cNvPr>
          <p:cNvSpPr/>
          <p:nvPr/>
        </p:nvSpPr>
        <p:spPr>
          <a:xfrm>
            <a:off x="11478463" y="6528816"/>
            <a:ext cx="118872" cy="118872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action="ppaction://hlinksldjump" tooltip="26. Analytics and Repor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1">
            <a:hlinkClick r:id="rId29" tooltip="27. Forum Announcements and Events" action="ppaction://hlinksldjump"/>
          </p:cNvPr>
          <p:cNvSpPr/>
          <p:nvPr/>
        </p:nvSpPr>
        <p:spPr>
          <a:xfrm>
            <a:off x="11661343" y="6528816"/>
            <a:ext cx="118872" cy="1188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action="ppaction://hlinksldjump" tooltip="27. Forum Announcements and Even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2"/>
          <p:cNvSpPr/>
          <p:nvPr/>
        </p:nvSpPr>
        <p:spPr>
          <a:xfrm>
            <a:off x="60835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Nogor Shomadhan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Nogor Shomadhan — User Manual: Phases 1-6 and additional features</dc:title>
  <dc:subject>PptxGenJS Presentation</dc:subject>
  <dc:creator>Ashfia Tabassum</dc:creator>
  <cp:lastModifiedBy>Ashfia Tabassum</cp:lastModifiedBy>
  <cp:revision>1</cp:revision>
  <dcterms:created xsi:type="dcterms:W3CDTF">2026-09-12T19:57:52Z</dcterms:created>
  <dcterms:modified xsi:type="dcterms:W3CDTF">2026-09-12T19:57:52Z</dcterms:modified>
</cp:coreProperties>
</file>