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1" Type="http://schemas.openxmlformats.org/officeDocument/2006/relationships/image" Target="../media/image-1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" Target="slide1.xml"/><Relationship Id="rId5" Type="http://schemas.openxmlformats.org/officeDocument/2006/relationships/slide" Target="slide2.xml"/><Relationship Id="rId6" Type="http://schemas.openxmlformats.org/officeDocument/2006/relationships/slide" Target="slide3.xml"/><Relationship Id="rId7" Type="http://schemas.openxmlformats.org/officeDocument/2006/relationships/slide" Target="slide4.xml"/><Relationship Id="rId8" Type="http://schemas.openxmlformats.org/officeDocument/2006/relationships/slide" Target="slide5.xml"/><Relationship Id="rId9" Type="http://schemas.openxmlformats.org/officeDocument/2006/relationships/slide" Target="slide6.xml"/><Relationship Id="rId10" Type="http://schemas.openxmlformats.org/officeDocument/2006/relationships/slide" Target="slide7.xml"/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6.xml"/><Relationship Id="rId9" Type="http://schemas.openxmlformats.org/officeDocument/2006/relationships/slide" Target="slide7.xml"/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6.xml"/><Relationship Id="rId9" Type="http://schemas.openxmlformats.org/officeDocument/2006/relationships/slide" Target="slide7.xml"/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6.xml"/><Relationship Id="rId9" Type="http://schemas.openxmlformats.org/officeDocument/2006/relationships/slide" Target="slide7.xml"/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" Target="slide1.xml"/><Relationship Id="rId5" Type="http://schemas.openxmlformats.org/officeDocument/2006/relationships/slide" Target="slide2.xml"/><Relationship Id="rId6" Type="http://schemas.openxmlformats.org/officeDocument/2006/relationships/slide" Target="slide3.xml"/><Relationship Id="rId7" Type="http://schemas.openxmlformats.org/officeDocument/2006/relationships/slide" Target="slide4.xml"/><Relationship Id="rId8" Type="http://schemas.openxmlformats.org/officeDocument/2006/relationships/slide" Target="slide5.xml"/><Relationship Id="rId9" Type="http://schemas.openxmlformats.org/officeDocument/2006/relationships/slide" Target="slide6.xml"/><Relationship Id="rId10" Type="http://schemas.openxmlformats.org/officeDocument/2006/relationships/slide" Target="slide7.xml"/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75467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329184"/>
            <a:ext cx="621792" cy="621792"/>
          </a:xfrm>
          <a:prstGeom prst="roundRect">
            <a:avLst>
              <a:gd name="adj" fmla="val 23529"/>
            </a:avLst>
          </a:prstGeom>
          <a:solidFill>
            <a:srgbClr val="475467"/>
          </a:solidFill>
          <a:ln w="12700">
            <a:solidFill>
              <a:srgbClr val="475467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32918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88720" y="32918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 ·  WHY THIS PLATFORM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52144" y="5486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0679278" y="475488"/>
            <a:ext cx="1100938" cy="420624"/>
          </a:xfrm>
          <a:prstGeom prst="roundRect">
            <a:avLst>
              <a:gd name="adj" fmla="val 50000"/>
            </a:avLst>
          </a:prstGeom>
          <a:solidFill>
            <a:srgbClr val="475467"/>
          </a:solidFill>
          <a:ln w="12700">
            <a:solidFill>
              <a:srgbClr val="475467"/>
            </a:solidFill>
            <a:prstDash val="solid"/>
          </a:ln>
          <a:effectLst>
            <a:outerShdw sx="100000" sy="100000" kx="0" ky="0" algn="bl" rotWithShape="0" blurRad="76200" dist="12700" dir="5400000">
              <a:srgbClr val="0B2239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679278" y="475488"/>
            <a:ext cx="110093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1216152"/>
            <a:ext cx="11368735" cy="18288"/>
          </a:xfrm>
          <a:prstGeom prst="rect">
            <a:avLst/>
          </a:prstGeom>
          <a:solidFill>
            <a:srgbClr val="DDE1E7"/>
          </a:solidFill>
          <a:ln/>
        </p:spPr>
      </p:sp>
      <p:sp>
        <p:nvSpPr>
          <p:cNvPr id="10" name="a_stmt_bg"/>
          <p:cNvSpPr/>
          <p:nvPr/>
        </p:nvSpPr>
        <p:spPr>
          <a:xfrm>
            <a:off x="411480" y="1417320"/>
            <a:ext cx="59436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12700" dir="5400000">
              <a:srgbClr val="0B2239">
                <a:alpha val="8000"/>
              </a:srgbClr>
            </a:outerShdw>
          </a:effectLst>
        </p:spPr>
      </p:sp>
      <p:sp>
        <p:nvSpPr>
          <p:cNvPr id="11" name="a_stmt_bar"/>
          <p:cNvSpPr/>
          <p:nvPr/>
        </p:nvSpPr>
        <p:spPr>
          <a:xfrm>
            <a:off x="411480" y="1417320"/>
            <a:ext cx="82296" cy="932688"/>
          </a:xfrm>
          <a:prstGeom prst="rect">
            <a:avLst/>
          </a:prstGeom>
          <a:solidFill>
            <a:srgbClr val="475467"/>
          </a:solidFill>
          <a:ln/>
        </p:spPr>
      </p:sp>
      <p:sp>
        <p:nvSpPr>
          <p:cNvPr id="12" name="a_stmt_tx"/>
          <p:cNvSpPr/>
          <p:nvPr/>
        </p:nvSpPr>
        <p:spPr>
          <a:xfrm>
            <a:off x="704088" y="1417320"/>
            <a:ext cx="53949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maintenance complaints remain fragmented and difficult to track</a:t>
            </a:r>
            <a:endParaRPr lang="en-US" sz="2200" dirty="0"/>
          </a:p>
        </p:txBody>
      </p:sp>
      <p:sp>
        <p:nvSpPr>
          <p:cNvPr id="13" name="p1_1_c"/>
          <p:cNvSpPr/>
          <p:nvPr/>
        </p:nvSpPr>
        <p:spPr>
          <a:xfrm>
            <a:off x="466344" y="2523744"/>
            <a:ext cx="347472" cy="347472"/>
          </a:xfrm>
          <a:prstGeom prst="ellipse">
            <a:avLst/>
          </a:prstGeom>
          <a:solidFill>
            <a:srgbClr val="475467"/>
          </a:solidFill>
          <a:ln>
            <a:solidFill>
              <a:srgbClr val="47546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p1_1_t"/>
          <p:cNvSpPr/>
          <p:nvPr/>
        </p:nvSpPr>
        <p:spPr>
          <a:xfrm>
            <a:off x="1014984" y="2505456"/>
            <a:ext cx="52852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rely on phone calls, social media groups, and informal messages.</a:t>
            </a:r>
            <a:endParaRPr lang="en-US" sz="1800" dirty="0"/>
          </a:p>
        </p:txBody>
      </p:sp>
      <p:sp>
        <p:nvSpPr>
          <p:cNvPr id="15" name="p1_2_c"/>
          <p:cNvSpPr/>
          <p:nvPr/>
        </p:nvSpPr>
        <p:spPr>
          <a:xfrm>
            <a:off x="466344" y="3267456"/>
            <a:ext cx="347472" cy="347472"/>
          </a:xfrm>
          <a:prstGeom prst="ellipse">
            <a:avLst/>
          </a:prstGeom>
          <a:solidFill>
            <a:srgbClr val="475467"/>
          </a:solidFill>
          <a:ln>
            <a:solidFill>
              <a:srgbClr val="47546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p1_2_t"/>
          <p:cNvSpPr/>
          <p:nvPr/>
        </p:nvSpPr>
        <p:spPr>
          <a:xfrm>
            <a:off x="1014984" y="3249168"/>
            <a:ext cx="52852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often arrive without structured evidence or accurate location details.</a:t>
            </a:r>
            <a:endParaRPr lang="en-US" sz="1800" dirty="0"/>
          </a:p>
        </p:txBody>
      </p:sp>
      <p:sp>
        <p:nvSpPr>
          <p:cNvPr id="17" name="p1_3_c"/>
          <p:cNvSpPr/>
          <p:nvPr/>
        </p:nvSpPr>
        <p:spPr>
          <a:xfrm>
            <a:off x="466344" y="4011168"/>
            <a:ext cx="347472" cy="347472"/>
          </a:xfrm>
          <a:prstGeom prst="ellipse">
            <a:avLst/>
          </a:prstGeom>
          <a:solidFill>
            <a:srgbClr val="475467"/>
          </a:solidFill>
          <a:ln>
            <a:solidFill>
              <a:srgbClr val="47546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p1_3_t"/>
          <p:cNvSpPr/>
          <p:nvPr/>
        </p:nvSpPr>
        <p:spPr>
          <a:xfrm>
            <a:off x="1014984" y="3992880"/>
            <a:ext cx="52852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reports and disconnected channels delay verification and assignment.</a:t>
            </a:r>
            <a:endParaRPr lang="en-US" sz="1800" dirty="0"/>
          </a:p>
        </p:txBody>
      </p:sp>
      <p:sp>
        <p:nvSpPr>
          <p:cNvPr id="19" name="p1_4_c"/>
          <p:cNvSpPr/>
          <p:nvPr/>
        </p:nvSpPr>
        <p:spPr>
          <a:xfrm>
            <a:off x="466344" y="4754880"/>
            <a:ext cx="347472" cy="347472"/>
          </a:xfrm>
          <a:prstGeom prst="ellipse">
            <a:avLst/>
          </a:prstGeom>
          <a:solidFill>
            <a:srgbClr val="475467"/>
          </a:solidFill>
          <a:ln>
            <a:solidFill>
              <a:srgbClr val="47546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p1_4_t"/>
          <p:cNvSpPr/>
          <p:nvPr/>
        </p:nvSpPr>
        <p:spPr>
          <a:xfrm>
            <a:off x="1014984" y="4736592"/>
            <a:ext cx="52852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have limited visibility into progress, reducing trust and accountability.</a:t>
            </a:r>
            <a:endParaRPr lang="en-US" sz="1800" dirty="0"/>
          </a:p>
        </p:txBody>
      </p:sp>
      <p:sp>
        <p:nvSpPr>
          <p:cNvPr id="21" name="a_close_bg"/>
          <p:cNvSpPr/>
          <p:nvPr/>
        </p:nvSpPr>
        <p:spPr>
          <a:xfrm>
            <a:off x="411480" y="5486400"/>
            <a:ext cx="5943600" cy="749808"/>
          </a:xfrm>
          <a:prstGeom prst="roundRect">
            <a:avLst>
              <a:gd name="adj" fmla="val 1219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22" name="a_close_tx"/>
          <p:cNvSpPr/>
          <p:nvPr/>
        </p:nvSpPr>
        <p:spPr>
          <a:xfrm>
            <a:off x="667512" y="5486400"/>
            <a:ext cx="543153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Nogor Shomadhan provides one verified workflow from reporting to resolution.</a:t>
            </a:r>
            <a:endParaRPr lang="en-US" sz="1850" dirty="0"/>
          </a:p>
        </p:txBody>
      </p:sp>
      <p:sp>
        <p:nvSpPr>
          <p:cNvPr id="23" name="Shape 21"/>
          <p:cNvSpPr/>
          <p:nvPr/>
        </p:nvSpPr>
        <p:spPr>
          <a:xfrm>
            <a:off x="6656832" y="1417320"/>
            <a:ext cx="5120640" cy="3968592"/>
          </a:xfrm>
          <a:prstGeom prst="roundRect">
            <a:avLst>
              <a:gd name="adj" fmla="val 2304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pic>
        <p:nvPicPr>
          <p:cNvPr id="24" name="Image 0" descr="C:/NogorShomadhan/Images/Road brok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481328"/>
            <a:ext cx="4992624" cy="3840576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6656832" y="5477256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12700" dir="5400000">
              <a:srgbClr val="0B2239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912864" y="5559552"/>
            <a:ext cx="46085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REALITY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912864" y="5779008"/>
            <a:ext cx="460857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to everyone, yet no record of who reported it or what happens next.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411480" y="6510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Nogor Shomadhan  ·  User Manual</a:t>
            </a:r>
            <a:endParaRPr lang="en-US" sz="1100" dirty="0"/>
          </a:p>
        </p:txBody>
      </p:sp>
      <p:sp>
        <p:nvSpPr>
          <p:cNvPr id="29" name="Text 26">
            <a:hlinkClick r:id="rId2" tooltip="1. Problem Statement" action="ppaction://hlinksldjump"/>
          </p:cNvPr>
          <p:cNvSpPr/>
          <p:nvPr/>
        </p:nvSpPr>
        <p:spPr>
          <a:xfrm>
            <a:off x="9494215" y="6528816"/>
            <a:ext cx="201168" cy="201168"/>
          </a:xfrm>
          <a:prstGeom prst="ellipse">
            <a:avLst/>
          </a:prstGeom>
          <a:solidFill>
            <a:srgbClr val="475467"/>
          </a:solidFill>
          <a:ln>
            <a:solidFill>
              <a:srgbClr val="47546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1. Problem Stat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30" name="Text 27">
            <a:hlinkClick r:id="rId3" tooltip="2. Stakeholders and Responsibilities" action="ppaction://hlinksldjump"/>
          </p:cNvPr>
          <p:cNvSpPr/>
          <p:nvPr/>
        </p:nvSpPr>
        <p:spPr>
          <a:xfrm>
            <a:off x="9841687" y="6528816"/>
            <a:ext cx="201168" cy="201168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2. Stakeholders and Responsibilit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31" name="Text 28">
            <a:hlinkClick r:id="rId4" tooltip="3. Resident Account Registration" action="ppaction://hlinksldjump"/>
          </p:cNvPr>
          <p:cNvSpPr/>
          <p:nvPr/>
        </p:nvSpPr>
        <p:spPr>
          <a:xfrm>
            <a:off x="10189159" y="6528816"/>
            <a:ext cx="201168" cy="201168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3. Resident Account Regist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32" name="Text 29">
            <a:hlinkClick r:id="rId5" tooltip="4. Registration Request Submitted" action="ppaction://hlinksldjump"/>
          </p:cNvPr>
          <p:cNvSpPr/>
          <p:nvPr/>
        </p:nvSpPr>
        <p:spPr>
          <a:xfrm>
            <a:off x="10536631" y="6528816"/>
            <a:ext cx="201168" cy="201168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4. Registration Request Submit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33" name="Text 30">
            <a:hlinkClick r:id="rId6" tooltip="5. Admin Receives the Verification Request" action="ppaction://hlinksldjump"/>
          </p:cNvPr>
          <p:cNvSpPr/>
          <p:nvPr/>
        </p:nvSpPr>
        <p:spPr>
          <a:xfrm>
            <a:off x="10884103" y="6528816"/>
            <a:ext cx="201168" cy="201168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5. Admin Receives the Verification Reque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34" name="Text 31">
            <a:hlinkClick r:id="rId7" tooltip="6. Admin Reviews and Approves the Account" action="ppaction://hlinksldjump"/>
          </p:cNvPr>
          <p:cNvSpPr/>
          <p:nvPr/>
        </p:nvSpPr>
        <p:spPr>
          <a:xfrm>
            <a:off x="11231575" y="6528816"/>
            <a:ext cx="201168" cy="201168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6. Admin Reviews and Approves the Accou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35" name="Text 32">
            <a:hlinkClick r:id="rId8" tooltip="7. Account Verification Completed" action="ppaction://hlinksldjump"/>
          </p:cNvPr>
          <p:cNvSpPr/>
          <p:nvPr/>
        </p:nvSpPr>
        <p:spPr>
          <a:xfrm>
            <a:off x="11579047" y="6528816"/>
            <a:ext cx="201168" cy="201168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7. Account Verification Comple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8716975" y="6510528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7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75467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329184"/>
            <a:ext cx="621792" cy="621792"/>
          </a:xfrm>
          <a:prstGeom prst="roundRect">
            <a:avLst>
              <a:gd name="adj" fmla="val 23529"/>
            </a:avLst>
          </a:prstGeom>
          <a:solidFill>
            <a:srgbClr val="475467"/>
          </a:solidFill>
          <a:ln w="12700">
            <a:solidFill>
              <a:srgbClr val="475467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32918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88720" y="32918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 ·  WHO USES THE PLATFORM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52144" y="5486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and Responsibilities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0383012" y="475488"/>
            <a:ext cx="1397203" cy="420624"/>
          </a:xfrm>
          <a:prstGeom prst="roundRect">
            <a:avLst>
              <a:gd name="adj" fmla="val 50000"/>
            </a:avLst>
          </a:prstGeom>
          <a:solidFill>
            <a:srgbClr val="475467"/>
          </a:solidFill>
          <a:ln w="12700">
            <a:solidFill>
              <a:srgbClr val="475467"/>
            </a:solidFill>
            <a:prstDash val="solid"/>
          </a:ln>
          <a:effectLst>
            <a:outerShdw sx="100000" sy="100000" kx="0" ky="0" algn="bl" rotWithShape="0" blurRad="76200" dist="12700" dir="5400000">
              <a:srgbClr val="0B2239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383012" y="475488"/>
            <a:ext cx="139720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1216152"/>
            <a:ext cx="11368735" cy="18288"/>
          </a:xfrm>
          <a:prstGeom prst="rect">
            <a:avLst/>
          </a:prstGeom>
          <a:solidFill>
            <a:srgbClr val="DDE1E7"/>
          </a:solidFill>
          <a:ln/>
        </p:spPr>
      </p:sp>
      <p:sp>
        <p:nvSpPr>
          <p:cNvPr id="10" name="c_res_bg"/>
          <p:cNvSpPr/>
          <p:nvPr/>
        </p:nvSpPr>
        <p:spPr>
          <a:xfrm>
            <a:off x="440284" y="1426464"/>
            <a:ext cx="3502152" cy="406908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FE3F4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11" name="c_res_hd"/>
          <p:cNvSpPr/>
          <p:nvPr/>
        </p:nvSpPr>
        <p:spPr>
          <a:xfrm>
            <a:off x="440284" y="1426464"/>
            <a:ext cx="3502152" cy="658368"/>
          </a:xfrm>
          <a:prstGeom prst="roundRect">
            <a:avLst>
              <a:gd name="adj" fmla="val 13889"/>
            </a:avLst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12" name="c_res_hd2"/>
          <p:cNvSpPr/>
          <p:nvPr/>
        </p:nvSpPr>
        <p:spPr>
          <a:xfrm>
            <a:off x="440284" y="1847088"/>
            <a:ext cx="3502152" cy="237744"/>
          </a:xfrm>
          <a:prstGeom prst="rect">
            <a:avLst/>
          </a:prstGeom>
          <a:solidFill>
            <a:srgbClr val="2563A6"/>
          </a:solidFill>
          <a:ln/>
        </p:spPr>
      </p:sp>
      <p:sp>
        <p:nvSpPr>
          <p:cNvPr id="13" name="c_res_hdt"/>
          <p:cNvSpPr/>
          <p:nvPr/>
        </p:nvSpPr>
        <p:spPr>
          <a:xfrm>
            <a:off x="440284" y="1426464"/>
            <a:ext cx="3502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2000" dirty="0"/>
          </a:p>
        </p:txBody>
      </p:sp>
      <p:sp>
        <p:nvSpPr>
          <p:cNvPr id="14" name="c_res_bl"/>
          <p:cNvSpPr/>
          <p:nvPr/>
        </p:nvSpPr>
        <p:spPr>
          <a:xfrm>
            <a:off x="696316" y="2231136"/>
            <a:ext cx="2990088" cy="3136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community problems with location and optional photographic evidence.</a:t>
            </a:r>
            <a:endParaRPr lang="en-US" sz="18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complaint status and receives important notifications.</a:t>
            </a:r>
            <a:endParaRPr lang="en-US" sz="18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Participates through urgency votes, forum discussions, and feedback.</a:t>
            </a:r>
            <a:endParaRPr lang="en-US" sz="1800" dirty="0"/>
          </a:p>
        </p:txBody>
      </p:sp>
      <p:sp>
        <p:nvSpPr>
          <p:cNvPr id="15" name="c_adm_bg"/>
          <p:cNvSpPr/>
          <p:nvPr/>
        </p:nvSpPr>
        <p:spPr>
          <a:xfrm>
            <a:off x="4344772" y="1426464"/>
            <a:ext cx="3502152" cy="406908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F2DBB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16" name="c_adm_hd"/>
          <p:cNvSpPr/>
          <p:nvPr/>
        </p:nvSpPr>
        <p:spPr>
          <a:xfrm>
            <a:off x="4344772" y="1426464"/>
            <a:ext cx="3502152" cy="658368"/>
          </a:xfrm>
          <a:prstGeom prst="roundRect">
            <a:avLst>
              <a:gd name="adj" fmla="val 13889"/>
            </a:avLst>
          </a:prstGeom>
          <a:solidFill>
            <a:srgbClr val="B86A12"/>
          </a:solidFill>
          <a:ln w="12700">
            <a:solidFill>
              <a:srgbClr val="B86A12"/>
            </a:solidFill>
            <a:prstDash val="solid"/>
          </a:ln>
        </p:spPr>
      </p:sp>
      <p:sp>
        <p:nvSpPr>
          <p:cNvPr id="17" name="c_adm_hd2"/>
          <p:cNvSpPr/>
          <p:nvPr/>
        </p:nvSpPr>
        <p:spPr>
          <a:xfrm>
            <a:off x="4344772" y="1847088"/>
            <a:ext cx="3502152" cy="237744"/>
          </a:xfrm>
          <a:prstGeom prst="rect">
            <a:avLst/>
          </a:prstGeom>
          <a:solidFill>
            <a:srgbClr val="B86A12"/>
          </a:solidFill>
          <a:ln/>
        </p:spPr>
      </p:sp>
      <p:sp>
        <p:nvSpPr>
          <p:cNvPr id="18" name="c_adm_hdt"/>
          <p:cNvSpPr/>
          <p:nvPr/>
        </p:nvSpPr>
        <p:spPr>
          <a:xfrm>
            <a:off x="4344772" y="1426464"/>
            <a:ext cx="3502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2000" dirty="0"/>
          </a:p>
        </p:txBody>
      </p:sp>
      <p:sp>
        <p:nvSpPr>
          <p:cNvPr id="19" name="c_adm_bl"/>
          <p:cNvSpPr/>
          <p:nvPr/>
        </p:nvSpPr>
        <p:spPr>
          <a:xfrm>
            <a:off x="4600804" y="2231136"/>
            <a:ext cx="2990088" cy="3136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resident accounts and newly submitted complaints.</a:t>
            </a:r>
            <a:endParaRPr lang="en-US" sz="18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possible duplicates identified by the system.</a:t>
            </a:r>
            <a:endParaRPr lang="en-US" sz="18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valid records and maintains platform integrity.</a:t>
            </a:r>
            <a:endParaRPr lang="en-US" sz="1800" dirty="0"/>
          </a:p>
        </p:txBody>
      </p:sp>
      <p:sp>
        <p:nvSpPr>
          <p:cNvPr id="20" name="c_aut_bg"/>
          <p:cNvSpPr/>
          <p:nvPr/>
        </p:nvSpPr>
        <p:spPr>
          <a:xfrm>
            <a:off x="8249260" y="1426464"/>
            <a:ext cx="3502152" cy="406908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6E5D6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21" name="c_aut_hd"/>
          <p:cNvSpPr/>
          <p:nvPr/>
        </p:nvSpPr>
        <p:spPr>
          <a:xfrm>
            <a:off x="8249260" y="1426464"/>
            <a:ext cx="3502152" cy="658368"/>
          </a:xfrm>
          <a:prstGeom prst="roundRect">
            <a:avLst>
              <a:gd name="adj" fmla="val 13889"/>
            </a:avLst>
          </a:prstGeom>
          <a:solidFill>
            <a:srgbClr val="237A57"/>
          </a:solidFill>
          <a:ln w="12700">
            <a:solidFill>
              <a:srgbClr val="237A57"/>
            </a:solidFill>
            <a:prstDash val="solid"/>
          </a:ln>
        </p:spPr>
      </p:sp>
      <p:sp>
        <p:nvSpPr>
          <p:cNvPr id="22" name="c_aut_hd2"/>
          <p:cNvSpPr/>
          <p:nvPr/>
        </p:nvSpPr>
        <p:spPr>
          <a:xfrm>
            <a:off x="8249260" y="1847088"/>
            <a:ext cx="3502152" cy="237744"/>
          </a:xfrm>
          <a:prstGeom prst="rect">
            <a:avLst/>
          </a:prstGeom>
          <a:solidFill>
            <a:srgbClr val="237A57"/>
          </a:solidFill>
          <a:ln/>
        </p:spPr>
      </p:sp>
      <p:sp>
        <p:nvSpPr>
          <p:cNvPr id="23" name="c_aut_hdt"/>
          <p:cNvSpPr/>
          <p:nvPr/>
        </p:nvSpPr>
        <p:spPr>
          <a:xfrm>
            <a:off x="8249260" y="1426464"/>
            <a:ext cx="3502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Authority</a:t>
            </a:r>
            <a:endParaRPr lang="en-US" sz="2000" dirty="0"/>
          </a:p>
        </p:txBody>
      </p:sp>
      <p:sp>
        <p:nvSpPr>
          <p:cNvPr id="24" name="c_aut_bl"/>
          <p:cNvSpPr/>
          <p:nvPr/>
        </p:nvSpPr>
        <p:spPr>
          <a:xfrm>
            <a:off x="8505292" y="2231136"/>
            <a:ext cx="2990088" cy="3136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verified complaints and begins the required work.</a:t>
            </a:r>
            <a:endParaRPr lang="en-US" sz="18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deadlines, budgets, contractors, notes, and evidence.</a:t>
            </a:r>
            <a:endParaRPr lang="en-US" sz="18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complaints and responds to resident feedback.</a:t>
            </a:r>
            <a:endParaRPr lang="en-US" sz="1800" dirty="0"/>
          </a:p>
        </p:txBody>
      </p:sp>
      <p:sp>
        <p:nvSpPr>
          <p:cNvPr id="25" name="sys_bg"/>
          <p:cNvSpPr/>
          <p:nvPr/>
        </p:nvSpPr>
        <p:spPr>
          <a:xfrm>
            <a:off x="440284" y="5605272"/>
            <a:ext cx="11311128" cy="731520"/>
          </a:xfrm>
          <a:prstGeom prst="roundRect">
            <a:avLst>
              <a:gd name="adj" fmla="val 12500"/>
            </a:avLst>
          </a:prstGeom>
          <a:solidFill>
            <a:srgbClr val="E9ECF1"/>
          </a:solidFill>
          <a:ln w="12700">
            <a:solidFill>
              <a:srgbClr val="D8DD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9740" y="5797296"/>
            <a:ext cx="1874520" cy="347472"/>
          </a:xfrm>
          <a:prstGeom prst="roundRect">
            <a:avLst>
              <a:gd name="adj" fmla="val 50000"/>
            </a:avLst>
          </a:prstGeom>
          <a:solidFill>
            <a:srgbClr val="475467"/>
          </a:solidFill>
          <a:ln w="12700">
            <a:solidFill>
              <a:srgbClr val="4754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9740" y="579729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LAYER</a:t>
            </a:r>
            <a:endParaRPr lang="en-US" sz="1400" dirty="0"/>
          </a:p>
        </p:txBody>
      </p:sp>
      <p:sp>
        <p:nvSpPr>
          <p:cNvPr id="28" name="sys_tx"/>
          <p:cNvSpPr/>
          <p:nvPr/>
        </p:nvSpPr>
        <p:spPr>
          <a:xfrm>
            <a:off x="2744572" y="5605272"/>
            <a:ext cx="8787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and AI: categorization, duplicate screening, status tracking, and notifications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11480" y="6510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Nogor Shomadhan  ·  User Manual</a:t>
            </a:r>
            <a:endParaRPr lang="en-US" sz="1100" dirty="0"/>
          </a:p>
        </p:txBody>
      </p:sp>
      <p:sp>
        <p:nvSpPr>
          <p:cNvPr id="30" name="Text 28">
            <a:hlinkClick r:id="rId1" tooltip="1. Problem Statement" action="ppaction://hlinksldjump"/>
          </p:cNvPr>
          <p:cNvSpPr/>
          <p:nvPr/>
        </p:nvSpPr>
        <p:spPr>
          <a:xfrm>
            <a:off x="9494215" y="6528816"/>
            <a:ext cx="201168" cy="201168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1. Problem Stat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31" name="Text 29">
            <a:hlinkClick r:id="rId2" tooltip="2. Stakeholders and Responsibilities" action="ppaction://hlinksldjump"/>
          </p:cNvPr>
          <p:cNvSpPr/>
          <p:nvPr/>
        </p:nvSpPr>
        <p:spPr>
          <a:xfrm>
            <a:off x="9841687" y="6528816"/>
            <a:ext cx="201168" cy="201168"/>
          </a:xfrm>
          <a:prstGeom prst="ellipse">
            <a:avLst/>
          </a:prstGeom>
          <a:solidFill>
            <a:srgbClr val="475467"/>
          </a:solidFill>
          <a:ln>
            <a:solidFill>
              <a:srgbClr val="47546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2. Stakeholders and Responsibilit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32" name="Text 30">
            <a:hlinkClick r:id="rId3" tooltip="3. Resident Account Registration" action="ppaction://hlinksldjump"/>
          </p:cNvPr>
          <p:cNvSpPr/>
          <p:nvPr/>
        </p:nvSpPr>
        <p:spPr>
          <a:xfrm>
            <a:off x="10189159" y="6528816"/>
            <a:ext cx="201168" cy="201168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3. Resident Account Regist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33" name="Text 31">
            <a:hlinkClick r:id="rId4" tooltip="4. Registration Request Submitted" action="ppaction://hlinksldjump"/>
          </p:cNvPr>
          <p:cNvSpPr/>
          <p:nvPr/>
        </p:nvSpPr>
        <p:spPr>
          <a:xfrm>
            <a:off x="10536631" y="6528816"/>
            <a:ext cx="201168" cy="201168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4. Registration Request Submit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34" name="Text 32">
            <a:hlinkClick r:id="rId5" tooltip="5. Admin Receives the Verification Request" action="ppaction://hlinksldjump"/>
          </p:cNvPr>
          <p:cNvSpPr/>
          <p:nvPr/>
        </p:nvSpPr>
        <p:spPr>
          <a:xfrm>
            <a:off x="10884103" y="6528816"/>
            <a:ext cx="201168" cy="201168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5. Admin Receives the Verification Reque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35" name="Text 33">
            <a:hlinkClick r:id="rId6" tooltip="6. Admin Reviews and Approves the Account" action="ppaction://hlinksldjump"/>
          </p:cNvPr>
          <p:cNvSpPr/>
          <p:nvPr/>
        </p:nvSpPr>
        <p:spPr>
          <a:xfrm>
            <a:off x="11231575" y="6528816"/>
            <a:ext cx="201168" cy="201168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6. Admin Reviews and Approves the Accou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36" name="Text 34">
            <a:hlinkClick r:id="rId7" tooltip="7. Account Verification Completed" action="ppaction://hlinksldjump"/>
          </p:cNvPr>
          <p:cNvSpPr/>
          <p:nvPr/>
        </p:nvSpPr>
        <p:spPr>
          <a:xfrm>
            <a:off x="11579047" y="6528816"/>
            <a:ext cx="201168" cy="201168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7. Account Verification Comple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8716975" y="6510528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63A6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329184"/>
            <a:ext cx="621792" cy="621792"/>
          </a:xfrm>
          <a:prstGeom prst="roundRect">
            <a:avLst>
              <a:gd name="adj" fmla="val 23529"/>
            </a:avLst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32918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88720" y="32918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56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ACCOUNT REGISTRATION AND VERIFICATION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52144" y="5486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Account Registration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0679278" y="475488"/>
            <a:ext cx="1100938" cy="420624"/>
          </a:xfrm>
          <a:prstGeom prst="roundRect">
            <a:avLst>
              <a:gd name="adj" fmla="val 50000"/>
            </a:avLst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  <a:effectLst>
            <a:outerShdw sx="100000" sy="100000" kx="0" ky="0" algn="bl" rotWithShape="0" blurRad="76200" dist="12700" dir="5400000">
              <a:srgbClr val="0B2239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679278" y="475488"/>
            <a:ext cx="110093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1216152"/>
            <a:ext cx="11368735" cy="18288"/>
          </a:xfrm>
          <a:prstGeom prst="rect">
            <a:avLst/>
          </a:prstGeom>
          <a:solidFill>
            <a:srgbClr val="CFE3F4"/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" y="1417320"/>
            <a:ext cx="3584448" cy="4636008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>
            <a:solidFill>
              <a:srgbClr val="CFE3F4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11" name="p3_1_c"/>
          <p:cNvSpPr/>
          <p:nvPr/>
        </p:nvSpPr>
        <p:spPr>
          <a:xfrm>
            <a:off x="685800" y="1801368"/>
            <a:ext cx="347472" cy="347472"/>
          </a:xfrm>
          <a:prstGeom prst="ellipse">
            <a:avLst/>
          </a:prstGeom>
          <a:solidFill>
            <a:srgbClr val="2563A6"/>
          </a:solidFill>
          <a:ln>
            <a:solidFill>
              <a:srgbClr val="2563A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p3_1_t"/>
          <p:cNvSpPr/>
          <p:nvPr/>
        </p:nvSpPr>
        <p:spPr>
          <a:xfrm>
            <a:off x="1234440" y="1783080"/>
            <a:ext cx="248716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Register from the public home page.</a:t>
            </a:r>
            <a:endParaRPr lang="en-US" sz="1800" dirty="0"/>
          </a:p>
        </p:txBody>
      </p:sp>
      <p:sp>
        <p:nvSpPr>
          <p:cNvPr id="13" name="p3_2_c"/>
          <p:cNvSpPr/>
          <p:nvPr/>
        </p:nvSpPr>
        <p:spPr>
          <a:xfrm>
            <a:off x="685800" y="2791968"/>
            <a:ext cx="347472" cy="347472"/>
          </a:xfrm>
          <a:prstGeom prst="ellipse">
            <a:avLst/>
          </a:prstGeom>
          <a:solidFill>
            <a:srgbClr val="2563A6"/>
          </a:solidFill>
          <a:ln>
            <a:solidFill>
              <a:srgbClr val="2563A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p3_2_t"/>
          <p:cNvSpPr/>
          <p:nvPr/>
        </p:nvSpPr>
        <p:spPr>
          <a:xfrm>
            <a:off x="1234440" y="2773680"/>
            <a:ext cx="248716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identity and contact information.</a:t>
            </a:r>
            <a:endParaRPr lang="en-US" sz="1800" dirty="0"/>
          </a:p>
        </p:txBody>
      </p:sp>
      <p:sp>
        <p:nvSpPr>
          <p:cNvPr id="15" name="p3_3_c"/>
          <p:cNvSpPr/>
          <p:nvPr/>
        </p:nvSpPr>
        <p:spPr>
          <a:xfrm>
            <a:off x="685800" y="3782568"/>
            <a:ext cx="347472" cy="347472"/>
          </a:xfrm>
          <a:prstGeom prst="ellipse">
            <a:avLst/>
          </a:prstGeom>
          <a:solidFill>
            <a:srgbClr val="2563A6"/>
          </a:solidFill>
          <a:ln>
            <a:solidFill>
              <a:srgbClr val="2563A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p3_3_t"/>
          <p:cNvSpPr/>
          <p:nvPr/>
        </p:nvSpPr>
        <p:spPr>
          <a:xfrm>
            <a:off x="1234440" y="3764280"/>
            <a:ext cx="2487168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residential address and secure login credentials.</a:t>
            </a:r>
            <a:endParaRPr lang="en-US" sz="1800" dirty="0"/>
          </a:p>
        </p:txBody>
      </p:sp>
      <p:sp>
        <p:nvSpPr>
          <p:cNvPr id="17" name="p3_4_c"/>
          <p:cNvSpPr/>
          <p:nvPr/>
        </p:nvSpPr>
        <p:spPr>
          <a:xfrm>
            <a:off x="685800" y="5056632"/>
            <a:ext cx="347472" cy="347472"/>
          </a:xfrm>
          <a:prstGeom prst="ellipse">
            <a:avLst/>
          </a:prstGeom>
          <a:solidFill>
            <a:srgbClr val="2563A6"/>
          </a:solidFill>
          <a:ln>
            <a:solidFill>
              <a:srgbClr val="2563A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p3_4_t"/>
          <p:cNvSpPr/>
          <p:nvPr/>
        </p:nvSpPr>
        <p:spPr>
          <a:xfrm>
            <a:off x="1234440" y="5038344"/>
            <a:ext cx="2487168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information before registration.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6144768"/>
            <a:ext cx="3218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details masked for this presentation.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63800" y="2327148"/>
            <a:ext cx="1935058" cy="3712464"/>
          </a:xfrm>
          <a:prstGeom prst="roundRect">
            <a:avLst>
              <a:gd name="adj" fmla="val 3780"/>
            </a:avLst>
          </a:prstGeom>
          <a:solidFill>
            <a:srgbClr val="FFFFFF"/>
          </a:solidFill>
          <a:ln w="12700">
            <a:solidFill>
              <a:srgbClr val="CFE3F4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pic>
        <p:nvPicPr>
          <p:cNvPr id="21" name="Image 0" descr="C:/NogorShomadhan/User Manual/Phase 1/registration/01-public-home-registration-entry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4092" y="2377440"/>
            <a:ext cx="1834474" cy="361188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3894052" y="6099048"/>
            <a:ext cx="24745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home page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236018" y="1641348"/>
            <a:ext cx="3246916" cy="4398264"/>
          </a:xfrm>
          <a:prstGeom prst="roundRect">
            <a:avLst>
              <a:gd name="adj" fmla="val 2253"/>
            </a:avLst>
          </a:prstGeom>
          <a:solidFill>
            <a:srgbClr val="FFFFFF"/>
          </a:solidFill>
          <a:ln w="12700">
            <a:solidFill>
              <a:srgbClr val="CFE3F4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pic>
        <p:nvPicPr>
          <p:cNvPr id="24" name="Image 1" descr="C:/NogorShomadhan/User Manual/Phase 1/registration/02-resident-registration-personal-information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310" y="1691640"/>
            <a:ext cx="3146332" cy="42976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966270" y="6099048"/>
            <a:ext cx="37864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information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9620094" y="1641348"/>
            <a:ext cx="2303145" cy="4398264"/>
          </a:xfrm>
          <a:prstGeom prst="roundRect">
            <a:avLst>
              <a:gd name="adj" fmla="val 3176"/>
            </a:avLst>
          </a:prstGeom>
          <a:solidFill>
            <a:srgbClr val="FFFFFF"/>
          </a:solidFill>
          <a:ln w="12700">
            <a:solidFill>
              <a:srgbClr val="CFE3F4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pic>
        <p:nvPicPr>
          <p:cNvPr id="27" name="Image 2" descr="C:/NogorShomadhan/User Manual/Phase 1/registration/03-resident-registration-address-and-security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386" y="1691640"/>
            <a:ext cx="2202561" cy="429768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350346" y="6099048"/>
            <a:ext cx="284264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and credentials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6890406" y="4321820"/>
            <a:ext cx="582071" cy="184800"/>
          </a:xfrm>
          <a:prstGeom prst="roundRect">
            <a:avLst>
              <a:gd name="adj" fmla="val 24740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890406" y="4966472"/>
            <a:ext cx="1116948" cy="184800"/>
          </a:xfrm>
          <a:prstGeom prst="roundRect">
            <a:avLst>
              <a:gd name="adj" fmla="val 24740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931308" y="5611124"/>
            <a:ext cx="456218" cy="184800"/>
          </a:xfrm>
          <a:prstGeom prst="roundRect">
            <a:avLst>
              <a:gd name="adj" fmla="val 24740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9952314" y="2357780"/>
            <a:ext cx="176205" cy="116037"/>
          </a:xfrm>
          <a:prstGeom prst="roundRect">
            <a:avLst>
              <a:gd name="adj" fmla="val 39401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33" name="h3_1"/>
          <p:cNvSpPr/>
          <p:nvPr/>
        </p:nvSpPr>
        <p:spPr>
          <a:xfrm>
            <a:off x="5389990" y="2381052"/>
            <a:ext cx="388908" cy="180594"/>
          </a:xfrm>
          <a:prstGeom prst="roundRect">
            <a:avLst>
              <a:gd name="adj" fmla="val 30380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34" name="h3_4"/>
          <p:cNvSpPr/>
          <p:nvPr/>
        </p:nvSpPr>
        <p:spPr>
          <a:xfrm>
            <a:off x="9868616" y="5293096"/>
            <a:ext cx="1810505" cy="249265"/>
          </a:xfrm>
          <a:prstGeom prst="roundRect">
            <a:avLst>
              <a:gd name="adj" fmla="val 22010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35" name="b3_1"/>
          <p:cNvSpPr/>
          <p:nvPr/>
        </p:nvSpPr>
        <p:spPr>
          <a:xfrm>
            <a:off x="4159626" y="2310140"/>
            <a:ext cx="365760" cy="365760"/>
          </a:xfrm>
          <a:prstGeom prst="ellipse">
            <a:avLst/>
          </a:prstGeom>
          <a:solidFill>
            <a:srgbClr val="2563A6"/>
          </a:solidFill>
          <a:ln w="222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36" name="b3_1_t"/>
          <p:cNvSpPr/>
          <p:nvPr/>
        </p:nvSpPr>
        <p:spPr>
          <a:xfrm>
            <a:off x="4159626" y="23101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37" name="b3_2"/>
          <p:cNvSpPr/>
          <p:nvPr/>
        </p:nvSpPr>
        <p:spPr>
          <a:xfrm>
            <a:off x="6245015" y="1637690"/>
            <a:ext cx="365760" cy="365760"/>
          </a:xfrm>
          <a:prstGeom prst="ellipse">
            <a:avLst/>
          </a:prstGeom>
          <a:solidFill>
            <a:srgbClr val="2563A6"/>
          </a:solidFill>
          <a:ln w="222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38" name="b3_2_t"/>
          <p:cNvSpPr/>
          <p:nvPr/>
        </p:nvSpPr>
        <p:spPr>
          <a:xfrm>
            <a:off x="6245015" y="163769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39" name="b3_3"/>
          <p:cNvSpPr/>
          <p:nvPr/>
        </p:nvSpPr>
        <p:spPr>
          <a:xfrm>
            <a:off x="9619659" y="1646286"/>
            <a:ext cx="365760" cy="365760"/>
          </a:xfrm>
          <a:prstGeom prst="ellipse">
            <a:avLst/>
          </a:prstGeom>
          <a:solidFill>
            <a:srgbClr val="2563A6"/>
          </a:solidFill>
          <a:ln w="222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40" name="b3_3_t"/>
          <p:cNvSpPr/>
          <p:nvPr/>
        </p:nvSpPr>
        <p:spPr>
          <a:xfrm>
            <a:off x="9619659" y="164628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41" name="b3_4"/>
          <p:cNvSpPr/>
          <p:nvPr/>
        </p:nvSpPr>
        <p:spPr>
          <a:xfrm>
            <a:off x="9597634" y="5234849"/>
            <a:ext cx="365760" cy="365760"/>
          </a:xfrm>
          <a:prstGeom prst="ellipse">
            <a:avLst/>
          </a:prstGeom>
          <a:solidFill>
            <a:srgbClr val="2563A6"/>
          </a:solidFill>
          <a:ln w="222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42" name="b3_4_t"/>
          <p:cNvSpPr/>
          <p:nvPr/>
        </p:nvSpPr>
        <p:spPr>
          <a:xfrm>
            <a:off x="9597634" y="5234849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43" name="Text 38"/>
          <p:cNvSpPr/>
          <p:nvPr/>
        </p:nvSpPr>
        <p:spPr>
          <a:xfrm>
            <a:off x="411480" y="6510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Nogor Shomadhan  ·  User Manual</a:t>
            </a:r>
            <a:endParaRPr lang="en-US" sz="1100" dirty="0"/>
          </a:p>
        </p:txBody>
      </p:sp>
      <p:sp>
        <p:nvSpPr>
          <p:cNvPr id="44" name="Text 39">
            <a:hlinkClick r:id="rId4" tooltip="1. Problem Statement" action="ppaction://hlinksldjump"/>
          </p:cNvPr>
          <p:cNvSpPr/>
          <p:nvPr/>
        </p:nvSpPr>
        <p:spPr>
          <a:xfrm>
            <a:off x="9494215" y="6528816"/>
            <a:ext cx="201168" cy="201168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1. Problem Stat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5" name="Text 40">
            <a:hlinkClick r:id="rId5" tooltip="2. Stakeholders and Responsibilities" action="ppaction://hlinksldjump"/>
          </p:cNvPr>
          <p:cNvSpPr/>
          <p:nvPr/>
        </p:nvSpPr>
        <p:spPr>
          <a:xfrm>
            <a:off x="9841687" y="6528816"/>
            <a:ext cx="201168" cy="201168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2. Stakeholders and Responsibilit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6" name="Text 41">
            <a:hlinkClick r:id="rId6" tooltip="3. Resident Account Registration" action="ppaction://hlinksldjump"/>
          </p:cNvPr>
          <p:cNvSpPr/>
          <p:nvPr/>
        </p:nvSpPr>
        <p:spPr>
          <a:xfrm>
            <a:off x="10189159" y="6528816"/>
            <a:ext cx="201168" cy="201168"/>
          </a:xfrm>
          <a:prstGeom prst="ellipse">
            <a:avLst/>
          </a:prstGeom>
          <a:solidFill>
            <a:srgbClr val="2563A6"/>
          </a:solidFill>
          <a:ln>
            <a:solidFill>
              <a:srgbClr val="2563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3. Resident Account Regist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7" name="Text 42">
            <a:hlinkClick r:id="rId7" tooltip="4. Registration Request Submitted" action="ppaction://hlinksldjump"/>
          </p:cNvPr>
          <p:cNvSpPr/>
          <p:nvPr/>
        </p:nvSpPr>
        <p:spPr>
          <a:xfrm>
            <a:off x="10536631" y="6528816"/>
            <a:ext cx="201168" cy="201168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4. Registration Request Submit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8" name="Text 43">
            <a:hlinkClick r:id="rId8" tooltip="5. Admin Receives the Verification Request" action="ppaction://hlinksldjump"/>
          </p:cNvPr>
          <p:cNvSpPr/>
          <p:nvPr/>
        </p:nvSpPr>
        <p:spPr>
          <a:xfrm>
            <a:off x="10884103" y="6528816"/>
            <a:ext cx="201168" cy="201168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5. Admin Receives the Verification Reque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9" name="Text 44">
            <a:hlinkClick r:id="rId9" tooltip="6. Admin Reviews and Approves the Account" action="ppaction://hlinksldjump"/>
          </p:cNvPr>
          <p:cNvSpPr/>
          <p:nvPr/>
        </p:nvSpPr>
        <p:spPr>
          <a:xfrm>
            <a:off x="11231575" y="6528816"/>
            <a:ext cx="201168" cy="201168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6. Admin Reviews and Approves the Accou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0" name="Text 45">
            <a:hlinkClick r:id="rId10" tooltip="7. Account Verification Completed" action="ppaction://hlinksldjump"/>
          </p:cNvPr>
          <p:cNvSpPr/>
          <p:nvPr/>
        </p:nvSpPr>
        <p:spPr>
          <a:xfrm>
            <a:off x="11579047" y="6528816"/>
            <a:ext cx="201168" cy="201168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7. Account Verification Comple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1" name="Text 46"/>
          <p:cNvSpPr/>
          <p:nvPr/>
        </p:nvSpPr>
        <p:spPr>
          <a:xfrm>
            <a:off x="8716975" y="6510528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75467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329184"/>
            <a:ext cx="621792" cy="621792"/>
          </a:xfrm>
          <a:prstGeom prst="roundRect">
            <a:avLst>
              <a:gd name="adj" fmla="val 23529"/>
            </a:avLst>
          </a:prstGeom>
          <a:solidFill>
            <a:srgbClr val="475467"/>
          </a:solidFill>
          <a:ln w="12700">
            <a:solidFill>
              <a:srgbClr val="475467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32918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88720" y="32918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ACCOUNT REGISTRATION AND VERIFICATION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52144" y="5486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Request Submitted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0975543" y="475488"/>
            <a:ext cx="804672" cy="420624"/>
          </a:xfrm>
          <a:prstGeom prst="roundRect">
            <a:avLst>
              <a:gd name="adj" fmla="val 50000"/>
            </a:avLst>
          </a:prstGeom>
          <a:solidFill>
            <a:srgbClr val="B86A12"/>
          </a:solidFill>
          <a:ln w="12700">
            <a:solidFill>
              <a:srgbClr val="B86A12"/>
            </a:solidFill>
            <a:prstDash val="solid"/>
          </a:ln>
          <a:effectLst>
            <a:outerShdw sx="100000" sy="100000" kx="0" ky="0" algn="bl" rotWithShape="0" blurRad="76200" dist="12700" dir="5400000">
              <a:srgbClr val="0B2239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5543" y="475488"/>
            <a:ext cx="804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28302" y="475488"/>
            <a:ext cx="1100938" cy="420624"/>
          </a:xfrm>
          <a:prstGeom prst="roundRect">
            <a:avLst>
              <a:gd name="adj" fmla="val 50000"/>
            </a:avLst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  <a:effectLst>
            <a:outerShdw sx="100000" sy="100000" kx="0" ky="0" algn="bl" rotWithShape="0" blurRad="76200" dist="12700" dir="5400000">
              <a:srgbClr val="0B2239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728302" y="475488"/>
            <a:ext cx="110093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1480" y="1216152"/>
            <a:ext cx="11368735" cy="18288"/>
          </a:xfrm>
          <a:prstGeom prst="rect">
            <a:avLst/>
          </a:prstGeom>
          <a:solidFill>
            <a:srgbClr val="DDE1E7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" y="1417320"/>
            <a:ext cx="3383280" cy="4636008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13" name="p4_1_c"/>
          <p:cNvSpPr/>
          <p:nvPr/>
        </p:nvSpPr>
        <p:spPr>
          <a:xfrm>
            <a:off x="667512" y="1773936"/>
            <a:ext cx="347472" cy="347472"/>
          </a:xfrm>
          <a:prstGeom prst="ellipse">
            <a:avLst/>
          </a:prstGeom>
          <a:solidFill>
            <a:srgbClr val="2563A6"/>
          </a:solidFill>
          <a:ln>
            <a:solidFill>
              <a:srgbClr val="2563A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p4_1_t"/>
          <p:cNvSpPr/>
          <p:nvPr/>
        </p:nvSpPr>
        <p:spPr>
          <a:xfrm>
            <a:off x="1216152" y="1755648"/>
            <a:ext cx="2322576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resident submits the completed registration form.</a:t>
            </a:r>
            <a:endParaRPr lang="en-US" sz="1800" dirty="0"/>
          </a:p>
        </p:txBody>
      </p:sp>
      <p:sp>
        <p:nvSpPr>
          <p:cNvPr id="15" name="p4_2_c"/>
          <p:cNvSpPr/>
          <p:nvPr/>
        </p:nvSpPr>
        <p:spPr>
          <a:xfrm>
            <a:off x="667512" y="2752344"/>
            <a:ext cx="347472" cy="347472"/>
          </a:xfrm>
          <a:prstGeom prst="ellipse">
            <a:avLst/>
          </a:prstGeom>
          <a:solidFill>
            <a:srgbClr val="2563A6"/>
          </a:solidFill>
          <a:ln>
            <a:solidFill>
              <a:srgbClr val="2563A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p4_2_t"/>
          <p:cNvSpPr/>
          <p:nvPr/>
        </p:nvSpPr>
        <p:spPr>
          <a:xfrm>
            <a:off x="1216152" y="2734056"/>
            <a:ext cx="23225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creates the account with an unverified status.</a:t>
            </a:r>
            <a:endParaRPr lang="en-US" sz="1800" dirty="0"/>
          </a:p>
        </p:txBody>
      </p:sp>
      <p:sp>
        <p:nvSpPr>
          <p:cNvPr id="17" name="p4_3_c"/>
          <p:cNvSpPr/>
          <p:nvPr/>
        </p:nvSpPr>
        <p:spPr>
          <a:xfrm>
            <a:off x="667512" y="4014216"/>
            <a:ext cx="347472" cy="347472"/>
          </a:xfrm>
          <a:prstGeom prst="ellipse">
            <a:avLst/>
          </a:prstGeom>
          <a:solidFill>
            <a:srgbClr val="2563A6"/>
          </a:solidFill>
          <a:ln>
            <a:solidFill>
              <a:srgbClr val="2563A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p4_3_t"/>
          <p:cNvSpPr/>
          <p:nvPr/>
        </p:nvSpPr>
        <p:spPr>
          <a:xfrm>
            <a:off x="1216152" y="3995928"/>
            <a:ext cx="2322576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resident sees an awaiting-verification confirmation.</a:t>
            </a:r>
            <a:endParaRPr lang="en-US" sz="1800" dirty="0"/>
          </a:p>
        </p:txBody>
      </p:sp>
      <p:sp>
        <p:nvSpPr>
          <p:cNvPr id="19" name="p4_4_c"/>
          <p:cNvSpPr/>
          <p:nvPr/>
        </p:nvSpPr>
        <p:spPr>
          <a:xfrm>
            <a:off x="667512" y="4992624"/>
            <a:ext cx="347472" cy="347472"/>
          </a:xfrm>
          <a:prstGeom prst="ellipse">
            <a:avLst/>
          </a:prstGeom>
          <a:solidFill>
            <a:srgbClr val="B86A12"/>
          </a:solidFill>
          <a:ln>
            <a:solidFill>
              <a:srgbClr val="B86A1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p4_4_t"/>
          <p:cNvSpPr/>
          <p:nvPr/>
        </p:nvSpPr>
        <p:spPr>
          <a:xfrm>
            <a:off x="1216152" y="4974336"/>
            <a:ext cx="2322576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dashboard displays a new pending account.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114800" y="1417320"/>
            <a:ext cx="3383280" cy="4636008"/>
          </a:xfrm>
          <a:prstGeom prst="roundRect">
            <a:avLst>
              <a:gd name="adj" fmla="val 3243"/>
            </a:avLst>
          </a:prstGeom>
          <a:solidFill>
            <a:srgbClr val="F2F8FD"/>
          </a:solidFill>
          <a:ln w="12700">
            <a:solidFill>
              <a:srgbClr val="CFE3F4"/>
            </a:solidFill>
            <a:prstDash val="solid"/>
          </a:ln>
          <a:effectLst>
            <a:outerShdw sx="100000" sy="100000" kx="0" ky="0" algn="bl" rotWithShape="0" blurRad="76200" dist="12700" dir="5400000">
              <a:srgbClr val="0B2239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34256" y="1536192"/>
            <a:ext cx="1320394" cy="347472"/>
          </a:xfrm>
          <a:prstGeom prst="roundRect">
            <a:avLst>
              <a:gd name="adj" fmla="val 50000"/>
            </a:avLst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34256" y="1536192"/>
            <a:ext cx="13203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396935" y="1417320"/>
            <a:ext cx="3383280" cy="4636008"/>
          </a:xfrm>
          <a:prstGeom prst="roundRect">
            <a:avLst>
              <a:gd name="adj" fmla="val 3243"/>
            </a:avLst>
          </a:prstGeom>
          <a:solidFill>
            <a:srgbClr val="FFFAF2"/>
          </a:solidFill>
          <a:ln w="12700">
            <a:solidFill>
              <a:srgbClr val="F2DBBB"/>
            </a:solidFill>
            <a:prstDash val="solid"/>
          </a:ln>
          <a:effectLst>
            <a:outerShdw sx="100000" sy="100000" kx="0" ky="0" algn="bl" rotWithShape="0" blurRad="76200" dist="12700" dir="5400000">
              <a:srgbClr val="0B2239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16391" y="1536192"/>
            <a:ext cx="996696" cy="347472"/>
          </a:xfrm>
          <a:prstGeom prst="roundRect">
            <a:avLst>
              <a:gd name="adj" fmla="val 50000"/>
            </a:avLst>
          </a:prstGeom>
          <a:solidFill>
            <a:srgbClr val="B86A12"/>
          </a:solidFill>
          <a:ln w="12700">
            <a:solidFill>
              <a:srgbClr val="B86A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16391" y="1536192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42499" y="1924812"/>
            <a:ext cx="2127882" cy="4032504"/>
          </a:xfrm>
          <a:prstGeom prst="roundRect">
            <a:avLst>
              <a:gd name="adj" fmla="val 3438"/>
            </a:avLst>
          </a:prstGeom>
          <a:solidFill>
            <a:srgbClr val="FFFFFF"/>
          </a:solidFill>
          <a:ln w="12700">
            <a:solidFill>
              <a:srgbClr val="CFE3F4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pic>
        <p:nvPicPr>
          <p:cNvPr id="28" name="Image 0" descr="C:/NogorShomadhan/User Manual/Phase 1/registration/04-registration-success-awaiting-admin-verification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2791" y="1975104"/>
            <a:ext cx="2027298" cy="393192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9046456" y="1924812"/>
            <a:ext cx="2084238" cy="4032504"/>
          </a:xfrm>
          <a:prstGeom prst="roundRect">
            <a:avLst>
              <a:gd name="adj" fmla="val 3510"/>
            </a:avLst>
          </a:prstGeom>
          <a:solidFill>
            <a:srgbClr val="FFFFFF"/>
          </a:solidFill>
          <a:ln w="12700">
            <a:solidFill>
              <a:srgbClr val="F2DBB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pic>
        <p:nvPicPr>
          <p:cNvPr id="30" name="Image 1" descr="C:/NogorShomadhan/User Manual/Phase 1/admin verification/05-admin-dashboard-new-account-alert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748" y="1975104"/>
            <a:ext cx="1983654" cy="393192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5060394" y="2572756"/>
            <a:ext cx="158129" cy="106162"/>
          </a:xfrm>
          <a:prstGeom prst="roundRect">
            <a:avLst>
              <a:gd name="adj" fmla="val 43066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32" name="arrow4"/>
          <p:cNvSpPr/>
          <p:nvPr/>
        </p:nvSpPr>
        <p:spPr>
          <a:xfrm>
            <a:off x="7626096" y="3675888"/>
            <a:ext cx="642823" cy="530352"/>
          </a:xfrm>
          <a:prstGeom prst="rightArrow">
            <a:avLst/>
          </a:prstGeom>
          <a:solidFill>
            <a:srgbClr val="475467"/>
          </a:solidFill>
          <a:ln w="12700">
            <a:solidFill>
              <a:srgbClr val="475467"/>
            </a:solidFill>
            <a:prstDash val="solid"/>
          </a:ln>
          <a:effectLst>
            <a:outerShdw sx="100000" sy="100000" kx="0" ky="0" algn="bl" rotWithShape="0" blurRad="76200" dist="12700" dir="5400000">
              <a:srgbClr val="0B2239">
                <a:alpha val="8000"/>
              </a:srgbClr>
            </a:outerShdw>
          </a:effectLst>
        </p:spPr>
      </p:sp>
      <p:sp>
        <p:nvSpPr>
          <p:cNvPr id="33" name="arrow4t"/>
          <p:cNvSpPr/>
          <p:nvPr/>
        </p:nvSpPr>
        <p:spPr>
          <a:xfrm>
            <a:off x="7516368" y="3054096"/>
            <a:ext cx="862279" cy="5120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spc="60" kern="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OVER TO</a:t>
            </a:r>
            <a:endParaRPr lang="en-US" sz="1200" dirty="0"/>
          </a:p>
        </p:txBody>
      </p:sp>
      <p:sp>
        <p:nvSpPr>
          <p:cNvPr id="34" name="h4_3"/>
          <p:cNvSpPr/>
          <p:nvPr/>
        </p:nvSpPr>
        <p:spPr>
          <a:xfrm>
            <a:off x="5230687" y="1986900"/>
            <a:ext cx="1524528" cy="424647"/>
          </a:xfrm>
          <a:prstGeom prst="roundRect">
            <a:avLst>
              <a:gd name="adj" fmla="val 12920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35" name="b4_3"/>
          <p:cNvSpPr/>
          <p:nvPr/>
        </p:nvSpPr>
        <p:spPr>
          <a:xfrm>
            <a:off x="4731549" y="2008480"/>
            <a:ext cx="365760" cy="365760"/>
          </a:xfrm>
          <a:prstGeom prst="ellipse">
            <a:avLst/>
          </a:prstGeom>
          <a:solidFill>
            <a:srgbClr val="2563A6"/>
          </a:solidFill>
          <a:ln w="222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36" name="b4_3_t"/>
          <p:cNvSpPr/>
          <p:nvPr/>
        </p:nvSpPr>
        <p:spPr>
          <a:xfrm>
            <a:off x="4731549" y="2008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37" name="h4_4"/>
          <p:cNvSpPr/>
          <p:nvPr/>
        </p:nvSpPr>
        <p:spPr>
          <a:xfrm>
            <a:off x="9168160" y="2218883"/>
            <a:ext cx="1836863" cy="562265"/>
          </a:xfrm>
          <a:prstGeom prst="roundRect">
            <a:avLst>
              <a:gd name="adj" fmla="val 9758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38" name="b4_4"/>
          <p:cNvSpPr/>
          <p:nvPr/>
        </p:nvSpPr>
        <p:spPr>
          <a:xfrm>
            <a:off x="8973378" y="2146097"/>
            <a:ext cx="365760" cy="365760"/>
          </a:xfrm>
          <a:prstGeom prst="ellipse">
            <a:avLst/>
          </a:prstGeom>
          <a:solidFill>
            <a:srgbClr val="B86A12"/>
          </a:solidFill>
          <a:ln w="222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39" name="b4_4_t"/>
          <p:cNvSpPr/>
          <p:nvPr/>
        </p:nvSpPr>
        <p:spPr>
          <a:xfrm>
            <a:off x="8973378" y="2146097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40" name="Text 36"/>
          <p:cNvSpPr/>
          <p:nvPr/>
        </p:nvSpPr>
        <p:spPr>
          <a:xfrm>
            <a:off x="411480" y="6510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Nogor Shomadhan  ·  User Manual</a:t>
            </a:r>
            <a:endParaRPr lang="en-US" sz="1100" dirty="0"/>
          </a:p>
        </p:txBody>
      </p:sp>
      <p:sp>
        <p:nvSpPr>
          <p:cNvPr id="41" name="Text 37">
            <a:hlinkClick r:id="rId3" tooltip="1. Problem Statement" action="ppaction://hlinksldjump"/>
          </p:cNvPr>
          <p:cNvSpPr/>
          <p:nvPr/>
        </p:nvSpPr>
        <p:spPr>
          <a:xfrm>
            <a:off x="9494215" y="6528816"/>
            <a:ext cx="201168" cy="201168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1. Problem Stat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2" name="Text 38">
            <a:hlinkClick r:id="rId4" tooltip="2. Stakeholders and Responsibilities" action="ppaction://hlinksldjump"/>
          </p:cNvPr>
          <p:cNvSpPr/>
          <p:nvPr/>
        </p:nvSpPr>
        <p:spPr>
          <a:xfrm>
            <a:off x="9841687" y="6528816"/>
            <a:ext cx="201168" cy="201168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2. Stakeholders and Responsibilit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3" name="Text 39">
            <a:hlinkClick r:id="rId5" tooltip="3. Resident Account Registration" action="ppaction://hlinksldjump"/>
          </p:cNvPr>
          <p:cNvSpPr/>
          <p:nvPr/>
        </p:nvSpPr>
        <p:spPr>
          <a:xfrm>
            <a:off x="10189159" y="6528816"/>
            <a:ext cx="201168" cy="201168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3. Resident Account Regist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4" name="Text 40">
            <a:hlinkClick r:id="rId6" tooltip="4. Registration Request Submitted" action="ppaction://hlinksldjump"/>
          </p:cNvPr>
          <p:cNvSpPr/>
          <p:nvPr/>
        </p:nvSpPr>
        <p:spPr>
          <a:xfrm>
            <a:off x="10536631" y="6528816"/>
            <a:ext cx="201168" cy="201168"/>
          </a:xfrm>
          <a:prstGeom prst="ellipse">
            <a:avLst/>
          </a:prstGeom>
          <a:solidFill>
            <a:srgbClr val="475467"/>
          </a:solidFill>
          <a:ln>
            <a:solidFill>
              <a:srgbClr val="47546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4. Registration Request Submit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5" name="Text 41">
            <a:hlinkClick r:id="rId7" tooltip="5. Admin Receives the Verification Request" action="ppaction://hlinksldjump"/>
          </p:cNvPr>
          <p:cNvSpPr/>
          <p:nvPr/>
        </p:nvSpPr>
        <p:spPr>
          <a:xfrm>
            <a:off x="10884103" y="6528816"/>
            <a:ext cx="201168" cy="201168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5. Admin Receives the Verification Reque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6" name="Text 42">
            <a:hlinkClick r:id="rId8" tooltip="6. Admin Reviews and Approves the Account" action="ppaction://hlinksldjump"/>
          </p:cNvPr>
          <p:cNvSpPr/>
          <p:nvPr/>
        </p:nvSpPr>
        <p:spPr>
          <a:xfrm>
            <a:off x="11231575" y="6528816"/>
            <a:ext cx="201168" cy="201168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6. Admin Reviews and Approves the Accou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7" name="Text 43">
            <a:hlinkClick r:id="rId9" tooltip="7. Account Verification Completed" action="ppaction://hlinksldjump"/>
          </p:cNvPr>
          <p:cNvSpPr/>
          <p:nvPr/>
        </p:nvSpPr>
        <p:spPr>
          <a:xfrm>
            <a:off x="11579047" y="6528816"/>
            <a:ext cx="201168" cy="201168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7. Account Verification Comple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8" name="Text 44"/>
          <p:cNvSpPr/>
          <p:nvPr/>
        </p:nvSpPr>
        <p:spPr>
          <a:xfrm>
            <a:off x="8716975" y="6510528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4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B86A1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329184"/>
            <a:ext cx="621792" cy="621792"/>
          </a:xfrm>
          <a:prstGeom prst="roundRect">
            <a:avLst>
              <a:gd name="adj" fmla="val 23529"/>
            </a:avLst>
          </a:prstGeom>
          <a:solidFill>
            <a:srgbClr val="B86A12"/>
          </a:solidFill>
          <a:ln w="12700">
            <a:solidFill>
              <a:srgbClr val="B86A12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32918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88720" y="32918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8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ACCOUNT REGISTRATION AND VERIFICATION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52144" y="5486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Receives the Verification Request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0975543" y="475488"/>
            <a:ext cx="804672" cy="420624"/>
          </a:xfrm>
          <a:prstGeom prst="roundRect">
            <a:avLst>
              <a:gd name="adj" fmla="val 50000"/>
            </a:avLst>
          </a:prstGeom>
          <a:solidFill>
            <a:srgbClr val="B86A12"/>
          </a:solidFill>
          <a:ln w="12700">
            <a:solidFill>
              <a:srgbClr val="B86A12"/>
            </a:solidFill>
            <a:prstDash val="solid"/>
          </a:ln>
          <a:effectLst>
            <a:outerShdw sx="100000" sy="100000" kx="0" ky="0" algn="bl" rotWithShape="0" blurRad="76200" dist="12700" dir="5400000">
              <a:srgbClr val="0B2239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5543" y="475488"/>
            <a:ext cx="804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1216152"/>
            <a:ext cx="11368735" cy="18288"/>
          </a:xfrm>
          <a:prstGeom prst="rect">
            <a:avLst/>
          </a:prstGeom>
          <a:solidFill>
            <a:srgbClr val="F2DBBB"/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" y="1417320"/>
            <a:ext cx="3931920" cy="4636008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F2DBB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11" name="p5_1_c"/>
          <p:cNvSpPr/>
          <p:nvPr/>
        </p:nvSpPr>
        <p:spPr>
          <a:xfrm>
            <a:off x="685800" y="1801368"/>
            <a:ext cx="347472" cy="347472"/>
          </a:xfrm>
          <a:prstGeom prst="ellipse">
            <a:avLst/>
          </a:prstGeom>
          <a:solidFill>
            <a:srgbClr val="B86A12"/>
          </a:solidFill>
          <a:ln>
            <a:solidFill>
              <a:srgbClr val="B86A1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p5_1_t"/>
          <p:cNvSpPr/>
          <p:nvPr/>
        </p:nvSpPr>
        <p:spPr>
          <a:xfrm>
            <a:off x="1234440" y="1783080"/>
            <a:ext cx="283464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receives a new resident account notification.</a:t>
            </a:r>
            <a:endParaRPr lang="en-US" sz="1800" dirty="0"/>
          </a:p>
        </p:txBody>
      </p:sp>
      <p:sp>
        <p:nvSpPr>
          <p:cNvPr id="13" name="p5_2_c"/>
          <p:cNvSpPr/>
          <p:nvPr/>
        </p:nvSpPr>
        <p:spPr>
          <a:xfrm>
            <a:off x="685800" y="2886456"/>
            <a:ext cx="347472" cy="347472"/>
          </a:xfrm>
          <a:prstGeom prst="ellipse">
            <a:avLst/>
          </a:prstGeom>
          <a:solidFill>
            <a:srgbClr val="B86A12"/>
          </a:solidFill>
          <a:ln>
            <a:solidFill>
              <a:srgbClr val="B86A1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p5_2_t"/>
          <p:cNvSpPr/>
          <p:nvPr/>
        </p:nvSpPr>
        <p:spPr>
          <a:xfrm>
            <a:off x="1234440" y="2868168"/>
            <a:ext cx="283464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the notification opens Pending Accounts.</a:t>
            </a:r>
            <a:endParaRPr lang="en-US" sz="1800" dirty="0"/>
          </a:p>
        </p:txBody>
      </p:sp>
      <p:sp>
        <p:nvSpPr>
          <p:cNvPr id="15" name="p5_3_c"/>
          <p:cNvSpPr/>
          <p:nvPr/>
        </p:nvSpPr>
        <p:spPr>
          <a:xfrm>
            <a:off x="685800" y="3971544"/>
            <a:ext cx="347472" cy="347472"/>
          </a:xfrm>
          <a:prstGeom prst="ellipse">
            <a:avLst/>
          </a:prstGeom>
          <a:solidFill>
            <a:srgbClr val="B86A12"/>
          </a:solidFill>
          <a:ln>
            <a:solidFill>
              <a:srgbClr val="B86A1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p5_3_t"/>
          <p:cNvSpPr/>
          <p:nvPr/>
        </p:nvSpPr>
        <p:spPr>
          <a:xfrm>
            <a:off x="1234440" y="3953256"/>
            <a:ext cx="283464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resident appears in the verification queue.</a:t>
            </a:r>
            <a:endParaRPr lang="en-US" sz="1800" dirty="0"/>
          </a:p>
        </p:txBody>
      </p:sp>
      <p:sp>
        <p:nvSpPr>
          <p:cNvPr id="17" name="p5_4_c"/>
          <p:cNvSpPr/>
          <p:nvPr/>
        </p:nvSpPr>
        <p:spPr>
          <a:xfrm>
            <a:off x="685800" y="5056632"/>
            <a:ext cx="347472" cy="347472"/>
          </a:xfrm>
          <a:prstGeom prst="ellipse">
            <a:avLst/>
          </a:prstGeom>
          <a:solidFill>
            <a:srgbClr val="B86A12"/>
          </a:solidFill>
          <a:ln>
            <a:solidFill>
              <a:srgbClr val="B86A1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p5_4_t"/>
          <p:cNvSpPr/>
          <p:nvPr/>
        </p:nvSpPr>
        <p:spPr>
          <a:xfrm>
            <a:off x="1234440" y="5038344"/>
            <a:ext cx="283464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can review, approve, or reject the request.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614476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details masked for this presentation.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17564" y="1367028"/>
            <a:ext cx="2589438" cy="4690872"/>
          </a:xfrm>
          <a:prstGeom prst="roundRect">
            <a:avLst>
              <a:gd name="adj" fmla="val 2825"/>
            </a:avLst>
          </a:prstGeom>
          <a:solidFill>
            <a:srgbClr val="FFFFFF"/>
          </a:solidFill>
          <a:ln w="12700">
            <a:solidFill>
              <a:srgbClr val="F2DBB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pic>
        <p:nvPicPr>
          <p:cNvPr id="21" name="Image 0" descr="C:/NogorShomadhan/User Manual/Phase 1/admin verification/06-admin-notification-new-resident-account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7856" y="1417320"/>
            <a:ext cx="2488854" cy="459028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747816" y="6117336"/>
            <a:ext cx="31289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notification inbox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996890" y="1367028"/>
            <a:ext cx="2420057" cy="4690872"/>
          </a:xfrm>
          <a:prstGeom prst="roundRect">
            <a:avLst>
              <a:gd name="adj" fmla="val 3023"/>
            </a:avLst>
          </a:prstGeom>
          <a:solidFill>
            <a:srgbClr val="FFFFFF"/>
          </a:solidFill>
          <a:ln w="12700">
            <a:solidFill>
              <a:srgbClr val="F2DBB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pic>
        <p:nvPicPr>
          <p:cNvPr id="24" name="Image 1" descr="C:/NogorShomadhan/User Manual/Phase 1/admin verification/07-admin-pending-account-verification-list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7182" y="1417320"/>
            <a:ext cx="2319473" cy="459028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727142" y="6117336"/>
            <a:ext cx="295955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account verifications</a:t>
            </a:r>
            <a:endParaRPr lang="en-US" sz="1600" dirty="0"/>
          </a:p>
        </p:txBody>
      </p:sp>
      <p:sp>
        <p:nvSpPr>
          <p:cNvPr id="26" name="arrow5"/>
          <p:cNvSpPr/>
          <p:nvPr/>
        </p:nvSpPr>
        <p:spPr>
          <a:xfrm>
            <a:off x="7867606" y="3456432"/>
            <a:ext cx="868680" cy="512064"/>
          </a:xfrm>
          <a:prstGeom prst="rightArrow">
            <a:avLst/>
          </a:prstGeom>
          <a:solidFill>
            <a:srgbClr val="B86A12"/>
          </a:solidFill>
          <a:ln w="12700">
            <a:solidFill>
              <a:srgbClr val="B86A12"/>
            </a:solidFill>
            <a:prstDash val="solid"/>
          </a:ln>
          <a:effectLst>
            <a:outerShdw sx="100000" sy="100000" kx="0" ky="0" algn="bl" rotWithShape="0" blurRad="76200" dist="12700" dir="5400000">
              <a:srgbClr val="0B2239">
                <a:alpha val="8000"/>
              </a:srgbClr>
            </a:outerShdw>
          </a:effectLst>
        </p:spPr>
      </p:sp>
      <p:sp>
        <p:nvSpPr>
          <p:cNvPr id="27" name="arrow5t"/>
          <p:cNvSpPr/>
          <p:nvPr/>
        </p:nvSpPr>
        <p:spPr>
          <a:xfrm>
            <a:off x="7684726" y="3072384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9824206" y="4107229"/>
            <a:ext cx="405908" cy="128528"/>
          </a:xfrm>
          <a:prstGeom prst="roundRect">
            <a:avLst>
              <a:gd name="adj" fmla="val 35572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29" name="h5_1"/>
          <p:cNvSpPr/>
          <p:nvPr/>
        </p:nvSpPr>
        <p:spPr>
          <a:xfrm>
            <a:off x="5157455" y="3280977"/>
            <a:ext cx="2309657" cy="550835"/>
          </a:xfrm>
          <a:prstGeom prst="roundRect">
            <a:avLst>
              <a:gd name="adj" fmla="val 9960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30" name="b5_1"/>
          <p:cNvSpPr/>
          <p:nvPr/>
        </p:nvSpPr>
        <p:spPr>
          <a:xfrm>
            <a:off x="4959642" y="3098097"/>
            <a:ext cx="365760" cy="365760"/>
          </a:xfrm>
          <a:prstGeom prst="ellipse">
            <a:avLst/>
          </a:prstGeom>
          <a:solidFill>
            <a:srgbClr val="B86A12"/>
          </a:solidFill>
          <a:ln w="222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31" name="b5_1_t"/>
          <p:cNvSpPr/>
          <p:nvPr/>
        </p:nvSpPr>
        <p:spPr>
          <a:xfrm>
            <a:off x="4959642" y="3098097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32" name="h5_3"/>
          <p:cNvSpPr/>
          <p:nvPr/>
        </p:nvSpPr>
        <p:spPr>
          <a:xfrm>
            <a:off x="9126044" y="3840992"/>
            <a:ext cx="2157109" cy="587557"/>
          </a:xfrm>
          <a:prstGeom prst="roundRect">
            <a:avLst>
              <a:gd name="adj" fmla="val 9338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33" name="b5_3"/>
          <p:cNvSpPr/>
          <p:nvPr/>
        </p:nvSpPr>
        <p:spPr>
          <a:xfrm>
            <a:off x="8933887" y="3667293"/>
            <a:ext cx="365760" cy="365760"/>
          </a:xfrm>
          <a:prstGeom prst="ellipse">
            <a:avLst/>
          </a:prstGeom>
          <a:solidFill>
            <a:srgbClr val="B86A12"/>
          </a:solidFill>
          <a:ln w="222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34" name="b5_3_t"/>
          <p:cNvSpPr/>
          <p:nvPr/>
        </p:nvSpPr>
        <p:spPr>
          <a:xfrm>
            <a:off x="8933887" y="366729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35" name="h5_4"/>
          <p:cNvSpPr/>
          <p:nvPr/>
        </p:nvSpPr>
        <p:spPr>
          <a:xfrm>
            <a:off x="9139961" y="4456091"/>
            <a:ext cx="2133915" cy="229514"/>
          </a:xfrm>
          <a:prstGeom prst="roundRect">
            <a:avLst>
              <a:gd name="adj" fmla="val 23904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36" name="b5_4"/>
          <p:cNvSpPr/>
          <p:nvPr/>
        </p:nvSpPr>
        <p:spPr>
          <a:xfrm>
            <a:off x="10024039" y="4732239"/>
            <a:ext cx="365760" cy="365760"/>
          </a:xfrm>
          <a:prstGeom prst="ellipse">
            <a:avLst/>
          </a:prstGeom>
          <a:solidFill>
            <a:srgbClr val="B86A12"/>
          </a:solidFill>
          <a:ln w="222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37" name="b5_4_t"/>
          <p:cNvSpPr/>
          <p:nvPr/>
        </p:nvSpPr>
        <p:spPr>
          <a:xfrm>
            <a:off x="10024039" y="4732239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38" name="b5_2"/>
          <p:cNvSpPr/>
          <p:nvPr/>
        </p:nvSpPr>
        <p:spPr>
          <a:xfrm>
            <a:off x="8119066" y="2956072"/>
            <a:ext cx="365760" cy="365760"/>
          </a:xfrm>
          <a:prstGeom prst="ellipse">
            <a:avLst/>
          </a:prstGeom>
          <a:solidFill>
            <a:srgbClr val="B86A12"/>
          </a:solidFill>
          <a:ln w="222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39" name="b5_2_t"/>
          <p:cNvSpPr/>
          <p:nvPr/>
        </p:nvSpPr>
        <p:spPr>
          <a:xfrm>
            <a:off x="8119066" y="2956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40" name="Text 36"/>
          <p:cNvSpPr/>
          <p:nvPr/>
        </p:nvSpPr>
        <p:spPr>
          <a:xfrm>
            <a:off x="411480" y="6510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Nogor Shomadhan  ·  User Manual</a:t>
            </a:r>
            <a:endParaRPr lang="en-US" sz="1100" dirty="0"/>
          </a:p>
        </p:txBody>
      </p:sp>
      <p:sp>
        <p:nvSpPr>
          <p:cNvPr id="41" name="Text 37">
            <a:hlinkClick r:id="rId3" tooltip="1. Problem Statement" action="ppaction://hlinksldjump"/>
          </p:cNvPr>
          <p:cNvSpPr/>
          <p:nvPr/>
        </p:nvSpPr>
        <p:spPr>
          <a:xfrm>
            <a:off x="9494215" y="6528816"/>
            <a:ext cx="201168" cy="201168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1. Problem Stat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2" name="Text 38">
            <a:hlinkClick r:id="rId4" tooltip="2. Stakeholders and Responsibilities" action="ppaction://hlinksldjump"/>
          </p:cNvPr>
          <p:cNvSpPr/>
          <p:nvPr/>
        </p:nvSpPr>
        <p:spPr>
          <a:xfrm>
            <a:off x="9841687" y="6528816"/>
            <a:ext cx="201168" cy="201168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2. Stakeholders and Responsibilit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3" name="Text 39">
            <a:hlinkClick r:id="rId5" tooltip="3. Resident Account Registration" action="ppaction://hlinksldjump"/>
          </p:cNvPr>
          <p:cNvSpPr/>
          <p:nvPr/>
        </p:nvSpPr>
        <p:spPr>
          <a:xfrm>
            <a:off x="10189159" y="6528816"/>
            <a:ext cx="201168" cy="201168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3. Resident Account Regist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4" name="Text 40">
            <a:hlinkClick r:id="rId6" tooltip="4. Registration Request Submitted" action="ppaction://hlinksldjump"/>
          </p:cNvPr>
          <p:cNvSpPr/>
          <p:nvPr/>
        </p:nvSpPr>
        <p:spPr>
          <a:xfrm>
            <a:off x="10536631" y="6528816"/>
            <a:ext cx="201168" cy="201168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4. Registration Request Submit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5" name="Text 41">
            <a:hlinkClick r:id="rId7" tooltip="5. Admin Receives the Verification Request" action="ppaction://hlinksldjump"/>
          </p:cNvPr>
          <p:cNvSpPr/>
          <p:nvPr/>
        </p:nvSpPr>
        <p:spPr>
          <a:xfrm>
            <a:off x="10884103" y="6528816"/>
            <a:ext cx="201168" cy="201168"/>
          </a:xfrm>
          <a:prstGeom prst="ellipse">
            <a:avLst/>
          </a:prstGeom>
          <a:solidFill>
            <a:srgbClr val="B86A12"/>
          </a:solidFill>
          <a:ln>
            <a:solidFill>
              <a:srgbClr val="B8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5. Admin Receives the Verification Reque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6" name="Text 42">
            <a:hlinkClick r:id="rId8" tooltip="6. Admin Reviews and Approves the Account" action="ppaction://hlinksldjump"/>
          </p:cNvPr>
          <p:cNvSpPr/>
          <p:nvPr/>
        </p:nvSpPr>
        <p:spPr>
          <a:xfrm>
            <a:off x="11231575" y="6528816"/>
            <a:ext cx="201168" cy="201168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6. Admin Reviews and Approves the Accou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7" name="Text 43">
            <a:hlinkClick r:id="rId9" tooltip="7. Account Verification Completed" action="ppaction://hlinksldjump"/>
          </p:cNvPr>
          <p:cNvSpPr/>
          <p:nvPr/>
        </p:nvSpPr>
        <p:spPr>
          <a:xfrm>
            <a:off x="11579047" y="6528816"/>
            <a:ext cx="201168" cy="201168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7. Account Verification Comple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8" name="Text 44"/>
          <p:cNvSpPr/>
          <p:nvPr/>
        </p:nvSpPr>
        <p:spPr>
          <a:xfrm>
            <a:off x="8716975" y="6510528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4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B86A1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329184"/>
            <a:ext cx="621792" cy="621792"/>
          </a:xfrm>
          <a:prstGeom prst="roundRect">
            <a:avLst>
              <a:gd name="adj" fmla="val 23529"/>
            </a:avLst>
          </a:prstGeom>
          <a:solidFill>
            <a:srgbClr val="B86A12"/>
          </a:solidFill>
          <a:ln w="12700">
            <a:solidFill>
              <a:srgbClr val="B86A12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32918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88720" y="32918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8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ACCOUNT REGISTRATION AND VERIFICATION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52144" y="5486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Reviews and Approves the Account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0975543" y="475488"/>
            <a:ext cx="804672" cy="420624"/>
          </a:xfrm>
          <a:prstGeom prst="roundRect">
            <a:avLst>
              <a:gd name="adj" fmla="val 50000"/>
            </a:avLst>
          </a:prstGeom>
          <a:solidFill>
            <a:srgbClr val="B86A12"/>
          </a:solidFill>
          <a:ln w="12700">
            <a:solidFill>
              <a:srgbClr val="B86A12"/>
            </a:solidFill>
            <a:prstDash val="solid"/>
          </a:ln>
          <a:effectLst>
            <a:outerShdw sx="100000" sy="100000" kx="0" ky="0" algn="bl" rotWithShape="0" blurRad="76200" dist="12700" dir="5400000">
              <a:srgbClr val="0B2239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5543" y="475488"/>
            <a:ext cx="804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1216152"/>
            <a:ext cx="11368735" cy="18288"/>
          </a:xfrm>
          <a:prstGeom prst="rect">
            <a:avLst/>
          </a:prstGeom>
          <a:solidFill>
            <a:srgbClr val="F2DBBB"/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" y="1417320"/>
            <a:ext cx="4343400" cy="4636008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F2DBB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11" name="p6_1_c"/>
          <p:cNvSpPr/>
          <p:nvPr/>
        </p:nvSpPr>
        <p:spPr>
          <a:xfrm>
            <a:off x="704088" y="1828800"/>
            <a:ext cx="347472" cy="347472"/>
          </a:xfrm>
          <a:prstGeom prst="ellipse">
            <a:avLst/>
          </a:prstGeom>
          <a:solidFill>
            <a:srgbClr val="B86A12"/>
          </a:solidFill>
          <a:ln>
            <a:solidFill>
              <a:srgbClr val="B86A1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p6_1_t"/>
          <p:cNvSpPr/>
          <p:nvPr/>
        </p:nvSpPr>
        <p:spPr>
          <a:xfrm>
            <a:off x="1252728" y="1810512"/>
            <a:ext cx="320954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resident’s submitted account information.</a:t>
            </a:r>
            <a:endParaRPr lang="en-US" sz="1800" dirty="0"/>
          </a:p>
        </p:txBody>
      </p:sp>
      <p:sp>
        <p:nvSpPr>
          <p:cNvPr id="13" name="p6_2_c"/>
          <p:cNvSpPr/>
          <p:nvPr/>
        </p:nvSpPr>
        <p:spPr>
          <a:xfrm>
            <a:off x="704088" y="2834640"/>
            <a:ext cx="347472" cy="347472"/>
          </a:xfrm>
          <a:prstGeom prst="ellipse">
            <a:avLst/>
          </a:prstGeom>
          <a:solidFill>
            <a:srgbClr val="B86A12"/>
          </a:solidFill>
          <a:ln>
            <a:solidFill>
              <a:srgbClr val="B86A1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p6_2_t"/>
          <p:cNvSpPr/>
          <p:nvPr/>
        </p:nvSpPr>
        <p:spPr>
          <a:xfrm>
            <a:off x="1252728" y="2816352"/>
            <a:ext cx="3209544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that the identity and address details are valid.</a:t>
            </a:r>
            <a:endParaRPr lang="en-US" sz="1800" dirty="0"/>
          </a:p>
        </p:txBody>
      </p:sp>
      <p:sp>
        <p:nvSpPr>
          <p:cNvPr id="15" name="p6_3_c"/>
          <p:cNvSpPr/>
          <p:nvPr/>
        </p:nvSpPr>
        <p:spPr>
          <a:xfrm>
            <a:off x="704088" y="4123944"/>
            <a:ext cx="347472" cy="347472"/>
          </a:xfrm>
          <a:prstGeom prst="ellipse">
            <a:avLst/>
          </a:prstGeom>
          <a:solidFill>
            <a:srgbClr val="B86A12"/>
          </a:solidFill>
          <a:ln>
            <a:solidFill>
              <a:srgbClr val="B86A1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p6_3_t"/>
          <p:cNvSpPr/>
          <p:nvPr/>
        </p:nvSpPr>
        <p:spPr>
          <a:xfrm>
            <a:off x="1252728" y="4105656"/>
            <a:ext cx="320954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Approve for a valid registration.</a:t>
            </a:r>
            <a:endParaRPr lang="en-US" sz="1800" dirty="0"/>
          </a:p>
        </p:txBody>
      </p:sp>
      <p:sp>
        <p:nvSpPr>
          <p:cNvPr id="17" name="p6_4_c"/>
          <p:cNvSpPr/>
          <p:nvPr/>
        </p:nvSpPr>
        <p:spPr>
          <a:xfrm>
            <a:off x="704088" y="5129784"/>
            <a:ext cx="347472" cy="347472"/>
          </a:xfrm>
          <a:prstGeom prst="ellipse">
            <a:avLst/>
          </a:prstGeom>
          <a:solidFill>
            <a:srgbClr val="B86A12"/>
          </a:solidFill>
          <a:ln>
            <a:solidFill>
              <a:srgbClr val="B86A1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p6_4_t"/>
          <p:cNvSpPr/>
          <p:nvPr/>
        </p:nvSpPr>
        <p:spPr>
          <a:xfrm>
            <a:off x="1252728" y="5111496"/>
            <a:ext cx="320954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approval action.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4088" y="6144768"/>
            <a:ext cx="3941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details masked for this presentation.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734991" y="1367028"/>
            <a:ext cx="2434745" cy="4690872"/>
          </a:xfrm>
          <a:prstGeom prst="roundRect">
            <a:avLst>
              <a:gd name="adj" fmla="val 3005"/>
            </a:avLst>
          </a:prstGeom>
          <a:solidFill>
            <a:srgbClr val="FFFFFF"/>
          </a:solidFill>
          <a:ln w="12700">
            <a:solidFill>
              <a:srgbClr val="F2DBB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pic>
        <p:nvPicPr>
          <p:cNvPr id="21" name="Image 0" descr="C:/NogorShomadhan/User Manual/Phase 1/admin verification/08-admin-review-resident-account-details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283" y="1417320"/>
            <a:ext cx="2334161" cy="459028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465243" y="6117336"/>
            <a:ext cx="297424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account details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709232" y="1367028"/>
            <a:ext cx="2420057" cy="4690872"/>
          </a:xfrm>
          <a:prstGeom prst="roundRect">
            <a:avLst>
              <a:gd name="adj" fmla="val 3023"/>
            </a:avLst>
          </a:prstGeom>
          <a:solidFill>
            <a:srgbClr val="FFFFFF"/>
          </a:solidFill>
          <a:ln w="12700">
            <a:solidFill>
              <a:srgbClr val="F2DBB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pic>
        <p:nvPicPr>
          <p:cNvPr id="24" name="Image 1" descr="C:/NogorShomadhan/User Manual/Phase 1/admin verification/09-admin-approve-account-confirmation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524" y="1417320"/>
            <a:ext cx="2319473" cy="459028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439484" y="6117336"/>
            <a:ext cx="295955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confirmation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6147078" y="2867851"/>
            <a:ext cx="396807" cy="119347"/>
          </a:xfrm>
          <a:prstGeom prst="roundRect">
            <a:avLst>
              <a:gd name="adj" fmla="val 38308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147078" y="3170810"/>
            <a:ext cx="816957" cy="119347"/>
          </a:xfrm>
          <a:prstGeom prst="roundRect">
            <a:avLst>
              <a:gd name="adj" fmla="val 38308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182090" y="3492130"/>
            <a:ext cx="326783" cy="119347"/>
          </a:xfrm>
          <a:prstGeom prst="roundRect">
            <a:avLst>
              <a:gd name="adj" fmla="val 38308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990689" y="3795089"/>
            <a:ext cx="175062" cy="110167"/>
          </a:xfrm>
          <a:prstGeom prst="roundRect">
            <a:avLst>
              <a:gd name="adj" fmla="val 41501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30" name="h6_1"/>
          <p:cNvSpPr/>
          <p:nvPr/>
        </p:nvSpPr>
        <p:spPr>
          <a:xfrm>
            <a:off x="5948674" y="2427183"/>
            <a:ext cx="1984037" cy="1156753"/>
          </a:xfrm>
          <a:prstGeom prst="roundRect">
            <a:avLst>
              <a:gd name="adj" fmla="val 4743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31" name="b6_1"/>
          <p:cNvSpPr/>
          <p:nvPr/>
        </p:nvSpPr>
        <p:spPr>
          <a:xfrm>
            <a:off x="5730781" y="2244303"/>
            <a:ext cx="365760" cy="365760"/>
          </a:xfrm>
          <a:prstGeom prst="ellipse">
            <a:avLst/>
          </a:prstGeom>
          <a:solidFill>
            <a:srgbClr val="B86A12"/>
          </a:solidFill>
          <a:ln w="222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32" name="b6_1_t"/>
          <p:cNvSpPr/>
          <p:nvPr/>
        </p:nvSpPr>
        <p:spPr>
          <a:xfrm>
            <a:off x="5730781" y="224430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33" name="h6_2"/>
          <p:cNvSpPr/>
          <p:nvPr/>
        </p:nvSpPr>
        <p:spPr>
          <a:xfrm>
            <a:off x="5948674" y="3611478"/>
            <a:ext cx="1984037" cy="973141"/>
          </a:xfrm>
          <a:prstGeom prst="roundRect">
            <a:avLst>
              <a:gd name="adj" fmla="val 5638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34" name="b6_2"/>
          <p:cNvSpPr/>
          <p:nvPr/>
        </p:nvSpPr>
        <p:spPr>
          <a:xfrm>
            <a:off x="5730781" y="3428598"/>
            <a:ext cx="365760" cy="365760"/>
          </a:xfrm>
          <a:prstGeom prst="ellipse">
            <a:avLst/>
          </a:prstGeom>
          <a:solidFill>
            <a:srgbClr val="B86A12"/>
          </a:solidFill>
          <a:ln w="222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35" name="b6_2_t"/>
          <p:cNvSpPr/>
          <p:nvPr/>
        </p:nvSpPr>
        <p:spPr>
          <a:xfrm>
            <a:off x="5730781" y="342859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36" name="h6_3"/>
          <p:cNvSpPr/>
          <p:nvPr/>
        </p:nvSpPr>
        <p:spPr>
          <a:xfrm>
            <a:off x="10341404" y="4483632"/>
            <a:ext cx="579868" cy="183612"/>
          </a:xfrm>
          <a:prstGeom prst="roundRect">
            <a:avLst>
              <a:gd name="adj" fmla="val 29880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37" name="b6_3"/>
          <p:cNvSpPr/>
          <p:nvPr/>
        </p:nvSpPr>
        <p:spPr>
          <a:xfrm>
            <a:off x="10432222" y="4667975"/>
            <a:ext cx="365760" cy="365760"/>
          </a:xfrm>
          <a:prstGeom prst="ellipse">
            <a:avLst/>
          </a:prstGeom>
          <a:solidFill>
            <a:srgbClr val="B86A12"/>
          </a:solidFill>
          <a:ln w="222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38" name="b6_3_t"/>
          <p:cNvSpPr/>
          <p:nvPr/>
        </p:nvSpPr>
        <p:spPr>
          <a:xfrm>
            <a:off x="10432222" y="4667975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39" name="h6_4"/>
          <p:cNvSpPr/>
          <p:nvPr/>
        </p:nvSpPr>
        <p:spPr>
          <a:xfrm>
            <a:off x="9942455" y="3932798"/>
            <a:ext cx="777023" cy="252466"/>
          </a:xfrm>
          <a:prstGeom prst="roundRect">
            <a:avLst>
              <a:gd name="adj" fmla="val 21731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40" name="b6_4"/>
          <p:cNvSpPr/>
          <p:nvPr/>
        </p:nvSpPr>
        <p:spPr>
          <a:xfrm>
            <a:off x="10606183" y="3873856"/>
            <a:ext cx="365760" cy="365760"/>
          </a:xfrm>
          <a:prstGeom prst="ellipse">
            <a:avLst/>
          </a:prstGeom>
          <a:solidFill>
            <a:srgbClr val="B86A12"/>
          </a:solidFill>
          <a:ln w="222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41" name="b6_4_t"/>
          <p:cNvSpPr/>
          <p:nvPr/>
        </p:nvSpPr>
        <p:spPr>
          <a:xfrm>
            <a:off x="10606183" y="38738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42" name="Text 38"/>
          <p:cNvSpPr/>
          <p:nvPr/>
        </p:nvSpPr>
        <p:spPr>
          <a:xfrm>
            <a:off x="411480" y="6510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Nogor Shomadhan  ·  User Manual</a:t>
            </a:r>
            <a:endParaRPr lang="en-US" sz="1100" dirty="0"/>
          </a:p>
        </p:txBody>
      </p:sp>
      <p:sp>
        <p:nvSpPr>
          <p:cNvPr id="43" name="Text 39">
            <a:hlinkClick r:id="rId3" tooltip="1. Problem Statement" action="ppaction://hlinksldjump"/>
          </p:cNvPr>
          <p:cNvSpPr/>
          <p:nvPr/>
        </p:nvSpPr>
        <p:spPr>
          <a:xfrm>
            <a:off x="9494215" y="6528816"/>
            <a:ext cx="201168" cy="201168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1. Problem Stat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4" name="Text 40">
            <a:hlinkClick r:id="rId4" tooltip="2. Stakeholders and Responsibilities" action="ppaction://hlinksldjump"/>
          </p:cNvPr>
          <p:cNvSpPr/>
          <p:nvPr/>
        </p:nvSpPr>
        <p:spPr>
          <a:xfrm>
            <a:off x="9841687" y="6528816"/>
            <a:ext cx="201168" cy="201168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2. Stakeholders and Responsibilit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5" name="Text 41">
            <a:hlinkClick r:id="rId5" tooltip="3. Resident Account Registration" action="ppaction://hlinksldjump"/>
          </p:cNvPr>
          <p:cNvSpPr/>
          <p:nvPr/>
        </p:nvSpPr>
        <p:spPr>
          <a:xfrm>
            <a:off x="10189159" y="6528816"/>
            <a:ext cx="201168" cy="201168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3. Resident Account Regist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6" name="Text 42">
            <a:hlinkClick r:id="rId6" tooltip="4. Registration Request Submitted" action="ppaction://hlinksldjump"/>
          </p:cNvPr>
          <p:cNvSpPr/>
          <p:nvPr/>
        </p:nvSpPr>
        <p:spPr>
          <a:xfrm>
            <a:off x="10536631" y="6528816"/>
            <a:ext cx="201168" cy="201168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4. Registration Request Submit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7" name="Text 43">
            <a:hlinkClick r:id="rId7" tooltip="5. Admin Receives the Verification Request" action="ppaction://hlinksldjump"/>
          </p:cNvPr>
          <p:cNvSpPr/>
          <p:nvPr/>
        </p:nvSpPr>
        <p:spPr>
          <a:xfrm>
            <a:off x="10884103" y="6528816"/>
            <a:ext cx="201168" cy="201168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5. Admin Receives the Verification Reque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8" name="Text 44">
            <a:hlinkClick r:id="rId8" tooltip="6. Admin Reviews and Approves the Account" action="ppaction://hlinksldjump"/>
          </p:cNvPr>
          <p:cNvSpPr/>
          <p:nvPr/>
        </p:nvSpPr>
        <p:spPr>
          <a:xfrm>
            <a:off x="11231575" y="6528816"/>
            <a:ext cx="201168" cy="201168"/>
          </a:xfrm>
          <a:prstGeom prst="ellipse">
            <a:avLst/>
          </a:prstGeom>
          <a:solidFill>
            <a:srgbClr val="B86A12"/>
          </a:solidFill>
          <a:ln>
            <a:solidFill>
              <a:srgbClr val="B8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6. Admin Reviews and Approves the Accou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9" name="Text 45">
            <a:hlinkClick r:id="rId9" tooltip="7. Account Verification Completed" action="ppaction://hlinksldjump"/>
          </p:cNvPr>
          <p:cNvSpPr/>
          <p:nvPr/>
        </p:nvSpPr>
        <p:spPr>
          <a:xfrm>
            <a:off x="11579047" y="6528816"/>
            <a:ext cx="201168" cy="201168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7. Account Verification Comple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0" name="Text 46"/>
          <p:cNvSpPr/>
          <p:nvPr/>
        </p:nvSpPr>
        <p:spPr>
          <a:xfrm>
            <a:off x="8716975" y="6510528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75467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329184"/>
            <a:ext cx="621792" cy="621792"/>
          </a:xfrm>
          <a:prstGeom prst="roundRect">
            <a:avLst>
              <a:gd name="adj" fmla="val 23529"/>
            </a:avLst>
          </a:prstGeom>
          <a:solidFill>
            <a:srgbClr val="475467"/>
          </a:solidFill>
          <a:ln w="12700">
            <a:solidFill>
              <a:srgbClr val="475467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32918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88720" y="32918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ACCOUNT REGISTRATION AND VERIFICATION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52144" y="5486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Verification Completed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0975543" y="475488"/>
            <a:ext cx="804672" cy="420624"/>
          </a:xfrm>
          <a:prstGeom prst="roundRect">
            <a:avLst>
              <a:gd name="adj" fmla="val 50000"/>
            </a:avLst>
          </a:prstGeom>
          <a:solidFill>
            <a:srgbClr val="B86A12"/>
          </a:solidFill>
          <a:ln w="12700">
            <a:solidFill>
              <a:srgbClr val="B86A12"/>
            </a:solidFill>
            <a:prstDash val="solid"/>
          </a:ln>
          <a:effectLst>
            <a:outerShdw sx="100000" sy="100000" kx="0" ky="0" algn="bl" rotWithShape="0" blurRad="76200" dist="12700" dir="5400000">
              <a:srgbClr val="0B2239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5543" y="475488"/>
            <a:ext cx="804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28302" y="475488"/>
            <a:ext cx="1100938" cy="420624"/>
          </a:xfrm>
          <a:prstGeom prst="roundRect">
            <a:avLst>
              <a:gd name="adj" fmla="val 50000"/>
            </a:avLst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  <a:effectLst>
            <a:outerShdw sx="100000" sy="100000" kx="0" ky="0" algn="bl" rotWithShape="0" blurRad="76200" dist="12700" dir="5400000">
              <a:srgbClr val="0B2239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728302" y="475488"/>
            <a:ext cx="110093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1480" y="1216152"/>
            <a:ext cx="11368735" cy="18288"/>
          </a:xfrm>
          <a:prstGeom prst="rect">
            <a:avLst/>
          </a:prstGeom>
          <a:solidFill>
            <a:srgbClr val="DDE1E7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" y="1417320"/>
            <a:ext cx="47548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13" name="p7_1_c"/>
          <p:cNvSpPr/>
          <p:nvPr/>
        </p:nvSpPr>
        <p:spPr>
          <a:xfrm>
            <a:off x="685800" y="1664208"/>
            <a:ext cx="347472" cy="347472"/>
          </a:xfrm>
          <a:prstGeom prst="ellipse">
            <a:avLst/>
          </a:prstGeom>
          <a:solidFill>
            <a:srgbClr val="2563A6"/>
          </a:solidFill>
          <a:ln>
            <a:solidFill>
              <a:srgbClr val="2563A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p7_1_t"/>
          <p:cNvSpPr/>
          <p:nvPr/>
        </p:nvSpPr>
        <p:spPr>
          <a:xfrm>
            <a:off x="1234440" y="1645920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resident receives an SMS confirming account approval.</a:t>
            </a:r>
            <a:endParaRPr lang="en-US" sz="1800" dirty="0"/>
          </a:p>
        </p:txBody>
      </p:sp>
      <p:sp>
        <p:nvSpPr>
          <p:cNvPr id="15" name="p7_2_c"/>
          <p:cNvSpPr/>
          <p:nvPr/>
        </p:nvSpPr>
        <p:spPr>
          <a:xfrm>
            <a:off x="685800" y="2417064"/>
            <a:ext cx="347472" cy="347472"/>
          </a:xfrm>
          <a:prstGeom prst="ellipse">
            <a:avLst/>
          </a:prstGeom>
          <a:solidFill>
            <a:srgbClr val="B86A12"/>
          </a:solidFill>
          <a:ln>
            <a:solidFill>
              <a:srgbClr val="B86A1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p7_2_t"/>
          <p:cNvSpPr/>
          <p:nvPr/>
        </p:nvSpPr>
        <p:spPr>
          <a:xfrm>
            <a:off x="1234440" y="2398776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Registered Accounts to view all approved profiles.</a:t>
            </a:r>
            <a:endParaRPr lang="en-US" sz="1800" dirty="0"/>
          </a:p>
        </p:txBody>
      </p:sp>
      <p:sp>
        <p:nvSpPr>
          <p:cNvPr id="17" name="p7_3_c"/>
          <p:cNvSpPr/>
          <p:nvPr/>
        </p:nvSpPr>
        <p:spPr>
          <a:xfrm>
            <a:off x="685800" y="3169920"/>
            <a:ext cx="347472" cy="347472"/>
          </a:xfrm>
          <a:prstGeom prst="ellipse">
            <a:avLst/>
          </a:prstGeom>
          <a:solidFill>
            <a:srgbClr val="B86A12"/>
          </a:solidFill>
          <a:ln>
            <a:solidFill>
              <a:srgbClr val="B86A1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p7_3_t"/>
          <p:cNvSpPr/>
          <p:nvPr/>
        </p:nvSpPr>
        <p:spPr>
          <a:xfrm>
            <a:off x="1234440" y="3151632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 appears in the Registered Accounts list.</a:t>
            </a:r>
            <a:endParaRPr lang="en-US" sz="1800" dirty="0"/>
          </a:p>
        </p:txBody>
      </p:sp>
      <p:sp>
        <p:nvSpPr>
          <p:cNvPr id="19" name="p7_4_c"/>
          <p:cNvSpPr/>
          <p:nvPr/>
        </p:nvSpPr>
        <p:spPr>
          <a:xfrm>
            <a:off x="685800" y="3922776"/>
            <a:ext cx="347472" cy="347472"/>
          </a:xfrm>
          <a:prstGeom prst="ellipse">
            <a:avLst/>
          </a:prstGeom>
          <a:solidFill>
            <a:srgbClr val="B86A12"/>
          </a:solidFill>
          <a:ln>
            <a:solidFill>
              <a:srgbClr val="B86A1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p7_4_t"/>
          <p:cNvSpPr/>
          <p:nvPr/>
        </p:nvSpPr>
        <p:spPr>
          <a:xfrm>
            <a:off x="1234440" y="3904488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 status changes to Verified.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11480" y="4727448"/>
            <a:ext cx="4754880" cy="1216152"/>
          </a:xfrm>
          <a:prstGeom prst="roundRect">
            <a:avLst>
              <a:gd name="adj" fmla="val 9023"/>
            </a:avLst>
          </a:prstGeom>
          <a:solidFill>
            <a:srgbClr val="F2F8FD"/>
          </a:solidFill>
          <a:ln w="12700">
            <a:solidFill>
              <a:srgbClr val="CFE3F4"/>
            </a:solidFill>
            <a:prstDash val="solid"/>
          </a:ln>
          <a:effectLst>
            <a:outerShdw sx="100000" sy="100000" kx="0" ky="0" algn="bl" rotWithShape="0" blurRad="76200" dist="12700" dir="5400000">
              <a:srgbClr val="0B2239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0936" y="4782312"/>
            <a:ext cx="4315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56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TO THE RESIDENT</a:t>
            </a:r>
            <a:endParaRPr lang="en-US" sz="1200" dirty="0"/>
          </a:p>
        </p:txBody>
      </p:sp>
      <p:sp>
        <p:nvSpPr>
          <p:cNvPr id="23" name="s7_sms_f"/>
          <p:cNvSpPr/>
          <p:nvPr/>
        </p:nvSpPr>
        <p:spPr>
          <a:xfrm>
            <a:off x="1120140" y="4965192"/>
            <a:ext cx="3337560" cy="1004888"/>
          </a:xfrm>
          <a:prstGeom prst="roundRect">
            <a:avLst>
              <a:gd name="adj" fmla="val 6370"/>
            </a:avLst>
          </a:prstGeom>
          <a:solidFill>
            <a:srgbClr val="FFFFFF"/>
          </a:solidFill>
          <a:ln w="12700">
            <a:solidFill>
              <a:srgbClr val="CFE3F4"/>
            </a:solidFill>
            <a:prstDash val="solid"/>
          </a:ln>
          <a:effectLst>
            <a:outerShdw sx="100000" sy="100000" kx="0" ky="0" algn="bl" rotWithShape="0" blurRad="76200" dist="12700" dir="5400000">
              <a:srgbClr val="0B2239">
                <a:alpha val="8000"/>
              </a:srgbClr>
            </a:outerShdw>
          </a:effectLst>
        </p:spPr>
      </p:sp>
      <p:pic>
        <p:nvPicPr>
          <p:cNvPr id="24" name="s7_sms" descr="C:/NogorShomadhan/User Manual/Phase 1/admin verification/10-resident-account-approved-sms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5010912"/>
            <a:ext cx="3246120" cy="913448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5486400" y="1417320"/>
            <a:ext cx="6293815" cy="4526280"/>
          </a:xfrm>
          <a:prstGeom prst="roundRect">
            <a:avLst>
              <a:gd name="adj" fmla="val 2424"/>
            </a:avLst>
          </a:prstGeom>
          <a:solidFill>
            <a:srgbClr val="FFFAF2"/>
          </a:solidFill>
          <a:ln w="12700">
            <a:solidFill>
              <a:srgbClr val="F2DBBB"/>
            </a:solidFill>
            <a:prstDash val="solid"/>
          </a:ln>
          <a:effectLst>
            <a:outerShdw sx="100000" sy="100000" kx="0" ky="0" algn="bl" rotWithShape="0" blurRad="76200" dist="12700" dir="5400000">
              <a:srgbClr val="0B2239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661402" y="1517904"/>
            <a:ext cx="252228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079798" y="1517904"/>
            <a:ext cx="2525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accounts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885430" y="1906524"/>
            <a:ext cx="2074229" cy="4014216"/>
          </a:xfrm>
          <a:prstGeom prst="roundRect">
            <a:avLst>
              <a:gd name="adj" fmla="val 3527"/>
            </a:avLst>
          </a:prstGeom>
          <a:solidFill>
            <a:srgbClr val="FFFFFF"/>
          </a:solidFill>
          <a:ln w="12700">
            <a:solidFill>
              <a:srgbClr val="F2DBB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pic>
        <p:nvPicPr>
          <p:cNvPr id="29" name="Image 1" descr="C:/NogorShomadhan/User Manual/Phase 1/admin registration accounts view/11-admin-dashboard-showing-registeredaccounts-option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722" y="1956816"/>
            <a:ext cx="1973645" cy="3913632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9303826" y="1906524"/>
            <a:ext cx="2077360" cy="4014216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F2DBB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pic>
        <p:nvPicPr>
          <p:cNvPr id="31" name="Image 2" descr="C:/NogorShomadhan/User Manual/Phase 1/admin registration accounts view/12-admin-registered-account-verified-list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4118" y="1956816"/>
            <a:ext cx="1976776" cy="3913632"/>
          </a:xfrm>
          <a:prstGeom prst="rect">
            <a:avLst/>
          </a:prstGeom>
        </p:spPr>
      </p:pic>
      <p:sp>
        <p:nvSpPr>
          <p:cNvPr id="32" name="arrow7"/>
          <p:cNvSpPr/>
          <p:nvPr/>
        </p:nvSpPr>
        <p:spPr>
          <a:xfrm>
            <a:off x="8220262" y="3657600"/>
            <a:ext cx="822960" cy="512064"/>
          </a:xfrm>
          <a:prstGeom prst="rightArrow">
            <a:avLst/>
          </a:prstGeom>
          <a:solidFill>
            <a:srgbClr val="B86A12"/>
          </a:solidFill>
          <a:ln w="12700">
            <a:solidFill>
              <a:srgbClr val="B86A12"/>
            </a:solidFill>
            <a:prstDash val="solid"/>
          </a:ln>
          <a:effectLst>
            <a:outerShdw sx="100000" sy="100000" kx="0" ky="0" algn="bl" rotWithShape="0" blurRad="76200" dist="12700" dir="5400000">
              <a:srgbClr val="0B2239">
                <a:alpha val="8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9660518" y="4737452"/>
            <a:ext cx="711639" cy="93927"/>
          </a:xfrm>
          <a:prstGeom prst="roundRect">
            <a:avLst>
              <a:gd name="adj" fmla="val 48676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9660518" y="5034888"/>
            <a:ext cx="256981" cy="93927"/>
          </a:xfrm>
          <a:prstGeom prst="roundRect">
            <a:avLst>
              <a:gd name="adj" fmla="val 48676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35" name="h7_2"/>
          <p:cNvSpPr/>
          <p:nvPr/>
        </p:nvSpPr>
        <p:spPr>
          <a:xfrm>
            <a:off x="6006773" y="4864645"/>
            <a:ext cx="1831542" cy="461809"/>
          </a:xfrm>
          <a:prstGeom prst="roundRect">
            <a:avLst>
              <a:gd name="adj" fmla="val 11880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36" name="b7_2"/>
          <p:cNvSpPr/>
          <p:nvPr/>
        </p:nvSpPr>
        <p:spPr>
          <a:xfrm>
            <a:off x="5812051" y="4681765"/>
            <a:ext cx="365760" cy="365760"/>
          </a:xfrm>
          <a:prstGeom prst="ellipse">
            <a:avLst/>
          </a:prstGeom>
          <a:solidFill>
            <a:srgbClr val="B86A12"/>
          </a:solidFill>
          <a:ln w="222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37" name="b7_2_t"/>
          <p:cNvSpPr/>
          <p:nvPr/>
        </p:nvSpPr>
        <p:spPr>
          <a:xfrm>
            <a:off x="5812051" y="4681765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38" name="h7_3"/>
          <p:cNvSpPr/>
          <p:nvPr/>
        </p:nvSpPr>
        <p:spPr>
          <a:xfrm>
            <a:off x="9425282" y="4140623"/>
            <a:ext cx="1834448" cy="1260190"/>
          </a:xfrm>
          <a:prstGeom prst="roundRect">
            <a:avLst>
              <a:gd name="adj" fmla="val 4354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39" name="b7_3"/>
          <p:cNvSpPr/>
          <p:nvPr/>
        </p:nvSpPr>
        <p:spPr>
          <a:xfrm>
            <a:off x="9230541" y="3957743"/>
            <a:ext cx="365760" cy="365760"/>
          </a:xfrm>
          <a:prstGeom prst="ellipse">
            <a:avLst/>
          </a:prstGeom>
          <a:solidFill>
            <a:srgbClr val="B86A12"/>
          </a:solidFill>
          <a:ln w="222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40" name="b7_3_t"/>
          <p:cNvSpPr/>
          <p:nvPr/>
        </p:nvSpPr>
        <p:spPr>
          <a:xfrm>
            <a:off x="9230541" y="395774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41" name="h7_4"/>
          <p:cNvSpPr/>
          <p:nvPr/>
        </p:nvSpPr>
        <p:spPr>
          <a:xfrm>
            <a:off x="10840653" y="4234550"/>
            <a:ext cx="365703" cy="117409"/>
          </a:xfrm>
          <a:prstGeom prst="roundRect">
            <a:avLst>
              <a:gd name="adj" fmla="val 46729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42" name="b7_4"/>
          <p:cNvSpPr/>
          <p:nvPr/>
        </p:nvSpPr>
        <p:spPr>
          <a:xfrm>
            <a:off x="10466026" y="4036015"/>
            <a:ext cx="365760" cy="365760"/>
          </a:xfrm>
          <a:prstGeom prst="ellipse">
            <a:avLst/>
          </a:prstGeom>
          <a:solidFill>
            <a:srgbClr val="B86A12"/>
          </a:solidFill>
          <a:ln w="222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43" name="b7_4_t"/>
          <p:cNvSpPr/>
          <p:nvPr/>
        </p:nvSpPr>
        <p:spPr>
          <a:xfrm>
            <a:off x="10466026" y="4036015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44" name="b7_1"/>
          <p:cNvSpPr/>
          <p:nvPr/>
        </p:nvSpPr>
        <p:spPr>
          <a:xfrm>
            <a:off x="804443" y="5284756"/>
            <a:ext cx="365760" cy="365760"/>
          </a:xfrm>
          <a:prstGeom prst="ellipse">
            <a:avLst/>
          </a:prstGeom>
          <a:solidFill>
            <a:srgbClr val="2563A6"/>
          </a:solidFill>
          <a:ln w="222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45" name="b7_1_t"/>
          <p:cNvSpPr/>
          <p:nvPr/>
        </p:nvSpPr>
        <p:spPr>
          <a:xfrm>
            <a:off x="804443" y="52847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6" name="out7_bg"/>
          <p:cNvSpPr/>
          <p:nvPr/>
        </p:nvSpPr>
        <p:spPr>
          <a:xfrm>
            <a:off x="411480" y="6035040"/>
            <a:ext cx="11368735" cy="457200"/>
          </a:xfrm>
          <a:prstGeom prst="roundRect">
            <a:avLst>
              <a:gd name="adj" fmla="val 20000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47" name="out7_tx"/>
          <p:cNvSpPr/>
          <p:nvPr/>
        </p:nvSpPr>
        <p:spPr>
          <a:xfrm>
            <a:off x="411480" y="6035040"/>
            <a:ext cx="113687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resident can now sign in and begin reporting community problems.</a:t>
            </a:r>
            <a:endParaRPr lang="en-US" sz="1850" dirty="0"/>
          </a:p>
        </p:txBody>
      </p:sp>
      <p:sp>
        <p:nvSpPr>
          <p:cNvPr id="48" name="Text 43"/>
          <p:cNvSpPr/>
          <p:nvPr/>
        </p:nvSpPr>
        <p:spPr>
          <a:xfrm>
            <a:off x="411480" y="6510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Nogor Shomadhan  ·  User Manual</a:t>
            </a:r>
            <a:endParaRPr lang="en-US" sz="1100" dirty="0"/>
          </a:p>
        </p:txBody>
      </p:sp>
      <p:sp>
        <p:nvSpPr>
          <p:cNvPr id="49" name="Text 44">
            <a:hlinkClick r:id="rId4" tooltip="1. Problem Statement" action="ppaction://hlinksldjump"/>
          </p:cNvPr>
          <p:cNvSpPr/>
          <p:nvPr/>
        </p:nvSpPr>
        <p:spPr>
          <a:xfrm>
            <a:off x="9494215" y="6528816"/>
            <a:ext cx="201168" cy="201168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1. Problem Stat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0" name="Text 45">
            <a:hlinkClick r:id="rId5" tooltip="2. Stakeholders and Responsibilities" action="ppaction://hlinksldjump"/>
          </p:cNvPr>
          <p:cNvSpPr/>
          <p:nvPr/>
        </p:nvSpPr>
        <p:spPr>
          <a:xfrm>
            <a:off x="9841687" y="6528816"/>
            <a:ext cx="201168" cy="201168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2. Stakeholders and Responsibilit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1" name="Text 46">
            <a:hlinkClick r:id="rId6" tooltip="3. Resident Account Registration" action="ppaction://hlinksldjump"/>
          </p:cNvPr>
          <p:cNvSpPr/>
          <p:nvPr/>
        </p:nvSpPr>
        <p:spPr>
          <a:xfrm>
            <a:off x="10189159" y="6528816"/>
            <a:ext cx="201168" cy="201168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3. Resident Account Regist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2" name="Text 47">
            <a:hlinkClick r:id="rId7" tooltip="4. Registration Request Submitted" action="ppaction://hlinksldjump"/>
          </p:cNvPr>
          <p:cNvSpPr/>
          <p:nvPr/>
        </p:nvSpPr>
        <p:spPr>
          <a:xfrm>
            <a:off x="10536631" y="6528816"/>
            <a:ext cx="201168" cy="201168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4. Registration Request Submit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3" name="Text 48">
            <a:hlinkClick r:id="rId8" tooltip="5. Admin Receives the Verification Request" action="ppaction://hlinksldjump"/>
          </p:cNvPr>
          <p:cNvSpPr/>
          <p:nvPr/>
        </p:nvSpPr>
        <p:spPr>
          <a:xfrm>
            <a:off x="10884103" y="6528816"/>
            <a:ext cx="201168" cy="201168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5. Admin Receives the Verification Reque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4" name="Text 49">
            <a:hlinkClick r:id="rId9" tooltip="6. Admin Reviews and Approves the Account" action="ppaction://hlinksldjump"/>
          </p:cNvPr>
          <p:cNvSpPr/>
          <p:nvPr/>
        </p:nvSpPr>
        <p:spPr>
          <a:xfrm>
            <a:off x="11231575" y="6528816"/>
            <a:ext cx="201168" cy="201168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6. Admin Reviews and Approves the Accou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5" name="Text 50">
            <a:hlinkClick r:id="rId10" tooltip="7. Account Verification Completed" action="ppaction://hlinksldjump"/>
          </p:cNvPr>
          <p:cNvSpPr/>
          <p:nvPr/>
        </p:nvSpPr>
        <p:spPr>
          <a:xfrm>
            <a:off x="11579047" y="6528816"/>
            <a:ext cx="201168" cy="201168"/>
          </a:xfrm>
          <a:prstGeom prst="ellipse">
            <a:avLst/>
          </a:prstGeom>
          <a:solidFill>
            <a:srgbClr val="475467"/>
          </a:solidFill>
          <a:ln>
            <a:solidFill>
              <a:srgbClr val="47546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7. Account Verification Comple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6" name="Text 51"/>
          <p:cNvSpPr/>
          <p:nvPr/>
        </p:nvSpPr>
        <p:spPr>
          <a:xfrm>
            <a:off x="8716975" y="6510528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Nogor Shomadhan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Nogor Shomadhan — User Manual: Phase 1</dc:title>
  <dc:subject>PptxGenJS Presentation</dc:subject>
  <dc:creator>Ashfia Tabassum</dc:creator>
  <cp:lastModifiedBy>Ashfia Tabassum</cp:lastModifiedBy>
  <cp:revision>1</cp:revision>
  <dcterms:created xsi:type="dcterms:W3CDTF">2026-09-12T11:43:08Z</dcterms:created>
  <dcterms:modified xsi:type="dcterms:W3CDTF">2026-09-12T11:43:08Z</dcterms:modified>
</cp:coreProperties>
</file>