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slide" Target="slide9.xml"/><Relationship Id="rId11" Type="http://schemas.openxmlformats.org/officeDocument/2006/relationships/slide" Target="slide10.xml"/><Relationship Id="rId12" Type="http://schemas.openxmlformats.org/officeDocument/2006/relationships/slide" Target="slide11.xml"/><Relationship Id="rId13" Type="http://schemas.openxmlformats.org/officeDocument/2006/relationships/slide" Target="slide12.xml"/><Relationship Id="rId14" Type="http://schemas.openxmlformats.org/officeDocument/2006/relationships/slide" Target="slide13.xml"/><Relationship Id="rId15" Type="http://schemas.openxmlformats.org/officeDocument/2006/relationships/slide" Target="slide14.xml"/><Relationship Id="rId16" Type="http://schemas.openxmlformats.org/officeDocument/2006/relationships/slide" Target="slide15.xml"/><Relationship Id="rId17" Type="http://schemas.openxmlformats.org/officeDocument/2006/relationships/slide" Target="slide16.xml"/><Relationship Id="rId18" Type="http://schemas.openxmlformats.org/officeDocument/2006/relationships/slide" Target="slide17.xml"/><Relationship Id="rId1" Type="http://schemas.openxmlformats.org/officeDocument/2006/relationships/image" Target="../media/image-1-1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Relationship Id="rId11" Type="http://schemas.openxmlformats.org/officeDocument/2006/relationships/slide" Target="slide11.xml"/><Relationship Id="rId12" Type="http://schemas.openxmlformats.org/officeDocument/2006/relationships/slide" Target="slide12.xml"/><Relationship Id="rId13" Type="http://schemas.openxmlformats.org/officeDocument/2006/relationships/slide" Target="slide13.xml"/><Relationship Id="rId14" Type="http://schemas.openxmlformats.org/officeDocument/2006/relationships/slide" Target="slide14.xml"/><Relationship Id="rId15" Type="http://schemas.openxmlformats.org/officeDocument/2006/relationships/slide" Target="slide15.xml"/><Relationship Id="rId16" Type="http://schemas.openxmlformats.org/officeDocument/2006/relationships/slide" Target="slide16.xml"/><Relationship Id="rId17" Type="http://schemas.openxmlformats.org/officeDocument/2006/relationships/slide" Target="slide17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WHY THIS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a_stmt_bg"/>
          <p:cNvSpPr/>
          <p:nvPr/>
        </p:nvSpPr>
        <p:spPr>
          <a:xfrm>
            <a:off x="411480" y="1417320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a_stmt_bar"/>
          <p:cNvSpPr/>
          <p:nvPr/>
        </p:nvSpPr>
        <p:spPr>
          <a:xfrm>
            <a:off x="411480" y="1417320"/>
            <a:ext cx="82296" cy="932688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12" name="a_stmt_tx"/>
          <p:cNvSpPr/>
          <p:nvPr/>
        </p:nvSpPr>
        <p:spPr>
          <a:xfrm>
            <a:off x="704088" y="1417320"/>
            <a:ext cx="53949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maintenance complaints remain fragmented and difficult to track</a:t>
            </a:r>
            <a:endParaRPr lang="en-US" sz="2200" dirty="0"/>
          </a:p>
        </p:txBody>
      </p:sp>
      <p:sp>
        <p:nvSpPr>
          <p:cNvPr id="13" name="p1_1_c"/>
          <p:cNvSpPr/>
          <p:nvPr/>
        </p:nvSpPr>
        <p:spPr>
          <a:xfrm>
            <a:off x="466344" y="2523744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1_1_t"/>
          <p:cNvSpPr/>
          <p:nvPr/>
        </p:nvSpPr>
        <p:spPr>
          <a:xfrm>
            <a:off x="1014984" y="2505456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rely on phone calls, social media groups, and informal messages.</a:t>
            </a:r>
            <a:endParaRPr lang="en-US" sz="1800" dirty="0"/>
          </a:p>
        </p:txBody>
      </p:sp>
      <p:sp>
        <p:nvSpPr>
          <p:cNvPr id="15" name="p1_2_c"/>
          <p:cNvSpPr/>
          <p:nvPr/>
        </p:nvSpPr>
        <p:spPr>
          <a:xfrm>
            <a:off x="466344" y="3267456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1_2_t"/>
          <p:cNvSpPr/>
          <p:nvPr/>
        </p:nvSpPr>
        <p:spPr>
          <a:xfrm>
            <a:off x="1014984" y="3249168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often arrive without structured evidence or accurate location details.</a:t>
            </a:r>
            <a:endParaRPr lang="en-US" sz="1800" dirty="0"/>
          </a:p>
        </p:txBody>
      </p:sp>
      <p:sp>
        <p:nvSpPr>
          <p:cNvPr id="17" name="p1_3_c"/>
          <p:cNvSpPr/>
          <p:nvPr/>
        </p:nvSpPr>
        <p:spPr>
          <a:xfrm>
            <a:off x="466344" y="4011168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1_3_t"/>
          <p:cNvSpPr/>
          <p:nvPr/>
        </p:nvSpPr>
        <p:spPr>
          <a:xfrm>
            <a:off x="1014984" y="3992880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reports and disconnected channels delay verification and assignment.</a:t>
            </a:r>
            <a:endParaRPr lang="en-US" sz="1800" dirty="0"/>
          </a:p>
        </p:txBody>
      </p:sp>
      <p:sp>
        <p:nvSpPr>
          <p:cNvPr id="19" name="p1_4_c"/>
          <p:cNvSpPr/>
          <p:nvPr/>
        </p:nvSpPr>
        <p:spPr>
          <a:xfrm>
            <a:off x="466344" y="4754880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1_4_t"/>
          <p:cNvSpPr/>
          <p:nvPr/>
        </p:nvSpPr>
        <p:spPr>
          <a:xfrm>
            <a:off x="1014984" y="4736592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have limited visibility into progress, reducing trust and accountability.</a:t>
            </a:r>
            <a:endParaRPr lang="en-US" sz="1800" dirty="0"/>
          </a:p>
        </p:txBody>
      </p:sp>
      <p:sp>
        <p:nvSpPr>
          <p:cNvPr id="21" name="a_close_bg"/>
          <p:cNvSpPr/>
          <p:nvPr/>
        </p:nvSpPr>
        <p:spPr>
          <a:xfrm>
            <a:off x="411480" y="5486400"/>
            <a:ext cx="5943600" cy="749808"/>
          </a:xfrm>
          <a:prstGeom prst="roundRect">
            <a:avLst>
              <a:gd name="adj" fmla="val 12195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2" name="a_close_tx"/>
          <p:cNvSpPr/>
          <p:nvPr/>
        </p:nvSpPr>
        <p:spPr>
          <a:xfrm>
            <a:off x="667512" y="5486400"/>
            <a:ext cx="54315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provides one verified workflow from reporting to resolution.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656832" y="1417320"/>
            <a:ext cx="5120640" cy="3968592"/>
          </a:xfrm>
          <a:prstGeom prst="roundRect">
            <a:avLst>
              <a:gd name="adj" fmla="val 230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0" descr="C:/NogorShomadhan/Images/Road br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81328"/>
            <a:ext cx="4992624" cy="3840576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56832" y="5477256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912864" y="5559552"/>
            <a:ext cx="46085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REALITY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12864" y="5779008"/>
            <a:ext cx="46085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everyone, yet no record of who reported it or what happens next.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29" name="Text 26">
            <a:hlinkClick r:id="rId2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0" name="Text 27">
            <a:hlinkClick r:id="rId3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8">
            <a:hlinkClick r:id="rId4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29">
            <a:hlinkClick r:id="rId5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0">
            <a:hlinkClick r:id="rId6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1">
            <a:hlinkClick r:id="rId7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2">
            <a:hlinkClick r:id="rId8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3">
            <a:hlinkClick r:id="rId9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4">
            <a:hlinkClick r:id="rId10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5">
            <a:hlinkClick r:id="rId11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6">
            <a:hlinkClick r:id="rId12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7">
            <a:hlinkClick r:id="rId13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8">
            <a:hlinkClick r:id="rId14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9">
            <a:hlinkClick r:id="rId15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0">
            <a:hlinkClick r:id="rId16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1">
            <a:hlinkClick r:id="rId17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2">
            <a:hlinkClick r:id="rId18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3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WHO USES THE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and Responsibilities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383012" y="475488"/>
            <a:ext cx="1397203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383012" y="475488"/>
            <a:ext cx="139720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c_res_bg"/>
          <p:cNvSpPr/>
          <p:nvPr/>
        </p:nvSpPr>
        <p:spPr>
          <a:xfrm>
            <a:off x="440284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c_res_hd"/>
          <p:cNvSpPr/>
          <p:nvPr/>
        </p:nvSpPr>
        <p:spPr>
          <a:xfrm>
            <a:off x="440284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2" name="c_res_hd2"/>
          <p:cNvSpPr/>
          <p:nvPr/>
        </p:nvSpPr>
        <p:spPr>
          <a:xfrm>
            <a:off x="440284" y="1847088"/>
            <a:ext cx="3502152" cy="2377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3" name="c_res_hdt"/>
          <p:cNvSpPr/>
          <p:nvPr/>
        </p:nvSpPr>
        <p:spPr>
          <a:xfrm>
            <a:off x="440284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2000" dirty="0"/>
          </a:p>
        </p:txBody>
      </p:sp>
      <p:sp>
        <p:nvSpPr>
          <p:cNvPr id="14" name="c_res_bl"/>
          <p:cNvSpPr/>
          <p:nvPr/>
        </p:nvSpPr>
        <p:spPr>
          <a:xfrm>
            <a:off x="696316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community problems with location and optional photographic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complaint status and receives important notifications.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Participates through urgency votes, forum discussions, and feedback.</a:t>
            </a:r>
            <a:endParaRPr lang="en-US" sz="1800" dirty="0"/>
          </a:p>
        </p:txBody>
      </p:sp>
      <p:sp>
        <p:nvSpPr>
          <p:cNvPr id="15" name="c_adm_bg"/>
          <p:cNvSpPr/>
          <p:nvPr/>
        </p:nvSpPr>
        <p:spPr>
          <a:xfrm>
            <a:off x="4344772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6" name="c_adm_hd"/>
          <p:cNvSpPr/>
          <p:nvPr/>
        </p:nvSpPr>
        <p:spPr>
          <a:xfrm>
            <a:off x="4344772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7" name="c_adm_hd2"/>
          <p:cNvSpPr/>
          <p:nvPr/>
        </p:nvSpPr>
        <p:spPr>
          <a:xfrm>
            <a:off x="4344772" y="1847088"/>
            <a:ext cx="3502152" cy="23774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18" name="c_adm_hdt"/>
          <p:cNvSpPr/>
          <p:nvPr/>
        </p:nvSpPr>
        <p:spPr>
          <a:xfrm>
            <a:off x="4344772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9" name="c_adm_bl"/>
          <p:cNvSpPr/>
          <p:nvPr/>
        </p:nvSpPr>
        <p:spPr>
          <a:xfrm>
            <a:off x="4600804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resident accounts and newly submitted complaints.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possible duplicates identified by the system.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valid records and maintains platform integrity.</a:t>
            </a:r>
            <a:endParaRPr lang="en-US" sz="1800" dirty="0"/>
          </a:p>
        </p:txBody>
      </p:sp>
      <p:sp>
        <p:nvSpPr>
          <p:cNvPr id="20" name="c_aut_bg"/>
          <p:cNvSpPr/>
          <p:nvPr/>
        </p:nvSpPr>
        <p:spPr>
          <a:xfrm>
            <a:off x="8249260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1" name="c_aut_hd"/>
          <p:cNvSpPr/>
          <p:nvPr/>
        </p:nvSpPr>
        <p:spPr>
          <a:xfrm>
            <a:off x="8249260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c_aut_hd2"/>
          <p:cNvSpPr/>
          <p:nvPr/>
        </p:nvSpPr>
        <p:spPr>
          <a:xfrm>
            <a:off x="8249260" y="1847088"/>
            <a:ext cx="3502152" cy="23774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23" name="c_aut_hdt"/>
          <p:cNvSpPr/>
          <p:nvPr/>
        </p:nvSpPr>
        <p:spPr>
          <a:xfrm>
            <a:off x="8249260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2000" dirty="0"/>
          </a:p>
        </p:txBody>
      </p:sp>
      <p:sp>
        <p:nvSpPr>
          <p:cNvPr id="24" name="c_aut_bl"/>
          <p:cNvSpPr/>
          <p:nvPr/>
        </p:nvSpPr>
        <p:spPr>
          <a:xfrm>
            <a:off x="8505292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verified complaints and begins the required work.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deadlines, budgets, contractors, notes, and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complaints and responds to resident feedback.</a:t>
            </a:r>
            <a:endParaRPr lang="en-US" sz="1800" dirty="0"/>
          </a:p>
        </p:txBody>
      </p:sp>
      <p:sp>
        <p:nvSpPr>
          <p:cNvPr id="25" name="sys_bg"/>
          <p:cNvSpPr/>
          <p:nvPr/>
        </p:nvSpPr>
        <p:spPr>
          <a:xfrm>
            <a:off x="440284" y="5605272"/>
            <a:ext cx="11311128" cy="731520"/>
          </a:xfrm>
          <a:prstGeom prst="roundRect">
            <a:avLst>
              <a:gd name="adj" fmla="val 12500"/>
            </a:avLst>
          </a:prstGeom>
          <a:solidFill>
            <a:srgbClr val="E9ECF1"/>
          </a:solidFill>
          <a:ln w="12700">
            <a:solidFill>
              <a:srgbClr val="D8DD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740" y="5797296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9740" y="579729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LAYER</a:t>
            </a:r>
            <a:endParaRPr lang="en-US" sz="1400" dirty="0"/>
          </a:p>
        </p:txBody>
      </p:sp>
      <p:sp>
        <p:nvSpPr>
          <p:cNvPr id="28" name="sys_tx"/>
          <p:cNvSpPr/>
          <p:nvPr/>
        </p:nvSpPr>
        <p:spPr>
          <a:xfrm>
            <a:off x="2744572" y="5605272"/>
            <a:ext cx="8787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AI: categorization, duplicate screening, status tracking, and notifications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0" name="Text 28">
            <a:hlinkClick r:id="rId1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9">
            <a:hlinkClick r:id="rId2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30">
            <a:hlinkClick r:id="rId3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1">
            <a:hlinkClick r:id="rId4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2">
            <a:hlinkClick r:id="rId5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3">
            <a:hlinkClick r:id="rId6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4">
            <a:hlinkClick r:id="rId7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5">
            <a:hlinkClick r:id="rId8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6">
            <a:hlinkClick r:id="rId9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7">
            <a:hlinkClick r:id="rId10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8">
            <a:hlinkClick r:id="rId11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9">
            <a:hlinkClick r:id="rId12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40">
            <a:hlinkClick r:id="rId13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41">
            <a:hlinkClick r:id="rId14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2">
            <a:hlinkClick r:id="rId15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3">
            <a:hlinkClick r:id="rId16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4">
            <a:hlinkClick r:id="rId17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Account Registration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584448" cy="463600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3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3_1_t"/>
          <p:cNvSpPr/>
          <p:nvPr/>
        </p:nvSpPr>
        <p:spPr>
          <a:xfrm>
            <a:off x="1234440" y="17830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Register from the public home page.</a:t>
            </a:r>
            <a:endParaRPr lang="en-US" sz="1800" dirty="0"/>
          </a:p>
        </p:txBody>
      </p:sp>
      <p:sp>
        <p:nvSpPr>
          <p:cNvPr id="13" name="p3_2_c"/>
          <p:cNvSpPr/>
          <p:nvPr/>
        </p:nvSpPr>
        <p:spPr>
          <a:xfrm>
            <a:off x="685800" y="27919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3_2_t"/>
          <p:cNvSpPr/>
          <p:nvPr/>
        </p:nvSpPr>
        <p:spPr>
          <a:xfrm>
            <a:off x="1234440" y="27736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identity and contact information.</a:t>
            </a:r>
            <a:endParaRPr lang="en-US" sz="1800" dirty="0"/>
          </a:p>
        </p:txBody>
      </p:sp>
      <p:sp>
        <p:nvSpPr>
          <p:cNvPr id="15" name="p3_3_c"/>
          <p:cNvSpPr/>
          <p:nvPr/>
        </p:nvSpPr>
        <p:spPr>
          <a:xfrm>
            <a:off x="685800" y="37825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3_3_t"/>
          <p:cNvSpPr/>
          <p:nvPr/>
        </p:nvSpPr>
        <p:spPr>
          <a:xfrm>
            <a:off x="1234440" y="3764280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residential address and secure login credentials.</a:t>
            </a:r>
            <a:endParaRPr lang="en-US" sz="1800" dirty="0"/>
          </a:p>
        </p:txBody>
      </p:sp>
      <p:sp>
        <p:nvSpPr>
          <p:cNvPr id="17" name="p3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3_4_t"/>
          <p:cNvSpPr/>
          <p:nvPr/>
        </p:nvSpPr>
        <p:spPr>
          <a:xfrm>
            <a:off x="1234440" y="5038344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information before registration.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2186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63800" y="2327148"/>
            <a:ext cx="1935058" cy="3712464"/>
          </a:xfrm>
          <a:prstGeom prst="roundRect">
            <a:avLst>
              <a:gd name="adj" fmla="val 378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registration/01-public-home-registration-entr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4092" y="2377440"/>
            <a:ext cx="1834474" cy="3611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894052" y="6099048"/>
            <a:ext cx="24745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home page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36018" y="1641348"/>
            <a:ext cx="3246916" cy="4398264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registration/02-resident-registration-personal-info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310" y="1691640"/>
            <a:ext cx="3146332" cy="42976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966270" y="6099048"/>
            <a:ext cx="37864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9620094" y="1641348"/>
            <a:ext cx="2303145" cy="4398264"/>
          </a:xfrm>
          <a:prstGeom prst="roundRect">
            <a:avLst>
              <a:gd name="adj" fmla="val 31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1/registration/03-resident-registration-address-and-security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386" y="1691640"/>
            <a:ext cx="2202561" cy="42976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350346" y="6099048"/>
            <a:ext cx="28426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and credentials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6890406" y="4321820"/>
            <a:ext cx="582071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890406" y="4966472"/>
            <a:ext cx="111694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31308" y="5611124"/>
            <a:ext cx="45621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952314" y="2357780"/>
            <a:ext cx="176205" cy="116037"/>
          </a:xfrm>
          <a:prstGeom prst="roundRect">
            <a:avLst>
              <a:gd name="adj" fmla="val 394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3" name="h3_1"/>
          <p:cNvSpPr/>
          <p:nvPr/>
        </p:nvSpPr>
        <p:spPr>
          <a:xfrm>
            <a:off x="5389990" y="2381052"/>
            <a:ext cx="388908" cy="180594"/>
          </a:xfrm>
          <a:prstGeom prst="roundRect">
            <a:avLst>
              <a:gd name="adj" fmla="val 3038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3_4"/>
          <p:cNvSpPr/>
          <p:nvPr/>
        </p:nvSpPr>
        <p:spPr>
          <a:xfrm>
            <a:off x="9868616" y="5293096"/>
            <a:ext cx="1810505" cy="249265"/>
          </a:xfrm>
          <a:prstGeom prst="roundRect">
            <a:avLst>
              <a:gd name="adj" fmla="val 2201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3_1"/>
          <p:cNvSpPr/>
          <p:nvPr/>
        </p:nvSpPr>
        <p:spPr>
          <a:xfrm>
            <a:off x="4159626" y="231014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3_1_t"/>
          <p:cNvSpPr/>
          <p:nvPr/>
        </p:nvSpPr>
        <p:spPr>
          <a:xfrm>
            <a:off x="4159626" y="23101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7" name="b3_2"/>
          <p:cNvSpPr/>
          <p:nvPr/>
        </p:nvSpPr>
        <p:spPr>
          <a:xfrm>
            <a:off x="6245015" y="16376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3_2_t"/>
          <p:cNvSpPr/>
          <p:nvPr/>
        </p:nvSpPr>
        <p:spPr>
          <a:xfrm>
            <a:off x="6245015" y="16376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9" name="b3_3"/>
          <p:cNvSpPr/>
          <p:nvPr/>
        </p:nvSpPr>
        <p:spPr>
          <a:xfrm>
            <a:off x="9619659" y="164628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3_3_t"/>
          <p:cNvSpPr/>
          <p:nvPr/>
        </p:nvSpPr>
        <p:spPr>
          <a:xfrm>
            <a:off x="9619659" y="164628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b3_4"/>
          <p:cNvSpPr/>
          <p:nvPr/>
        </p:nvSpPr>
        <p:spPr>
          <a:xfrm>
            <a:off x="9597634" y="523484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2" name="b3_4_t"/>
          <p:cNvSpPr/>
          <p:nvPr/>
        </p:nvSpPr>
        <p:spPr>
          <a:xfrm>
            <a:off x="9597634" y="523484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4" name="Text 39">
            <a:hlinkClick r:id="rId4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5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6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7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8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9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0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1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2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3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4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5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6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7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8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19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20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Request Submitted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3383280" cy="4636008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4_1_c"/>
          <p:cNvSpPr/>
          <p:nvPr/>
        </p:nvSpPr>
        <p:spPr>
          <a:xfrm>
            <a:off x="667512" y="177393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4_1_t"/>
          <p:cNvSpPr/>
          <p:nvPr/>
        </p:nvSpPr>
        <p:spPr>
          <a:xfrm>
            <a:off x="1216152" y="1755648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submits the completed registration form.</a:t>
            </a:r>
            <a:endParaRPr lang="en-US" sz="1800" dirty="0"/>
          </a:p>
        </p:txBody>
      </p:sp>
      <p:sp>
        <p:nvSpPr>
          <p:cNvPr id="15" name="p4_2_c"/>
          <p:cNvSpPr/>
          <p:nvPr/>
        </p:nvSpPr>
        <p:spPr>
          <a:xfrm>
            <a:off x="667512" y="275711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4_2_t"/>
          <p:cNvSpPr/>
          <p:nvPr/>
        </p:nvSpPr>
        <p:spPr>
          <a:xfrm>
            <a:off x="1216152" y="2738831"/>
            <a:ext cx="2322576" cy="11469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creates the account with an unverified status.</a:t>
            </a:r>
            <a:endParaRPr lang="en-US" sz="1800" dirty="0"/>
          </a:p>
        </p:txBody>
      </p:sp>
      <p:sp>
        <p:nvSpPr>
          <p:cNvPr id="17" name="p4_3_c"/>
          <p:cNvSpPr/>
          <p:nvPr/>
        </p:nvSpPr>
        <p:spPr>
          <a:xfrm>
            <a:off x="667512" y="4013809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4_3_t"/>
          <p:cNvSpPr/>
          <p:nvPr/>
        </p:nvSpPr>
        <p:spPr>
          <a:xfrm>
            <a:off x="1216152" y="3995521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sees an awaiting-verification confirmation.</a:t>
            </a:r>
            <a:endParaRPr lang="en-US" sz="1800" dirty="0"/>
          </a:p>
        </p:txBody>
      </p:sp>
      <p:sp>
        <p:nvSpPr>
          <p:cNvPr id="19" name="p4_4_c"/>
          <p:cNvSpPr/>
          <p:nvPr/>
        </p:nvSpPr>
        <p:spPr>
          <a:xfrm>
            <a:off x="667512" y="4996993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4_4_t"/>
          <p:cNvSpPr/>
          <p:nvPr/>
        </p:nvSpPr>
        <p:spPr>
          <a:xfrm>
            <a:off x="1216152" y="4978705"/>
            <a:ext cx="2322576" cy="8734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dashboard displays a new pending account.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0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536192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536192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96935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16391" y="1536192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16391" y="1536192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42499" y="1924812"/>
            <a:ext cx="2127882" cy="4032504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8" name="Image 0" descr="C:/NogorShomadhan/User Manual/Phase 1/registration/04-registration-success-awaiting-admin-verificat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2791" y="1975104"/>
            <a:ext cx="2027298" cy="3931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9046456" y="1924812"/>
            <a:ext cx="2084238" cy="4032504"/>
          </a:xfrm>
          <a:prstGeom prst="roundRect">
            <a:avLst>
              <a:gd name="adj" fmla="val 351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1" descr="C:/NogorShomadhan/User Manual/Phase 1/admin verification/05-admin-dashboard-new-account-aler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748" y="1975104"/>
            <a:ext cx="1983654" cy="393192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5060394" y="2572756"/>
            <a:ext cx="158129" cy="106162"/>
          </a:xfrm>
          <a:prstGeom prst="roundRect">
            <a:avLst>
              <a:gd name="adj" fmla="val 4306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arrow4"/>
          <p:cNvSpPr/>
          <p:nvPr/>
        </p:nvSpPr>
        <p:spPr>
          <a:xfrm>
            <a:off x="7626096" y="3675888"/>
            <a:ext cx="642823" cy="530352"/>
          </a:xfrm>
          <a:prstGeom prst="rightArrow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arrow4t"/>
          <p:cNvSpPr/>
          <p:nvPr/>
        </p:nvSpPr>
        <p:spPr>
          <a:xfrm>
            <a:off x="7516368" y="3054096"/>
            <a:ext cx="862279" cy="51206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spc="6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OVER TO</a:t>
            </a:r>
            <a:endParaRPr lang="en-US" sz="1200" dirty="0"/>
          </a:p>
        </p:txBody>
      </p:sp>
      <p:sp>
        <p:nvSpPr>
          <p:cNvPr id="34" name="h4_3"/>
          <p:cNvSpPr/>
          <p:nvPr/>
        </p:nvSpPr>
        <p:spPr>
          <a:xfrm>
            <a:off x="5230687" y="1986900"/>
            <a:ext cx="1524528" cy="424647"/>
          </a:xfrm>
          <a:prstGeom prst="roundRect">
            <a:avLst>
              <a:gd name="adj" fmla="val 1292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4_3"/>
          <p:cNvSpPr/>
          <p:nvPr/>
        </p:nvSpPr>
        <p:spPr>
          <a:xfrm>
            <a:off x="4731549" y="200848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4_3_t"/>
          <p:cNvSpPr/>
          <p:nvPr/>
        </p:nvSpPr>
        <p:spPr>
          <a:xfrm>
            <a:off x="4731549" y="2008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h4_4"/>
          <p:cNvSpPr/>
          <p:nvPr/>
        </p:nvSpPr>
        <p:spPr>
          <a:xfrm>
            <a:off x="9168160" y="2218883"/>
            <a:ext cx="1836863" cy="562265"/>
          </a:xfrm>
          <a:prstGeom prst="roundRect">
            <a:avLst>
              <a:gd name="adj" fmla="val 975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4_4"/>
          <p:cNvSpPr/>
          <p:nvPr/>
        </p:nvSpPr>
        <p:spPr>
          <a:xfrm>
            <a:off x="8973378" y="2146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4_4_t"/>
          <p:cNvSpPr/>
          <p:nvPr/>
        </p:nvSpPr>
        <p:spPr>
          <a:xfrm>
            <a:off x="8973378" y="2146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Receives the Verification Request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931920" cy="463600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5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5_1_t"/>
          <p:cNvSpPr/>
          <p:nvPr/>
        </p:nvSpPr>
        <p:spPr>
          <a:xfrm>
            <a:off x="1234440" y="1783080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receives a new resident account notification.</a:t>
            </a:r>
            <a:endParaRPr lang="en-US" sz="1800" dirty="0"/>
          </a:p>
        </p:txBody>
      </p:sp>
      <p:sp>
        <p:nvSpPr>
          <p:cNvPr id="13" name="p5_2_c"/>
          <p:cNvSpPr/>
          <p:nvPr/>
        </p:nvSpPr>
        <p:spPr>
          <a:xfrm>
            <a:off x="685800" y="28864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5_2_t"/>
          <p:cNvSpPr/>
          <p:nvPr/>
        </p:nvSpPr>
        <p:spPr>
          <a:xfrm>
            <a:off x="1234440" y="286816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the notification opens Pending Accounts.</a:t>
            </a:r>
            <a:endParaRPr lang="en-US" sz="1800" dirty="0"/>
          </a:p>
        </p:txBody>
      </p:sp>
      <p:sp>
        <p:nvSpPr>
          <p:cNvPr id="15" name="p5_3_c"/>
          <p:cNvSpPr/>
          <p:nvPr/>
        </p:nvSpPr>
        <p:spPr>
          <a:xfrm>
            <a:off x="685800" y="39715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5_3_t"/>
          <p:cNvSpPr/>
          <p:nvPr/>
        </p:nvSpPr>
        <p:spPr>
          <a:xfrm>
            <a:off x="1234440" y="39532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resident appears in the verification queue.</a:t>
            </a:r>
            <a:endParaRPr lang="en-US" sz="1800" dirty="0"/>
          </a:p>
        </p:txBody>
      </p:sp>
      <p:sp>
        <p:nvSpPr>
          <p:cNvPr id="17" name="p5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5_4_t"/>
          <p:cNvSpPr/>
          <p:nvPr/>
        </p:nvSpPr>
        <p:spPr>
          <a:xfrm>
            <a:off x="1234440" y="5038344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can review, approve, or reject the request.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17564" y="1367028"/>
            <a:ext cx="2589438" cy="4690872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6-admin-notification-new-resident-accou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7856" y="1417320"/>
            <a:ext cx="2488854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747816" y="6117336"/>
            <a:ext cx="31289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 inbox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996890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7-admin-pending-account-verification-lis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182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727142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account verifications</a:t>
            </a:r>
            <a:endParaRPr lang="en-US" sz="1600" dirty="0"/>
          </a:p>
        </p:txBody>
      </p:sp>
      <p:sp>
        <p:nvSpPr>
          <p:cNvPr id="26" name="arrow5"/>
          <p:cNvSpPr/>
          <p:nvPr/>
        </p:nvSpPr>
        <p:spPr>
          <a:xfrm>
            <a:off x="7867606" y="3456432"/>
            <a:ext cx="86868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7" name="arrow5t"/>
          <p:cNvSpPr/>
          <p:nvPr/>
        </p:nvSpPr>
        <p:spPr>
          <a:xfrm>
            <a:off x="7684726" y="30723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9824206" y="4107229"/>
            <a:ext cx="405908" cy="128528"/>
          </a:xfrm>
          <a:prstGeom prst="roundRect">
            <a:avLst>
              <a:gd name="adj" fmla="val 35572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5_1"/>
          <p:cNvSpPr/>
          <p:nvPr/>
        </p:nvSpPr>
        <p:spPr>
          <a:xfrm>
            <a:off x="5157455" y="3280977"/>
            <a:ext cx="2309657" cy="550835"/>
          </a:xfrm>
          <a:prstGeom prst="roundRect">
            <a:avLst>
              <a:gd name="adj" fmla="val 996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5_1"/>
          <p:cNvSpPr/>
          <p:nvPr/>
        </p:nvSpPr>
        <p:spPr>
          <a:xfrm>
            <a:off x="4959642" y="3098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5_1_t"/>
          <p:cNvSpPr/>
          <p:nvPr/>
        </p:nvSpPr>
        <p:spPr>
          <a:xfrm>
            <a:off x="4959642" y="3098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5_3"/>
          <p:cNvSpPr/>
          <p:nvPr/>
        </p:nvSpPr>
        <p:spPr>
          <a:xfrm>
            <a:off x="9126044" y="3840992"/>
            <a:ext cx="2157109" cy="587557"/>
          </a:xfrm>
          <a:prstGeom prst="roundRect">
            <a:avLst>
              <a:gd name="adj" fmla="val 93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b5_3"/>
          <p:cNvSpPr/>
          <p:nvPr/>
        </p:nvSpPr>
        <p:spPr>
          <a:xfrm>
            <a:off x="8933887" y="366729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5_3_t"/>
          <p:cNvSpPr/>
          <p:nvPr/>
        </p:nvSpPr>
        <p:spPr>
          <a:xfrm>
            <a:off x="8933887" y="36672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h5_4"/>
          <p:cNvSpPr/>
          <p:nvPr/>
        </p:nvSpPr>
        <p:spPr>
          <a:xfrm>
            <a:off x="9139961" y="4456091"/>
            <a:ext cx="2133915" cy="229514"/>
          </a:xfrm>
          <a:prstGeom prst="roundRect">
            <a:avLst>
              <a:gd name="adj" fmla="val 2390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5_4"/>
          <p:cNvSpPr/>
          <p:nvPr/>
        </p:nvSpPr>
        <p:spPr>
          <a:xfrm>
            <a:off x="10024039" y="473223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5_4_t"/>
          <p:cNvSpPr/>
          <p:nvPr/>
        </p:nvSpPr>
        <p:spPr>
          <a:xfrm>
            <a:off x="10024039" y="473223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38" name="b5_2"/>
          <p:cNvSpPr/>
          <p:nvPr/>
        </p:nvSpPr>
        <p:spPr>
          <a:xfrm>
            <a:off x="8119066" y="2956072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5_2_t"/>
          <p:cNvSpPr/>
          <p:nvPr/>
        </p:nvSpPr>
        <p:spPr>
          <a:xfrm>
            <a:off x="8119066" y="2956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7">
            <a:hlinkClick r:id="rId3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4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5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2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3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4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5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6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7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8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9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Reviews and Approves the Account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343400" cy="4636008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6_1_c"/>
          <p:cNvSpPr/>
          <p:nvPr/>
        </p:nvSpPr>
        <p:spPr>
          <a:xfrm>
            <a:off x="704088" y="182880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6_1_t"/>
          <p:cNvSpPr/>
          <p:nvPr/>
        </p:nvSpPr>
        <p:spPr>
          <a:xfrm>
            <a:off x="1252728" y="1810512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resident’s submitted account information.</a:t>
            </a:r>
            <a:endParaRPr lang="en-US" sz="1800" dirty="0"/>
          </a:p>
        </p:txBody>
      </p:sp>
      <p:sp>
        <p:nvSpPr>
          <p:cNvPr id="13" name="p6_2_c"/>
          <p:cNvSpPr/>
          <p:nvPr/>
        </p:nvSpPr>
        <p:spPr>
          <a:xfrm>
            <a:off x="704088" y="283464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6_2_t"/>
          <p:cNvSpPr/>
          <p:nvPr/>
        </p:nvSpPr>
        <p:spPr>
          <a:xfrm>
            <a:off x="1252728" y="2816352"/>
            <a:ext cx="320954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the identity and address details are valid.</a:t>
            </a:r>
            <a:endParaRPr lang="en-US" sz="1800" dirty="0"/>
          </a:p>
        </p:txBody>
      </p:sp>
      <p:sp>
        <p:nvSpPr>
          <p:cNvPr id="15" name="p6_3_c"/>
          <p:cNvSpPr/>
          <p:nvPr/>
        </p:nvSpPr>
        <p:spPr>
          <a:xfrm>
            <a:off x="704088" y="412394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6_3_t"/>
          <p:cNvSpPr/>
          <p:nvPr/>
        </p:nvSpPr>
        <p:spPr>
          <a:xfrm>
            <a:off x="1252728" y="410565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Approve for a valid registration.</a:t>
            </a:r>
            <a:endParaRPr lang="en-US" sz="1800" dirty="0"/>
          </a:p>
        </p:txBody>
      </p:sp>
      <p:sp>
        <p:nvSpPr>
          <p:cNvPr id="17" name="p6_4_c"/>
          <p:cNvSpPr/>
          <p:nvPr/>
        </p:nvSpPr>
        <p:spPr>
          <a:xfrm>
            <a:off x="704088" y="512978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6_4_t"/>
          <p:cNvSpPr/>
          <p:nvPr/>
        </p:nvSpPr>
        <p:spPr>
          <a:xfrm>
            <a:off x="1252728" y="5111496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approval action.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" y="6144768"/>
            <a:ext cx="3941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details masked for this presentation.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734991" y="1367028"/>
            <a:ext cx="2434745" cy="4690872"/>
          </a:xfrm>
          <a:prstGeom prst="roundRect">
            <a:avLst>
              <a:gd name="adj" fmla="val 30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8-admin-review-resident-account-detail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283" y="1417320"/>
            <a:ext cx="2334161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65243" y="6117336"/>
            <a:ext cx="2974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account details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709232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9-admin-approve-account-confirma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524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439484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confirmation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47078" y="2867851"/>
            <a:ext cx="39680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47078" y="3170810"/>
            <a:ext cx="81695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82090" y="3492130"/>
            <a:ext cx="326783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990689" y="3795089"/>
            <a:ext cx="175062" cy="110167"/>
          </a:xfrm>
          <a:prstGeom prst="roundRect">
            <a:avLst>
              <a:gd name="adj" fmla="val 415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h6_1"/>
          <p:cNvSpPr/>
          <p:nvPr/>
        </p:nvSpPr>
        <p:spPr>
          <a:xfrm>
            <a:off x="5948674" y="2427183"/>
            <a:ext cx="1984037" cy="1156753"/>
          </a:xfrm>
          <a:prstGeom prst="roundRect">
            <a:avLst>
              <a:gd name="adj" fmla="val 474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1" name="b6_1"/>
          <p:cNvSpPr/>
          <p:nvPr/>
        </p:nvSpPr>
        <p:spPr>
          <a:xfrm>
            <a:off x="5730781" y="224430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2" name="b6_1_t"/>
          <p:cNvSpPr/>
          <p:nvPr/>
        </p:nvSpPr>
        <p:spPr>
          <a:xfrm>
            <a:off x="5730781" y="224430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3" name="h6_2"/>
          <p:cNvSpPr/>
          <p:nvPr/>
        </p:nvSpPr>
        <p:spPr>
          <a:xfrm>
            <a:off x="5948674" y="3611478"/>
            <a:ext cx="1984037" cy="973141"/>
          </a:xfrm>
          <a:prstGeom prst="roundRect">
            <a:avLst>
              <a:gd name="adj" fmla="val 56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6_2"/>
          <p:cNvSpPr/>
          <p:nvPr/>
        </p:nvSpPr>
        <p:spPr>
          <a:xfrm>
            <a:off x="5730781" y="342859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6_2_t"/>
          <p:cNvSpPr/>
          <p:nvPr/>
        </p:nvSpPr>
        <p:spPr>
          <a:xfrm>
            <a:off x="5730781" y="342859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6_3"/>
          <p:cNvSpPr/>
          <p:nvPr/>
        </p:nvSpPr>
        <p:spPr>
          <a:xfrm>
            <a:off x="10341404" y="4483632"/>
            <a:ext cx="579868" cy="183612"/>
          </a:xfrm>
          <a:prstGeom prst="roundRect">
            <a:avLst>
              <a:gd name="adj" fmla="val 29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7" name="b6_3"/>
          <p:cNvSpPr/>
          <p:nvPr/>
        </p:nvSpPr>
        <p:spPr>
          <a:xfrm>
            <a:off x="10432222" y="466797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8" name="b6_3_t"/>
          <p:cNvSpPr/>
          <p:nvPr/>
        </p:nvSpPr>
        <p:spPr>
          <a:xfrm>
            <a:off x="10432222" y="466797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9" name="h6_4"/>
          <p:cNvSpPr/>
          <p:nvPr/>
        </p:nvSpPr>
        <p:spPr>
          <a:xfrm>
            <a:off x="9942455" y="3932798"/>
            <a:ext cx="777023" cy="252466"/>
          </a:xfrm>
          <a:prstGeom prst="roundRect">
            <a:avLst>
              <a:gd name="adj" fmla="val 2173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0" name="b6_4"/>
          <p:cNvSpPr/>
          <p:nvPr/>
        </p:nvSpPr>
        <p:spPr>
          <a:xfrm>
            <a:off x="10606183" y="3873856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1" name="b6_4_t"/>
          <p:cNvSpPr/>
          <p:nvPr/>
        </p:nvSpPr>
        <p:spPr>
          <a:xfrm>
            <a:off x="10606183" y="3873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2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3" name="Text 39">
            <a:hlinkClick r:id="rId3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4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5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6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7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8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9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0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1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2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3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4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5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6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7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8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9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Verification Completed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4754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p7_1_c"/>
          <p:cNvSpPr/>
          <p:nvPr/>
        </p:nvSpPr>
        <p:spPr>
          <a:xfrm>
            <a:off x="685800" y="16642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7_1_t"/>
          <p:cNvSpPr/>
          <p:nvPr/>
        </p:nvSpPr>
        <p:spPr>
          <a:xfrm>
            <a:off x="1234440" y="164592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receives an SMS confirming account approval.</a:t>
            </a:r>
            <a:endParaRPr lang="en-US" sz="1800" dirty="0"/>
          </a:p>
        </p:txBody>
      </p:sp>
      <p:sp>
        <p:nvSpPr>
          <p:cNvPr id="15" name="p7_2_c"/>
          <p:cNvSpPr/>
          <p:nvPr/>
        </p:nvSpPr>
        <p:spPr>
          <a:xfrm>
            <a:off x="685800" y="241706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7_2_t"/>
          <p:cNvSpPr/>
          <p:nvPr/>
        </p:nvSpPr>
        <p:spPr>
          <a:xfrm>
            <a:off x="1234440" y="2398776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Registered Accounts to view all approved profiles.</a:t>
            </a:r>
            <a:endParaRPr lang="en-US" sz="1800" dirty="0"/>
          </a:p>
        </p:txBody>
      </p:sp>
      <p:sp>
        <p:nvSpPr>
          <p:cNvPr id="17" name="p7_3_c"/>
          <p:cNvSpPr/>
          <p:nvPr/>
        </p:nvSpPr>
        <p:spPr>
          <a:xfrm>
            <a:off x="685800" y="316992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7_3_t"/>
          <p:cNvSpPr/>
          <p:nvPr/>
        </p:nvSpPr>
        <p:spPr>
          <a:xfrm>
            <a:off x="1234440" y="3151632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appears in the Registered Accounts list.</a:t>
            </a:r>
            <a:endParaRPr lang="en-US" sz="1800" dirty="0"/>
          </a:p>
        </p:txBody>
      </p:sp>
      <p:sp>
        <p:nvSpPr>
          <p:cNvPr id="19" name="p7_4_c"/>
          <p:cNvSpPr/>
          <p:nvPr/>
        </p:nvSpPr>
        <p:spPr>
          <a:xfrm>
            <a:off x="685800" y="392277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7_4_t"/>
          <p:cNvSpPr/>
          <p:nvPr/>
        </p:nvSpPr>
        <p:spPr>
          <a:xfrm>
            <a:off x="1234440" y="3904488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status changes to Verified.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" y="4727448"/>
            <a:ext cx="4754880" cy="1216152"/>
          </a:xfrm>
          <a:prstGeom prst="roundRect">
            <a:avLst>
              <a:gd name="adj" fmla="val 902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" y="4782312"/>
            <a:ext cx="4315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TO THE RESIDENT</a:t>
            </a:r>
            <a:endParaRPr lang="en-US" sz="1200" dirty="0"/>
          </a:p>
        </p:txBody>
      </p:sp>
      <p:sp>
        <p:nvSpPr>
          <p:cNvPr id="23" name="s7_sms_f"/>
          <p:cNvSpPr/>
          <p:nvPr/>
        </p:nvSpPr>
        <p:spPr>
          <a:xfrm>
            <a:off x="1120140" y="4965192"/>
            <a:ext cx="3337560" cy="1004888"/>
          </a:xfrm>
          <a:prstGeom prst="roundRect">
            <a:avLst>
              <a:gd name="adj" fmla="val 637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pic>
        <p:nvPicPr>
          <p:cNvPr id="24" name="s7_sms" descr="C:/NogorShomadhan/User Manual/Phase 1/admin verification/10-resident-account-approved-sm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5010912"/>
            <a:ext cx="3246120" cy="91344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486400" y="1417320"/>
            <a:ext cx="6293815" cy="4526280"/>
          </a:xfrm>
          <a:prstGeom prst="roundRect">
            <a:avLst>
              <a:gd name="adj" fmla="val 2424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661402" y="1517904"/>
            <a:ext cx="25222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9079798" y="1517904"/>
            <a:ext cx="2525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accounts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885430" y="1906524"/>
            <a:ext cx="2074229" cy="4014216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9" name="Image 1" descr="C:/NogorShomadhan/User Manual/Phase 1/admin registration accounts view/11-admin-dashboard-showing-registeredaccounts-option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722" y="1956816"/>
            <a:ext cx="1973645" cy="391363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9303826" y="1906524"/>
            <a:ext cx="2077360" cy="4014216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1" name="Image 2" descr="C:/NogorShomadhan/User Manual/Phase 1/admin registration accounts view/12-admin-registered-account-verified-list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118" y="1956816"/>
            <a:ext cx="1976776" cy="3913632"/>
          </a:xfrm>
          <a:prstGeom prst="rect">
            <a:avLst/>
          </a:prstGeom>
        </p:spPr>
      </p:pic>
      <p:sp>
        <p:nvSpPr>
          <p:cNvPr id="32" name="arrow7"/>
          <p:cNvSpPr/>
          <p:nvPr/>
        </p:nvSpPr>
        <p:spPr>
          <a:xfrm>
            <a:off x="8220262" y="3657600"/>
            <a:ext cx="82296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660518" y="4737452"/>
            <a:ext cx="711639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660518" y="5034888"/>
            <a:ext cx="256981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5" name="h7_2"/>
          <p:cNvSpPr/>
          <p:nvPr/>
        </p:nvSpPr>
        <p:spPr>
          <a:xfrm>
            <a:off x="6006773" y="4864645"/>
            <a:ext cx="1831542" cy="461809"/>
          </a:xfrm>
          <a:prstGeom prst="roundRect">
            <a:avLst>
              <a:gd name="adj" fmla="val 11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7_2"/>
          <p:cNvSpPr/>
          <p:nvPr/>
        </p:nvSpPr>
        <p:spPr>
          <a:xfrm>
            <a:off x="5812051" y="468176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7_2_t"/>
          <p:cNvSpPr/>
          <p:nvPr/>
        </p:nvSpPr>
        <p:spPr>
          <a:xfrm>
            <a:off x="5812051" y="468176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h7_3"/>
          <p:cNvSpPr/>
          <p:nvPr/>
        </p:nvSpPr>
        <p:spPr>
          <a:xfrm>
            <a:off x="9425282" y="4140623"/>
            <a:ext cx="1834448" cy="1260190"/>
          </a:xfrm>
          <a:prstGeom prst="roundRect">
            <a:avLst>
              <a:gd name="adj" fmla="val 435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9" name="b7_3"/>
          <p:cNvSpPr/>
          <p:nvPr/>
        </p:nvSpPr>
        <p:spPr>
          <a:xfrm>
            <a:off x="9230541" y="395774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0" name="b7_3_t"/>
          <p:cNvSpPr/>
          <p:nvPr/>
        </p:nvSpPr>
        <p:spPr>
          <a:xfrm>
            <a:off x="9230541" y="395774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h7_4"/>
          <p:cNvSpPr/>
          <p:nvPr/>
        </p:nvSpPr>
        <p:spPr>
          <a:xfrm>
            <a:off x="10840653" y="4234550"/>
            <a:ext cx="365703" cy="117409"/>
          </a:xfrm>
          <a:prstGeom prst="roundRect">
            <a:avLst>
              <a:gd name="adj" fmla="val 4672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2" name="b7_4"/>
          <p:cNvSpPr/>
          <p:nvPr/>
        </p:nvSpPr>
        <p:spPr>
          <a:xfrm>
            <a:off x="10466026" y="403601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3" name="b7_4_t"/>
          <p:cNvSpPr/>
          <p:nvPr/>
        </p:nvSpPr>
        <p:spPr>
          <a:xfrm>
            <a:off x="10466026" y="403601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4" name="b7_1"/>
          <p:cNvSpPr/>
          <p:nvPr/>
        </p:nvSpPr>
        <p:spPr>
          <a:xfrm>
            <a:off x="804443" y="528475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5" name="b7_1_t"/>
          <p:cNvSpPr/>
          <p:nvPr/>
        </p:nvSpPr>
        <p:spPr>
          <a:xfrm>
            <a:off x="804443" y="52847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out7_bg"/>
          <p:cNvSpPr/>
          <p:nvPr/>
        </p:nvSpPr>
        <p:spPr>
          <a:xfrm>
            <a:off x="411480" y="6035040"/>
            <a:ext cx="11368735" cy="457200"/>
          </a:xfrm>
          <a:prstGeom prst="roundRect">
            <a:avLst>
              <a:gd name="adj" fmla="val 20000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7" name="out7_tx"/>
          <p:cNvSpPr/>
          <p:nvPr/>
        </p:nvSpPr>
        <p:spPr>
          <a:xfrm>
            <a:off x="411480" y="6035040"/>
            <a:ext cx="113687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can now sign in and begin reporting community problems.</a:t>
            </a:r>
            <a:endParaRPr lang="en-US" sz="1850" dirty="0"/>
          </a:p>
        </p:txBody>
      </p:sp>
      <p:sp>
        <p:nvSpPr>
          <p:cNvPr id="48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9" name="Text 44">
            <a:hlinkClick r:id="rId4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5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6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7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8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9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0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1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2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3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14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>
            <a:hlinkClick r:id="rId15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6">
            <a:hlinkClick r:id="rId16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7">
            <a:hlinkClick r:id="rId17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8">
            <a:hlinkClick r:id="rId18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59">
            <a:hlinkClick r:id="rId19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0">
            <a:hlinkClick r:id="rId20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1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Complaint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opens the complaint form and provides clear information about the community issue and its location.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474720" cy="4151376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8_1_c"/>
          <p:cNvSpPr/>
          <p:nvPr/>
        </p:nvSpPr>
        <p:spPr>
          <a:xfrm>
            <a:off x="667512" y="250545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8_1_t"/>
          <p:cNvSpPr/>
          <p:nvPr/>
        </p:nvSpPr>
        <p:spPr>
          <a:xfrm>
            <a:off x="1216152" y="2487168"/>
            <a:ext cx="241401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Complaints from the Resident Dashboard.</a:t>
            </a:r>
            <a:endParaRPr lang="en-US" sz="1800" dirty="0"/>
          </a:p>
        </p:txBody>
      </p:sp>
      <p:sp>
        <p:nvSpPr>
          <p:cNvPr id="16" name="p8_2_c"/>
          <p:cNvSpPr/>
          <p:nvPr/>
        </p:nvSpPr>
        <p:spPr>
          <a:xfrm>
            <a:off x="667512" y="35890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8_2_t"/>
          <p:cNvSpPr/>
          <p:nvPr/>
        </p:nvSpPr>
        <p:spPr>
          <a:xfrm>
            <a:off x="1216152" y="3570732"/>
            <a:ext cx="24140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New Complaint tab.</a:t>
            </a:r>
            <a:endParaRPr lang="en-US" sz="1800" dirty="0"/>
          </a:p>
        </p:txBody>
      </p:sp>
      <p:sp>
        <p:nvSpPr>
          <p:cNvPr id="18" name="p8_3_c"/>
          <p:cNvSpPr/>
          <p:nvPr/>
        </p:nvSpPr>
        <p:spPr>
          <a:xfrm>
            <a:off x="667512" y="438912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8_3_t"/>
          <p:cNvSpPr/>
          <p:nvPr/>
        </p:nvSpPr>
        <p:spPr>
          <a:xfrm>
            <a:off x="1216152" y="4370832"/>
            <a:ext cx="2414016" cy="1755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complaint title, description, incident address, nearby landmark, and additional location details.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480768" y="2125980"/>
            <a:ext cx="2228164" cy="4251960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3-resident-dashboard selecting-complain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1060" y="2176272"/>
            <a:ext cx="2127580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882669" y="2125980"/>
            <a:ext cx="2218616" cy="4251960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resident submits complaint/14-resident-opens-submit-compl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61" y="2176272"/>
            <a:ext cx="2118032" cy="4151376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275021" y="2125980"/>
            <a:ext cx="2221522" cy="4251960"/>
          </a:xfrm>
          <a:prstGeom prst="roundRect">
            <a:avLst>
              <a:gd name="adj" fmla="val 32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2" descr="C:/NogorShomadhan/User Manual/Phase 2/resident submits complaint/15-add-title-description-addre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313" y="2176272"/>
            <a:ext cx="2120938" cy="415137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686073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078425" y="4078224"/>
            <a:ext cx="219456" cy="347472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8" name="h8_1"/>
          <p:cNvSpPr/>
          <p:nvPr/>
        </p:nvSpPr>
        <p:spPr>
          <a:xfrm>
            <a:off x="5158697" y="6095171"/>
            <a:ext cx="372327" cy="190963"/>
          </a:xfrm>
          <a:prstGeom prst="roundRect">
            <a:avLst>
              <a:gd name="adj" fmla="val 2873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9" name="b8_1"/>
          <p:cNvSpPr/>
          <p:nvPr/>
        </p:nvSpPr>
        <p:spPr>
          <a:xfrm>
            <a:off x="5163044" y="5721328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0" name="b8_1_t"/>
          <p:cNvSpPr/>
          <p:nvPr/>
        </p:nvSpPr>
        <p:spPr>
          <a:xfrm>
            <a:off x="5163044" y="5721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1" name="h8_2"/>
          <p:cNvSpPr/>
          <p:nvPr/>
        </p:nvSpPr>
        <p:spPr>
          <a:xfrm>
            <a:off x="7021918" y="2641226"/>
            <a:ext cx="677770" cy="224174"/>
          </a:xfrm>
          <a:prstGeom prst="roundRect">
            <a:avLst>
              <a:gd name="adj" fmla="val 2447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8_2"/>
          <p:cNvSpPr/>
          <p:nvPr/>
        </p:nvSpPr>
        <p:spPr>
          <a:xfrm>
            <a:off x="6881399" y="289008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8_2_t"/>
          <p:cNvSpPr/>
          <p:nvPr/>
        </p:nvSpPr>
        <p:spPr>
          <a:xfrm>
            <a:off x="6881399" y="289008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8_3a"/>
          <p:cNvSpPr/>
          <p:nvPr/>
        </p:nvSpPr>
        <p:spPr>
          <a:xfrm>
            <a:off x="9431360" y="3155997"/>
            <a:ext cx="1908844" cy="896697"/>
          </a:xfrm>
          <a:prstGeom prst="roundRect">
            <a:avLst>
              <a:gd name="adj" fmla="val 6118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h8_3b"/>
          <p:cNvSpPr/>
          <p:nvPr/>
        </p:nvSpPr>
        <p:spPr>
          <a:xfrm>
            <a:off x="9431360" y="4119116"/>
            <a:ext cx="1908844" cy="1619037"/>
          </a:xfrm>
          <a:prstGeom prst="roundRect">
            <a:avLst>
              <a:gd name="adj" fmla="val 3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6" name="b8_3"/>
          <p:cNvSpPr/>
          <p:nvPr/>
        </p:nvSpPr>
        <p:spPr>
          <a:xfrm>
            <a:off x="9248480" y="393623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8_3_t"/>
          <p:cNvSpPr/>
          <p:nvPr/>
        </p:nvSpPr>
        <p:spPr>
          <a:xfrm>
            <a:off x="9248480" y="39362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Evidence and Review the Category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evidence is optional. The system suggests a category from the complaint information, but the resident can change it before submission.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3931920" cy="4151376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9_1_c"/>
          <p:cNvSpPr/>
          <p:nvPr/>
        </p:nvSpPr>
        <p:spPr>
          <a:xfrm>
            <a:off x="685800" y="252374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9_1_t"/>
          <p:cNvSpPr/>
          <p:nvPr/>
        </p:nvSpPr>
        <p:spPr>
          <a:xfrm>
            <a:off x="1234440" y="2505456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attach photo evidence using the camera or gallery.</a:t>
            </a:r>
            <a:endParaRPr lang="en-US" sz="1800" dirty="0"/>
          </a:p>
        </p:txBody>
      </p:sp>
      <p:sp>
        <p:nvSpPr>
          <p:cNvPr id="16" name="p9_2_c"/>
          <p:cNvSpPr/>
          <p:nvPr/>
        </p:nvSpPr>
        <p:spPr>
          <a:xfrm>
            <a:off x="685800" y="373989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9_2_t"/>
          <p:cNvSpPr/>
          <p:nvPr/>
        </p:nvSpPr>
        <p:spPr>
          <a:xfrm>
            <a:off x="1234440" y="372160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category automatically suggested by the AI.</a:t>
            </a:r>
            <a:endParaRPr lang="en-US" sz="1800" dirty="0"/>
          </a:p>
        </p:txBody>
      </p:sp>
      <p:sp>
        <p:nvSpPr>
          <p:cNvPr id="18" name="p9_3_c"/>
          <p:cNvSpPr/>
          <p:nvPr/>
        </p:nvSpPr>
        <p:spPr>
          <a:xfrm>
            <a:off x="685800" y="495604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9_3_t"/>
          <p:cNvSpPr/>
          <p:nvPr/>
        </p:nvSpPr>
        <p:spPr>
          <a:xfrm>
            <a:off x="1234440" y="493776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necessary, open the category menu and select a more appropriate category manually.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47935" y="2125980"/>
            <a:ext cx="2185820" cy="4251960"/>
          </a:xfrm>
          <a:prstGeom prst="roundRect">
            <a:avLst>
              <a:gd name="adj" fmla="val 3347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2/resident submits complaint/16-add-photo-evidence-if-des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8227" y="2176272"/>
            <a:ext cx="2085236" cy="4151376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877923" y="2125980"/>
            <a:ext cx="2208653" cy="4251960"/>
          </a:xfrm>
          <a:prstGeom prst="roundRect">
            <a:avLst>
              <a:gd name="adj" fmla="val 3312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1" descr="C:/NogorShomadhan/User Manual/Phase 2/categorization/19-choose-from-category o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8215" y="2176272"/>
            <a:ext cx="2108069" cy="4151376"/>
          </a:xfrm>
          <a:prstGeom prst="rect">
            <a:avLst/>
          </a:prstGeom>
        </p:spPr>
      </p:pic>
      <p:sp>
        <p:nvSpPr>
          <p:cNvPr id="24" name="arrow9"/>
          <p:cNvSpPr/>
          <p:nvPr/>
        </p:nvSpPr>
        <p:spPr>
          <a:xfrm>
            <a:off x="7794359" y="3995928"/>
            <a:ext cx="822960" cy="512064"/>
          </a:xfrm>
          <a:prstGeom prst="rightArrow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5" name="arrow9t"/>
          <p:cNvSpPr/>
          <p:nvPr/>
        </p:nvSpPr>
        <p:spPr>
          <a:xfrm>
            <a:off x="7611479" y="35935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6" name="h9_1a"/>
          <p:cNvSpPr/>
          <p:nvPr/>
        </p:nvSpPr>
        <p:spPr>
          <a:xfrm>
            <a:off x="5585898" y="3629254"/>
            <a:ext cx="1709894" cy="855183"/>
          </a:xfrm>
          <a:prstGeom prst="roundRect">
            <a:avLst>
              <a:gd name="adj" fmla="val 6415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h9_1b"/>
          <p:cNvSpPr/>
          <p:nvPr/>
        </p:nvSpPr>
        <p:spPr>
          <a:xfrm>
            <a:off x="5577557" y="4501043"/>
            <a:ext cx="471263" cy="489862"/>
          </a:xfrm>
          <a:prstGeom prst="roundRect">
            <a:avLst>
              <a:gd name="adj" fmla="val 1164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8" name="b9_1"/>
          <p:cNvSpPr/>
          <p:nvPr/>
        </p:nvSpPr>
        <p:spPr>
          <a:xfrm>
            <a:off x="5267478" y="344637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9" name="b9_1_t"/>
          <p:cNvSpPr/>
          <p:nvPr/>
        </p:nvSpPr>
        <p:spPr>
          <a:xfrm>
            <a:off x="5267478" y="34463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0" name="h9_2a"/>
          <p:cNvSpPr/>
          <p:nvPr/>
        </p:nvSpPr>
        <p:spPr>
          <a:xfrm>
            <a:off x="5585898" y="5347923"/>
            <a:ext cx="1709894" cy="315505"/>
          </a:xfrm>
          <a:prstGeom prst="roundRect">
            <a:avLst>
              <a:gd name="adj" fmla="val 1738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1" name="h9_2b"/>
          <p:cNvSpPr/>
          <p:nvPr/>
        </p:nvSpPr>
        <p:spPr>
          <a:xfrm>
            <a:off x="5573387" y="5646822"/>
            <a:ext cx="1634825" cy="157752"/>
          </a:xfrm>
          <a:prstGeom prst="roundRect">
            <a:avLst>
              <a:gd name="adj" fmla="val 34779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b9_2"/>
          <p:cNvSpPr/>
          <p:nvPr/>
        </p:nvSpPr>
        <p:spPr>
          <a:xfrm>
            <a:off x="5267478" y="531449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b9_2_t"/>
          <p:cNvSpPr/>
          <p:nvPr/>
        </p:nvSpPr>
        <p:spPr>
          <a:xfrm>
            <a:off x="5267478" y="53144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4" name="h9_3"/>
          <p:cNvSpPr/>
          <p:nvPr/>
        </p:nvSpPr>
        <p:spPr>
          <a:xfrm>
            <a:off x="9160103" y="2857098"/>
            <a:ext cx="1644294" cy="273991"/>
          </a:xfrm>
          <a:prstGeom prst="roundRect">
            <a:avLst>
              <a:gd name="adj" fmla="val 20024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5" name="b9_3"/>
          <p:cNvSpPr/>
          <p:nvPr/>
        </p:nvSpPr>
        <p:spPr>
          <a:xfrm>
            <a:off x="8888684" y="2811213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6" name="b9_3_t"/>
          <p:cNvSpPr/>
          <p:nvPr/>
        </p:nvSpPr>
        <p:spPr>
          <a:xfrm>
            <a:off x="8888684" y="281121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8" name="Text 34">
            <a:hlinkClick r:id="rId3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5">
            <a:hlinkClick r:id="rId4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6">
            <a:hlinkClick r:id="rId5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7">
            <a:hlinkClick r:id="rId6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7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8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9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10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11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12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3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4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15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16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17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18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19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RESIDENT SUBMITS A COMPLAINT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Complaint Submission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89888"/>
            <a:ext cx="1136873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" y="1389888"/>
            <a:ext cx="82296" cy="6949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138988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is submitted successfully and placed in the review queue. Administrative processing continues in Phase 3.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11480" y="2176272"/>
            <a:ext cx="4480560" cy="358444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p10_1_c"/>
          <p:cNvSpPr/>
          <p:nvPr/>
        </p:nvSpPr>
        <p:spPr>
          <a:xfrm>
            <a:off x="685800" y="2468880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p10_1_t"/>
          <p:cNvSpPr/>
          <p:nvPr/>
        </p:nvSpPr>
        <p:spPr>
          <a:xfrm>
            <a:off x="1234440" y="24505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Submit Complaint.</a:t>
            </a:r>
            <a:endParaRPr lang="en-US" sz="1800" dirty="0"/>
          </a:p>
        </p:txBody>
      </p:sp>
      <p:sp>
        <p:nvSpPr>
          <p:cNvPr id="16" name="p10_2_c"/>
          <p:cNvSpPr/>
          <p:nvPr/>
        </p:nvSpPr>
        <p:spPr>
          <a:xfrm>
            <a:off x="685800" y="295808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p10_2_t"/>
          <p:cNvSpPr/>
          <p:nvPr/>
        </p:nvSpPr>
        <p:spPr>
          <a:xfrm>
            <a:off x="1234440" y="2939796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confirmation prompt and select Yes.</a:t>
            </a:r>
            <a:endParaRPr lang="en-US" sz="1800" dirty="0"/>
          </a:p>
        </p:txBody>
      </p:sp>
      <p:sp>
        <p:nvSpPr>
          <p:cNvPr id="18" name="p10_3_c"/>
          <p:cNvSpPr/>
          <p:nvPr/>
        </p:nvSpPr>
        <p:spPr>
          <a:xfrm>
            <a:off x="685800" y="37216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p10_3_t"/>
          <p:cNvSpPr/>
          <p:nvPr/>
        </p:nvSpPr>
        <p:spPr>
          <a:xfrm>
            <a:off x="1234440" y="3703320"/>
            <a:ext cx="338328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 message confirms the complaint was logged and queued for review.</a:t>
            </a:r>
            <a:endParaRPr lang="en-US" sz="1800" dirty="0"/>
          </a:p>
        </p:txBody>
      </p:sp>
      <p:sp>
        <p:nvSpPr>
          <p:cNvPr id="20" name="note10_bg"/>
          <p:cNvSpPr/>
          <p:nvPr/>
        </p:nvSpPr>
        <p:spPr>
          <a:xfrm>
            <a:off x="667512" y="4700016"/>
            <a:ext cx="3968496" cy="987552"/>
          </a:xfrm>
          <a:prstGeom prst="roundRect">
            <a:avLst>
              <a:gd name="adj" fmla="val 7407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21" name="note10_tx"/>
          <p:cNvSpPr/>
          <p:nvPr/>
        </p:nvSpPr>
        <p:spPr>
          <a:xfrm>
            <a:off x="813816" y="4700016"/>
            <a:ext cx="367588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
</a:t>
            </a:r>
            <a:pPr indent="0" marL="0">
              <a:buNone/>
            </a:pPr>
            <a:r>
              <a:rPr lang="en-US" sz="16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form behind the message is the reset form, ready for the next complaint.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56599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0" descr="C:/NogorShomadhan/User Manual/Phase 2/final submit/20-confirm-sub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891" y="2176272"/>
            <a:ext cx="1828068" cy="358444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8816188" y="2125980"/>
            <a:ext cx="1928652" cy="3685032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5" name="Image 1" descr="C:/NogorShomadhan/User Manual/Phase 2/final submit/21-queue-for-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480" y="2176272"/>
            <a:ext cx="1828068" cy="3584448"/>
          </a:xfrm>
          <a:prstGeom prst="rect">
            <a:avLst/>
          </a:prstGeom>
        </p:spPr>
      </p:pic>
      <p:sp>
        <p:nvSpPr>
          <p:cNvPr id="26" name="h10_1"/>
          <p:cNvSpPr/>
          <p:nvPr/>
        </p:nvSpPr>
        <p:spPr>
          <a:xfrm>
            <a:off x="6390982" y="4721230"/>
            <a:ext cx="1656230" cy="279587"/>
          </a:xfrm>
          <a:prstGeom prst="roundRect">
            <a:avLst>
              <a:gd name="adj" fmla="val 19623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27" name="b10_1"/>
          <p:cNvSpPr/>
          <p:nvPr/>
        </p:nvSpPr>
        <p:spPr>
          <a:xfrm>
            <a:off x="6178853" y="4678144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8" name="b10_1_t"/>
          <p:cNvSpPr/>
          <p:nvPr/>
        </p:nvSpPr>
        <p:spPr>
          <a:xfrm>
            <a:off x="6178853" y="46781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9" name="h10_2"/>
          <p:cNvSpPr/>
          <p:nvPr/>
        </p:nvSpPr>
        <p:spPr>
          <a:xfrm>
            <a:off x="7239206" y="4190732"/>
            <a:ext cx="676385" cy="236574"/>
          </a:xfrm>
          <a:prstGeom prst="roundRect">
            <a:avLst>
              <a:gd name="adj" fmla="val 2319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0" name="b10_2"/>
          <p:cNvSpPr/>
          <p:nvPr/>
        </p:nvSpPr>
        <p:spPr>
          <a:xfrm>
            <a:off x="7403659" y="4344790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0_2_t"/>
          <p:cNvSpPr/>
          <p:nvPr/>
        </p:nvSpPr>
        <p:spPr>
          <a:xfrm>
            <a:off x="7403659" y="434479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2" name="h10_3"/>
          <p:cNvSpPr/>
          <p:nvPr/>
        </p:nvSpPr>
        <p:spPr>
          <a:xfrm>
            <a:off x="9109613" y="3022202"/>
            <a:ext cx="1502672" cy="480316"/>
          </a:xfrm>
          <a:prstGeom prst="roundRect">
            <a:avLst>
              <a:gd name="adj" fmla="val 11422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3" name="b10_3"/>
          <p:cNvSpPr/>
          <p:nvPr/>
        </p:nvSpPr>
        <p:spPr>
          <a:xfrm>
            <a:off x="8873719" y="2839322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4" name="b10_3_t"/>
          <p:cNvSpPr/>
          <p:nvPr/>
        </p:nvSpPr>
        <p:spPr>
          <a:xfrm>
            <a:off x="8873719" y="283932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flow10_bg"/>
          <p:cNvSpPr/>
          <p:nvPr/>
        </p:nvSpPr>
        <p:spPr>
          <a:xfrm>
            <a:off x="411480" y="5870448"/>
            <a:ext cx="11368735" cy="566928"/>
          </a:xfrm>
          <a:prstGeom prst="roundRect">
            <a:avLst>
              <a:gd name="adj" fmla="val 16129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</p:spPr>
      </p:sp>
      <p:sp>
        <p:nvSpPr>
          <p:cNvPr id="36" name="flow10_p0"/>
          <p:cNvSpPr/>
          <p:nvPr/>
        </p:nvSpPr>
        <p:spPr>
          <a:xfrm>
            <a:off x="547268" y="5961888"/>
            <a:ext cx="1978762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7" name="flow10_p0_t"/>
          <p:cNvSpPr/>
          <p:nvPr/>
        </p:nvSpPr>
        <p:spPr>
          <a:xfrm>
            <a:off x="547268" y="5961888"/>
            <a:ext cx="19787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Details</a:t>
            </a:r>
            <a:endParaRPr lang="en-US" sz="1600" dirty="0"/>
          </a:p>
        </p:txBody>
      </p:sp>
      <p:sp>
        <p:nvSpPr>
          <p:cNvPr id="38" name="flow10_c0"/>
          <p:cNvSpPr/>
          <p:nvPr/>
        </p:nvSpPr>
        <p:spPr>
          <a:xfrm>
            <a:off x="2626614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39" name="flow10_p1"/>
          <p:cNvSpPr/>
          <p:nvPr/>
        </p:nvSpPr>
        <p:spPr>
          <a:xfrm>
            <a:off x="3001518" y="5961888"/>
            <a:ext cx="2915107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0" name="flow10_p1_t"/>
          <p:cNvSpPr/>
          <p:nvPr/>
        </p:nvSpPr>
        <p:spPr>
          <a:xfrm>
            <a:off x="3001518" y="5961888"/>
            <a:ext cx="2915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Optional Evidence</a:t>
            </a:r>
            <a:endParaRPr lang="en-US" sz="1600" dirty="0"/>
          </a:p>
        </p:txBody>
      </p:sp>
      <p:sp>
        <p:nvSpPr>
          <p:cNvPr id="41" name="flow10_c1"/>
          <p:cNvSpPr/>
          <p:nvPr/>
        </p:nvSpPr>
        <p:spPr>
          <a:xfrm>
            <a:off x="6017209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2" name="flow10_p2"/>
          <p:cNvSpPr/>
          <p:nvPr/>
        </p:nvSpPr>
        <p:spPr>
          <a:xfrm>
            <a:off x="6392113" y="5961888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3" name="flow10_p2_t"/>
          <p:cNvSpPr/>
          <p:nvPr/>
        </p:nvSpPr>
        <p:spPr>
          <a:xfrm>
            <a:off x="6392113" y="596188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Category</a:t>
            </a:r>
            <a:endParaRPr lang="en-US" sz="1600" dirty="0"/>
          </a:p>
        </p:txBody>
      </p:sp>
      <p:sp>
        <p:nvSpPr>
          <p:cNvPr id="44" name="flow10_c2"/>
          <p:cNvSpPr/>
          <p:nvPr/>
        </p:nvSpPr>
        <p:spPr>
          <a:xfrm>
            <a:off x="8705545" y="6044184"/>
            <a:ext cx="274320" cy="219456"/>
          </a:xfrm>
          <a:prstGeom prst="chevron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5" name="flow10_p3"/>
          <p:cNvSpPr/>
          <p:nvPr/>
        </p:nvSpPr>
        <p:spPr>
          <a:xfrm>
            <a:off x="9080449" y="5961888"/>
            <a:ext cx="2563978" cy="384048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6" name="flow10_p3_t"/>
          <p:cNvSpPr/>
          <p:nvPr/>
        </p:nvSpPr>
        <p:spPr>
          <a:xfrm>
            <a:off x="9080449" y="5961888"/>
            <a:ext cx="25639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Submission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8" name="Text 44">
            <a:hlinkClick r:id="rId3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4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>
            <a:hlinkClick r:id="rId5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6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7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8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9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10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11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2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3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4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15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16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17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18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19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Opens the Review Queue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474720" cy="491032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1_1_c"/>
          <p:cNvSpPr/>
          <p:nvPr/>
        </p:nvSpPr>
        <p:spPr>
          <a:xfrm>
            <a:off x="667512" y="174650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11_1_t"/>
          <p:cNvSpPr/>
          <p:nvPr/>
        </p:nvSpPr>
        <p:spPr>
          <a:xfrm>
            <a:off x="1216152" y="1728216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opens Review Complaints from Administrative Actions.</a:t>
            </a:r>
            <a:endParaRPr lang="en-US" sz="1800" dirty="0"/>
          </a:p>
        </p:txBody>
      </p:sp>
      <p:sp>
        <p:nvSpPr>
          <p:cNvPr id="13" name="p11_2_c"/>
          <p:cNvSpPr/>
          <p:nvPr/>
        </p:nvSpPr>
        <p:spPr>
          <a:xfrm>
            <a:off x="667512" y="33055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11_2_t"/>
          <p:cNvSpPr/>
          <p:nvPr/>
        </p:nvSpPr>
        <p:spPr>
          <a:xfrm>
            <a:off x="1216152" y="3287268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complaints and possible duplicates are listed.</a:t>
            </a:r>
            <a:endParaRPr lang="en-US" sz="1800" dirty="0"/>
          </a:p>
        </p:txBody>
      </p:sp>
      <p:sp>
        <p:nvSpPr>
          <p:cNvPr id="15" name="p11_3_c"/>
          <p:cNvSpPr/>
          <p:nvPr/>
        </p:nvSpPr>
        <p:spPr>
          <a:xfrm>
            <a:off x="667512" y="486460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11_3_t"/>
          <p:cNvSpPr/>
          <p:nvPr/>
        </p:nvSpPr>
        <p:spPr>
          <a:xfrm>
            <a:off x="1216152" y="4846320"/>
            <a:ext cx="24140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appears with an Unverified status.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181524" y="1367028"/>
            <a:ext cx="2392240" cy="4626864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/NogorShomadhan/User Manual/Phase 3/review complaint/IMG_444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1816" y="1417320"/>
            <a:ext cx="2291656" cy="45262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911776" y="6053328"/>
            <a:ext cx="2931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47499" y="1367028"/>
            <a:ext cx="2468281" cy="4626864"/>
          </a:xfrm>
          <a:prstGeom prst="roundRect">
            <a:avLst>
              <a:gd name="adj" fmla="val 2964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1" descr="C:/NogorShomadhan/User Manual/Phase 3/review complaint/IMG_4441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791" y="1417320"/>
            <a:ext cx="2367697" cy="45262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477751" y="6053328"/>
            <a:ext cx="300777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notifications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9389516" y="1367028"/>
            <a:ext cx="2406271" cy="4626864"/>
          </a:xfrm>
          <a:prstGeom prst="roundRect">
            <a:avLst>
              <a:gd name="adj" fmla="val 304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4" name="Image 2" descr="C:/NogorShomadhan/User Manual/Phase 3/review complaint/22-complaint-in-admin-re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808" y="1417320"/>
            <a:ext cx="2305687" cy="45262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9768" y="6053328"/>
            <a:ext cx="29457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6550903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192920" y="3506724"/>
            <a:ext cx="219456" cy="347472"/>
          </a:xfrm>
          <a:prstGeom prst="chevron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8" name="h11_1a"/>
          <p:cNvSpPr/>
          <p:nvPr/>
        </p:nvSpPr>
        <p:spPr>
          <a:xfrm>
            <a:off x="4314315" y="3336463"/>
            <a:ext cx="2126656" cy="488838"/>
          </a:xfrm>
          <a:prstGeom prst="roundRect">
            <a:avLst>
              <a:gd name="adj" fmla="val 1122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9" name="h11_1b"/>
          <p:cNvSpPr/>
          <p:nvPr/>
        </p:nvSpPr>
        <p:spPr>
          <a:xfrm>
            <a:off x="6042224" y="1462583"/>
            <a:ext cx="192499" cy="171999"/>
          </a:xfrm>
          <a:prstGeom prst="roundRect">
            <a:avLst>
              <a:gd name="adj" fmla="val 3189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1_1"/>
          <p:cNvSpPr/>
          <p:nvPr/>
        </p:nvSpPr>
        <p:spPr>
          <a:xfrm>
            <a:off x="4117685" y="315358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1_1_t"/>
          <p:cNvSpPr/>
          <p:nvPr/>
        </p:nvSpPr>
        <p:spPr>
          <a:xfrm>
            <a:off x="4117685" y="315358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11_2a"/>
          <p:cNvSpPr/>
          <p:nvPr/>
        </p:nvSpPr>
        <p:spPr>
          <a:xfrm>
            <a:off x="6887764" y="2883835"/>
            <a:ext cx="2201958" cy="534101"/>
          </a:xfrm>
          <a:prstGeom prst="roundRect">
            <a:avLst>
              <a:gd name="adj" fmla="val 1027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h11_2b"/>
          <p:cNvSpPr/>
          <p:nvPr/>
        </p:nvSpPr>
        <p:spPr>
          <a:xfrm>
            <a:off x="6887764" y="3408883"/>
            <a:ext cx="2201958" cy="452628"/>
          </a:xfrm>
          <a:prstGeom prst="roundRect">
            <a:avLst>
              <a:gd name="adj" fmla="val 1212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11_2"/>
          <p:cNvSpPr/>
          <p:nvPr/>
        </p:nvSpPr>
        <p:spPr>
          <a:xfrm>
            <a:off x="6685942" y="270095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5" name="b11_2_t"/>
          <p:cNvSpPr/>
          <p:nvPr/>
        </p:nvSpPr>
        <p:spPr>
          <a:xfrm>
            <a:off x="6685942" y="270095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11_3a"/>
          <p:cNvSpPr/>
          <p:nvPr/>
        </p:nvSpPr>
        <p:spPr>
          <a:xfrm>
            <a:off x="11026121" y="2920045"/>
            <a:ext cx="548754" cy="181051"/>
          </a:xfrm>
          <a:prstGeom prst="roundRect">
            <a:avLst>
              <a:gd name="adj" fmla="val 3030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7" name="h11_3b"/>
          <p:cNvSpPr/>
          <p:nvPr/>
        </p:nvSpPr>
        <p:spPr>
          <a:xfrm>
            <a:off x="9619652" y="4839188"/>
            <a:ext cx="645592" cy="226314"/>
          </a:xfrm>
          <a:prstGeom prst="roundRect">
            <a:avLst>
              <a:gd name="adj" fmla="val 24242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8" name="b11_3"/>
          <p:cNvSpPr/>
          <p:nvPr/>
        </p:nvSpPr>
        <p:spPr>
          <a:xfrm>
            <a:off x="10732568" y="2583271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9" name="b11_3_t"/>
          <p:cNvSpPr/>
          <p:nvPr/>
        </p:nvSpPr>
        <p:spPr>
          <a:xfrm>
            <a:off x="10732568" y="258327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0" name="Text 3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1" name="Text 36">
            <a:hlinkClick r:id="rId4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5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6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7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8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9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0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1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2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3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4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5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6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7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8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9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20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4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Check and Duplicate Comparison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475488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1" name="p12_4_c"/>
          <p:cNvSpPr/>
          <p:nvPr/>
        </p:nvSpPr>
        <p:spPr>
          <a:xfrm>
            <a:off x="685800" y="172821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p12_4_t"/>
          <p:cNvSpPr/>
          <p:nvPr/>
        </p:nvSpPr>
        <p:spPr>
          <a:xfrm>
            <a:off x="1234440" y="1709928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Information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location, submitted, evidence.</a:t>
            </a:r>
            <a:endParaRPr lang="en-US" sz="1800" dirty="0"/>
          </a:p>
        </p:txBody>
      </p:sp>
      <p:sp>
        <p:nvSpPr>
          <p:cNvPr id="13" name="p12_5_c"/>
          <p:cNvSpPr/>
          <p:nvPr/>
        </p:nvSpPr>
        <p:spPr>
          <a:xfrm>
            <a:off x="685800" y="2583249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4" name="p12_5_t"/>
          <p:cNvSpPr/>
          <p:nvPr/>
        </p:nvSpPr>
        <p:spPr>
          <a:xfrm>
            <a:off x="1234440" y="2564961"/>
            <a:ext cx="3657600" cy="745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Duplicate Warning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score, reason, base complaint ID.</a:t>
            </a:r>
            <a:endParaRPr lang="en-US" sz="1800" dirty="0"/>
          </a:p>
        </p:txBody>
      </p:sp>
      <p:sp>
        <p:nvSpPr>
          <p:cNvPr id="15" name="p12_6_c"/>
          <p:cNvSpPr/>
          <p:nvPr/>
        </p:nvSpPr>
        <p:spPr>
          <a:xfrm>
            <a:off x="685800" y="343828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6" name="p12_6_t"/>
          <p:cNvSpPr/>
          <p:nvPr/>
        </p:nvSpPr>
        <p:spPr>
          <a:xfrm>
            <a:off x="1234440" y="3419994"/>
            <a:ext cx="3657600" cy="5119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Decision —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duplicate, or reject it.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68096" y="4137660"/>
            <a:ext cx="4041648" cy="2167431"/>
          </a:xfrm>
          <a:prstGeom prst="roundRect">
            <a:avLst>
              <a:gd name="adj" fmla="val 337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5-dec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4187952"/>
            <a:ext cx="3941064" cy="206684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832854" y="1367028"/>
            <a:ext cx="2551820" cy="5010912"/>
          </a:xfrm>
          <a:prstGeom prst="roundRect">
            <a:avLst>
              <a:gd name="adj" fmla="val 286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0" name="Image 1" descr="C:/NogorShomadhan/User Manual/Phase 3/review complaint/23-check-inf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146" y="1417320"/>
            <a:ext cx="2451236" cy="491032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969890" y="1367028"/>
            <a:ext cx="2509591" cy="5010912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2" descr="C:/NogorShomadhan/User Manual/Phase 3/review complaint/24-view-duplicacy-metric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0182" y="1417320"/>
            <a:ext cx="2409007" cy="4910328"/>
          </a:xfrm>
          <a:prstGeom prst="rect">
            <a:avLst/>
          </a:prstGeom>
        </p:spPr>
      </p:pic>
      <p:sp>
        <p:nvSpPr>
          <p:cNvPr id="23" name="arrow12"/>
          <p:cNvSpPr/>
          <p:nvPr/>
        </p:nvSpPr>
        <p:spPr>
          <a:xfrm>
            <a:off x="8425822" y="3634740"/>
            <a:ext cx="502920" cy="475488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24" name="h12_4"/>
          <p:cNvSpPr/>
          <p:nvPr/>
        </p:nvSpPr>
        <p:spPr>
          <a:xfrm>
            <a:off x="5981196" y="2173511"/>
            <a:ext cx="2255137" cy="1404354"/>
          </a:xfrm>
          <a:prstGeom prst="roundRect">
            <a:avLst>
              <a:gd name="adj" fmla="val 3907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25" name="b12_4"/>
          <p:cNvSpPr/>
          <p:nvPr/>
        </p:nvSpPr>
        <p:spPr>
          <a:xfrm>
            <a:off x="5810572" y="209865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6" name="b12_4_t"/>
          <p:cNvSpPr/>
          <p:nvPr/>
        </p:nvSpPr>
        <p:spPr>
          <a:xfrm>
            <a:off x="5810572" y="209865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h12_5a"/>
          <p:cNvSpPr/>
          <p:nvPr/>
        </p:nvSpPr>
        <p:spPr>
          <a:xfrm>
            <a:off x="5981196" y="3607326"/>
            <a:ext cx="2255137" cy="2347137"/>
          </a:xfrm>
          <a:prstGeom prst="roundRect">
            <a:avLst>
              <a:gd name="adj" fmla="val 2433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8" name="h12_5b"/>
          <p:cNvSpPr/>
          <p:nvPr/>
        </p:nvSpPr>
        <p:spPr>
          <a:xfrm>
            <a:off x="6821970" y="4186745"/>
            <a:ext cx="416710" cy="147310"/>
          </a:xfrm>
          <a:prstGeom prst="roundRect">
            <a:avLst>
              <a:gd name="adj" fmla="val 3724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29" name="h12_5c"/>
          <p:cNvSpPr/>
          <p:nvPr/>
        </p:nvSpPr>
        <p:spPr>
          <a:xfrm>
            <a:off x="6569492" y="5738409"/>
            <a:ext cx="1093251" cy="157130"/>
          </a:xfrm>
          <a:prstGeom prst="roundRect">
            <a:avLst>
              <a:gd name="adj" fmla="val 34916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12_5"/>
          <p:cNvSpPr/>
          <p:nvPr/>
        </p:nvSpPr>
        <p:spPr>
          <a:xfrm>
            <a:off x="5810572" y="3532474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1" name="b12_5_t"/>
          <p:cNvSpPr/>
          <p:nvPr/>
        </p:nvSpPr>
        <p:spPr>
          <a:xfrm>
            <a:off x="5810572" y="353247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2" name="h12_6a"/>
          <p:cNvSpPr/>
          <p:nvPr/>
        </p:nvSpPr>
        <p:spPr>
          <a:xfrm>
            <a:off x="10812483" y="1898532"/>
            <a:ext cx="529982" cy="363364"/>
          </a:xfrm>
          <a:prstGeom prst="roundRect">
            <a:avLst>
              <a:gd name="adj" fmla="val 15099"/>
            </a:avLst>
          </a:prstGeom>
          <a:ln w="28575">
            <a:solidFill>
              <a:srgbClr val="18835C"/>
            </a:solidFill>
            <a:prstDash val="solid"/>
          </a:ln>
        </p:spPr>
      </p:sp>
      <p:sp>
        <p:nvSpPr>
          <p:cNvPr id="33" name="h12_6b"/>
          <p:cNvSpPr/>
          <p:nvPr/>
        </p:nvSpPr>
        <p:spPr>
          <a:xfrm>
            <a:off x="9130996" y="3951049"/>
            <a:ext cx="1079235" cy="2327495"/>
          </a:xfrm>
          <a:prstGeom prst="roundRect">
            <a:avLst>
              <a:gd name="adj" fmla="val 5084"/>
            </a:avLst>
          </a:prstGeom>
          <a:ln w="28575">
            <a:solidFill>
              <a:srgbClr val="B4480A"/>
            </a:solidFill>
            <a:prstDash val="solid"/>
          </a:ln>
        </p:spPr>
      </p:sp>
      <p:sp>
        <p:nvSpPr>
          <p:cNvPr id="34" name="h12_6c"/>
          <p:cNvSpPr/>
          <p:nvPr/>
        </p:nvSpPr>
        <p:spPr>
          <a:xfrm>
            <a:off x="10248776" y="3951049"/>
            <a:ext cx="1084053" cy="2327495"/>
          </a:xfrm>
          <a:prstGeom prst="roundRect">
            <a:avLst>
              <a:gd name="adj" fmla="val 506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5" name="h12_6d"/>
          <p:cNvSpPr/>
          <p:nvPr/>
        </p:nvSpPr>
        <p:spPr>
          <a:xfrm>
            <a:off x="1023323" y="5500400"/>
            <a:ext cx="3594250" cy="516712"/>
          </a:xfrm>
          <a:prstGeom prst="roundRect">
            <a:avLst>
              <a:gd name="adj" fmla="val 1061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12_6"/>
          <p:cNvSpPr/>
          <p:nvPr/>
        </p:nvSpPr>
        <p:spPr>
          <a:xfrm>
            <a:off x="761622" y="431509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7" name="b12_6_t"/>
          <p:cNvSpPr/>
          <p:nvPr/>
        </p:nvSpPr>
        <p:spPr>
          <a:xfrm>
            <a:off x="761622" y="431509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8" name="Text 3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9" name="Text 34">
            <a:hlinkClick r:id="rId4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5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6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7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8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9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0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1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2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3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4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5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6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7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8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9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20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Review Outcomes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1389888"/>
            <a:ext cx="5500116" cy="54864"/>
          </a:xfrm>
          <a:prstGeom prst="rect">
            <a:avLst/>
          </a:prstGeom>
          <a:solidFill>
            <a:srgbClr val="B4480A"/>
          </a:solidFill>
          <a:ln/>
        </p:spPr>
      </p:sp>
      <p:sp>
        <p:nvSpPr>
          <p:cNvPr id="14" name="Shape 12"/>
          <p:cNvSpPr/>
          <p:nvPr/>
        </p:nvSpPr>
        <p:spPr>
          <a:xfrm>
            <a:off x="667512" y="1517904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B4480A"/>
          </a:solidFill>
          <a:ln w="12700">
            <a:solidFill>
              <a:srgbClr val="B448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1517904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CONFIRMED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4350" y="2107692"/>
            <a:ext cx="2214375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0" descr="C:\Users\ASUS\AppData\Local\Temp\claude\C--NogorShomadhan\6d8323a9-c937-42c6-8eb9-13e28f50f09f\scratchpad\deck\crops/26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2" y="2157984"/>
            <a:ext cx="2113791" cy="1417320"/>
          </a:xfrm>
          <a:prstGeom prst="rect">
            <a:avLst/>
          </a:prstGeom>
        </p:spPr>
      </p:pic>
      <p:sp>
        <p:nvSpPr>
          <p:cNvPr id="19" name="l13a_cap"/>
          <p:cNvSpPr/>
          <p:nvPr/>
        </p:nvSpPr>
        <p:spPr>
          <a:xfrm>
            <a:off x="667512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confirms the match. The submitted copy is deleted and linked to the base complaint.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67512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731862" y="4503420"/>
            <a:ext cx="285935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EFD6BC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2" name="Image 1" descr="C:\Users\ASUS\AppData\Local\Temp\claude\C--NogorShomadhan\6d8323a9-c937-42c6-8eb9-13e28f50f09f\scratchpad\deck\crops/27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154" y="4553712"/>
            <a:ext cx="2758768" cy="1051560"/>
          </a:xfrm>
          <a:prstGeom prst="rect">
            <a:avLst/>
          </a:prstGeom>
        </p:spPr>
      </p:pic>
      <p:sp>
        <p:nvSpPr>
          <p:cNvPr id="23" name="l13b_cap"/>
          <p:cNvSpPr/>
          <p:nvPr/>
        </p:nvSpPr>
        <p:spPr>
          <a:xfrm>
            <a:off x="667512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with both complaint IDs and follows the base complaint.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277356" y="1389888"/>
            <a:ext cx="5500116" cy="4901184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277356" y="1389888"/>
            <a:ext cx="5500116" cy="54864"/>
          </a:xfrm>
          <a:prstGeom prst="rect">
            <a:avLst/>
          </a:prstGeom>
          <a:solidFill>
            <a:srgbClr val="18835C"/>
          </a:solidFill>
          <a:ln/>
        </p:spPr>
      </p:sp>
      <p:sp>
        <p:nvSpPr>
          <p:cNvPr id="26" name="Shape 22"/>
          <p:cNvSpPr/>
          <p:nvPr/>
        </p:nvSpPr>
        <p:spPr>
          <a:xfrm>
            <a:off x="6533388" y="1517904"/>
            <a:ext cx="2075688" cy="347472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33388" y="1517904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533388" y="1901952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DECISION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7802093" y="2107692"/>
            <a:ext cx="2450642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0" name="Image 2" descr="C:\Users\ASUS\AppData\Local\Temp\claude\C--NogorShomadhan\6d8323a9-c937-42c6-8eb9-13e28f50f09f\scratchpad\deck\crops/28-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385" y="2157984"/>
            <a:ext cx="2350058" cy="1417320"/>
          </a:xfrm>
          <a:prstGeom prst="rect">
            <a:avLst/>
          </a:prstGeom>
        </p:spPr>
      </p:pic>
      <p:sp>
        <p:nvSpPr>
          <p:cNvPr id="31" name="r13a_cap"/>
          <p:cNvSpPr/>
          <p:nvPr/>
        </p:nvSpPr>
        <p:spPr>
          <a:xfrm>
            <a:off x="6533388" y="3630168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rejects the duplicate suggestion, not the complaint. It is kept and set to Pending.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6533388" y="4297680"/>
            <a:ext cx="49880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OUTCOME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191100" y="4503420"/>
            <a:ext cx="3672628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C2E0D2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34" name="Image 3" descr="C:\Users\ASUS\AppData\Local\Temp\claude\C--NogorShomadhan\6d8323a9-c937-42c6-8eb9-13e28f50f09f\scratchpad\deck\crops/29-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1392" y="4553712"/>
            <a:ext cx="3572044" cy="1051560"/>
          </a:xfrm>
          <a:prstGeom prst="rect">
            <a:avLst/>
          </a:prstGeom>
        </p:spPr>
      </p:pic>
      <p:sp>
        <p:nvSpPr>
          <p:cNvPr id="35" name="r13b_cap"/>
          <p:cNvSpPr/>
          <p:nvPr/>
        </p:nvSpPr>
        <p:spPr>
          <a:xfrm>
            <a:off x="6533388" y="5660136"/>
            <a:ext cx="49880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notified that the complaint was accepted and tracks it as Pending.</a:t>
            </a:r>
            <a:endParaRPr lang="en-US" sz="1800" dirty="0"/>
          </a:p>
        </p:txBody>
      </p:sp>
      <p:sp>
        <p:nvSpPr>
          <p:cNvPr id="36" name="Text 30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7" name="Text 31">
            <a:hlinkClick r:id="rId5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2">
            <a:hlinkClick r:id="rId6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3">
            <a:hlinkClick r:id="rId7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4">
            <a:hlinkClick r:id="rId8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5">
            <a:hlinkClick r:id="rId9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6">
            <a:hlinkClick r:id="rId10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7">
            <a:hlinkClick r:id="rId11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8">
            <a:hlinkClick r:id="rId12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39">
            <a:hlinkClick r:id="rId13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0">
            <a:hlinkClick r:id="rId14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1">
            <a:hlinkClick r:id="rId15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2">
            <a:hlinkClick r:id="rId16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3">
            <a:hlinkClick r:id="rId17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4">
            <a:hlinkClick r:id="rId18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5">
            <a:hlinkClick r:id="rId19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6">
            <a:hlinkClick r:id="rId20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7">
            <a:hlinkClick r:id="rId21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8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ADMIN COMPLAINT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Complaint Visibility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987991" y="475488"/>
            <a:ext cx="1792224" cy="420624"/>
          </a:xfrm>
          <a:prstGeom prst="roundRect">
            <a:avLst>
              <a:gd name="adj" fmla="val 50000"/>
            </a:avLst>
          </a:prstGeom>
          <a:solidFill>
            <a:srgbClr val="18835C"/>
          </a:solidFill>
          <a:ln w="12700">
            <a:solidFill>
              <a:srgbClr val="18835C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987991" y="475488"/>
            <a:ext cx="17922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duplicate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Shape 8"/>
          <p:cNvSpPr/>
          <p:nvPr/>
        </p:nvSpPr>
        <p:spPr>
          <a:xfrm>
            <a:off x="1731279" y="1463040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1279" y="1463040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6329" y="1815084"/>
            <a:ext cx="1706596" cy="3282696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3" name="Image 0" descr="C:/NogorShomadhan/User Manual/Phase 3/post duplicate actions/30-added-in-all-compla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6621" y="1865376"/>
            <a:ext cx="1606012" cy="3182112"/>
          </a:xfrm>
          <a:prstGeom prst="rect">
            <a:avLst/>
          </a:prstGeom>
        </p:spPr>
      </p:pic>
      <p:sp>
        <p:nvSpPr>
          <p:cNvPr id="14" name="c14_a"/>
          <p:cNvSpPr/>
          <p:nvPr/>
        </p:nvSpPr>
        <p:spPr>
          <a:xfrm>
            <a:off x="502920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in All Complaints with Pending status.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932319" y="1463040"/>
            <a:ext cx="2507285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32319" y="1463040"/>
            <a:ext cx="25072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5186" y="1815084"/>
            <a:ext cx="1721552" cy="3282696"/>
          </a:xfrm>
          <a:prstGeom prst="roundRect">
            <a:avLst>
              <a:gd name="adj" fmla="val 4249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8" name="Image 1" descr="C:/NogorShomadhan/User Manual/Phase 3/post duplicate actions/31-available-in-autho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478" y="1865376"/>
            <a:ext cx="1620968" cy="3182112"/>
          </a:xfrm>
          <a:prstGeom prst="rect">
            <a:avLst/>
          </a:prstGeom>
        </p:spPr>
      </p:pic>
      <p:sp>
        <p:nvSpPr>
          <p:cNvPr id="19" name="c14_b"/>
          <p:cNvSpPr/>
          <p:nvPr/>
        </p:nvSpPr>
        <p:spPr>
          <a:xfrm>
            <a:off x="4459254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to the assigned authority for mitigation.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9482099" y="1463040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482099" y="1463040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8904917" y="1815084"/>
            <a:ext cx="2474758" cy="3282696"/>
          </a:xfrm>
          <a:prstGeom prst="roundRect">
            <a:avLst>
              <a:gd name="adj" fmla="val 295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3" name="Image 2" descr="C:/NogorShomadhan/User Manual/Phase 3/post duplicate actions/32-available-in-resid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209" y="1865376"/>
            <a:ext cx="2374174" cy="3182112"/>
          </a:xfrm>
          <a:prstGeom prst="rect">
            <a:avLst/>
          </a:prstGeom>
        </p:spPr>
      </p:pic>
      <p:sp>
        <p:nvSpPr>
          <p:cNvPr id="24" name="c14_c"/>
          <p:cNvSpPr/>
          <p:nvPr/>
        </p:nvSpPr>
        <p:spPr>
          <a:xfrm>
            <a:off x="8415589" y="5120640"/>
            <a:ext cx="345341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in My Complaints with status and progress.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1908425" y="4161270"/>
            <a:ext cx="3051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1796004" y="4361743"/>
            <a:ext cx="340475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747824" y="4559034"/>
            <a:ext cx="369383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792792" y="4759507"/>
            <a:ext cx="224842" cy="66824"/>
          </a:xfrm>
          <a:prstGeom prst="roundRect">
            <a:avLst>
              <a:gd name="adj" fmla="val 684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14_a"/>
          <p:cNvSpPr/>
          <p:nvPr/>
        </p:nvSpPr>
        <p:spPr>
          <a:xfrm>
            <a:off x="1558314" y="2412699"/>
            <a:ext cx="411139" cy="133649"/>
          </a:xfrm>
          <a:prstGeom prst="roundRect">
            <a:avLst>
              <a:gd name="adj" fmla="val 4105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h14_b"/>
          <p:cNvSpPr/>
          <p:nvPr/>
        </p:nvSpPr>
        <p:spPr>
          <a:xfrm>
            <a:off x="5505155" y="2279051"/>
            <a:ext cx="376065" cy="127284"/>
          </a:xfrm>
          <a:prstGeom prst="roundRect">
            <a:avLst>
              <a:gd name="adj" fmla="val 43104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14_c"/>
          <p:cNvSpPr/>
          <p:nvPr/>
        </p:nvSpPr>
        <p:spPr>
          <a:xfrm>
            <a:off x="10735840" y="3825557"/>
            <a:ext cx="389364" cy="133649"/>
          </a:xfrm>
          <a:prstGeom prst="roundRect">
            <a:avLst>
              <a:gd name="adj" fmla="val 41051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2" name="out14_bg"/>
          <p:cNvSpPr/>
          <p:nvPr/>
        </p:nvSpPr>
        <p:spPr>
          <a:xfrm>
            <a:off x="411480" y="5760720"/>
            <a:ext cx="11368735" cy="694944"/>
          </a:xfrm>
          <a:prstGeom prst="roundRect">
            <a:avLst>
              <a:gd name="adj" fmla="val 13158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33" name="out14_tx"/>
          <p:cNvSpPr/>
          <p:nvPr/>
        </p:nvSpPr>
        <p:spPr>
          <a:xfrm>
            <a:off x="685800" y="5760720"/>
            <a:ext cx="10820095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complaint that is not a duplicate continues as a separate Pending complaint and becomes visible to every relevant role.</a:t>
            </a:r>
            <a:endParaRPr lang="en-US" sz="1850" dirty="0"/>
          </a:p>
        </p:txBody>
      </p:sp>
      <p:sp>
        <p:nvSpPr>
          <p:cNvPr id="34" name="Text 29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5" name="Text 30">
            <a:hlinkClick r:id="rId4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5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6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7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8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9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0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1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2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3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4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5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6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7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8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9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0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3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WORK MANAGEMENT AND RESOLUTION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Reviews and Starts Work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6E5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22025" y="1504188"/>
            <a:ext cx="2016089" cy="3776472"/>
          </a:xfrm>
          <a:prstGeom prst="roundRect">
            <a:avLst>
              <a:gd name="adj" fmla="val 3628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authority review and start work/33-authority-review-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317" y="1554480"/>
            <a:ext cx="1915505" cy="3675888"/>
          </a:xfrm>
          <a:prstGeom prst="rect">
            <a:avLst/>
          </a:prstGeom>
        </p:spPr>
      </p:pic>
      <p:sp>
        <p:nvSpPr>
          <p:cNvPr id="12" name="c15_a"/>
          <p:cNvSpPr/>
          <p:nvPr/>
        </p:nvSpPr>
        <p:spPr>
          <a:xfrm>
            <a:off x="502920" y="5431536"/>
            <a:ext cx="345429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complaint title, category, submission details, and location.</a:t>
            </a:r>
            <a:endParaRPr lang="en-US" sz="1800" dirty="0"/>
          </a:p>
        </p:txBody>
      </p:sp>
      <p:sp>
        <p:nvSpPr>
          <p:cNvPr id="13" name="t15_a"/>
          <p:cNvSpPr/>
          <p:nvPr/>
        </p:nvSpPr>
        <p:spPr>
          <a:xfrm>
            <a:off x="1094639" y="1503932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t15_a_t"/>
          <p:cNvSpPr/>
          <p:nvPr/>
        </p:nvSpPr>
        <p:spPr>
          <a:xfrm>
            <a:off x="1094639" y="1503932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914117" y="1504188"/>
            <a:ext cx="2363461" cy="3776472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6" name="Image 1" descr="C:/NogorShomadhan/User Manual/Phase 4/authority review and start work/34-authority-review-evid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409" y="1554480"/>
            <a:ext cx="2262877" cy="3675888"/>
          </a:xfrm>
          <a:prstGeom prst="rect">
            <a:avLst/>
          </a:prstGeom>
        </p:spPr>
      </p:pic>
      <p:sp>
        <p:nvSpPr>
          <p:cNvPr id="17" name="c15_b"/>
          <p:cNvSpPr/>
          <p:nvPr/>
        </p:nvSpPr>
        <p:spPr>
          <a:xfrm>
            <a:off x="4368698" y="5431536"/>
            <a:ext cx="345429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resident’s evidence and the primary reporter recorded for the issue.</a:t>
            </a:r>
            <a:endParaRPr lang="en-US" sz="1800" dirty="0"/>
          </a:p>
        </p:txBody>
      </p:sp>
      <p:sp>
        <p:nvSpPr>
          <p:cNvPr id="18" name="t15_b"/>
          <p:cNvSpPr/>
          <p:nvPr/>
        </p:nvSpPr>
        <p:spPr>
          <a:xfrm>
            <a:off x="4807574" y="1503932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9" name="t15_b_t"/>
          <p:cNvSpPr/>
          <p:nvPr/>
        </p:nvSpPr>
        <p:spPr>
          <a:xfrm>
            <a:off x="4807574" y="1503932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8910409" y="1367028"/>
            <a:ext cx="2102434" cy="3913632"/>
          </a:xfrm>
          <a:prstGeom prst="roundRect">
            <a:avLst>
              <a:gd name="adj" fmla="val 3479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1" name="Image 2" descr="C:/NogorShomadhan/User Manual/Phase 4/authority review and start work/35-authority-start-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0701" y="1417320"/>
            <a:ext cx="2001850" cy="3813048"/>
          </a:xfrm>
          <a:prstGeom prst="rect">
            <a:avLst/>
          </a:prstGeom>
        </p:spPr>
      </p:pic>
      <p:sp>
        <p:nvSpPr>
          <p:cNvPr id="22" name="c15_c"/>
          <p:cNvSpPr/>
          <p:nvPr/>
        </p:nvSpPr>
        <p:spPr>
          <a:xfrm>
            <a:off x="8234477" y="5431536"/>
            <a:ext cx="3454298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contractor, set the deadline and budget, then start the work.</a:t>
            </a:r>
            <a:endParaRPr lang="en-US" sz="1800" dirty="0"/>
          </a:p>
        </p:txBody>
      </p:sp>
      <p:sp>
        <p:nvSpPr>
          <p:cNvPr id="23" name="t15_c"/>
          <p:cNvSpPr/>
          <p:nvPr/>
        </p:nvSpPr>
        <p:spPr>
          <a:xfrm>
            <a:off x="8788204" y="1371710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4" name="t15_c_t"/>
          <p:cNvSpPr/>
          <p:nvPr/>
        </p:nvSpPr>
        <p:spPr>
          <a:xfrm>
            <a:off x="8788204" y="137171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5557283" y="4952838"/>
            <a:ext cx="208185" cy="58814"/>
          </a:xfrm>
          <a:prstGeom prst="roundRect">
            <a:avLst>
              <a:gd name="adj" fmla="val 77737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451154" y="3264742"/>
            <a:ext cx="220204" cy="76261"/>
          </a:xfrm>
          <a:prstGeom prst="roundRect">
            <a:avLst>
              <a:gd name="adj" fmla="val 59952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h15_a1"/>
          <p:cNvSpPr/>
          <p:nvPr/>
        </p:nvSpPr>
        <p:spPr>
          <a:xfrm>
            <a:off x="1425557" y="1973531"/>
            <a:ext cx="459721" cy="147036"/>
          </a:xfrm>
          <a:prstGeom prst="roundRect">
            <a:avLst>
              <a:gd name="adj" fmla="val 37313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8" name="h15_a2"/>
          <p:cNvSpPr/>
          <p:nvPr/>
        </p:nvSpPr>
        <p:spPr>
          <a:xfrm>
            <a:off x="1356599" y="2804282"/>
            <a:ext cx="1750772" cy="1021897"/>
          </a:xfrm>
          <a:prstGeom prst="roundRect">
            <a:avLst>
              <a:gd name="adj" fmla="val 536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9" name="h15_b1"/>
          <p:cNvSpPr/>
          <p:nvPr/>
        </p:nvSpPr>
        <p:spPr>
          <a:xfrm>
            <a:off x="5054924" y="2859420"/>
            <a:ext cx="2077321" cy="1727667"/>
          </a:xfrm>
          <a:prstGeom prst="roundRect">
            <a:avLst>
              <a:gd name="adj" fmla="val 3176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0" name="h15_b2"/>
          <p:cNvSpPr/>
          <p:nvPr/>
        </p:nvSpPr>
        <p:spPr>
          <a:xfrm>
            <a:off x="5054924" y="4678985"/>
            <a:ext cx="2077321" cy="507273"/>
          </a:xfrm>
          <a:prstGeom prst="roundRect">
            <a:avLst>
              <a:gd name="adj" fmla="val 10815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1" name="h15_c1"/>
          <p:cNvSpPr/>
          <p:nvPr/>
        </p:nvSpPr>
        <p:spPr>
          <a:xfrm>
            <a:off x="9124853" y="2790017"/>
            <a:ext cx="1677550" cy="629153"/>
          </a:xfrm>
          <a:prstGeom prst="roundRect">
            <a:avLst>
              <a:gd name="adj" fmla="val 8720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2" name="h15_c2"/>
          <p:cNvSpPr/>
          <p:nvPr/>
        </p:nvSpPr>
        <p:spPr>
          <a:xfrm>
            <a:off x="9124853" y="3571692"/>
            <a:ext cx="1677550" cy="629153"/>
          </a:xfrm>
          <a:prstGeom prst="roundRect">
            <a:avLst>
              <a:gd name="adj" fmla="val 8720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3" name="h15_c3"/>
          <p:cNvSpPr/>
          <p:nvPr/>
        </p:nvSpPr>
        <p:spPr>
          <a:xfrm>
            <a:off x="9124853" y="4879568"/>
            <a:ext cx="1677550" cy="251661"/>
          </a:xfrm>
          <a:prstGeom prst="roundRect">
            <a:avLst>
              <a:gd name="adj" fmla="val 2180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35" name="Text 30">
            <a:hlinkClick r:id="rId4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1">
            <a:hlinkClick r:id="rId5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2">
            <a:hlinkClick r:id="rId6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8" name="Text 33">
            <a:hlinkClick r:id="rId7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9" name="Text 34">
            <a:hlinkClick r:id="rId8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0" name="Text 35">
            <a:hlinkClick r:id="rId9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1" name="Text 36">
            <a:hlinkClick r:id="rId10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7">
            <a:hlinkClick r:id="rId11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8">
            <a:hlinkClick r:id="rId12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13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14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15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16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7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8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237A57"/>
          </a:solidFill>
          <a:ln>
            <a:solidFill>
              <a:srgbClr val="237A5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9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20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C6E5D6"/>
          </a:solidFill>
          <a:ln>
            <a:solidFill>
              <a:srgbClr val="C6E5D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WORK MANAGEMENT AND RESOLUTION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Progress and Contractor Reassignment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Shape 8"/>
          <p:cNvSpPr/>
          <p:nvPr/>
        </p:nvSpPr>
        <p:spPr>
          <a:xfrm>
            <a:off x="1235821" y="1367028"/>
            <a:ext cx="2100359" cy="4032504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authority review and start work/36-inpending-work-history-recor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6113" y="1417320"/>
            <a:ext cx="1999775" cy="3931920"/>
          </a:xfrm>
          <a:prstGeom prst="rect">
            <a:avLst/>
          </a:prstGeom>
        </p:spPr>
      </p:pic>
      <p:sp>
        <p:nvSpPr>
          <p:cNvPr id="12" name="c16_l"/>
          <p:cNvSpPr/>
          <p:nvPr/>
        </p:nvSpPr>
        <p:spPr>
          <a:xfrm>
            <a:off x="502920" y="5532120"/>
            <a:ext cx="356616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starts: the assignment and the first progress note are recorded.</a:t>
            </a:r>
            <a:endParaRPr lang="en-US" sz="1800" dirty="0"/>
          </a:p>
        </p:txBody>
      </p:sp>
      <p:sp>
        <p:nvSpPr>
          <p:cNvPr id="13" name="t16_l"/>
          <p:cNvSpPr/>
          <p:nvPr/>
        </p:nvSpPr>
        <p:spPr>
          <a:xfrm>
            <a:off x="1133489" y="1399581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t16_l_t"/>
          <p:cNvSpPr/>
          <p:nvPr/>
        </p:nvSpPr>
        <p:spPr>
          <a:xfrm>
            <a:off x="1133489" y="1399581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618828" y="1367028"/>
            <a:ext cx="2644143" cy="4032504"/>
          </a:xfrm>
          <a:prstGeom prst="roundRect">
            <a:avLst>
              <a:gd name="adj" fmla="val 2767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6" name="Image 1" descr="C:/NogorShomadhan/User Manual/Phase 4/change contractor/38-changecontrac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9120" y="1417320"/>
            <a:ext cx="2543559" cy="3931920"/>
          </a:xfrm>
          <a:prstGeom prst="rect">
            <a:avLst/>
          </a:prstGeom>
        </p:spPr>
      </p:pic>
      <p:sp>
        <p:nvSpPr>
          <p:cNvPr id="17" name="c16_r"/>
          <p:cNvSpPr/>
          <p:nvPr/>
        </p:nvSpPr>
        <p:spPr>
          <a:xfrm>
            <a:off x="8193024" y="5532120"/>
            <a:ext cx="3495751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assigns a new contractor and records the reason for the change.</a:t>
            </a:r>
            <a:endParaRPr lang="en-US" sz="1800" dirty="0"/>
          </a:p>
        </p:txBody>
      </p:sp>
      <p:sp>
        <p:nvSpPr>
          <p:cNvPr id="18" name="t16_r"/>
          <p:cNvSpPr/>
          <p:nvPr/>
        </p:nvSpPr>
        <p:spPr>
          <a:xfrm>
            <a:off x="8529126" y="1399581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9" name="t16_r_t"/>
          <p:cNvSpPr/>
          <p:nvPr/>
        </p:nvSpPr>
        <p:spPr>
          <a:xfrm>
            <a:off x="8529126" y="1399581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1786056" y="2237125"/>
            <a:ext cx="239973" cy="58979"/>
          </a:xfrm>
          <a:prstGeom prst="roundRect">
            <a:avLst>
              <a:gd name="adj" fmla="val 775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842050" y="3452089"/>
            <a:ext cx="179980" cy="58979"/>
          </a:xfrm>
          <a:prstGeom prst="roundRect">
            <a:avLst>
              <a:gd name="adj" fmla="val 775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886045" y="4281724"/>
            <a:ext cx="279968" cy="58979"/>
          </a:xfrm>
          <a:prstGeom prst="roundRect">
            <a:avLst>
              <a:gd name="adj" fmla="val 7751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279574" y="3471748"/>
            <a:ext cx="292509" cy="70775"/>
          </a:xfrm>
          <a:prstGeom prst="roundRect">
            <a:avLst>
              <a:gd name="adj" fmla="val 64599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4" name="h16_l1"/>
          <p:cNvSpPr/>
          <p:nvPr/>
        </p:nvSpPr>
        <p:spPr>
          <a:xfrm>
            <a:off x="1378102" y="1763329"/>
            <a:ext cx="1815795" cy="1368308"/>
          </a:xfrm>
          <a:prstGeom prst="roundRect">
            <a:avLst>
              <a:gd name="adj" fmla="val 4010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5" name="h16_l2"/>
          <p:cNvSpPr/>
          <p:nvPr/>
        </p:nvSpPr>
        <p:spPr>
          <a:xfrm>
            <a:off x="1378102" y="3709629"/>
            <a:ext cx="1815795" cy="837499"/>
          </a:xfrm>
          <a:prstGeom prst="roundRect">
            <a:avLst>
              <a:gd name="adj" fmla="val 655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6" name="h16_r1"/>
          <p:cNvSpPr/>
          <p:nvPr/>
        </p:nvSpPr>
        <p:spPr>
          <a:xfrm>
            <a:off x="8867518" y="2840675"/>
            <a:ext cx="2136590" cy="338145"/>
          </a:xfrm>
          <a:prstGeom prst="roundRect">
            <a:avLst>
              <a:gd name="adj" fmla="val 16225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7" name="h16_r2"/>
          <p:cNvSpPr/>
          <p:nvPr/>
        </p:nvSpPr>
        <p:spPr>
          <a:xfrm>
            <a:off x="8867518" y="3835451"/>
            <a:ext cx="2136590" cy="629107"/>
          </a:xfrm>
          <a:prstGeom prst="roundRect">
            <a:avLst>
              <a:gd name="adj" fmla="val 872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4416552" y="1417320"/>
            <a:ext cx="3429000" cy="4965192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4672584" y="1581912"/>
            <a:ext cx="2916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672584" y="1874520"/>
            <a:ext cx="1207008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672584" y="187452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5971032" y="1984248"/>
            <a:ext cx="384048" cy="146304"/>
          </a:xfrm>
          <a:prstGeom prst="rightArrow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446520" y="1874520"/>
            <a:ext cx="1536192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446520" y="1874520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400" dirty="0"/>
          </a:p>
        </p:txBody>
      </p:sp>
      <p:sp>
        <p:nvSpPr>
          <p:cNvPr id="35" name="c16_m"/>
          <p:cNvSpPr/>
          <p:nvPr/>
        </p:nvSpPr>
        <p:spPr>
          <a:xfrm>
            <a:off x="4672584" y="2404872"/>
            <a:ext cx="2916936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the work records the assignment history and changes the complaint status to In Progress across all roles.</a:t>
            </a:r>
            <a:endParaRPr lang="en-US" sz="1800" dirty="0"/>
          </a:p>
        </p:txBody>
      </p:sp>
      <p:sp>
        <p:nvSpPr>
          <p:cNvPr id="36" name="Text 32"/>
          <p:cNvSpPr/>
          <p:nvPr/>
        </p:nvSpPr>
        <p:spPr>
          <a:xfrm>
            <a:off x="4672584" y="3904488"/>
            <a:ext cx="2916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4672584" y="4261104"/>
            <a:ext cx="146304" cy="146304"/>
          </a:xfrm>
          <a:prstGeom prst="ellipse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928616" y="4197096"/>
            <a:ext cx="2660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4672584" y="4590288"/>
            <a:ext cx="146304" cy="146304"/>
          </a:xfrm>
          <a:prstGeom prst="ellipse">
            <a:avLst/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928616" y="4526280"/>
            <a:ext cx="2660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4672584" y="4919472"/>
            <a:ext cx="146304" cy="146304"/>
          </a:xfrm>
          <a:prstGeom prst="ellipse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4928616" y="4855464"/>
            <a:ext cx="2660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700" dirty="0"/>
          </a:p>
        </p:txBody>
      </p:sp>
      <p:sp>
        <p:nvSpPr>
          <p:cNvPr id="43" name="Text 39"/>
          <p:cNvSpPr/>
          <p:nvPr/>
        </p:nvSpPr>
        <p:spPr>
          <a:xfrm>
            <a:off x="4672584" y="5276088"/>
            <a:ext cx="2916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4672584" y="5568696"/>
            <a:ext cx="1078992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4672584" y="5568696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RAHIM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5843016" y="5678424"/>
            <a:ext cx="384048" cy="146304"/>
          </a:xfrm>
          <a:prstGeom prst="rightArrow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318504" y="5568696"/>
            <a:ext cx="1207008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6318504" y="556869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FORHAD</a:t>
            </a:r>
            <a:endParaRPr lang="en-US" sz="1400" dirty="0"/>
          </a:p>
        </p:txBody>
      </p:sp>
      <p:sp>
        <p:nvSpPr>
          <p:cNvPr id="49" name="Text 4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50" name="Text 46">
            <a:hlinkClick r:id="rId3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7">
            <a:hlinkClick r:id="rId4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8">
            <a:hlinkClick r:id="rId5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9">
            <a:hlinkClick r:id="rId6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50">
            <a:hlinkClick r:id="rId7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1">
            <a:hlinkClick r:id="rId8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2">
            <a:hlinkClick r:id="rId9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3">
            <a:hlinkClick r:id="rId10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4">
            <a:hlinkClick r:id="rId11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5">
            <a:hlinkClick r:id="rId12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6">
            <a:hlinkClick r:id="rId13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1" name="Text 57">
            <a:hlinkClick r:id="rId14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2" name="Text 58">
            <a:hlinkClick r:id="rId15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3" name="Text 59">
            <a:hlinkClick r:id="rId16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4" name="Text 60">
            <a:hlinkClick r:id="rId17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5" name="Text 61">
            <a:hlinkClick r:id="rId18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6" name="Text 62">
            <a:hlinkClick r:id="rId19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7" name="Text 63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·  AUTHORITY WORK MANAGEMENT AND RESOLUTION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Evidence and Resolved Status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580522" y="475488"/>
            <a:ext cx="1199693" cy="420624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  <a:effectLst>
            <a:outerShdw sx="100000" sy="100000" kx="0" ky="0" algn="bl" rotWithShape="0" blurRad="76200" dist="12700" dir="540000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80522" y="475488"/>
            <a:ext cx="119969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Shape 8"/>
          <p:cNvSpPr/>
          <p:nvPr/>
        </p:nvSpPr>
        <p:spPr>
          <a:xfrm>
            <a:off x="988123" y="1385316"/>
            <a:ext cx="2092833" cy="3895344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1" name="Image 0" descr="C:/NogorShomadhan/User Manual/Phase 4/work complete/40-authority-completes-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415" y="1435608"/>
            <a:ext cx="1992249" cy="3794760"/>
          </a:xfrm>
          <a:prstGeom prst="rect">
            <a:avLst/>
          </a:prstGeom>
        </p:spPr>
      </p:pic>
      <p:sp>
        <p:nvSpPr>
          <p:cNvPr id="12" name="c17_a"/>
          <p:cNvSpPr/>
          <p:nvPr/>
        </p:nvSpPr>
        <p:spPr>
          <a:xfrm>
            <a:off x="457200" y="5413248"/>
            <a:ext cx="315468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uploads completion evidence and the final resolution note.</a:t>
            </a:r>
            <a:endParaRPr lang="en-US" sz="1800" dirty="0"/>
          </a:p>
        </p:txBody>
      </p:sp>
      <p:sp>
        <p:nvSpPr>
          <p:cNvPr id="13" name="t17_a"/>
          <p:cNvSpPr/>
          <p:nvPr/>
        </p:nvSpPr>
        <p:spPr>
          <a:xfrm>
            <a:off x="885265" y="141210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4" name="t17_a_t"/>
          <p:cNvSpPr/>
          <p:nvPr/>
        </p:nvSpPr>
        <p:spPr>
          <a:xfrm>
            <a:off x="885265" y="141210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510081" y="1385316"/>
            <a:ext cx="2089797" cy="389534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16" name="Image 1" descr="C:/NogorShomadhan/User Manual/Phase 4/work complete/41-work-history-in-resid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373" y="1435608"/>
            <a:ext cx="1989213" cy="3794760"/>
          </a:xfrm>
          <a:prstGeom prst="rect">
            <a:avLst/>
          </a:prstGeom>
        </p:spPr>
      </p:pic>
      <p:sp>
        <p:nvSpPr>
          <p:cNvPr id="17" name="c17_b"/>
          <p:cNvSpPr/>
          <p:nvPr/>
        </p:nvSpPr>
        <p:spPr>
          <a:xfrm>
            <a:off x="3977640" y="5413248"/>
            <a:ext cx="315468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closed complaint shows the completion date, budget, note, and photo.</a:t>
            </a:r>
            <a:endParaRPr lang="en-US" sz="1800" dirty="0"/>
          </a:p>
        </p:txBody>
      </p:sp>
      <p:sp>
        <p:nvSpPr>
          <p:cNvPr id="18" name="t17_b"/>
          <p:cNvSpPr/>
          <p:nvPr/>
        </p:nvSpPr>
        <p:spPr>
          <a:xfrm>
            <a:off x="4407010" y="1412108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237A5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19" name="t17_b_t"/>
          <p:cNvSpPr/>
          <p:nvPr/>
        </p:nvSpPr>
        <p:spPr>
          <a:xfrm>
            <a:off x="4407010" y="141210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1636090" y="1835955"/>
            <a:ext cx="298837" cy="60716"/>
          </a:xfrm>
          <a:prstGeom prst="roundRect">
            <a:avLst>
              <a:gd name="adj" fmla="val 753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1" name="h17_a1"/>
          <p:cNvSpPr/>
          <p:nvPr/>
        </p:nvSpPr>
        <p:spPr>
          <a:xfrm>
            <a:off x="1197795" y="3272272"/>
            <a:ext cx="1673489" cy="941100"/>
          </a:xfrm>
          <a:prstGeom prst="roundRect">
            <a:avLst>
              <a:gd name="adj" fmla="val 5830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2" name="h17_a2"/>
          <p:cNvSpPr/>
          <p:nvPr/>
        </p:nvSpPr>
        <p:spPr>
          <a:xfrm>
            <a:off x="1197795" y="4365163"/>
            <a:ext cx="1673489" cy="493319"/>
          </a:xfrm>
          <a:prstGeom prst="roundRect">
            <a:avLst>
              <a:gd name="adj" fmla="val 11121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3" name="h17_a3"/>
          <p:cNvSpPr/>
          <p:nvPr/>
        </p:nvSpPr>
        <p:spPr>
          <a:xfrm>
            <a:off x="1197795" y="4896429"/>
            <a:ext cx="1673489" cy="235275"/>
          </a:xfrm>
          <a:prstGeom prst="roundRect">
            <a:avLst>
              <a:gd name="adj" fmla="val 23319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4" name="h17_b1"/>
          <p:cNvSpPr/>
          <p:nvPr/>
        </p:nvSpPr>
        <p:spPr>
          <a:xfrm>
            <a:off x="4703597" y="2460193"/>
            <a:ext cx="1702766" cy="903153"/>
          </a:xfrm>
          <a:prstGeom prst="roundRect">
            <a:avLst>
              <a:gd name="adj" fmla="val 6075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5" name="h17_b2"/>
          <p:cNvSpPr/>
          <p:nvPr/>
        </p:nvSpPr>
        <p:spPr>
          <a:xfrm>
            <a:off x="4719510" y="3427857"/>
            <a:ext cx="1670939" cy="295991"/>
          </a:xfrm>
          <a:prstGeom prst="roundRect">
            <a:avLst>
              <a:gd name="adj" fmla="val 18536"/>
            </a:avLst>
          </a:prstGeom>
          <a:ln w="28575">
            <a:solidFill>
              <a:srgbClr val="237A57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584948" y="1732788"/>
            <a:ext cx="4108399" cy="1837298"/>
          </a:xfrm>
          <a:prstGeom prst="roundRect">
            <a:avLst>
              <a:gd name="adj" fmla="val 3981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4/work complete/42-update-to-resolv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783080"/>
            <a:ext cx="4007815" cy="1736714"/>
          </a:xfrm>
          <a:prstGeom prst="rect">
            <a:avLst/>
          </a:prstGeom>
        </p:spPr>
      </p:pic>
      <p:sp>
        <p:nvSpPr>
          <p:cNvPr id="28" name="t17_c"/>
          <p:cNvSpPr/>
          <p:nvPr/>
        </p:nvSpPr>
        <p:spPr>
          <a:xfrm>
            <a:off x="7482906" y="1791239"/>
            <a:ext cx="585216" cy="365760"/>
          </a:xfrm>
          <a:prstGeom prst="roundRect">
            <a:avLst>
              <a:gd name="adj" fmla="val 37500"/>
            </a:avLst>
          </a:prstGeom>
          <a:solidFill>
            <a:srgbClr val="475467"/>
          </a:solidFill>
          <a:ln w="222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239">
                <a:alpha val="13000"/>
              </a:srgbClr>
            </a:outerShdw>
          </a:effectLst>
        </p:spPr>
      </p:sp>
      <p:sp>
        <p:nvSpPr>
          <p:cNvPr id="29" name="t17_c_t"/>
          <p:cNvSpPr/>
          <p:nvPr/>
        </p:nvSpPr>
        <p:spPr>
          <a:xfrm>
            <a:off x="7482906" y="1791239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600" dirty="0"/>
          </a:p>
        </p:txBody>
      </p:sp>
      <p:sp>
        <p:nvSpPr>
          <p:cNvPr id="30" name="c17_c"/>
          <p:cNvSpPr/>
          <p:nvPr/>
        </p:nvSpPr>
        <p:spPr>
          <a:xfrm>
            <a:off x="7543800" y="3757538"/>
            <a:ext cx="419069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status changes to Resolved.</a:t>
            </a:r>
            <a:endParaRPr lang="en-US" sz="1800" dirty="0"/>
          </a:p>
        </p:txBody>
      </p:sp>
      <p:sp>
        <p:nvSpPr>
          <p:cNvPr id="31" name="j17_bg"/>
          <p:cNvSpPr/>
          <p:nvPr/>
        </p:nvSpPr>
        <p:spPr>
          <a:xfrm>
            <a:off x="7498080" y="4443984"/>
            <a:ext cx="4282135" cy="1664208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</p:spPr>
      </p:sp>
      <p:sp>
        <p:nvSpPr>
          <p:cNvPr id="32" name="j17_lab"/>
          <p:cNvSpPr/>
          <p:nvPr/>
        </p:nvSpPr>
        <p:spPr>
          <a:xfrm>
            <a:off x="7754112" y="4590288"/>
            <a:ext cx="37700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30" kern="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JOURNEY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754112" y="4901184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754112" y="490118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9345168" y="4901184"/>
            <a:ext cx="21790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work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754112" y="5303520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754112" y="530352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9345168" y="5303520"/>
            <a:ext cx="21790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assigned</a:t>
            </a:r>
            <a:endParaRPr lang="en-US" sz="1500" dirty="0"/>
          </a:p>
        </p:txBody>
      </p:sp>
      <p:sp>
        <p:nvSpPr>
          <p:cNvPr id="39" name="Shape 34"/>
          <p:cNvSpPr/>
          <p:nvPr/>
        </p:nvSpPr>
        <p:spPr>
          <a:xfrm>
            <a:off x="7754112" y="5705856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7754112" y="570585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400" dirty="0"/>
          </a:p>
        </p:txBody>
      </p:sp>
      <p:sp>
        <p:nvSpPr>
          <p:cNvPr id="41" name="Text 36"/>
          <p:cNvSpPr/>
          <p:nvPr/>
        </p:nvSpPr>
        <p:spPr>
          <a:xfrm>
            <a:off x="9345168" y="5705856"/>
            <a:ext cx="21790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</a:t>
            </a:r>
            <a:endParaRPr lang="en-US" sz="1500" dirty="0"/>
          </a:p>
        </p:txBody>
      </p:sp>
      <p:sp>
        <p:nvSpPr>
          <p:cNvPr id="42" name="Text 37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 ·  User Manual</a:t>
            </a:r>
            <a:endParaRPr lang="en-US" sz="1100" dirty="0"/>
          </a:p>
        </p:txBody>
      </p:sp>
      <p:sp>
        <p:nvSpPr>
          <p:cNvPr id="43" name="Text 38">
            <a:hlinkClick r:id="rId4" tooltip="1. Problem Statement" action="ppaction://hlinksldjump"/>
          </p:cNvPr>
          <p:cNvSpPr/>
          <p:nvPr/>
        </p:nvSpPr>
        <p:spPr>
          <a:xfrm>
            <a:off x="782086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39">
            <a:hlinkClick r:id="rId5" tooltip="2. Stakeholders and Responsibilities" action="ppaction://hlinksldjump"/>
          </p:cNvPr>
          <p:cNvSpPr/>
          <p:nvPr/>
        </p:nvSpPr>
        <p:spPr>
          <a:xfrm>
            <a:off x="805860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6" tooltip="3. Resident Account Registration" action="ppaction://hlinksldjump"/>
          </p:cNvPr>
          <p:cNvSpPr/>
          <p:nvPr/>
        </p:nvSpPr>
        <p:spPr>
          <a:xfrm>
            <a:off x="829635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7" tooltip="4. Registration Request Submitted" action="ppaction://hlinksldjump"/>
          </p:cNvPr>
          <p:cNvSpPr/>
          <p:nvPr/>
        </p:nvSpPr>
        <p:spPr>
          <a:xfrm>
            <a:off x="853409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8" tooltip="5. Admin Receives the Verification Request" action="ppaction://hlinksldjump"/>
          </p:cNvPr>
          <p:cNvSpPr/>
          <p:nvPr/>
        </p:nvSpPr>
        <p:spPr>
          <a:xfrm>
            <a:off x="877183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9" tooltip="6. Admin Reviews and Approves the Account" action="ppaction://hlinksldjump"/>
          </p:cNvPr>
          <p:cNvSpPr/>
          <p:nvPr/>
        </p:nvSpPr>
        <p:spPr>
          <a:xfrm>
            <a:off x="900958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0" tooltip="7. Account Verification Completed" action="ppaction://hlinksldjump"/>
          </p:cNvPr>
          <p:cNvSpPr/>
          <p:nvPr/>
        </p:nvSpPr>
        <p:spPr>
          <a:xfrm>
            <a:off x="924732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1" tooltip="8. Create a New Complaint" action="ppaction://hlinksldjump"/>
          </p:cNvPr>
          <p:cNvSpPr/>
          <p:nvPr/>
        </p:nvSpPr>
        <p:spPr>
          <a:xfrm>
            <a:off x="948507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8. Create a New Complai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12" tooltip="9. Add Evidence and Review the Category" action="ppaction://hlinksldjump"/>
          </p:cNvPr>
          <p:cNvSpPr/>
          <p:nvPr/>
        </p:nvSpPr>
        <p:spPr>
          <a:xfrm>
            <a:off x="972281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9. Add Evidence and Review the Categor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13" tooltip="10. Confirm the Complaint Submission" action="ppaction://hlinksldjump"/>
          </p:cNvPr>
          <p:cNvSpPr/>
          <p:nvPr/>
        </p:nvSpPr>
        <p:spPr>
          <a:xfrm>
            <a:off x="996055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10. Confirm the Complaint Submiss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4" tooltip="11. Admin Opens the Review Queue" action="ppaction://hlinksldjump"/>
          </p:cNvPr>
          <p:cNvSpPr/>
          <p:nvPr/>
        </p:nvSpPr>
        <p:spPr>
          <a:xfrm>
            <a:off x="1019830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11. Admin Opens the Review Queu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5" tooltip="12. Complaint Check and Duplicate Comparison" action="ppaction://hlinksldjump"/>
          </p:cNvPr>
          <p:cNvSpPr/>
          <p:nvPr/>
        </p:nvSpPr>
        <p:spPr>
          <a:xfrm>
            <a:off x="10436047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12. Complaint Check and Duplicate Compari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6" tooltip="13. Duplicate Review Outcomes" action="ppaction://hlinksldjump"/>
          </p:cNvPr>
          <p:cNvSpPr/>
          <p:nvPr/>
        </p:nvSpPr>
        <p:spPr>
          <a:xfrm>
            <a:off x="10673791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13. Duplicate Review Outcom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>
            <a:hlinkClick r:id="rId17" tooltip="14. Pending Complaint Visibility" action="ppaction://hlinksldjump"/>
          </p:cNvPr>
          <p:cNvSpPr/>
          <p:nvPr/>
        </p:nvSpPr>
        <p:spPr>
          <a:xfrm>
            <a:off x="10911535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action="ppaction://hlinksldjump" tooltip="14. Pending Complaint Visibility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7" name="Text 52">
            <a:hlinkClick r:id="rId18" tooltip="15. Authority Reviews and Starts Work" action="ppaction://hlinksldjump"/>
          </p:cNvPr>
          <p:cNvSpPr/>
          <p:nvPr/>
        </p:nvSpPr>
        <p:spPr>
          <a:xfrm>
            <a:off x="11149279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action="ppaction://hlinksldjump" tooltip="15. Authority Reviews and Starts Wor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8" name="Text 53">
            <a:hlinkClick r:id="rId19" tooltip="16. Work Progress and Contractor Reassignment" action="ppaction://hlinksldjump"/>
          </p:cNvPr>
          <p:cNvSpPr/>
          <p:nvPr/>
        </p:nvSpPr>
        <p:spPr>
          <a:xfrm>
            <a:off x="11387023" y="6528816"/>
            <a:ext cx="155448" cy="15544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action="ppaction://hlinksldjump" tooltip="16. Work Progress and Contractor Reassign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9" name="Text 54">
            <a:hlinkClick r:id="rId20" tooltip="17. Completion Evidence and Resolved Status" action="ppaction://hlinksldjump"/>
          </p:cNvPr>
          <p:cNvSpPr/>
          <p:nvPr/>
        </p:nvSpPr>
        <p:spPr>
          <a:xfrm>
            <a:off x="11624767" y="6528816"/>
            <a:ext cx="155448" cy="15544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action="ppaction://hlinksldjump" tooltip="17. Completion Evidence and Resolved Statu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60" name="Text 55"/>
          <p:cNvSpPr/>
          <p:nvPr/>
        </p:nvSpPr>
        <p:spPr>
          <a:xfrm>
            <a:off x="6997903" y="65105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Nogor Shomadhan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Nogor Shomadhan — User Manual: Phases 1-4</dc:title>
  <dc:subject>PptxGenJS Presentation</dc:subject>
  <dc:creator>Ashfia Tabassum</dc:creator>
  <cp:lastModifiedBy>Ashfia Tabassum</cp:lastModifiedBy>
  <cp:revision>1</cp:revision>
  <dcterms:created xsi:type="dcterms:W3CDTF">2026-09-12T16:13:36Z</dcterms:created>
  <dcterms:modified xsi:type="dcterms:W3CDTF">2026-09-12T16:13:36Z</dcterms:modified>
</cp:coreProperties>
</file>