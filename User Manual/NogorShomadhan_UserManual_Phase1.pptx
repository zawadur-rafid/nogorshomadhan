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Relationship Id="rId1" Type="http://schemas.openxmlformats.org/officeDocument/2006/relationships/image" Target="../media/image-1-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WHY THIS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a_stmt_bg"/>
          <p:cNvSpPr/>
          <p:nvPr/>
        </p:nvSpPr>
        <p:spPr>
          <a:xfrm>
            <a:off x="411480" y="141732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a_stmt_bar"/>
          <p:cNvSpPr/>
          <p:nvPr/>
        </p:nvSpPr>
        <p:spPr>
          <a:xfrm>
            <a:off x="411480" y="1417320"/>
            <a:ext cx="82296" cy="932688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12" name="a_stmt_tx"/>
          <p:cNvSpPr/>
          <p:nvPr/>
        </p:nvSpPr>
        <p:spPr>
          <a:xfrm>
            <a:off x="704088" y="1417320"/>
            <a:ext cx="53949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maintenance complaints remain fragmented and difficult to track</a:t>
            </a:r>
            <a:endParaRPr lang="en-US" sz="2200" dirty="0"/>
          </a:p>
        </p:txBody>
      </p:sp>
      <p:sp>
        <p:nvSpPr>
          <p:cNvPr id="13" name="p1_1_c"/>
          <p:cNvSpPr/>
          <p:nvPr/>
        </p:nvSpPr>
        <p:spPr>
          <a:xfrm>
            <a:off x="466344" y="2523744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1_1_t"/>
          <p:cNvSpPr/>
          <p:nvPr/>
        </p:nvSpPr>
        <p:spPr>
          <a:xfrm>
            <a:off x="1014984" y="2505456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rely on phone calls, social media groups, and informal messages.</a:t>
            </a:r>
            <a:endParaRPr lang="en-US" sz="1800" dirty="0"/>
          </a:p>
        </p:txBody>
      </p:sp>
      <p:sp>
        <p:nvSpPr>
          <p:cNvPr id="15" name="p1_2_c"/>
          <p:cNvSpPr/>
          <p:nvPr/>
        </p:nvSpPr>
        <p:spPr>
          <a:xfrm>
            <a:off x="466344" y="3267456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1_2_t"/>
          <p:cNvSpPr/>
          <p:nvPr/>
        </p:nvSpPr>
        <p:spPr>
          <a:xfrm>
            <a:off x="1014984" y="3249168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often arrive without structured evidence or accurate location details.</a:t>
            </a:r>
            <a:endParaRPr lang="en-US" sz="1800" dirty="0"/>
          </a:p>
        </p:txBody>
      </p:sp>
      <p:sp>
        <p:nvSpPr>
          <p:cNvPr id="17" name="p1_3_c"/>
          <p:cNvSpPr/>
          <p:nvPr/>
        </p:nvSpPr>
        <p:spPr>
          <a:xfrm>
            <a:off x="466344" y="4011168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1_3_t"/>
          <p:cNvSpPr/>
          <p:nvPr/>
        </p:nvSpPr>
        <p:spPr>
          <a:xfrm>
            <a:off x="1014984" y="3992880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reports and disconnected channels delay verification and assignment.</a:t>
            </a:r>
            <a:endParaRPr lang="en-US" sz="1800" dirty="0"/>
          </a:p>
        </p:txBody>
      </p:sp>
      <p:sp>
        <p:nvSpPr>
          <p:cNvPr id="19" name="p1_4_c"/>
          <p:cNvSpPr/>
          <p:nvPr/>
        </p:nvSpPr>
        <p:spPr>
          <a:xfrm>
            <a:off x="466344" y="4754880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1_4_t"/>
          <p:cNvSpPr/>
          <p:nvPr/>
        </p:nvSpPr>
        <p:spPr>
          <a:xfrm>
            <a:off x="1014984" y="4736592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have limited visibility into progress, reducing trust and accountability.</a:t>
            </a:r>
            <a:endParaRPr lang="en-US" sz="1800" dirty="0"/>
          </a:p>
        </p:txBody>
      </p:sp>
      <p:sp>
        <p:nvSpPr>
          <p:cNvPr id="21" name="a_close_bg"/>
          <p:cNvSpPr/>
          <p:nvPr/>
        </p:nvSpPr>
        <p:spPr>
          <a:xfrm>
            <a:off x="411480" y="5486400"/>
            <a:ext cx="5943600" cy="749808"/>
          </a:xfrm>
          <a:prstGeom prst="roundRect">
            <a:avLst>
              <a:gd name="adj" fmla="val 12195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a_close_tx"/>
          <p:cNvSpPr/>
          <p:nvPr/>
        </p:nvSpPr>
        <p:spPr>
          <a:xfrm>
            <a:off x="667512" y="5486400"/>
            <a:ext cx="54315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provides one verified workflow from reporting to resolution.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656832" y="1417320"/>
            <a:ext cx="5120640" cy="3968592"/>
          </a:xfrm>
          <a:prstGeom prst="roundRect">
            <a:avLst>
              <a:gd name="adj" fmla="val 230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0" descr="C:/NogorShomadhan/Images/Road br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81328"/>
            <a:ext cx="4992624" cy="3840576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56832" y="5477256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912864" y="5559552"/>
            <a:ext cx="4608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REALITY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12864" y="5779008"/>
            <a:ext cx="46085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everyone, yet no record of who reported it or what happens next.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29" name="Text 26">
            <a:hlinkClick r:id="rId2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0" name="Text 27">
            <a:hlinkClick r:id="rId3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8">
            <a:hlinkClick r:id="rId4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29">
            <a:hlinkClick r:id="rId5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0">
            <a:hlinkClick r:id="rId6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1">
            <a:hlinkClick r:id="rId7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2">
            <a:hlinkClick r:id="rId8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3">
            <a:hlinkClick r:id="rId9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4">
            <a:hlinkClick r:id="rId10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5">
            <a:hlinkClick r:id="rId11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6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WHO USES THE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and Responsibilities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383012" y="475488"/>
            <a:ext cx="1397203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383012" y="475488"/>
            <a:ext cx="139720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c_res_bg"/>
          <p:cNvSpPr/>
          <p:nvPr/>
        </p:nvSpPr>
        <p:spPr>
          <a:xfrm>
            <a:off x="440284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c_res_hd"/>
          <p:cNvSpPr/>
          <p:nvPr/>
        </p:nvSpPr>
        <p:spPr>
          <a:xfrm>
            <a:off x="440284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2" name="c_res_hd2"/>
          <p:cNvSpPr/>
          <p:nvPr/>
        </p:nvSpPr>
        <p:spPr>
          <a:xfrm>
            <a:off x="440284" y="1847088"/>
            <a:ext cx="3502152" cy="2377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3" name="c_res_hdt"/>
          <p:cNvSpPr/>
          <p:nvPr/>
        </p:nvSpPr>
        <p:spPr>
          <a:xfrm>
            <a:off x="440284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2000" dirty="0"/>
          </a:p>
        </p:txBody>
      </p:sp>
      <p:sp>
        <p:nvSpPr>
          <p:cNvPr id="14" name="c_res_bl"/>
          <p:cNvSpPr/>
          <p:nvPr/>
        </p:nvSpPr>
        <p:spPr>
          <a:xfrm>
            <a:off x="696316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community problems with location and optional photographic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complaint status and receives important notifications.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Participates through urgency votes, forum discussions, and feedback.</a:t>
            </a:r>
            <a:endParaRPr lang="en-US" sz="1800" dirty="0"/>
          </a:p>
        </p:txBody>
      </p:sp>
      <p:sp>
        <p:nvSpPr>
          <p:cNvPr id="15" name="c_adm_bg"/>
          <p:cNvSpPr/>
          <p:nvPr/>
        </p:nvSpPr>
        <p:spPr>
          <a:xfrm>
            <a:off x="4344772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c_adm_hd"/>
          <p:cNvSpPr/>
          <p:nvPr/>
        </p:nvSpPr>
        <p:spPr>
          <a:xfrm>
            <a:off x="4344772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7" name="c_adm_hd2"/>
          <p:cNvSpPr/>
          <p:nvPr/>
        </p:nvSpPr>
        <p:spPr>
          <a:xfrm>
            <a:off x="4344772" y="1847088"/>
            <a:ext cx="3502152" cy="23774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18" name="c_adm_hdt"/>
          <p:cNvSpPr/>
          <p:nvPr/>
        </p:nvSpPr>
        <p:spPr>
          <a:xfrm>
            <a:off x="4344772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9" name="c_adm_bl"/>
          <p:cNvSpPr/>
          <p:nvPr/>
        </p:nvSpPr>
        <p:spPr>
          <a:xfrm>
            <a:off x="4600804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resident accounts and newly submitted complaints.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possible duplicates identified by the system.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valid records and maintains platform integrity.</a:t>
            </a:r>
            <a:endParaRPr lang="en-US" sz="1800" dirty="0"/>
          </a:p>
        </p:txBody>
      </p:sp>
      <p:sp>
        <p:nvSpPr>
          <p:cNvPr id="20" name="c_aut_bg"/>
          <p:cNvSpPr/>
          <p:nvPr/>
        </p:nvSpPr>
        <p:spPr>
          <a:xfrm>
            <a:off x="8249260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1" name="c_aut_hd"/>
          <p:cNvSpPr/>
          <p:nvPr/>
        </p:nvSpPr>
        <p:spPr>
          <a:xfrm>
            <a:off x="8249260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c_aut_hd2"/>
          <p:cNvSpPr/>
          <p:nvPr/>
        </p:nvSpPr>
        <p:spPr>
          <a:xfrm>
            <a:off x="8249260" y="1847088"/>
            <a:ext cx="3502152" cy="23774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23" name="c_aut_hdt"/>
          <p:cNvSpPr/>
          <p:nvPr/>
        </p:nvSpPr>
        <p:spPr>
          <a:xfrm>
            <a:off x="8249260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2000" dirty="0"/>
          </a:p>
        </p:txBody>
      </p:sp>
      <p:sp>
        <p:nvSpPr>
          <p:cNvPr id="24" name="c_aut_bl"/>
          <p:cNvSpPr/>
          <p:nvPr/>
        </p:nvSpPr>
        <p:spPr>
          <a:xfrm>
            <a:off x="8505292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verified complaints and begins the required work.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deadlines, budgets, contractors, notes, and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complaints and responds to resident feedback.</a:t>
            </a:r>
            <a:endParaRPr lang="en-US" sz="1800" dirty="0"/>
          </a:p>
        </p:txBody>
      </p:sp>
      <p:sp>
        <p:nvSpPr>
          <p:cNvPr id="25" name="sys_bg"/>
          <p:cNvSpPr/>
          <p:nvPr/>
        </p:nvSpPr>
        <p:spPr>
          <a:xfrm>
            <a:off x="440284" y="5605272"/>
            <a:ext cx="11311128" cy="731520"/>
          </a:xfrm>
          <a:prstGeom prst="roundRect">
            <a:avLst>
              <a:gd name="adj" fmla="val 12500"/>
            </a:avLst>
          </a:prstGeom>
          <a:solidFill>
            <a:srgbClr val="E9ECF1"/>
          </a:solidFill>
          <a:ln w="12700">
            <a:solidFill>
              <a:srgbClr val="D8DD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740" y="5797296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9740" y="579729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LAYER</a:t>
            </a:r>
            <a:endParaRPr lang="en-US" sz="1400" dirty="0"/>
          </a:p>
        </p:txBody>
      </p:sp>
      <p:sp>
        <p:nvSpPr>
          <p:cNvPr id="28" name="sys_tx"/>
          <p:cNvSpPr/>
          <p:nvPr/>
        </p:nvSpPr>
        <p:spPr>
          <a:xfrm>
            <a:off x="2744572" y="5605272"/>
            <a:ext cx="8787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AI: categorization, duplicate screening, status tracking, and notifications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0" name="Text 28">
            <a:hlinkClick r:id="rId1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9">
            <a:hlinkClick r:id="rId2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30">
            <a:hlinkClick r:id="rId3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1">
            <a:hlinkClick r:id="rId4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2">
            <a:hlinkClick r:id="rId5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3">
            <a:hlinkClick r:id="rId6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4">
            <a:hlinkClick r:id="rId7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5">
            <a:hlinkClick r:id="rId8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6">
            <a:hlinkClick r:id="rId9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7">
            <a:hlinkClick r:id="rId10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Account Registration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584448" cy="463600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3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3_1_t"/>
          <p:cNvSpPr/>
          <p:nvPr/>
        </p:nvSpPr>
        <p:spPr>
          <a:xfrm>
            <a:off x="1234440" y="17830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Register from the public home page.</a:t>
            </a:r>
            <a:endParaRPr lang="en-US" sz="1800" dirty="0"/>
          </a:p>
        </p:txBody>
      </p:sp>
      <p:sp>
        <p:nvSpPr>
          <p:cNvPr id="13" name="p3_2_c"/>
          <p:cNvSpPr/>
          <p:nvPr/>
        </p:nvSpPr>
        <p:spPr>
          <a:xfrm>
            <a:off x="685800" y="27919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3_2_t"/>
          <p:cNvSpPr/>
          <p:nvPr/>
        </p:nvSpPr>
        <p:spPr>
          <a:xfrm>
            <a:off x="1234440" y="27736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identity and contact information.</a:t>
            </a:r>
            <a:endParaRPr lang="en-US" sz="1800" dirty="0"/>
          </a:p>
        </p:txBody>
      </p:sp>
      <p:sp>
        <p:nvSpPr>
          <p:cNvPr id="15" name="p3_3_c"/>
          <p:cNvSpPr/>
          <p:nvPr/>
        </p:nvSpPr>
        <p:spPr>
          <a:xfrm>
            <a:off x="685800" y="37825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3_3_t"/>
          <p:cNvSpPr/>
          <p:nvPr/>
        </p:nvSpPr>
        <p:spPr>
          <a:xfrm>
            <a:off x="1234440" y="3764280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residential address and secure login credentials.</a:t>
            </a:r>
            <a:endParaRPr lang="en-US" sz="1800" dirty="0"/>
          </a:p>
        </p:txBody>
      </p:sp>
      <p:sp>
        <p:nvSpPr>
          <p:cNvPr id="17" name="p3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3_4_t"/>
          <p:cNvSpPr/>
          <p:nvPr/>
        </p:nvSpPr>
        <p:spPr>
          <a:xfrm>
            <a:off x="1234440" y="5038344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information before registration.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2186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63800" y="2327148"/>
            <a:ext cx="1935058" cy="3712464"/>
          </a:xfrm>
          <a:prstGeom prst="roundRect">
            <a:avLst>
              <a:gd name="adj" fmla="val 378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registration/01-public-home-registration-entr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4092" y="2377440"/>
            <a:ext cx="1834474" cy="3611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894052" y="6099048"/>
            <a:ext cx="24745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 page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36018" y="1641348"/>
            <a:ext cx="3246916" cy="4398264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registration/02-resident-registration-personal-info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310" y="1691640"/>
            <a:ext cx="3146332" cy="42976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966270" y="6099048"/>
            <a:ext cx="37864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9620094" y="1641348"/>
            <a:ext cx="2303145" cy="4398264"/>
          </a:xfrm>
          <a:prstGeom prst="roundRect">
            <a:avLst>
              <a:gd name="adj" fmla="val 31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1/registration/03-resident-registration-address-and-security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386" y="1691640"/>
            <a:ext cx="2202561" cy="42976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350346" y="6099048"/>
            <a:ext cx="28426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credentials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6890406" y="4321820"/>
            <a:ext cx="582071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890406" y="4966472"/>
            <a:ext cx="111694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31308" y="5611124"/>
            <a:ext cx="45621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952314" y="2357780"/>
            <a:ext cx="176205" cy="116037"/>
          </a:xfrm>
          <a:prstGeom prst="roundRect">
            <a:avLst>
              <a:gd name="adj" fmla="val 394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3" name="h3_1"/>
          <p:cNvSpPr/>
          <p:nvPr/>
        </p:nvSpPr>
        <p:spPr>
          <a:xfrm>
            <a:off x="5389990" y="2381052"/>
            <a:ext cx="388908" cy="180594"/>
          </a:xfrm>
          <a:prstGeom prst="roundRect">
            <a:avLst>
              <a:gd name="adj" fmla="val 3038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3_4"/>
          <p:cNvSpPr/>
          <p:nvPr/>
        </p:nvSpPr>
        <p:spPr>
          <a:xfrm>
            <a:off x="9868616" y="5293096"/>
            <a:ext cx="1810505" cy="249265"/>
          </a:xfrm>
          <a:prstGeom prst="roundRect">
            <a:avLst>
              <a:gd name="adj" fmla="val 2201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3_1"/>
          <p:cNvSpPr/>
          <p:nvPr/>
        </p:nvSpPr>
        <p:spPr>
          <a:xfrm>
            <a:off x="4159626" y="231014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3_1_t"/>
          <p:cNvSpPr/>
          <p:nvPr/>
        </p:nvSpPr>
        <p:spPr>
          <a:xfrm>
            <a:off x="4159626" y="23101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7" name="b3_2"/>
          <p:cNvSpPr/>
          <p:nvPr/>
        </p:nvSpPr>
        <p:spPr>
          <a:xfrm>
            <a:off x="6245015" y="16376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3_2_t"/>
          <p:cNvSpPr/>
          <p:nvPr/>
        </p:nvSpPr>
        <p:spPr>
          <a:xfrm>
            <a:off x="6245015" y="16376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9" name="b3_3"/>
          <p:cNvSpPr/>
          <p:nvPr/>
        </p:nvSpPr>
        <p:spPr>
          <a:xfrm>
            <a:off x="9619659" y="164628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3_3_t"/>
          <p:cNvSpPr/>
          <p:nvPr/>
        </p:nvSpPr>
        <p:spPr>
          <a:xfrm>
            <a:off x="9619659" y="16462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b3_4"/>
          <p:cNvSpPr/>
          <p:nvPr/>
        </p:nvSpPr>
        <p:spPr>
          <a:xfrm>
            <a:off x="9597634" y="523484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2" name="b3_4_t"/>
          <p:cNvSpPr/>
          <p:nvPr/>
        </p:nvSpPr>
        <p:spPr>
          <a:xfrm>
            <a:off x="9597634" y="523484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4" name="Text 39">
            <a:hlinkClick r:id="rId4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5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6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7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8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9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0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1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2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3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Request Submitted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3383280" cy="4636008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4_1_c"/>
          <p:cNvSpPr/>
          <p:nvPr/>
        </p:nvSpPr>
        <p:spPr>
          <a:xfrm>
            <a:off x="667512" y="177393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4_1_t"/>
          <p:cNvSpPr/>
          <p:nvPr/>
        </p:nvSpPr>
        <p:spPr>
          <a:xfrm>
            <a:off x="1216152" y="1755648"/>
            <a:ext cx="232257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submits the completed registration form.</a:t>
            </a:r>
            <a:endParaRPr lang="en-US" sz="1800" dirty="0"/>
          </a:p>
        </p:txBody>
      </p:sp>
      <p:sp>
        <p:nvSpPr>
          <p:cNvPr id="15" name="p4_2_c"/>
          <p:cNvSpPr/>
          <p:nvPr/>
        </p:nvSpPr>
        <p:spPr>
          <a:xfrm>
            <a:off x="667512" y="275234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4_2_t"/>
          <p:cNvSpPr/>
          <p:nvPr/>
        </p:nvSpPr>
        <p:spPr>
          <a:xfrm>
            <a:off x="1216152" y="2734056"/>
            <a:ext cx="232257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creates the account with an unverified status.</a:t>
            </a:r>
            <a:endParaRPr lang="en-US" sz="1800" dirty="0"/>
          </a:p>
        </p:txBody>
      </p:sp>
      <p:sp>
        <p:nvSpPr>
          <p:cNvPr id="17" name="p4_3_c"/>
          <p:cNvSpPr/>
          <p:nvPr/>
        </p:nvSpPr>
        <p:spPr>
          <a:xfrm>
            <a:off x="667512" y="401421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4_3_t"/>
          <p:cNvSpPr/>
          <p:nvPr/>
        </p:nvSpPr>
        <p:spPr>
          <a:xfrm>
            <a:off x="1216152" y="3995928"/>
            <a:ext cx="232257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sees an awaiting-verification confirmation.</a:t>
            </a:r>
            <a:endParaRPr lang="en-US" sz="1800" dirty="0"/>
          </a:p>
        </p:txBody>
      </p:sp>
      <p:sp>
        <p:nvSpPr>
          <p:cNvPr id="19" name="p4_4_c"/>
          <p:cNvSpPr/>
          <p:nvPr/>
        </p:nvSpPr>
        <p:spPr>
          <a:xfrm>
            <a:off x="667512" y="499262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4_4_t"/>
          <p:cNvSpPr/>
          <p:nvPr/>
        </p:nvSpPr>
        <p:spPr>
          <a:xfrm>
            <a:off x="1216152" y="4974336"/>
            <a:ext cx="232257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dashboard displays a new pending account.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0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536192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536192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96935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16391" y="1536192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6391" y="1536192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42499" y="1924812"/>
            <a:ext cx="2127882" cy="4032504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8" name="Image 0" descr="C:/NogorShomadhan/User Manual/Phase 1/registration/04-registration-success-awaiting-admin-ver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2791" y="1975104"/>
            <a:ext cx="2027298" cy="3931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9046456" y="1924812"/>
            <a:ext cx="2084238" cy="4032504"/>
          </a:xfrm>
          <a:prstGeom prst="roundRect">
            <a:avLst>
              <a:gd name="adj" fmla="val 351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1" descr="C:/NogorShomadhan/User Manual/Phase 1/admin verification/05-admin-dashboard-new-account-aler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48" y="1975104"/>
            <a:ext cx="1983654" cy="393192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060394" y="2572756"/>
            <a:ext cx="158129" cy="106162"/>
          </a:xfrm>
          <a:prstGeom prst="roundRect">
            <a:avLst>
              <a:gd name="adj" fmla="val 4306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arrow4"/>
          <p:cNvSpPr/>
          <p:nvPr/>
        </p:nvSpPr>
        <p:spPr>
          <a:xfrm>
            <a:off x="7626096" y="3675888"/>
            <a:ext cx="642823" cy="530352"/>
          </a:xfrm>
          <a:prstGeom prst="rightArrow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arrow4t"/>
          <p:cNvSpPr/>
          <p:nvPr/>
        </p:nvSpPr>
        <p:spPr>
          <a:xfrm>
            <a:off x="7516368" y="3054096"/>
            <a:ext cx="862279" cy="51206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spc="6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OVER TO</a:t>
            </a:r>
            <a:endParaRPr lang="en-US" sz="1200" dirty="0"/>
          </a:p>
        </p:txBody>
      </p:sp>
      <p:sp>
        <p:nvSpPr>
          <p:cNvPr id="34" name="h4_3"/>
          <p:cNvSpPr/>
          <p:nvPr/>
        </p:nvSpPr>
        <p:spPr>
          <a:xfrm>
            <a:off x="5230687" y="1986900"/>
            <a:ext cx="1524528" cy="424647"/>
          </a:xfrm>
          <a:prstGeom prst="roundRect">
            <a:avLst>
              <a:gd name="adj" fmla="val 1292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4_3"/>
          <p:cNvSpPr/>
          <p:nvPr/>
        </p:nvSpPr>
        <p:spPr>
          <a:xfrm>
            <a:off x="4731549" y="200848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4_3_t"/>
          <p:cNvSpPr/>
          <p:nvPr/>
        </p:nvSpPr>
        <p:spPr>
          <a:xfrm>
            <a:off x="4731549" y="2008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h4_4"/>
          <p:cNvSpPr/>
          <p:nvPr/>
        </p:nvSpPr>
        <p:spPr>
          <a:xfrm>
            <a:off x="9168160" y="2218883"/>
            <a:ext cx="1836863" cy="562265"/>
          </a:xfrm>
          <a:prstGeom prst="roundRect">
            <a:avLst>
              <a:gd name="adj" fmla="val 975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4_4"/>
          <p:cNvSpPr/>
          <p:nvPr/>
        </p:nvSpPr>
        <p:spPr>
          <a:xfrm>
            <a:off x="8973378" y="2146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4_4_t"/>
          <p:cNvSpPr/>
          <p:nvPr/>
        </p:nvSpPr>
        <p:spPr>
          <a:xfrm>
            <a:off x="8973378" y="2146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Receives the Verification Request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931920" cy="463600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5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5_1_t"/>
          <p:cNvSpPr/>
          <p:nvPr/>
        </p:nvSpPr>
        <p:spPr>
          <a:xfrm>
            <a:off x="1234440" y="1783080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receives a new resident account notification.</a:t>
            </a:r>
            <a:endParaRPr lang="en-US" sz="1800" dirty="0"/>
          </a:p>
        </p:txBody>
      </p:sp>
      <p:sp>
        <p:nvSpPr>
          <p:cNvPr id="13" name="p5_2_c"/>
          <p:cNvSpPr/>
          <p:nvPr/>
        </p:nvSpPr>
        <p:spPr>
          <a:xfrm>
            <a:off x="685800" y="28864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5_2_t"/>
          <p:cNvSpPr/>
          <p:nvPr/>
        </p:nvSpPr>
        <p:spPr>
          <a:xfrm>
            <a:off x="1234440" y="286816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Pending Accounts.</a:t>
            </a:r>
            <a:endParaRPr lang="en-US" sz="1800" dirty="0"/>
          </a:p>
        </p:txBody>
      </p:sp>
      <p:sp>
        <p:nvSpPr>
          <p:cNvPr id="15" name="p5_3_c"/>
          <p:cNvSpPr/>
          <p:nvPr/>
        </p:nvSpPr>
        <p:spPr>
          <a:xfrm>
            <a:off x="685800" y="39715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5_3_t"/>
          <p:cNvSpPr/>
          <p:nvPr/>
        </p:nvSpPr>
        <p:spPr>
          <a:xfrm>
            <a:off x="1234440" y="39532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resident appears in the verification queue.</a:t>
            </a:r>
            <a:endParaRPr lang="en-US" sz="1800" dirty="0"/>
          </a:p>
        </p:txBody>
      </p:sp>
      <p:sp>
        <p:nvSpPr>
          <p:cNvPr id="17" name="p5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5_4_t"/>
          <p:cNvSpPr/>
          <p:nvPr/>
        </p:nvSpPr>
        <p:spPr>
          <a:xfrm>
            <a:off x="1234440" y="5038344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can review, approve, or reject the request.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17564" y="1367028"/>
            <a:ext cx="2589438" cy="4690872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6-admin-notification-new-resident-accou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7856" y="1417320"/>
            <a:ext cx="2488854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747816" y="6117336"/>
            <a:ext cx="31289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 inbox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996890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7-admin-pending-account-verification-lis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82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727142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account verifications</a:t>
            </a:r>
            <a:endParaRPr lang="en-US" sz="1600" dirty="0"/>
          </a:p>
        </p:txBody>
      </p:sp>
      <p:sp>
        <p:nvSpPr>
          <p:cNvPr id="26" name="arrow5"/>
          <p:cNvSpPr/>
          <p:nvPr/>
        </p:nvSpPr>
        <p:spPr>
          <a:xfrm>
            <a:off x="7867606" y="3456432"/>
            <a:ext cx="86868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7" name="arrow5t"/>
          <p:cNvSpPr/>
          <p:nvPr/>
        </p:nvSpPr>
        <p:spPr>
          <a:xfrm>
            <a:off x="7684726" y="30723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9824206" y="4107229"/>
            <a:ext cx="405908" cy="128528"/>
          </a:xfrm>
          <a:prstGeom prst="roundRect">
            <a:avLst>
              <a:gd name="adj" fmla="val 35572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5_1"/>
          <p:cNvSpPr/>
          <p:nvPr/>
        </p:nvSpPr>
        <p:spPr>
          <a:xfrm>
            <a:off x="5157455" y="3280977"/>
            <a:ext cx="2309657" cy="550835"/>
          </a:xfrm>
          <a:prstGeom prst="roundRect">
            <a:avLst>
              <a:gd name="adj" fmla="val 996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5_1"/>
          <p:cNvSpPr/>
          <p:nvPr/>
        </p:nvSpPr>
        <p:spPr>
          <a:xfrm>
            <a:off x="4959642" y="3098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5_1_t"/>
          <p:cNvSpPr/>
          <p:nvPr/>
        </p:nvSpPr>
        <p:spPr>
          <a:xfrm>
            <a:off x="4959642" y="3098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5_3"/>
          <p:cNvSpPr/>
          <p:nvPr/>
        </p:nvSpPr>
        <p:spPr>
          <a:xfrm>
            <a:off x="9126044" y="3840992"/>
            <a:ext cx="2157109" cy="587557"/>
          </a:xfrm>
          <a:prstGeom prst="roundRect">
            <a:avLst>
              <a:gd name="adj" fmla="val 93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b5_3"/>
          <p:cNvSpPr/>
          <p:nvPr/>
        </p:nvSpPr>
        <p:spPr>
          <a:xfrm>
            <a:off x="8933887" y="366729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5_3_t"/>
          <p:cNvSpPr/>
          <p:nvPr/>
        </p:nvSpPr>
        <p:spPr>
          <a:xfrm>
            <a:off x="8933887" y="36672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h5_4"/>
          <p:cNvSpPr/>
          <p:nvPr/>
        </p:nvSpPr>
        <p:spPr>
          <a:xfrm>
            <a:off x="9139961" y="4456091"/>
            <a:ext cx="2133915" cy="229514"/>
          </a:xfrm>
          <a:prstGeom prst="roundRect">
            <a:avLst>
              <a:gd name="adj" fmla="val 2390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5_4"/>
          <p:cNvSpPr/>
          <p:nvPr/>
        </p:nvSpPr>
        <p:spPr>
          <a:xfrm>
            <a:off x="10024039" y="473223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5_4_t"/>
          <p:cNvSpPr/>
          <p:nvPr/>
        </p:nvSpPr>
        <p:spPr>
          <a:xfrm>
            <a:off x="10024039" y="473223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8" name="b5_2"/>
          <p:cNvSpPr/>
          <p:nvPr/>
        </p:nvSpPr>
        <p:spPr>
          <a:xfrm>
            <a:off x="8119066" y="2956072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5_2_t"/>
          <p:cNvSpPr/>
          <p:nvPr/>
        </p:nvSpPr>
        <p:spPr>
          <a:xfrm>
            <a:off x="8119066" y="2956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 and Approves the Account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343400" cy="46360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6_1_c"/>
          <p:cNvSpPr/>
          <p:nvPr/>
        </p:nvSpPr>
        <p:spPr>
          <a:xfrm>
            <a:off x="704088" y="182880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6_1_t"/>
          <p:cNvSpPr/>
          <p:nvPr/>
        </p:nvSpPr>
        <p:spPr>
          <a:xfrm>
            <a:off x="1252728" y="1810512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resident’s submitted account information.</a:t>
            </a:r>
            <a:endParaRPr lang="en-US" sz="1800" dirty="0"/>
          </a:p>
        </p:txBody>
      </p:sp>
      <p:sp>
        <p:nvSpPr>
          <p:cNvPr id="13" name="p6_2_c"/>
          <p:cNvSpPr/>
          <p:nvPr/>
        </p:nvSpPr>
        <p:spPr>
          <a:xfrm>
            <a:off x="704088" y="283464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6_2_t"/>
          <p:cNvSpPr/>
          <p:nvPr/>
        </p:nvSpPr>
        <p:spPr>
          <a:xfrm>
            <a:off x="1252728" y="2816352"/>
            <a:ext cx="320954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the identity and address details are valid.</a:t>
            </a:r>
            <a:endParaRPr lang="en-US" sz="1800" dirty="0"/>
          </a:p>
        </p:txBody>
      </p:sp>
      <p:sp>
        <p:nvSpPr>
          <p:cNvPr id="15" name="p6_3_c"/>
          <p:cNvSpPr/>
          <p:nvPr/>
        </p:nvSpPr>
        <p:spPr>
          <a:xfrm>
            <a:off x="704088" y="41239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6_3_t"/>
          <p:cNvSpPr/>
          <p:nvPr/>
        </p:nvSpPr>
        <p:spPr>
          <a:xfrm>
            <a:off x="1252728" y="410565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Approve for a valid registration.</a:t>
            </a:r>
            <a:endParaRPr lang="en-US" sz="1800" dirty="0"/>
          </a:p>
        </p:txBody>
      </p:sp>
      <p:sp>
        <p:nvSpPr>
          <p:cNvPr id="17" name="p6_4_c"/>
          <p:cNvSpPr/>
          <p:nvPr/>
        </p:nvSpPr>
        <p:spPr>
          <a:xfrm>
            <a:off x="704088" y="512978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6_4_t"/>
          <p:cNvSpPr/>
          <p:nvPr/>
        </p:nvSpPr>
        <p:spPr>
          <a:xfrm>
            <a:off x="1252728" y="511149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approval action.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6144768"/>
            <a:ext cx="3941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734991" y="1367028"/>
            <a:ext cx="2434745" cy="4690872"/>
          </a:xfrm>
          <a:prstGeom prst="roundRect">
            <a:avLst>
              <a:gd name="adj" fmla="val 30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8-admin-review-resident-account-detail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283" y="1417320"/>
            <a:ext cx="2334161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65243" y="6117336"/>
            <a:ext cx="2974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account details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709232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9-admin-approve-account-confi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524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439484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confirmation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47078" y="2867851"/>
            <a:ext cx="39680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47078" y="3170810"/>
            <a:ext cx="81695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82090" y="3492130"/>
            <a:ext cx="326783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990689" y="3795089"/>
            <a:ext cx="175062" cy="110167"/>
          </a:xfrm>
          <a:prstGeom prst="roundRect">
            <a:avLst>
              <a:gd name="adj" fmla="val 415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h6_1"/>
          <p:cNvSpPr/>
          <p:nvPr/>
        </p:nvSpPr>
        <p:spPr>
          <a:xfrm>
            <a:off x="5948674" y="2427183"/>
            <a:ext cx="1984037" cy="1156753"/>
          </a:xfrm>
          <a:prstGeom prst="roundRect">
            <a:avLst>
              <a:gd name="adj" fmla="val 474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1" name="b6_1"/>
          <p:cNvSpPr/>
          <p:nvPr/>
        </p:nvSpPr>
        <p:spPr>
          <a:xfrm>
            <a:off x="5730781" y="224430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2" name="b6_1_t"/>
          <p:cNvSpPr/>
          <p:nvPr/>
        </p:nvSpPr>
        <p:spPr>
          <a:xfrm>
            <a:off x="5730781" y="224430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h6_2"/>
          <p:cNvSpPr/>
          <p:nvPr/>
        </p:nvSpPr>
        <p:spPr>
          <a:xfrm>
            <a:off x="5948674" y="3611478"/>
            <a:ext cx="1984037" cy="973141"/>
          </a:xfrm>
          <a:prstGeom prst="roundRect">
            <a:avLst>
              <a:gd name="adj" fmla="val 56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6_2"/>
          <p:cNvSpPr/>
          <p:nvPr/>
        </p:nvSpPr>
        <p:spPr>
          <a:xfrm>
            <a:off x="5730781" y="342859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6_2_t"/>
          <p:cNvSpPr/>
          <p:nvPr/>
        </p:nvSpPr>
        <p:spPr>
          <a:xfrm>
            <a:off x="5730781" y="342859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6_3"/>
          <p:cNvSpPr/>
          <p:nvPr/>
        </p:nvSpPr>
        <p:spPr>
          <a:xfrm>
            <a:off x="10341404" y="4483632"/>
            <a:ext cx="579868" cy="183612"/>
          </a:xfrm>
          <a:prstGeom prst="roundRect">
            <a:avLst>
              <a:gd name="adj" fmla="val 29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7" name="b6_3"/>
          <p:cNvSpPr/>
          <p:nvPr/>
        </p:nvSpPr>
        <p:spPr>
          <a:xfrm>
            <a:off x="10432222" y="466797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6_3_t"/>
          <p:cNvSpPr/>
          <p:nvPr/>
        </p:nvSpPr>
        <p:spPr>
          <a:xfrm>
            <a:off x="10432222" y="466797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h6_4"/>
          <p:cNvSpPr/>
          <p:nvPr/>
        </p:nvSpPr>
        <p:spPr>
          <a:xfrm>
            <a:off x="9942455" y="3932798"/>
            <a:ext cx="777023" cy="252466"/>
          </a:xfrm>
          <a:prstGeom prst="roundRect">
            <a:avLst>
              <a:gd name="adj" fmla="val 2173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0" name="b6_4"/>
          <p:cNvSpPr/>
          <p:nvPr/>
        </p:nvSpPr>
        <p:spPr>
          <a:xfrm>
            <a:off x="10606183" y="3873856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1" name="b6_4_t"/>
          <p:cNvSpPr/>
          <p:nvPr/>
        </p:nvSpPr>
        <p:spPr>
          <a:xfrm>
            <a:off x="10606183" y="3873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3" name="Text 39">
            <a:hlinkClick r:id="rId3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4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5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6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7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8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9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0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1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2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Verification Completed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4754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7_1_c"/>
          <p:cNvSpPr/>
          <p:nvPr/>
        </p:nvSpPr>
        <p:spPr>
          <a:xfrm>
            <a:off x="685800" y="16642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7_1_t"/>
          <p:cNvSpPr/>
          <p:nvPr/>
        </p:nvSpPr>
        <p:spPr>
          <a:xfrm>
            <a:off x="1234440" y="164592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receives an SMS confirming account approval.</a:t>
            </a:r>
            <a:endParaRPr lang="en-US" sz="1800" dirty="0"/>
          </a:p>
        </p:txBody>
      </p:sp>
      <p:sp>
        <p:nvSpPr>
          <p:cNvPr id="15" name="p7_2_c"/>
          <p:cNvSpPr/>
          <p:nvPr/>
        </p:nvSpPr>
        <p:spPr>
          <a:xfrm>
            <a:off x="685800" y="241706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7_2_t"/>
          <p:cNvSpPr/>
          <p:nvPr/>
        </p:nvSpPr>
        <p:spPr>
          <a:xfrm>
            <a:off x="1234440" y="2398776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Registered Accounts to view all approved profiles.</a:t>
            </a:r>
            <a:endParaRPr lang="en-US" sz="1800" dirty="0"/>
          </a:p>
        </p:txBody>
      </p:sp>
      <p:sp>
        <p:nvSpPr>
          <p:cNvPr id="17" name="p7_3_c"/>
          <p:cNvSpPr/>
          <p:nvPr/>
        </p:nvSpPr>
        <p:spPr>
          <a:xfrm>
            <a:off x="685800" y="316992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7_3_t"/>
          <p:cNvSpPr/>
          <p:nvPr/>
        </p:nvSpPr>
        <p:spPr>
          <a:xfrm>
            <a:off x="1234440" y="3151632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appears in the Registered Accounts list.</a:t>
            </a:r>
            <a:endParaRPr lang="en-US" sz="1800" dirty="0"/>
          </a:p>
        </p:txBody>
      </p:sp>
      <p:sp>
        <p:nvSpPr>
          <p:cNvPr id="19" name="p7_4_c"/>
          <p:cNvSpPr/>
          <p:nvPr/>
        </p:nvSpPr>
        <p:spPr>
          <a:xfrm>
            <a:off x="685800" y="392277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7_4_t"/>
          <p:cNvSpPr/>
          <p:nvPr/>
        </p:nvSpPr>
        <p:spPr>
          <a:xfrm>
            <a:off x="1234440" y="3904488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status changes to Verified.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" y="4727448"/>
            <a:ext cx="4754880" cy="1216152"/>
          </a:xfrm>
          <a:prstGeom prst="roundRect">
            <a:avLst>
              <a:gd name="adj" fmla="val 902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" y="4782312"/>
            <a:ext cx="4315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TO THE RESIDENT</a:t>
            </a:r>
            <a:endParaRPr lang="en-US" sz="1200" dirty="0"/>
          </a:p>
        </p:txBody>
      </p:sp>
      <p:sp>
        <p:nvSpPr>
          <p:cNvPr id="23" name="s7_sms_f"/>
          <p:cNvSpPr/>
          <p:nvPr/>
        </p:nvSpPr>
        <p:spPr>
          <a:xfrm>
            <a:off x="1120140" y="4965192"/>
            <a:ext cx="3337560" cy="1004888"/>
          </a:xfrm>
          <a:prstGeom prst="roundRect">
            <a:avLst>
              <a:gd name="adj" fmla="val 637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pic>
        <p:nvPicPr>
          <p:cNvPr id="24" name="s7_sms" descr="C:/NogorShomadhan/User Manual/Phase 1/admin verification/10-resident-account-approved-sm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5010912"/>
            <a:ext cx="3246120" cy="91344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486400" y="1417320"/>
            <a:ext cx="6293815" cy="4526280"/>
          </a:xfrm>
          <a:prstGeom prst="roundRect">
            <a:avLst>
              <a:gd name="adj" fmla="val 2424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661402" y="1517904"/>
            <a:ext cx="25222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9079798" y="1517904"/>
            <a:ext cx="2525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accounts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885430" y="1906524"/>
            <a:ext cx="2074229" cy="4014216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9" name="Image 1" descr="C:/NogorShomadhan/User Manual/Phase 1/admin registration accounts view/11-admin-dashboard-showing-registeredaccounts-op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722" y="1956816"/>
            <a:ext cx="1973645" cy="39136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9303826" y="1906524"/>
            <a:ext cx="2077360" cy="4014216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1" name="Image 2" descr="C:/NogorShomadhan/User Manual/Phase 1/admin registration accounts view/12-admin-registered-account-verified-list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118" y="1956816"/>
            <a:ext cx="1976776" cy="3913632"/>
          </a:xfrm>
          <a:prstGeom prst="rect">
            <a:avLst/>
          </a:prstGeom>
        </p:spPr>
      </p:pic>
      <p:sp>
        <p:nvSpPr>
          <p:cNvPr id="32" name="arrow7"/>
          <p:cNvSpPr/>
          <p:nvPr/>
        </p:nvSpPr>
        <p:spPr>
          <a:xfrm>
            <a:off x="8220262" y="3657600"/>
            <a:ext cx="82296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660518" y="4737452"/>
            <a:ext cx="711639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660518" y="5034888"/>
            <a:ext cx="256981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5" name="h7_2"/>
          <p:cNvSpPr/>
          <p:nvPr/>
        </p:nvSpPr>
        <p:spPr>
          <a:xfrm>
            <a:off x="6006773" y="4864645"/>
            <a:ext cx="1831542" cy="461809"/>
          </a:xfrm>
          <a:prstGeom prst="roundRect">
            <a:avLst>
              <a:gd name="adj" fmla="val 11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7_2"/>
          <p:cNvSpPr/>
          <p:nvPr/>
        </p:nvSpPr>
        <p:spPr>
          <a:xfrm>
            <a:off x="5812051" y="468176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7_2_t"/>
          <p:cNvSpPr/>
          <p:nvPr/>
        </p:nvSpPr>
        <p:spPr>
          <a:xfrm>
            <a:off x="5812051" y="468176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h7_3"/>
          <p:cNvSpPr/>
          <p:nvPr/>
        </p:nvSpPr>
        <p:spPr>
          <a:xfrm>
            <a:off x="9425282" y="4140623"/>
            <a:ext cx="1834448" cy="1260190"/>
          </a:xfrm>
          <a:prstGeom prst="roundRect">
            <a:avLst>
              <a:gd name="adj" fmla="val 435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9" name="b7_3"/>
          <p:cNvSpPr/>
          <p:nvPr/>
        </p:nvSpPr>
        <p:spPr>
          <a:xfrm>
            <a:off x="9230541" y="395774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7_3_t"/>
          <p:cNvSpPr/>
          <p:nvPr/>
        </p:nvSpPr>
        <p:spPr>
          <a:xfrm>
            <a:off x="9230541" y="395774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h7_4"/>
          <p:cNvSpPr/>
          <p:nvPr/>
        </p:nvSpPr>
        <p:spPr>
          <a:xfrm>
            <a:off x="10840653" y="4234550"/>
            <a:ext cx="365703" cy="117409"/>
          </a:xfrm>
          <a:prstGeom prst="roundRect">
            <a:avLst>
              <a:gd name="adj" fmla="val 4672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2" name="b7_4"/>
          <p:cNvSpPr/>
          <p:nvPr/>
        </p:nvSpPr>
        <p:spPr>
          <a:xfrm>
            <a:off x="10466026" y="403601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3" name="b7_4_t"/>
          <p:cNvSpPr/>
          <p:nvPr/>
        </p:nvSpPr>
        <p:spPr>
          <a:xfrm>
            <a:off x="10466026" y="403601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4" name="b7_1"/>
          <p:cNvSpPr/>
          <p:nvPr/>
        </p:nvSpPr>
        <p:spPr>
          <a:xfrm>
            <a:off x="804443" y="528475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5" name="b7_1_t"/>
          <p:cNvSpPr/>
          <p:nvPr/>
        </p:nvSpPr>
        <p:spPr>
          <a:xfrm>
            <a:off x="804443" y="52847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out7_bg"/>
          <p:cNvSpPr/>
          <p:nvPr/>
        </p:nvSpPr>
        <p:spPr>
          <a:xfrm>
            <a:off x="411480" y="6035040"/>
            <a:ext cx="11368735" cy="457200"/>
          </a:xfrm>
          <a:prstGeom prst="roundRect">
            <a:avLst>
              <a:gd name="adj" fmla="val 20000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7" name="out7_tx"/>
          <p:cNvSpPr/>
          <p:nvPr/>
        </p:nvSpPr>
        <p:spPr>
          <a:xfrm>
            <a:off x="411480" y="6035040"/>
            <a:ext cx="113687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can now sign in and begin reporting community problems.</a:t>
            </a:r>
            <a:endParaRPr lang="en-US" sz="1850" dirty="0"/>
          </a:p>
        </p:txBody>
      </p:sp>
      <p:sp>
        <p:nvSpPr>
          <p:cNvPr id="48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9" name="Text 44">
            <a:hlinkClick r:id="rId4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5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6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7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8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9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0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1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2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3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3475E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34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9DBE2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03475E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opens the complaint form and provides clear information about the community issue and its location.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474720" cy="4151376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8_1_c"/>
          <p:cNvSpPr/>
          <p:nvPr/>
        </p:nvSpPr>
        <p:spPr>
          <a:xfrm>
            <a:off x="667512" y="2505456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8_1_t"/>
          <p:cNvSpPr/>
          <p:nvPr/>
        </p:nvSpPr>
        <p:spPr>
          <a:xfrm>
            <a:off x="1216152" y="2487168"/>
            <a:ext cx="241401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Complaints from the Resident Dashboard.</a:t>
            </a:r>
            <a:endParaRPr lang="en-US" sz="1800" dirty="0"/>
          </a:p>
        </p:txBody>
      </p:sp>
      <p:sp>
        <p:nvSpPr>
          <p:cNvPr id="16" name="p8_2_c"/>
          <p:cNvSpPr/>
          <p:nvPr/>
        </p:nvSpPr>
        <p:spPr>
          <a:xfrm>
            <a:off x="667512" y="3589020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8_2_t"/>
          <p:cNvSpPr/>
          <p:nvPr/>
        </p:nvSpPr>
        <p:spPr>
          <a:xfrm>
            <a:off x="1216152" y="3570732"/>
            <a:ext cx="24140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New Complaint tab.</a:t>
            </a:r>
            <a:endParaRPr lang="en-US" sz="1800" dirty="0"/>
          </a:p>
        </p:txBody>
      </p:sp>
      <p:sp>
        <p:nvSpPr>
          <p:cNvPr id="18" name="p8_3_c"/>
          <p:cNvSpPr/>
          <p:nvPr/>
        </p:nvSpPr>
        <p:spPr>
          <a:xfrm>
            <a:off x="667512" y="4389120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8_3_t"/>
          <p:cNvSpPr/>
          <p:nvPr/>
        </p:nvSpPr>
        <p:spPr>
          <a:xfrm>
            <a:off x="1216152" y="4370832"/>
            <a:ext cx="2414016" cy="1755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complaint title, description, incident address, nearby landmark, and additional location details.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480768" y="2125980"/>
            <a:ext cx="2228164" cy="4251960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3-resident-dashboard selecting-complai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1060" y="2176272"/>
            <a:ext cx="2127580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882669" y="2125980"/>
            <a:ext cx="2218616" cy="4251960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resident submits complaint/14-resident-opens-submit-compl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61" y="2176272"/>
            <a:ext cx="2118032" cy="4151376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275021" y="2125980"/>
            <a:ext cx="2221522" cy="4251960"/>
          </a:xfrm>
          <a:prstGeom prst="roundRect">
            <a:avLst>
              <a:gd name="adj" fmla="val 3293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2/resident submits complaint/15-add-title-description-addre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313" y="2176272"/>
            <a:ext cx="2120938" cy="415137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686073" y="4078224"/>
            <a:ext cx="219456" cy="347472"/>
          </a:xfrm>
          <a:prstGeom prst="chevron">
            <a:avLst/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078425" y="4078224"/>
            <a:ext cx="219456" cy="347472"/>
          </a:xfrm>
          <a:prstGeom prst="chevron">
            <a:avLst/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28" name="h8_1"/>
          <p:cNvSpPr/>
          <p:nvPr/>
        </p:nvSpPr>
        <p:spPr>
          <a:xfrm>
            <a:off x="5158697" y="6095171"/>
            <a:ext cx="372327" cy="190963"/>
          </a:xfrm>
          <a:prstGeom prst="roundRect">
            <a:avLst>
              <a:gd name="adj" fmla="val 28730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29" name="b8_1"/>
          <p:cNvSpPr/>
          <p:nvPr/>
        </p:nvSpPr>
        <p:spPr>
          <a:xfrm>
            <a:off x="5163044" y="5721328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b8_1_t"/>
          <p:cNvSpPr/>
          <p:nvPr/>
        </p:nvSpPr>
        <p:spPr>
          <a:xfrm>
            <a:off x="5163044" y="5721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1" name="h8_2"/>
          <p:cNvSpPr/>
          <p:nvPr/>
        </p:nvSpPr>
        <p:spPr>
          <a:xfrm>
            <a:off x="7021918" y="2641226"/>
            <a:ext cx="677770" cy="224174"/>
          </a:xfrm>
          <a:prstGeom prst="roundRect">
            <a:avLst>
              <a:gd name="adj" fmla="val 24474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32" name="b8_2"/>
          <p:cNvSpPr/>
          <p:nvPr/>
        </p:nvSpPr>
        <p:spPr>
          <a:xfrm>
            <a:off x="6881399" y="2890089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8_2_t"/>
          <p:cNvSpPr/>
          <p:nvPr/>
        </p:nvSpPr>
        <p:spPr>
          <a:xfrm>
            <a:off x="6881399" y="289008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8_3a"/>
          <p:cNvSpPr/>
          <p:nvPr/>
        </p:nvSpPr>
        <p:spPr>
          <a:xfrm>
            <a:off x="9431360" y="3155997"/>
            <a:ext cx="1908844" cy="896697"/>
          </a:xfrm>
          <a:prstGeom prst="roundRect">
            <a:avLst>
              <a:gd name="adj" fmla="val 6118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35" name="h8_3b"/>
          <p:cNvSpPr/>
          <p:nvPr/>
        </p:nvSpPr>
        <p:spPr>
          <a:xfrm>
            <a:off x="9431360" y="4119116"/>
            <a:ext cx="1908844" cy="1619037"/>
          </a:xfrm>
          <a:prstGeom prst="roundRect">
            <a:avLst>
              <a:gd name="adj" fmla="val 3389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36" name="b8_3"/>
          <p:cNvSpPr/>
          <p:nvPr/>
        </p:nvSpPr>
        <p:spPr>
          <a:xfrm>
            <a:off x="9248480" y="3936236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8_3_t"/>
          <p:cNvSpPr/>
          <p:nvPr/>
        </p:nvSpPr>
        <p:spPr>
          <a:xfrm>
            <a:off x="9248480" y="39362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3475E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34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Evidence and Review the Category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9DBE2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03475E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evidence is optional. The system suggests a category from the complaint information, but the resident can change it before submission.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931920" cy="415137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9_1_c"/>
          <p:cNvSpPr/>
          <p:nvPr/>
        </p:nvSpPr>
        <p:spPr>
          <a:xfrm>
            <a:off x="685800" y="2523744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9_1_t"/>
          <p:cNvSpPr/>
          <p:nvPr/>
        </p:nvSpPr>
        <p:spPr>
          <a:xfrm>
            <a:off x="1234440" y="25054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attach photo evidence using the camera or gallery.</a:t>
            </a:r>
            <a:endParaRPr lang="en-US" sz="1800" dirty="0"/>
          </a:p>
        </p:txBody>
      </p:sp>
      <p:sp>
        <p:nvSpPr>
          <p:cNvPr id="16" name="p9_2_c"/>
          <p:cNvSpPr/>
          <p:nvPr/>
        </p:nvSpPr>
        <p:spPr>
          <a:xfrm>
            <a:off x="685800" y="3739896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9_2_t"/>
          <p:cNvSpPr/>
          <p:nvPr/>
        </p:nvSpPr>
        <p:spPr>
          <a:xfrm>
            <a:off x="1234440" y="372160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category automatically suggested by the AI.</a:t>
            </a:r>
            <a:endParaRPr lang="en-US" sz="1800" dirty="0"/>
          </a:p>
        </p:txBody>
      </p:sp>
      <p:sp>
        <p:nvSpPr>
          <p:cNvPr id="18" name="p9_3_c"/>
          <p:cNvSpPr/>
          <p:nvPr/>
        </p:nvSpPr>
        <p:spPr>
          <a:xfrm>
            <a:off x="685800" y="4956048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9_3_t"/>
          <p:cNvSpPr/>
          <p:nvPr/>
        </p:nvSpPr>
        <p:spPr>
          <a:xfrm>
            <a:off x="1234440" y="49377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necessary, open the category menu and select a more appropriate category manually.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47935" y="2125980"/>
            <a:ext cx="2185820" cy="4251960"/>
          </a:xfrm>
          <a:prstGeom prst="roundRect">
            <a:avLst>
              <a:gd name="adj" fmla="val 3347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6-add-photo-evidence-if-des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8227" y="2176272"/>
            <a:ext cx="2085236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877923" y="2125980"/>
            <a:ext cx="2208653" cy="4251960"/>
          </a:xfrm>
          <a:prstGeom prst="roundRect">
            <a:avLst>
              <a:gd name="adj" fmla="val 3312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categorization/19-choose-from-category o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8215" y="2176272"/>
            <a:ext cx="2108069" cy="4151376"/>
          </a:xfrm>
          <a:prstGeom prst="rect">
            <a:avLst/>
          </a:prstGeom>
        </p:spPr>
      </p:pic>
      <p:sp>
        <p:nvSpPr>
          <p:cNvPr id="24" name="arrow9"/>
          <p:cNvSpPr/>
          <p:nvPr/>
        </p:nvSpPr>
        <p:spPr>
          <a:xfrm>
            <a:off x="7794359" y="3995928"/>
            <a:ext cx="822960" cy="512064"/>
          </a:xfrm>
          <a:prstGeom prst="rightArrow">
            <a:avLst/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arrow9t"/>
          <p:cNvSpPr/>
          <p:nvPr/>
        </p:nvSpPr>
        <p:spPr>
          <a:xfrm>
            <a:off x="7611479" y="35935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4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6" name="h9_1a"/>
          <p:cNvSpPr/>
          <p:nvPr/>
        </p:nvSpPr>
        <p:spPr>
          <a:xfrm>
            <a:off x="5585898" y="3629254"/>
            <a:ext cx="1709894" cy="855183"/>
          </a:xfrm>
          <a:prstGeom prst="roundRect">
            <a:avLst>
              <a:gd name="adj" fmla="val 6415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27" name="h9_1b"/>
          <p:cNvSpPr/>
          <p:nvPr/>
        </p:nvSpPr>
        <p:spPr>
          <a:xfrm>
            <a:off x="5577557" y="4501043"/>
            <a:ext cx="471263" cy="489862"/>
          </a:xfrm>
          <a:prstGeom prst="roundRect">
            <a:avLst>
              <a:gd name="adj" fmla="val 11642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28" name="b9_1"/>
          <p:cNvSpPr/>
          <p:nvPr/>
        </p:nvSpPr>
        <p:spPr>
          <a:xfrm>
            <a:off x="5267478" y="3446374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9" name="b9_1_t"/>
          <p:cNvSpPr/>
          <p:nvPr/>
        </p:nvSpPr>
        <p:spPr>
          <a:xfrm>
            <a:off x="5267478" y="34463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0" name="h9_2a"/>
          <p:cNvSpPr/>
          <p:nvPr/>
        </p:nvSpPr>
        <p:spPr>
          <a:xfrm>
            <a:off x="5585898" y="5347923"/>
            <a:ext cx="1709894" cy="315505"/>
          </a:xfrm>
          <a:prstGeom prst="roundRect">
            <a:avLst>
              <a:gd name="adj" fmla="val 17389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31" name="h9_2b"/>
          <p:cNvSpPr/>
          <p:nvPr/>
        </p:nvSpPr>
        <p:spPr>
          <a:xfrm>
            <a:off x="5573387" y="5646822"/>
            <a:ext cx="1634825" cy="157752"/>
          </a:xfrm>
          <a:prstGeom prst="roundRect">
            <a:avLst>
              <a:gd name="adj" fmla="val 34779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32" name="b9_2"/>
          <p:cNvSpPr/>
          <p:nvPr/>
        </p:nvSpPr>
        <p:spPr>
          <a:xfrm>
            <a:off x="5267478" y="5314493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9_2_t"/>
          <p:cNvSpPr/>
          <p:nvPr/>
        </p:nvSpPr>
        <p:spPr>
          <a:xfrm>
            <a:off x="5267478" y="53144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9_3"/>
          <p:cNvSpPr/>
          <p:nvPr/>
        </p:nvSpPr>
        <p:spPr>
          <a:xfrm>
            <a:off x="9160103" y="2857098"/>
            <a:ext cx="1644294" cy="273991"/>
          </a:xfrm>
          <a:prstGeom prst="roundRect">
            <a:avLst>
              <a:gd name="adj" fmla="val 20024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35" name="b9_3"/>
          <p:cNvSpPr/>
          <p:nvPr/>
        </p:nvSpPr>
        <p:spPr>
          <a:xfrm>
            <a:off x="8888684" y="2811213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9_3_t"/>
          <p:cNvSpPr/>
          <p:nvPr/>
        </p:nvSpPr>
        <p:spPr>
          <a:xfrm>
            <a:off x="8888684" y="281121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4">
            <a:hlinkClick r:id="rId3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5">
            <a:hlinkClick r:id="rId4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6">
            <a:hlinkClick r:id="rId5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7">
            <a:hlinkClick r:id="rId6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7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8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9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10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1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2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3475E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34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Complaint Submission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9DBE2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03475E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is submitted successfully and placed in the review queue. Administrative processing continues in Phase 3.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448056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0_1_c"/>
          <p:cNvSpPr/>
          <p:nvPr/>
        </p:nvSpPr>
        <p:spPr>
          <a:xfrm>
            <a:off x="685800" y="2468880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10_1_t"/>
          <p:cNvSpPr/>
          <p:nvPr/>
        </p:nvSpPr>
        <p:spPr>
          <a:xfrm>
            <a:off x="1234440" y="24505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Complaint.</a:t>
            </a:r>
            <a:endParaRPr lang="en-US" sz="1800" dirty="0"/>
          </a:p>
        </p:txBody>
      </p:sp>
      <p:sp>
        <p:nvSpPr>
          <p:cNvPr id="16" name="p10_2_c"/>
          <p:cNvSpPr/>
          <p:nvPr/>
        </p:nvSpPr>
        <p:spPr>
          <a:xfrm>
            <a:off x="685800" y="2958084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10_2_t"/>
          <p:cNvSpPr/>
          <p:nvPr/>
        </p:nvSpPr>
        <p:spPr>
          <a:xfrm>
            <a:off x="1234440" y="2939796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confirmation prompt and select Yes.</a:t>
            </a:r>
            <a:endParaRPr lang="en-US" sz="1800" dirty="0"/>
          </a:p>
        </p:txBody>
      </p:sp>
      <p:sp>
        <p:nvSpPr>
          <p:cNvPr id="18" name="p10_3_c"/>
          <p:cNvSpPr/>
          <p:nvPr/>
        </p:nvSpPr>
        <p:spPr>
          <a:xfrm>
            <a:off x="685800" y="3721608"/>
            <a:ext cx="347472" cy="347472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10_3_t"/>
          <p:cNvSpPr/>
          <p:nvPr/>
        </p:nvSpPr>
        <p:spPr>
          <a:xfrm>
            <a:off x="1234440" y="3703320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 message confirms the complaint was logged and queued for review.</a:t>
            </a:r>
            <a:endParaRPr lang="en-US" sz="1800" dirty="0"/>
          </a:p>
        </p:txBody>
      </p:sp>
      <p:sp>
        <p:nvSpPr>
          <p:cNvPr id="20" name="note10_bg"/>
          <p:cNvSpPr/>
          <p:nvPr/>
        </p:nvSpPr>
        <p:spPr>
          <a:xfrm>
            <a:off x="667512" y="4700016"/>
            <a:ext cx="3968496" cy="987552"/>
          </a:xfrm>
          <a:prstGeom prst="roundRect">
            <a:avLst>
              <a:gd name="adj" fmla="val 7407"/>
            </a:avLst>
          </a:prstGeom>
          <a:solidFill>
            <a:srgbClr val="F5FAFC"/>
          </a:solidFill>
          <a:ln w="12700">
            <a:solidFill>
              <a:srgbClr val="C9DBE2"/>
            </a:solidFill>
            <a:prstDash val="solid"/>
          </a:ln>
        </p:spPr>
      </p:sp>
      <p:sp>
        <p:nvSpPr>
          <p:cNvPr id="21" name="note10_tx"/>
          <p:cNvSpPr/>
          <p:nvPr/>
        </p:nvSpPr>
        <p:spPr>
          <a:xfrm>
            <a:off x="813816" y="4700016"/>
            <a:ext cx="367588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34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
</a:t>
            </a:r>
            <a:pPr indent="0" marL="0">
              <a:buNone/>
            </a:pPr>
            <a:r>
              <a:rPr lang="en-US" sz="16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form behind the message is the reset form, ready for the next complaint.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6599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0" descr="C:/NogorShomadhan/User Manual/Phase 2/final submit/20-confirm-sub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891" y="2176272"/>
            <a:ext cx="1828068" cy="358444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8816188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9DBE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1" descr="C:/NogorShomadhan/User Manual/Phase 2/final submit/21-queue-for-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480" y="2176272"/>
            <a:ext cx="1828068" cy="3584448"/>
          </a:xfrm>
          <a:prstGeom prst="rect">
            <a:avLst/>
          </a:prstGeom>
        </p:spPr>
      </p:pic>
      <p:sp>
        <p:nvSpPr>
          <p:cNvPr id="26" name="h10_1"/>
          <p:cNvSpPr/>
          <p:nvPr/>
        </p:nvSpPr>
        <p:spPr>
          <a:xfrm>
            <a:off x="6390982" y="4721230"/>
            <a:ext cx="1656230" cy="279587"/>
          </a:xfrm>
          <a:prstGeom prst="roundRect">
            <a:avLst>
              <a:gd name="adj" fmla="val 19623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27" name="b10_1"/>
          <p:cNvSpPr/>
          <p:nvPr/>
        </p:nvSpPr>
        <p:spPr>
          <a:xfrm>
            <a:off x="6178853" y="4678144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b10_1_t"/>
          <p:cNvSpPr/>
          <p:nvPr/>
        </p:nvSpPr>
        <p:spPr>
          <a:xfrm>
            <a:off x="6178853" y="4678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9" name="h10_2"/>
          <p:cNvSpPr/>
          <p:nvPr/>
        </p:nvSpPr>
        <p:spPr>
          <a:xfrm>
            <a:off x="7239206" y="4190732"/>
            <a:ext cx="676385" cy="236574"/>
          </a:xfrm>
          <a:prstGeom prst="roundRect">
            <a:avLst>
              <a:gd name="adj" fmla="val 23191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30" name="b10_2"/>
          <p:cNvSpPr/>
          <p:nvPr/>
        </p:nvSpPr>
        <p:spPr>
          <a:xfrm>
            <a:off x="7403659" y="4344790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0_2_t"/>
          <p:cNvSpPr/>
          <p:nvPr/>
        </p:nvSpPr>
        <p:spPr>
          <a:xfrm>
            <a:off x="7403659" y="43447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2" name="h10_3"/>
          <p:cNvSpPr/>
          <p:nvPr/>
        </p:nvSpPr>
        <p:spPr>
          <a:xfrm>
            <a:off x="9109613" y="3022202"/>
            <a:ext cx="1502672" cy="480316"/>
          </a:xfrm>
          <a:prstGeom prst="roundRect">
            <a:avLst>
              <a:gd name="adj" fmla="val 11422"/>
            </a:avLst>
          </a:prstGeom>
          <a:ln w="28575">
            <a:solidFill>
              <a:srgbClr val="03475E"/>
            </a:solidFill>
            <a:prstDash val="solid"/>
          </a:ln>
        </p:spPr>
      </p:sp>
      <p:sp>
        <p:nvSpPr>
          <p:cNvPr id="33" name="b10_3"/>
          <p:cNvSpPr/>
          <p:nvPr/>
        </p:nvSpPr>
        <p:spPr>
          <a:xfrm>
            <a:off x="8873719" y="2839322"/>
            <a:ext cx="365760" cy="365760"/>
          </a:xfrm>
          <a:prstGeom prst="ellipse">
            <a:avLst/>
          </a:prstGeom>
          <a:solidFill>
            <a:srgbClr val="03475E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10_3_t"/>
          <p:cNvSpPr/>
          <p:nvPr/>
        </p:nvSpPr>
        <p:spPr>
          <a:xfrm>
            <a:off x="8873719" y="283932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flow10_bg"/>
          <p:cNvSpPr/>
          <p:nvPr/>
        </p:nvSpPr>
        <p:spPr>
          <a:xfrm>
            <a:off x="411480" y="5870448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F5FAFC"/>
          </a:solidFill>
          <a:ln w="12700">
            <a:solidFill>
              <a:srgbClr val="C9DBE2"/>
            </a:solidFill>
            <a:prstDash val="solid"/>
          </a:ln>
        </p:spPr>
      </p:sp>
      <p:sp>
        <p:nvSpPr>
          <p:cNvPr id="36" name="flow10_p0"/>
          <p:cNvSpPr/>
          <p:nvPr/>
        </p:nvSpPr>
        <p:spPr>
          <a:xfrm>
            <a:off x="547268" y="5961888"/>
            <a:ext cx="1978762" cy="384048"/>
          </a:xfrm>
          <a:prstGeom prst="roundRect">
            <a:avLst>
              <a:gd name="adj" fmla="val 50000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37" name="flow10_p0_t"/>
          <p:cNvSpPr/>
          <p:nvPr/>
        </p:nvSpPr>
        <p:spPr>
          <a:xfrm>
            <a:off x="547268" y="5961888"/>
            <a:ext cx="19787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Details</a:t>
            </a:r>
            <a:endParaRPr lang="en-US" sz="1600" dirty="0"/>
          </a:p>
        </p:txBody>
      </p:sp>
      <p:sp>
        <p:nvSpPr>
          <p:cNvPr id="38" name="flow10_c0"/>
          <p:cNvSpPr/>
          <p:nvPr/>
        </p:nvSpPr>
        <p:spPr>
          <a:xfrm>
            <a:off x="2626614" y="6044184"/>
            <a:ext cx="274320" cy="219456"/>
          </a:xfrm>
          <a:prstGeom prst="chevron">
            <a:avLst/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39" name="flow10_p1"/>
          <p:cNvSpPr/>
          <p:nvPr/>
        </p:nvSpPr>
        <p:spPr>
          <a:xfrm>
            <a:off x="3001518" y="5961888"/>
            <a:ext cx="2915107" cy="384048"/>
          </a:xfrm>
          <a:prstGeom prst="roundRect">
            <a:avLst>
              <a:gd name="adj" fmla="val 50000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40" name="flow10_p1_t"/>
          <p:cNvSpPr/>
          <p:nvPr/>
        </p:nvSpPr>
        <p:spPr>
          <a:xfrm>
            <a:off x="3001518" y="5961888"/>
            <a:ext cx="2915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Optional Evidence</a:t>
            </a:r>
            <a:endParaRPr lang="en-US" sz="1600" dirty="0"/>
          </a:p>
        </p:txBody>
      </p:sp>
      <p:sp>
        <p:nvSpPr>
          <p:cNvPr id="41" name="flow10_c1"/>
          <p:cNvSpPr/>
          <p:nvPr/>
        </p:nvSpPr>
        <p:spPr>
          <a:xfrm>
            <a:off x="6017209" y="6044184"/>
            <a:ext cx="274320" cy="219456"/>
          </a:xfrm>
          <a:prstGeom prst="chevron">
            <a:avLst/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42" name="flow10_p2"/>
          <p:cNvSpPr/>
          <p:nvPr/>
        </p:nvSpPr>
        <p:spPr>
          <a:xfrm>
            <a:off x="6392113" y="5961888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43" name="flow10_p2_t"/>
          <p:cNvSpPr/>
          <p:nvPr/>
        </p:nvSpPr>
        <p:spPr>
          <a:xfrm>
            <a:off x="6392113" y="596188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Category</a:t>
            </a:r>
            <a:endParaRPr lang="en-US" sz="1600" dirty="0"/>
          </a:p>
        </p:txBody>
      </p:sp>
      <p:sp>
        <p:nvSpPr>
          <p:cNvPr id="44" name="flow10_c2"/>
          <p:cNvSpPr/>
          <p:nvPr/>
        </p:nvSpPr>
        <p:spPr>
          <a:xfrm>
            <a:off x="8705545" y="6044184"/>
            <a:ext cx="274320" cy="219456"/>
          </a:xfrm>
          <a:prstGeom prst="chevron">
            <a:avLst/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45" name="flow10_p3"/>
          <p:cNvSpPr/>
          <p:nvPr/>
        </p:nvSpPr>
        <p:spPr>
          <a:xfrm>
            <a:off x="9080449" y="5961888"/>
            <a:ext cx="2563978" cy="384048"/>
          </a:xfrm>
          <a:prstGeom prst="roundRect">
            <a:avLst>
              <a:gd name="adj" fmla="val 50000"/>
            </a:avLst>
          </a:prstGeom>
          <a:solidFill>
            <a:srgbClr val="03475E"/>
          </a:solidFill>
          <a:ln w="12700">
            <a:solidFill>
              <a:srgbClr val="03475E"/>
            </a:solidFill>
            <a:prstDash val="solid"/>
          </a:ln>
        </p:spPr>
      </p:sp>
      <p:sp>
        <p:nvSpPr>
          <p:cNvPr id="46" name="flow10_p3_t"/>
          <p:cNvSpPr/>
          <p:nvPr/>
        </p:nvSpPr>
        <p:spPr>
          <a:xfrm>
            <a:off x="9080449" y="5961888"/>
            <a:ext cx="2563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Submission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8" name="Text 44">
            <a:hlinkClick r:id="rId3" tooltip="1. Problem Statement" action="ppaction://hlinksldjump"/>
          </p:cNvPr>
          <p:cNvSpPr/>
          <p:nvPr/>
        </p:nvSpPr>
        <p:spPr>
          <a:xfrm>
            <a:off x="869868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4" tooltip="2. Stakeholders and Responsibilities" action="ppaction://hlinksldjump"/>
          </p:cNvPr>
          <p:cNvSpPr/>
          <p:nvPr/>
        </p:nvSpPr>
        <p:spPr>
          <a:xfrm>
            <a:off x="901872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5" tooltip="3. Resident Account Registration" action="ppaction://hlinksldjump"/>
          </p:cNvPr>
          <p:cNvSpPr/>
          <p:nvPr/>
        </p:nvSpPr>
        <p:spPr>
          <a:xfrm>
            <a:off x="933876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6" tooltip="4. Registration Request Submitted" action="ppaction://hlinksldjump"/>
          </p:cNvPr>
          <p:cNvSpPr/>
          <p:nvPr/>
        </p:nvSpPr>
        <p:spPr>
          <a:xfrm>
            <a:off x="965880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7" tooltip="5. Admin Receives the Verification Request" action="ppaction://hlinksldjump"/>
          </p:cNvPr>
          <p:cNvSpPr/>
          <p:nvPr/>
        </p:nvSpPr>
        <p:spPr>
          <a:xfrm>
            <a:off x="997884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8" tooltip="6. Admin Reviews and Approves the Account" action="ppaction://hlinksldjump"/>
          </p:cNvPr>
          <p:cNvSpPr/>
          <p:nvPr/>
        </p:nvSpPr>
        <p:spPr>
          <a:xfrm>
            <a:off x="1029888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9" tooltip="7. Account Verification Completed" action="ppaction://hlinksldjump"/>
          </p:cNvPr>
          <p:cNvSpPr/>
          <p:nvPr/>
        </p:nvSpPr>
        <p:spPr>
          <a:xfrm>
            <a:off x="1061892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0" tooltip="8. Create a New Complaint" action="ppaction://hlinksldjump"/>
          </p:cNvPr>
          <p:cNvSpPr/>
          <p:nvPr/>
        </p:nvSpPr>
        <p:spPr>
          <a:xfrm>
            <a:off x="1093896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1" tooltip="9. Add Evidence and Review the Category" action="ppaction://hlinksldjump"/>
          </p:cNvPr>
          <p:cNvSpPr/>
          <p:nvPr/>
        </p:nvSpPr>
        <p:spPr>
          <a:xfrm>
            <a:off x="11259007" y="6528816"/>
            <a:ext cx="201168" cy="201168"/>
          </a:xfrm>
          <a:prstGeom prst="ellipse">
            <a:avLst/>
          </a:prstGeom>
          <a:solidFill>
            <a:srgbClr val="C9DBE2"/>
          </a:solidFill>
          <a:ln>
            <a:solidFill>
              <a:srgbClr val="C9DBE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2" tooltip="10. Confirm the Complaint Submission" action="ppaction://hlinksldjump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03475E"/>
          </a:solidFill>
          <a:ln>
            <a:solidFill>
              <a:srgbClr val="0347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/>
          <p:cNvSpPr/>
          <p:nvPr/>
        </p:nvSpPr>
        <p:spPr>
          <a:xfrm>
            <a:off x="7875727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Nogor Shomadhan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Nogor Shomadhan — User Manual: Phases 1-2</dc:title>
  <dc:subject>PptxGenJS Presentation</dc:subject>
  <dc:creator>Ashfia Tabassum</dc:creator>
  <cp:lastModifiedBy>Ashfia Tabassum</cp:lastModifiedBy>
  <cp:revision>1</cp:revision>
  <dcterms:created xsi:type="dcterms:W3CDTF">2026-09-12T14:23:11Z</dcterms:created>
  <dcterms:modified xsi:type="dcterms:W3CDTF">2026-09-12T14:23:11Z</dcterms:modified>
</cp:coreProperties>
</file>