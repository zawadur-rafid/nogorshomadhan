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85" r:id="rId3"/>
    <p:sldId id="28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78" dt="2026-09-12T22:58:01.186"/>
    <p1510:client id="{5B04E889-0907-74E3-AFB3-6FA83A6DEBAF}" v="35" dt="2026-09-12T21:42:46.887"/>
    <p1510:client id="{8ACF86F7-5FAC-AD85-E678-19F46B9D9320}" v="829" dt="2026-09-12T22:47:43.224"/>
    <p1510:client id="{EC9252F4-9EC3-EA1C-A4EC-19B5DC820FE0}" v="70" dt="2026-09-12T23:18:44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60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602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B5039-7F92-403B-F685-440D29566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D31E8-21BD-354B-CE94-A7EFA32B4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59A5D-A156-9475-8833-0AC0C989E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676A5-1B04-3316-3F6D-51049FFFB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42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4552-156B-2785-5900-608CAC4F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C9172-9A41-5D89-47B9-7F3BE717F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DA3B3-9ED3-6862-BB15-0C9BC98A8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863EE-2AFF-E9F2-EF60-2DD6338BA8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47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FDD23-C11C-4959-F75C-C051E76B1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F6780-3807-A1DB-9805-AC702506E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55BD5-1AF5-3F6B-A620-575010E7E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B84BC-DC30-B322-3F0E-515614D8EE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28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18" Type="http://schemas.openxmlformats.org/officeDocument/2006/relationships/slide" Target="slide17.xml"/><Relationship Id="rId26" Type="http://schemas.openxmlformats.org/officeDocument/2006/relationships/slide" Target="slide25.xml"/><Relationship Id="rId3" Type="http://schemas.openxmlformats.org/officeDocument/2006/relationships/image" Target="../media/image1.png"/><Relationship Id="rId21" Type="http://schemas.openxmlformats.org/officeDocument/2006/relationships/slide" Target="slide20.xml"/><Relationship Id="rId7" Type="http://schemas.openxmlformats.org/officeDocument/2006/relationships/slide" Target="slide6.xml"/><Relationship Id="rId12" Type="http://schemas.openxmlformats.org/officeDocument/2006/relationships/slide" Target="slide11.xml"/><Relationship Id="rId17" Type="http://schemas.openxmlformats.org/officeDocument/2006/relationships/slide" Target="slide16.xml"/><Relationship Id="rId25" Type="http://schemas.openxmlformats.org/officeDocument/2006/relationships/slide" Target="slide24.xml"/><Relationship Id="rId2" Type="http://schemas.openxmlformats.org/officeDocument/2006/relationships/notesSlide" Target="../notesSlides/notesSlide3.xml"/><Relationship Id="rId16" Type="http://schemas.openxmlformats.org/officeDocument/2006/relationships/slide" Target="slide15.xml"/><Relationship Id="rId20" Type="http://schemas.openxmlformats.org/officeDocument/2006/relationships/slide" Target="slide19.xml"/><Relationship Id="rId29" Type="http://schemas.openxmlformats.org/officeDocument/2006/relationships/slide" Target="slide2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24" Type="http://schemas.openxmlformats.org/officeDocument/2006/relationships/slide" Target="slide23.xml"/><Relationship Id="rId5" Type="http://schemas.openxmlformats.org/officeDocument/2006/relationships/slide" Target="slide4.xml"/><Relationship Id="rId15" Type="http://schemas.openxmlformats.org/officeDocument/2006/relationships/slide" Target="slide14.xml"/><Relationship Id="rId23" Type="http://schemas.openxmlformats.org/officeDocument/2006/relationships/slide" Target="slide22.xml"/><Relationship Id="rId28" Type="http://schemas.openxmlformats.org/officeDocument/2006/relationships/slide" Target="slide27.xml"/><Relationship Id="rId10" Type="http://schemas.openxmlformats.org/officeDocument/2006/relationships/slide" Target="slide9.xml"/><Relationship Id="rId19" Type="http://schemas.openxmlformats.org/officeDocument/2006/relationships/slide" Target="slide18.xml"/><Relationship Id="rId4" Type="http://schemas.openxmlformats.org/officeDocument/2006/relationships/slide" Target="slide1.xml"/><Relationship Id="rId9" Type="http://schemas.openxmlformats.org/officeDocument/2006/relationships/slide" Target="slide8.xml"/><Relationship Id="rId14" Type="http://schemas.openxmlformats.org/officeDocument/2006/relationships/slide" Target="slide13.xml"/><Relationship Id="rId22" Type="http://schemas.openxmlformats.org/officeDocument/2006/relationships/slide" Target="slide21.xml"/><Relationship Id="rId27" Type="http://schemas.openxmlformats.org/officeDocument/2006/relationships/slide" Target="slide26.xml"/><Relationship Id="rId30" Type="http://schemas.openxmlformats.org/officeDocument/2006/relationships/slide" Target="slide2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18.xml"/><Relationship Id="rId26" Type="http://schemas.openxmlformats.org/officeDocument/2006/relationships/slide" Target="slide26.xml"/><Relationship Id="rId3" Type="http://schemas.openxmlformats.org/officeDocument/2006/relationships/slide" Target="slide1.xml"/><Relationship Id="rId21" Type="http://schemas.openxmlformats.org/officeDocument/2006/relationships/slide" Target="slide21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5" Type="http://schemas.openxmlformats.org/officeDocument/2006/relationships/slide" Target="slide25.xml"/><Relationship Id="rId2" Type="http://schemas.openxmlformats.org/officeDocument/2006/relationships/notesSlide" Target="../notesSlides/notesSlide4.xml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29" Type="http://schemas.openxmlformats.org/officeDocument/2006/relationships/slide" Target="slide2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24" Type="http://schemas.openxmlformats.org/officeDocument/2006/relationships/slide" Target="slide24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23" Type="http://schemas.openxmlformats.org/officeDocument/2006/relationships/slide" Target="slide23.xml"/><Relationship Id="rId28" Type="http://schemas.openxmlformats.org/officeDocument/2006/relationships/slide" Target="slide28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Relationship Id="rId22" Type="http://schemas.openxmlformats.org/officeDocument/2006/relationships/slide" Target="slide22.xml"/><Relationship Id="rId27" Type="http://schemas.openxmlformats.org/officeDocument/2006/relationships/slide" Target="slide2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2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5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4.jpe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3.jpe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slide" Target="slide13.xml"/><Relationship Id="rId15" Type="http://schemas.openxmlformats.org/officeDocument/2006/relationships/slide" Target="slide14.xml"/><Relationship Id="rId16" Type="http://schemas.openxmlformats.org/officeDocument/2006/relationships/slide" Target="slide15.xml"/><Relationship Id="rId17" Type="http://schemas.openxmlformats.org/officeDocument/2006/relationships/slide" Target="slide16.xml"/><Relationship Id="rId18" Type="http://schemas.openxmlformats.org/officeDocument/2006/relationships/slide" Target="slide17.xml"/><Relationship Id="rId19" Type="http://schemas.openxmlformats.org/officeDocument/2006/relationships/slide" Target="slide18.xml"/><Relationship Id="rId20" Type="http://schemas.openxmlformats.org/officeDocument/2006/relationships/slide" Target="slide19.xml"/><Relationship Id="rId21" Type="http://schemas.openxmlformats.org/officeDocument/2006/relationships/slide" Target="slide20.xml"/><Relationship Id="rId22" Type="http://schemas.openxmlformats.org/officeDocument/2006/relationships/slide" Target="slide21.xml"/><Relationship Id="rId23" Type="http://schemas.openxmlformats.org/officeDocument/2006/relationships/slide" Target="slide22.xml"/><Relationship Id="rId24" Type="http://schemas.openxmlformats.org/officeDocument/2006/relationships/slide" Target="slide23.xml"/><Relationship Id="rId25" Type="http://schemas.openxmlformats.org/officeDocument/2006/relationships/slide" Target="slide24.xml"/><Relationship Id="rId26" Type="http://schemas.openxmlformats.org/officeDocument/2006/relationships/slide" Target="slide25.xml"/><Relationship Id="rId27" Type="http://schemas.openxmlformats.org/officeDocument/2006/relationships/slide" Target="slide26.xml"/><Relationship Id="rId28" Type="http://schemas.openxmlformats.org/officeDocument/2006/relationships/slide" Target="slide27.xml"/><Relationship Id="rId1" Type="http://schemas.openxmlformats.org/officeDocument/2006/relationships/image" Target="../media/nc-s6-1.jpeg"/><Relationship Id="rId29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5" Type="http://schemas.openxmlformats.org/officeDocument/2006/relationships/slide" Target="slide12.xml"/><Relationship Id="rId16" Type="http://schemas.openxmlformats.org/officeDocument/2006/relationships/slide" Target="slide13.xml"/><Relationship Id="rId17" Type="http://schemas.openxmlformats.org/officeDocument/2006/relationships/slide" Target="slide14.xml"/><Relationship Id="rId18" Type="http://schemas.openxmlformats.org/officeDocument/2006/relationships/slide" Target="slide15.xml"/><Relationship Id="rId19" Type="http://schemas.openxmlformats.org/officeDocument/2006/relationships/slide" Target="slide16.xml"/><Relationship Id="rId20" Type="http://schemas.openxmlformats.org/officeDocument/2006/relationships/slide" Target="slide17.xml"/><Relationship Id="rId21" Type="http://schemas.openxmlformats.org/officeDocument/2006/relationships/slide" Target="slide18.xml"/><Relationship Id="rId22" Type="http://schemas.openxmlformats.org/officeDocument/2006/relationships/slide" Target="slide19.xml"/><Relationship Id="rId23" Type="http://schemas.openxmlformats.org/officeDocument/2006/relationships/slide" Target="slide20.xml"/><Relationship Id="rId24" Type="http://schemas.openxmlformats.org/officeDocument/2006/relationships/slide" Target="slide21.xml"/><Relationship Id="rId25" Type="http://schemas.openxmlformats.org/officeDocument/2006/relationships/slide" Target="slide22.xml"/><Relationship Id="rId26" Type="http://schemas.openxmlformats.org/officeDocument/2006/relationships/slide" Target="slide23.xml"/><Relationship Id="rId27" Type="http://schemas.openxmlformats.org/officeDocument/2006/relationships/slide" Target="slide24.xml"/><Relationship Id="rId28" Type="http://schemas.openxmlformats.org/officeDocument/2006/relationships/slide" Target="slide25.xml"/><Relationship Id="rId29" Type="http://schemas.openxmlformats.org/officeDocument/2006/relationships/slide" Target="slide26.xml"/><Relationship Id="rId30" Type="http://schemas.openxmlformats.org/officeDocument/2006/relationships/slide" Target="slide27.xml"/><Relationship Id="rId1" Type="http://schemas.openxmlformats.org/officeDocument/2006/relationships/image" Target="../media/nc-s7-1.jpeg"/><Relationship Id="rId2" Type="http://schemas.openxmlformats.org/officeDocument/2006/relationships/image" Target="../media/nc-s7-2.jpeg"/><Relationship Id="rId3" Type="http://schemas.openxmlformats.org/officeDocument/2006/relationships/image" Target="../media/nc-s7-3.jpeg"/><Relationship Id="rId3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11.xml"/><Relationship Id="rId14" Type="http://schemas.openxmlformats.org/officeDocument/2006/relationships/slide" Target="slide12.xml"/><Relationship Id="rId15" Type="http://schemas.openxmlformats.org/officeDocument/2006/relationships/slide" Target="slide13.xml"/><Relationship Id="rId16" Type="http://schemas.openxmlformats.org/officeDocument/2006/relationships/slide" Target="slide14.xml"/><Relationship Id="rId17" Type="http://schemas.openxmlformats.org/officeDocument/2006/relationships/slide" Target="slide15.xml"/><Relationship Id="rId18" Type="http://schemas.openxmlformats.org/officeDocument/2006/relationships/slide" Target="slide16.xml"/><Relationship Id="rId19" Type="http://schemas.openxmlformats.org/officeDocument/2006/relationships/slide" Target="slide17.xml"/><Relationship Id="rId20" Type="http://schemas.openxmlformats.org/officeDocument/2006/relationships/slide" Target="slide18.xml"/><Relationship Id="rId21" Type="http://schemas.openxmlformats.org/officeDocument/2006/relationships/slide" Target="slide19.xml"/><Relationship Id="rId22" Type="http://schemas.openxmlformats.org/officeDocument/2006/relationships/slide" Target="slide20.xml"/><Relationship Id="rId23" Type="http://schemas.openxmlformats.org/officeDocument/2006/relationships/slide" Target="slide21.xml"/><Relationship Id="rId24" Type="http://schemas.openxmlformats.org/officeDocument/2006/relationships/slide" Target="slide22.xml"/><Relationship Id="rId25" Type="http://schemas.openxmlformats.org/officeDocument/2006/relationships/slide" Target="slide23.xml"/><Relationship Id="rId26" Type="http://schemas.openxmlformats.org/officeDocument/2006/relationships/slide" Target="slide24.xml"/><Relationship Id="rId27" Type="http://schemas.openxmlformats.org/officeDocument/2006/relationships/slide" Target="slide25.xml"/><Relationship Id="rId28" Type="http://schemas.openxmlformats.org/officeDocument/2006/relationships/slide" Target="slide26.xml"/><Relationship Id="rId29" Type="http://schemas.openxmlformats.org/officeDocument/2006/relationships/slide" Target="slide27.xml"/><Relationship Id="rId1" Type="http://schemas.openxmlformats.org/officeDocument/2006/relationships/image" Target="../media/nc-s8-1.jpeg"/><Relationship Id="rId2" Type="http://schemas.openxmlformats.org/officeDocument/2006/relationships/image" Target="../media/nc-s8-2.jpeg"/><Relationship Id="rId30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5" Type="http://schemas.openxmlformats.org/officeDocument/2006/relationships/slide" Target="slide12.xml"/><Relationship Id="rId16" Type="http://schemas.openxmlformats.org/officeDocument/2006/relationships/slide" Target="slide13.xml"/><Relationship Id="rId17" Type="http://schemas.openxmlformats.org/officeDocument/2006/relationships/slide" Target="slide14.xml"/><Relationship Id="rId18" Type="http://schemas.openxmlformats.org/officeDocument/2006/relationships/slide" Target="slide15.xml"/><Relationship Id="rId19" Type="http://schemas.openxmlformats.org/officeDocument/2006/relationships/slide" Target="slide16.xml"/><Relationship Id="rId20" Type="http://schemas.openxmlformats.org/officeDocument/2006/relationships/slide" Target="slide17.xml"/><Relationship Id="rId21" Type="http://schemas.openxmlformats.org/officeDocument/2006/relationships/slide" Target="slide18.xml"/><Relationship Id="rId22" Type="http://schemas.openxmlformats.org/officeDocument/2006/relationships/slide" Target="slide19.xml"/><Relationship Id="rId23" Type="http://schemas.openxmlformats.org/officeDocument/2006/relationships/slide" Target="slide20.xml"/><Relationship Id="rId24" Type="http://schemas.openxmlformats.org/officeDocument/2006/relationships/slide" Target="slide21.xml"/><Relationship Id="rId25" Type="http://schemas.openxmlformats.org/officeDocument/2006/relationships/slide" Target="slide22.xml"/><Relationship Id="rId26" Type="http://schemas.openxmlformats.org/officeDocument/2006/relationships/slide" Target="slide23.xml"/><Relationship Id="rId27" Type="http://schemas.openxmlformats.org/officeDocument/2006/relationships/slide" Target="slide24.xml"/><Relationship Id="rId28" Type="http://schemas.openxmlformats.org/officeDocument/2006/relationships/slide" Target="slide25.xml"/><Relationship Id="rId29" Type="http://schemas.openxmlformats.org/officeDocument/2006/relationships/slide" Target="slide26.xml"/><Relationship Id="rId30" Type="http://schemas.openxmlformats.org/officeDocument/2006/relationships/slide" Target="slide27.xml"/><Relationship Id="rId1" Type="http://schemas.openxmlformats.org/officeDocument/2006/relationships/image" Target="../media/nc-s9-1.jpeg"/><Relationship Id="rId2" Type="http://schemas.openxmlformats.org/officeDocument/2006/relationships/image" Target="../media/nc-s9-2.jpeg"/><Relationship Id="rId3" Type="http://schemas.openxmlformats.org/officeDocument/2006/relationships/image" Target="../media/nc-s9-3.jpeg"/><Relationship Id="rId3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14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10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16.pn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15.pn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1.xml"/><Relationship Id="rId18" Type="http://schemas.openxmlformats.org/officeDocument/2006/relationships/slide" Target="slide16.xml"/><Relationship Id="rId26" Type="http://schemas.openxmlformats.org/officeDocument/2006/relationships/slide" Target="slide24.xml"/><Relationship Id="rId3" Type="http://schemas.openxmlformats.org/officeDocument/2006/relationships/image" Target="../media/image17.png"/><Relationship Id="rId21" Type="http://schemas.openxmlformats.org/officeDocument/2006/relationships/slide" Target="slide19.xml"/><Relationship Id="rId7" Type="http://schemas.openxmlformats.org/officeDocument/2006/relationships/slide" Target="slide5.xml"/><Relationship Id="rId12" Type="http://schemas.openxmlformats.org/officeDocument/2006/relationships/slide" Target="slide10.xml"/><Relationship Id="rId17" Type="http://schemas.openxmlformats.org/officeDocument/2006/relationships/slide" Target="slide15.xml"/><Relationship Id="rId25" Type="http://schemas.openxmlformats.org/officeDocument/2006/relationships/slide" Target="slide23.xml"/><Relationship Id="rId2" Type="http://schemas.openxmlformats.org/officeDocument/2006/relationships/notesSlide" Target="../notesSlides/notesSlide11.xml"/><Relationship Id="rId16" Type="http://schemas.openxmlformats.org/officeDocument/2006/relationships/slide" Target="slide14.xml"/><Relationship Id="rId20" Type="http://schemas.openxmlformats.org/officeDocument/2006/relationships/slide" Target="slide18.xml"/><Relationship Id="rId29" Type="http://schemas.openxmlformats.org/officeDocument/2006/relationships/slide" Target="slide2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slide" Target="slide9.xml"/><Relationship Id="rId24" Type="http://schemas.openxmlformats.org/officeDocument/2006/relationships/slide" Target="slide22.xml"/><Relationship Id="rId5" Type="http://schemas.openxmlformats.org/officeDocument/2006/relationships/slide" Target="slide1.xml"/><Relationship Id="rId15" Type="http://schemas.openxmlformats.org/officeDocument/2006/relationships/slide" Target="slide13.xml"/><Relationship Id="rId23" Type="http://schemas.openxmlformats.org/officeDocument/2006/relationships/slide" Target="slide21.xml"/><Relationship Id="rId28" Type="http://schemas.openxmlformats.org/officeDocument/2006/relationships/slide" Target="slide26.xml"/><Relationship Id="rId10" Type="http://schemas.openxmlformats.org/officeDocument/2006/relationships/slide" Target="slide8.xml"/><Relationship Id="rId19" Type="http://schemas.openxmlformats.org/officeDocument/2006/relationships/slide" Target="slide17.xml"/><Relationship Id="rId31" Type="http://schemas.openxmlformats.org/officeDocument/2006/relationships/slide" Target="slide29.xml"/><Relationship Id="rId4" Type="http://schemas.openxmlformats.org/officeDocument/2006/relationships/image" Target="../media/image18.png"/><Relationship Id="rId9" Type="http://schemas.openxmlformats.org/officeDocument/2006/relationships/slide" Target="slide7.xml"/><Relationship Id="rId14" Type="http://schemas.openxmlformats.org/officeDocument/2006/relationships/slide" Target="slide12.xml"/><Relationship Id="rId22" Type="http://schemas.openxmlformats.org/officeDocument/2006/relationships/slide" Target="slide20.xml"/><Relationship Id="rId27" Type="http://schemas.openxmlformats.org/officeDocument/2006/relationships/slide" Target="slide25.xml"/><Relationship Id="rId30" Type="http://schemas.openxmlformats.org/officeDocument/2006/relationships/slide" Target="slide2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1.xml"/><Relationship Id="rId18" Type="http://schemas.openxmlformats.org/officeDocument/2006/relationships/slide" Target="slide16.xml"/><Relationship Id="rId26" Type="http://schemas.openxmlformats.org/officeDocument/2006/relationships/slide" Target="slide24.xml"/><Relationship Id="rId3" Type="http://schemas.openxmlformats.org/officeDocument/2006/relationships/image" Target="../media/image19.png"/><Relationship Id="rId21" Type="http://schemas.openxmlformats.org/officeDocument/2006/relationships/slide" Target="slide19.xml"/><Relationship Id="rId7" Type="http://schemas.openxmlformats.org/officeDocument/2006/relationships/slide" Target="slide5.xml"/><Relationship Id="rId12" Type="http://schemas.openxmlformats.org/officeDocument/2006/relationships/slide" Target="slide10.xml"/><Relationship Id="rId17" Type="http://schemas.openxmlformats.org/officeDocument/2006/relationships/slide" Target="slide15.xml"/><Relationship Id="rId25" Type="http://schemas.openxmlformats.org/officeDocument/2006/relationships/slide" Target="slide23.xml"/><Relationship Id="rId2" Type="http://schemas.openxmlformats.org/officeDocument/2006/relationships/notesSlide" Target="../notesSlides/notesSlide12.xml"/><Relationship Id="rId16" Type="http://schemas.openxmlformats.org/officeDocument/2006/relationships/slide" Target="slide14.xml"/><Relationship Id="rId20" Type="http://schemas.openxmlformats.org/officeDocument/2006/relationships/slide" Target="slide18.xml"/><Relationship Id="rId29" Type="http://schemas.openxmlformats.org/officeDocument/2006/relationships/slide" Target="slide2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slide" Target="slide9.xml"/><Relationship Id="rId24" Type="http://schemas.openxmlformats.org/officeDocument/2006/relationships/slide" Target="slide22.xml"/><Relationship Id="rId5" Type="http://schemas.openxmlformats.org/officeDocument/2006/relationships/slide" Target="slide1.xml"/><Relationship Id="rId15" Type="http://schemas.openxmlformats.org/officeDocument/2006/relationships/slide" Target="slide13.xml"/><Relationship Id="rId23" Type="http://schemas.openxmlformats.org/officeDocument/2006/relationships/slide" Target="slide21.xml"/><Relationship Id="rId28" Type="http://schemas.openxmlformats.org/officeDocument/2006/relationships/slide" Target="slide26.xml"/><Relationship Id="rId10" Type="http://schemas.openxmlformats.org/officeDocument/2006/relationships/slide" Target="slide8.xml"/><Relationship Id="rId19" Type="http://schemas.openxmlformats.org/officeDocument/2006/relationships/slide" Target="slide17.xml"/><Relationship Id="rId31" Type="http://schemas.openxmlformats.org/officeDocument/2006/relationships/slide" Target="slide29.xml"/><Relationship Id="rId4" Type="http://schemas.openxmlformats.org/officeDocument/2006/relationships/image" Target="../media/image20.png"/><Relationship Id="rId9" Type="http://schemas.openxmlformats.org/officeDocument/2006/relationships/slide" Target="slide7.xml"/><Relationship Id="rId14" Type="http://schemas.openxmlformats.org/officeDocument/2006/relationships/slide" Target="slide12.xml"/><Relationship Id="rId22" Type="http://schemas.openxmlformats.org/officeDocument/2006/relationships/slide" Target="slide20.xml"/><Relationship Id="rId27" Type="http://schemas.openxmlformats.org/officeDocument/2006/relationships/slide" Target="slide25.xml"/><Relationship Id="rId30" Type="http://schemas.openxmlformats.org/officeDocument/2006/relationships/slide" Target="slide2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21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13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23.pn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22.jpe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24.pn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14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26.pn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25.pn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slide" Target="slide9.xml"/><Relationship Id="rId18" Type="http://schemas.openxmlformats.org/officeDocument/2006/relationships/slide" Target="slide14.xml"/><Relationship Id="rId26" Type="http://schemas.openxmlformats.org/officeDocument/2006/relationships/slide" Target="slide22.xml"/><Relationship Id="rId3" Type="http://schemas.openxmlformats.org/officeDocument/2006/relationships/image" Target="../media/image27.png"/><Relationship Id="rId21" Type="http://schemas.openxmlformats.org/officeDocument/2006/relationships/slide" Target="slide17.xml"/><Relationship Id="rId7" Type="http://schemas.openxmlformats.org/officeDocument/2006/relationships/slide" Target="slide1.xml"/><Relationship Id="rId12" Type="http://schemas.openxmlformats.org/officeDocument/2006/relationships/slide" Target="slide8.xml"/><Relationship Id="rId17" Type="http://schemas.openxmlformats.org/officeDocument/2006/relationships/slide" Target="slide13.xml"/><Relationship Id="rId25" Type="http://schemas.openxmlformats.org/officeDocument/2006/relationships/slide" Target="slide21.xml"/><Relationship Id="rId33" Type="http://schemas.openxmlformats.org/officeDocument/2006/relationships/slide" Target="slide29.xml"/><Relationship Id="rId2" Type="http://schemas.openxmlformats.org/officeDocument/2006/relationships/notesSlide" Target="../notesSlides/notesSlide15.xml"/><Relationship Id="rId16" Type="http://schemas.openxmlformats.org/officeDocument/2006/relationships/slide" Target="slide12.xml"/><Relationship Id="rId20" Type="http://schemas.openxmlformats.org/officeDocument/2006/relationships/slide" Target="slide16.xml"/><Relationship Id="rId29" Type="http://schemas.openxmlformats.org/officeDocument/2006/relationships/slide" Target="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slide" Target="slide7.xml"/><Relationship Id="rId24" Type="http://schemas.openxmlformats.org/officeDocument/2006/relationships/slide" Target="slide20.xml"/><Relationship Id="rId32" Type="http://schemas.openxmlformats.org/officeDocument/2006/relationships/slide" Target="slide28.xml"/><Relationship Id="rId5" Type="http://schemas.openxmlformats.org/officeDocument/2006/relationships/image" Target="../media/image29.png"/><Relationship Id="rId15" Type="http://schemas.openxmlformats.org/officeDocument/2006/relationships/slide" Target="slide11.xml"/><Relationship Id="rId23" Type="http://schemas.openxmlformats.org/officeDocument/2006/relationships/slide" Target="slide19.xml"/><Relationship Id="rId28" Type="http://schemas.openxmlformats.org/officeDocument/2006/relationships/slide" Target="slide24.xml"/><Relationship Id="rId10" Type="http://schemas.openxmlformats.org/officeDocument/2006/relationships/slide" Target="slide6.xml"/><Relationship Id="rId19" Type="http://schemas.openxmlformats.org/officeDocument/2006/relationships/slide" Target="slide15.xml"/><Relationship Id="rId31" Type="http://schemas.openxmlformats.org/officeDocument/2006/relationships/slide" Target="slide27.xml"/><Relationship Id="rId4" Type="http://schemas.openxmlformats.org/officeDocument/2006/relationships/image" Target="../media/image28.png"/><Relationship Id="rId9" Type="http://schemas.openxmlformats.org/officeDocument/2006/relationships/slide" Target="slide5.xml"/><Relationship Id="rId14" Type="http://schemas.openxmlformats.org/officeDocument/2006/relationships/slide" Target="slide10.xml"/><Relationship Id="rId22" Type="http://schemas.openxmlformats.org/officeDocument/2006/relationships/slide" Target="slide18.xml"/><Relationship Id="rId27" Type="http://schemas.openxmlformats.org/officeDocument/2006/relationships/slide" Target="slide23.xml"/><Relationship Id="rId30" Type="http://schemas.openxmlformats.org/officeDocument/2006/relationships/slide" Target="slide26.xml"/><Relationship Id="rId8" Type="http://schemas.openxmlformats.org/officeDocument/2006/relationships/slide" Target="slide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31.pn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16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33.pn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32.pn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34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17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36.pn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35.jpe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37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18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39.jpe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38.jpe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40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19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42.jpe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41.jpe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43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20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45.jpe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44.jpe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46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21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48.jpe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47.jpe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49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22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51.jpe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50.jpe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1.xml"/><Relationship Id="rId18" Type="http://schemas.openxmlformats.org/officeDocument/2006/relationships/slide" Target="slide16.xml"/><Relationship Id="rId26" Type="http://schemas.openxmlformats.org/officeDocument/2006/relationships/slide" Target="slide24.xml"/><Relationship Id="rId3" Type="http://schemas.openxmlformats.org/officeDocument/2006/relationships/image" Target="../media/image52.jpeg"/><Relationship Id="rId21" Type="http://schemas.openxmlformats.org/officeDocument/2006/relationships/slide" Target="slide19.xml"/><Relationship Id="rId7" Type="http://schemas.openxmlformats.org/officeDocument/2006/relationships/slide" Target="slide5.xml"/><Relationship Id="rId12" Type="http://schemas.openxmlformats.org/officeDocument/2006/relationships/slide" Target="slide10.xml"/><Relationship Id="rId17" Type="http://schemas.openxmlformats.org/officeDocument/2006/relationships/slide" Target="slide15.xml"/><Relationship Id="rId25" Type="http://schemas.openxmlformats.org/officeDocument/2006/relationships/slide" Target="slide23.xml"/><Relationship Id="rId2" Type="http://schemas.openxmlformats.org/officeDocument/2006/relationships/notesSlide" Target="../notesSlides/notesSlide23.xml"/><Relationship Id="rId16" Type="http://schemas.openxmlformats.org/officeDocument/2006/relationships/slide" Target="slide14.xml"/><Relationship Id="rId20" Type="http://schemas.openxmlformats.org/officeDocument/2006/relationships/slide" Target="slide18.xml"/><Relationship Id="rId29" Type="http://schemas.openxmlformats.org/officeDocument/2006/relationships/slide" Target="slide2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slide" Target="slide9.xml"/><Relationship Id="rId24" Type="http://schemas.openxmlformats.org/officeDocument/2006/relationships/slide" Target="slide22.xml"/><Relationship Id="rId5" Type="http://schemas.openxmlformats.org/officeDocument/2006/relationships/slide" Target="slide1.xml"/><Relationship Id="rId15" Type="http://schemas.openxmlformats.org/officeDocument/2006/relationships/slide" Target="slide13.xml"/><Relationship Id="rId23" Type="http://schemas.openxmlformats.org/officeDocument/2006/relationships/slide" Target="slide21.xml"/><Relationship Id="rId28" Type="http://schemas.openxmlformats.org/officeDocument/2006/relationships/slide" Target="slide26.xml"/><Relationship Id="rId10" Type="http://schemas.openxmlformats.org/officeDocument/2006/relationships/slide" Target="slide8.xml"/><Relationship Id="rId19" Type="http://schemas.openxmlformats.org/officeDocument/2006/relationships/slide" Target="slide17.xml"/><Relationship Id="rId31" Type="http://schemas.openxmlformats.org/officeDocument/2006/relationships/slide" Target="slide29.xml"/><Relationship Id="rId4" Type="http://schemas.openxmlformats.org/officeDocument/2006/relationships/image" Target="../media/image53.jpeg"/><Relationship Id="rId9" Type="http://schemas.openxmlformats.org/officeDocument/2006/relationships/slide" Target="slide7.xml"/><Relationship Id="rId14" Type="http://schemas.openxmlformats.org/officeDocument/2006/relationships/slide" Target="slide12.xml"/><Relationship Id="rId22" Type="http://schemas.openxmlformats.org/officeDocument/2006/relationships/slide" Target="slide20.xml"/><Relationship Id="rId27" Type="http://schemas.openxmlformats.org/officeDocument/2006/relationships/slide" Target="slide25.xml"/><Relationship Id="rId30" Type="http://schemas.openxmlformats.org/officeDocument/2006/relationships/slide" Target="slide2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54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24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56.jpe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55.jpe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57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25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59.jpe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58.jpe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60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26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62.jpe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61.jpe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63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27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65.jpe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64.jpe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0.xml"/><Relationship Id="rId18" Type="http://schemas.openxmlformats.org/officeDocument/2006/relationships/slide" Target="slide15.xml"/><Relationship Id="rId26" Type="http://schemas.openxmlformats.org/officeDocument/2006/relationships/slide" Target="slide23.xml"/><Relationship Id="rId3" Type="http://schemas.openxmlformats.org/officeDocument/2006/relationships/image" Target="../media/image66.jpeg"/><Relationship Id="rId21" Type="http://schemas.openxmlformats.org/officeDocument/2006/relationships/slide" Target="slide18.xml"/><Relationship Id="rId7" Type="http://schemas.openxmlformats.org/officeDocument/2006/relationships/slide" Target="slide4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5" Type="http://schemas.openxmlformats.org/officeDocument/2006/relationships/slide" Target="slide22.xml"/><Relationship Id="rId2" Type="http://schemas.openxmlformats.org/officeDocument/2006/relationships/notesSlide" Target="../notesSlides/notesSlide28.xml"/><Relationship Id="rId16" Type="http://schemas.openxmlformats.org/officeDocument/2006/relationships/slide" Target="slide13.xml"/><Relationship Id="rId20" Type="http://schemas.openxmlformats.org/officeDocument/2006/relationships/slide" Target="slide17.xml"/><Relationship Id="rId29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8.xml"/><Relationship Id="rId24" Type="http://schemas.openxmlformats.org/officeDocument/2006/relationships/slide" Target="slide21.xml"/><Relationship Id="rId32" Type="http://schemas.openxmlformats.org/officeDocument/2006/relationships/slide" Target="slide29.xml"/><Relationship Id="rId5" Type="http://schemas.openxmlformats.org/officeDocument/2006/relationships/image" Target="../media/image68.jpeg"/><Relationship Id="rId15" Type="http://schemas.openxmlformats.org/officeDocument/2006/relationships/slide" Target="slide12.xml"/><Relationship Id="rId23" Type="http://schemas.openxmlformats.org/officeDocument/2006/relationships/slide" Target="slide20.xml"/><Relationship Id="rId28" Type="http://schemas.openxmlformats.org/officeDocument/2006/relationships/slide" Target="slide25.xml"/><Relationship Id="rId10" Type="http://schemas.openxmlformats.org/officeDocument/2006/relationships/slide" Target="slide7.xml"/><Relationship Id="rId19" Type="http://schemas.openxmlformats.org/officeDocument/2006/relationships/slide" Target="slide16.xml"/><Relationship Id="rId31" Type="http://schemas.openxmlformats.org/officeDocument/2006/relationships/slide" Target="slide28.xml"/><Relationship Id="rId4" Type="http://schemas.openxmlformats.org/officeDocument/2006/relationships/image" Target="../media/image67.jpeg"/><Relationship Id="rId9" Type="http://schemas.openxmlformats.org/officeDocument/2006/relationships/slide" Target="slide6.xml"/><Relationship Id="rId14" Type="http://schemas.openxmlformats.org/officeDocument/2006/relationships/slide" Target="slide11.xml"/><Relationship Id="rId22" Type="http://schemas.openxmlformats.org/officeDocument/2006/relationships/slide" Target="slide19.xml"/><Relationship Id="rId27" Type="http://schemas.openxmlformats.org/officeDocument/2006/relationships/slide" Target="slide24.xml"/><Relationship Id="rId30" Type="http://schemas.openxmlformats.org/officeDocument/2006/relationships/slide" Target="slide2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1.xml"/><Relationship Id="rId18" Type="http://schemas.openxmlformats.org/officeDocument/2006/relationships/slide" Target="slide16.xml"/><Relationship Id="rId26" Type="http://schemas.openxmlformats.org/officeDocument/2006/relationships/slide" Target="slide24.xml"/><Relationship Id="rId3" Type="http://schemas.openxmlformats.org/officeDocument/2006/relationships/image" Target="../media/image69.jpeg"/><Relationship Id="rId21" Type="http://schemas.openxmlformats.org/officeDocument/2006/relationships/slide" Target="slide19.xml"/><Relationship Id="rId7" Type="http://schemas.openxmlformats.org/officeDocument/2006/relationships/slide" Target="slide5.xml"/><Relationship Id="rId12" Type="http://schemas.openxmlformats.org/officeDocument/2006/relationships/slide" Target="slide10.xml"/><Relationship Id="rId17" Type="http://schemas.openxmlformats.org/officeDocument/2006/relationships/slide" Target="slide15.xml"/><Relationship Id="rId25" Type="http://schemas.openxmlformats.org/officeDocument/2006/relationships/slide" Target="slide23.xml"/><Relationship Id="rId2" Type="http://schemas.openxmlformats.org/officeDocument/2006/relationships/notesSlide" Target="../notesSlides/notesSlide29.xml"/><Relationship Id="rId16" Type="http://schemas.openxmlformats.org/officeDocument/2006/relationships/slide" Target="slide14.xml"/><Relationship Id="rId20" Type="http://schemas.openxmlformats.org/officeDocument/2006/relationships/slide" Target="slide18.xml"/><Relationship Id="rId29" Type="http://schemas.openxmlformats.org/officeDocument/2006/relationships/slide" Target="slide2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slide" Target="slide9.xml"/><Relationship Id="rId24" Type="http://schemas.openxmlformats.org/officeDocument/2006/relationships/slide" Target="slide22.xml"/><Relationship Id="rId5" Type="http://schemas.openxmlformats.org/officeDocument/2006/relationships/slide" Target="slide1.xml"/><Relationship Id="rId15" Type="http://schemas.openxmlformats.org/officeDocument/2006/relationships/slide" Target="slide13.xml"/><Relationship Id="rId23" Type="http://schemas.openxmlformats.org/officeDocument/2006/relationships/slide" Target="slide21.xml"/><Relationship Id="rId28" Type="http://schemas.openxmlformats.org/officeDocument/2006/relationships/slide" Target="slide26.xml"/><Relationship Id="rId10" Type="http://schemas.openxmlformats.org/officeDocument/2006/relationships/slide" Target="slide8.xml"/><Relationship Id="rId19" Type="http://schemas.openxmlformats.org/officeDocument/2006/relationships/slide" Target="slide17.xml"/><Relationship Id="rId31" Type="http://schemas.openxmlformats.org/officeDocument/2006/relationships/slide" Target="slide29.xml"/><Relationship Id="rId4" Type="http://schemas.openxmlformats.org/officeDocument/2006/relationships/image" Target="../media/image70.jpeg"/><Relationship Id="rId9" Type="http://schemas.openxmlformats.org/officeDocument/2006/relationships/slide" Target="slide7.xml"/><Relationship Id="rId14" Type="http://schemas.openxmlformats.org/officeDocument/2006/relationships/slide" Target="slide12.xml"/><Relationship Id="rId22" Type="http://schemas.openxmlformats.org/officeDocument/2006/relationships/slide" Target="slide20.xml"/><Relationship Id="rId27" Type="http://schemas.openxmlformats.org/officeDocument/2006/relationships/slide" Target="slide25.xml"/><Relationship Id="rId30" Type="http://schemas.openxmlformats.org/officeDocument/2006/relationships/slide" Target="slide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2500118" y="3068674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6600" b="1">
                <a:solidFill>
                  <a:srgbClr val="17324D"/>
                </a:solidFill>
                <a:latin typeface="Franklin Gothic"/>
                <a:ea typeface="Calibri"/>
                <a:cs typeface="Calibri"/>
              </a:rPr>
              <a:t>SOFTWARE DEVELOPMENT PROJECT – II</a:t>
            </a:r>
            <a:endParaRPr lang="en-US" sz="6600" b="1">
              <a:solidFill>
                <a:srgbClr val="000000"/>
              </a:solidFill>
              <a:latin typeface="Franklin Gothic"/>
              <a:ea typeface="Calibri"/>
              <a:cs typeface="Calibri"/>
            </a:endParaRPr>
          </a:p>
          <a:p>
            <a:r>
              <a:rPr lang="en-US" sz="6600" b="1">
                <a:solidFill>
                  <a:srgbClr val="17324D"/>
                </a:solidFill>
                <a:latin typeface="Franklin Gothic"/>
                <a:ea typeface="Calibri"/>
                <a:cs typeface="Calibri"/>
              </a:rPr>
              <a:t>FINAL PRESENTATION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A07522-ACA4-1B00-7DB5-28CCFCFCE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71A80D6-AED8-83C8-9083-BBCB530E2139}"/>
              </a:ext>
            </a:extLst>
          </p:cNvPr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E664BDC-4ECF-6D14-4CC1-46EE6997BE72}"/>
              </a:ext>
            </a:extLst>
          </p:cNvPr>
          <p:cNvSpPr/>
          <p:nvPr/>
        </p:nvSpPr>
        <p:spPr>
          <a:xfrm>
            <a:off x="2632198" y="1473554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6600" b="1">
                <a:solidFill>
                  <a:srgbClr val="17324D"/>
                </a:solidFill>
                <a:latin typeface="Franklin Gothic"/>
                <a:ea typeface="Calibri"/>
                <a:cs typeface="Calibri"/>
              </a:rPr>
              <a:t>TEAM MEMBERS</a:t>
            </a:r>
          </a:p>
          <a:p>
            <a:endParaRPr lang="en-US" sz="6600" b="1">
              <a:solidFill>
                <a:srgbClr val="17324D"/>
              </a:solidFill>
              <a:latin typeface="Franklin Gothic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F54039-9692-FB93-AF2C-018308A77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8914"/>
              </p:ext>
            </p:extLst>
          </p:nvPr>
        </p:nvGraphicFramePr>
        <p:xfrm>
          <a:off x="2011680" y="2246376"/>
          <a:ext cx="81686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2107228228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1600257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75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AKM ZAWADUR RAFID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202314002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880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ASHFIA TABASSUM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202314019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938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NANJIBA IBNAT FARAZI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202314023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018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SAVERA MOMTAJ BHUIYAN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202314066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27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428352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FF2016-BDAF-D6F9-0B88-4E220E27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017D4B-26CE-BD93-08DA-94034B2B0318}"/>
              </a:ext>
            </a:extLst>
          </p:cNvPr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C63A02-9CD5-B982-3420-EAE21E477076}"/>
              </a:ext>
            </a:extLst>
          </p:cNvPr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A1E98C-1A9A-DAB7-239A-A9A5D41388A0}"/>
              </a:ext>
            </a:extLst>
          </p:cNvPr>
          <p:cNvSpPr/>
          <p:nvPr/>
        </p:nvSpPr>
        <p:spPr>
          <a:xfrm>
            <a:off x="321617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WHY THIS PLATFORM</a:t>
            </a:r>
            <a:endParaRPr lang="en-US"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FE01DBF-5803-0D5D-2994-9C452E4E717F}"/>
              </a:ext>
            </a:extLst>
          </p:cNvPr>
          <p:cNvSpPr/>
          <p:nvPr/>
        </p:nvSpPr>
        <p:spPr>
          <a:xfrm>
            <a:off x="291610" y="640606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805C5D7-EC59-6CB1-86E5-1174D61460AB}"/>
              </a:ext>
            </a:extLst>
          </p:cNvPr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BF60AFE-67DC-D698-B124-1F44344AA6C9}"/>
              </a:ext>
            </a:extLst>
          </p:cNvPr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980BDBD-87C2-6414-6010-DBFF7967D746}"/>
              </a:ext>
            </a:extLst>
          </p:cNvPr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0" name="a_stmt_bg">
            <a:extLst>
              <a:ext uri="{FF2B5EF4-FFF2-40B4-BE49-F238E27FC236}">
                <a16:creationId xmlns:a16="http://schemas.microsoft.com/office/drawing/2014/main" id="{3EAA2303-8226-6D98-FB14-A3DF8A540EF5}"/>
              </a:ext>
            </a:extLst>
          </p:cNvPr>
          <p:cNvSpPr/>
          <p:nvPr/>
        </p:nvSpPr>
        <p:spPr>
          <a:xfrm>
            <a:off x="411480" y="1417320"/>
            <a:ext cx="59436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11" name="a_stmt_bar">
            <a:extLst>
              <a:ext uri="{FF2B5EF4-FFF2-40B4-BE49-F238E27FC236}">
                <a16:creationId xmlns:a16="http://schemas.microsoft.com/office/drawing/2014/main" id="{F4722434-202B-8371-C6BE-E171EBC293EF}"/>
              </a:ext>
            </a:extLst>
          </p:cNvPr>
          <p:cNvSpPr/>
          <p:nvPr/>
        </p:nvSpPr>
        <p:spPr>
          <a:xfrm>
            <a:off x="411480" y="1417320"/>
            <a:ext cx="82296" cy="932688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12" name="a_stmt_tx">
            <a:extLst>
              <a:ext uri="{FF2B5EF4-FFF2-40B4-BE49-F238E27FC236}">
                <a16:creationId xmlns:a16="http://schemas.microsoft.com/office/drawing/2014/main" id="{550A3B1B-01B5-7C46-7D9C-05EED96441B2}"/>
              </a:ext>
            </a:extLst>
          </p:cNvPr>
          <p:cNvSpPr/>
          <p:nvPr/>
        </p:nvSpPr>
        <p:spPr>
          <a:xfrm>
            <a:off x="704088" y="1417320"/>
            <a:ext cx="5394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maintenance complaints remain fragmented and difficult to track</a:t>
            </a:r>
            <a:endParaRPr lang="en-US" sz="2200"/>
          </a:p>
        </p:txBody>
      </p:sp>
      <p:sp>
        <p:nvSpPr>
          <p:cNvPr id="13" name="p1_1_c">
            <a:extLst>
              <a:ext uri="{FF2B5EF4-FFF2-40B4-BE49-F238E27FC236}">
                <a16:creationId xmlns:a16="http://schemas.microsoft.com/office/drawing/2014/main" id="{0AB760F8-D014-8F93-59DC-48F42262726A}"/>
              </a:ext>
            </a:extLst>
          </p:cNvPr>
          <p:cNvSpPr/>
          <p:nvPr/>
        </p:nvSpPr>
        <p:spPr>
          <a:xfrm>
            <a:off x="466344" y="2523744"/>
            <a:ext cx="347472" cy="3474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4" name="p1_1_t">
            <a:extLst>
              <a:ext uri="{FF2B5EF4-FFF2-40B4-BE49-F238E27FC236}">
                <a16:creationId xmlns:a16="http://schemas.microsoft.com/office/drawing/2014/main" id="{1DA37DA5-5E1F-3CBA-0037-D1C53B754615}"/>
              </a:ext>
            </a:extLst>
          </p:cNvPr>
          <p:cNvSpPr/>
          <p:nvPr/>
        </p:nvSpPr>
        <p:spPr>
          <a:xfrm>
            <a:off x="1014984" y="2505456"/>
            <a:ext cx="52852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rely on phone calls, social media groups, and informal messages.</a:t>
            </a:r>
            <a:endParaRPr lang="en-US" sz="1800"/>
          </a:p>
        </p:txBody>
      </p:sp>
      <p:sp>
        <p:nvSpPr>
          <p:cNvPr id="15" name="p1_2_c">
            <a:extLst>
              <a:ext uri="{FF2B5EF4-FFF2-40B4-BE49-F238E27FC236}">
                <a16:creationId xmlns:a16="http://schemas.microsoft.com/office/drawing/2014/main" id="{C32E4ED0-7D55-597D-B80B-71676761FAA3}"/>
              </a:ext>
            </a:extLst>
          </p:cNvPr>
          <p:cNvSpPr/>
          <p:nvPr/>
        </p:nvSpPr>
        <p:spPr>
          <a:xfrm>
            <a:off x="466344" y="3267456"/>
            <a:ext cx="347472" cy="3474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6" name="p1_2_t">
            <a:extLst>
              <a:ext uri="{FF2B5EF4-FFF2-40B4-BE49-F238E27FC236}">
                <a16:creationId xmlns:a16="http://schemas.microsoft.com/office/drawing/2014/main" id="{C477D360-CC19-0B2E-B31B-5A8D825EE1FC}"/>
              </a:ext>
            </a:extLst>
          </p:cNvPr>
          <p:cNvSpPr/>
          <p:nvPr/>
        </p:nvSpPr>
        <p:spPr>
          <a:xfrm>
            <a:off x="1014984" y="3249168"/>
            <a:ext cx="52852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often arrive without structured evidence or accurate location details.</a:t>
            </a:r>
            <a:endParaRPr lang="en-US" sz="1800"/>
          </a:p>
        </p:txBody>
      </p:sp>
      <p:sp>
        <p:nvSpPr>
          <p:cNvPr id="17" name="p1_3_c">
            <a:extLst>
              <a:ext uri="{FF2B5EF4-FFF2-40B4-BE49-F238E27FC236}">
                <a16:creationId xmlns:a16="http://schemas.microsoft.com/office/drawing/2014/main" id="{7A276844-87C0-9945-1A14-91B5A341C5AE}"/>
              </a:ext>
            </a:extLst>
          </p:cNvPr>
          <p:cNvSpPr/>
          <p:nvPr/>
        </p:nvSpPr>
        <p:spPr>
          <a:xfrm>
            <a:off x="466344" y="4011168"/>
            <a:ext cx="347472" cy="3474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18" name="p1_3_t">
            <a:extLst>
              <a:ext uri="{FF2B5EF4-FFF2-40B4-BE49-F238E27FC236}">
                <a16:creationId xmlns:a16="http://schemas.microsoft.com/office/drawing/2014/main" id="{99E2D388-0C9A-EF9B-0F76-148FFAA18236}"/>
              </a:ext>
            </a:extLst>
          </p:cNvPr>
          <p:cNvSpPr/>
          <p:nvPr/>
        </p:nvSpPr>
        <p:spPr>
          <a:xfrm>
            <a:off x="1014984" y="3992880"/>
            <a:ext cx="52852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reports and disconnected channels delay verification and assignment.</a:t>
            </a:r>
            <a:endParaRPr lang="en-US" sz="1800"/>
          </a:p>
        </p:txBody>
      </p:sp>
      <p:sp>
        <p:nvSpPr>
          <p:cNvPr id="19" name="p1_4_c">
            <a:extLst>
              <a:ext uri="{FF2B5EF4-FFF2-40B4-BE49-F238E27FC236}">
                <a16:creationId xmlns:a16="http://schemas.microsoft.com/office/drawing/2014/main" id="{20FE7D8E-DCE6-9216-6E4B-7C00DCD336F5}"/>
              </a:ext>
            </a:extLst>
          </p:cNvPr>
          <p:cNvSpPr/>
          <p:nvPr/>
        </p:nvSpPr>
        <p:spPr>
          <a:xfrm>
            <a:off x="466344" y="4754880"/>
            <a:ext cx="347472" cy="3474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20" name="p1_4_t">
            <a:extLst>
              <a:ext uri="{FF2B5EF4-FFF2-40B4-BE49-F238E27FC236}">
                <a16:creationId xmlns:a16="http://schemas.microsoft.com/office/drawing/2014/main" id="{2972300A-0500-DBDB-FBFF-BC2927447673}"/>
              </a:ext>
            </a:extLst>
          </p:cNvPr>
          <p:cNvSpPr/>
          <p:nvPr/>
        </p:nvSpPr>
        <p:spPr>
          <a:xfrm>
            <a:off x="1014984" y="4736592"/>
            <a:ext cx="52852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have limited visibility into progress, reducing trust and accountability.</a:t>
            </a:r>
            <a:endParaRPr lang="en-US" sz="1800"/>
          </a:p>
        </p:txBody>
      </p:sp>
      <p:sp>
        <p:nvSpPr>
          <p:cNvPr id="21" name="a_close_bg">
            <a:extLst>
              <a:ext uri="{FF2B5EF4-FFF2-40B4-BE49-F238E27FC236}">
                <a16:creationId xmlns:a16="http://schemas.microsoft.com/office/drawing/2014/main" id="{97F68814-2DCB-AFA1-A8A8-5D2D060B60F5}"/>
              </a:ext>
            </a:extLst>
          </p:cNvPr>
          <p:cNvSpPr/>
          <p:nvPr/>
        </p:nvSpPr>
        <p:spPr>
          <a:xfrm>
            <a:off x="411480" y="5486400"/>
            <a:ext cx="5943600" cy="749808"/>
          </a:xfrm>
          <a:prstGeom prst="roundRect">
            <a:avLst>
              <a:gd name="adj" fmla="val 1219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2" name="a_close_tx">
            <a:extLst>
              <a:ext uri="{FF2B5EF4-FFF2-40B4-BE49-F238E27FC236}">
                <a16:creationId xmlns:a16="http://schemas.microsoft.com/office/drawing/2014/main" id="{5ED5051D-C367-3CC2-F384-57EC5EE349BF}"/>
              </a:ext>
            </a:extLst>
          </p:cNvPr>
          <p:cNvSpPr/>
          <p:nvPr/>
        </p:nvSpPr>
        <p:spPr>
          <a:xfrm>
            <a:off x="667512" y="5486400"/>
            <a:ext cx="5431536" cy="7498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85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NogorShomadhan</a:t>
            </a:r>
            <a:r>
              <a:rPr lang="en-US" sz="1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provides one verified workflow from reporting to resolution.</a:t>
            </a:r>
            <a:endParaRPr lang="en-US" sz="185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45BD2D5-5FB4-39D5-3AA3-575594A9DB57}"/>
              </a:ext>
            </a:extLst>
          </p:cNvPr>
          <p:cNvSpPr/>
          <p:nvPr/>
        </p:nvSpPr>
        <p:spPr>
          <a:xfrm>
            <a:off x="6656832" y="1417320"/>
            <a:ext cx="5120640" cy="3968592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4" name="Image 0" descr="C:/NogorShomadhan/Images/Road broken.png">
            <a:extLst>
              <a:ext uri="{FF2B5EF4-FFF2-40B4-BE49-F238E27FC236}">
                <a16:creationId xmlns:a16="http://schemas.microsoft.com/office/drawing/2014/main" id="{8F5388AC-7050-54FD-DF00-FDEE13FCD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81328"/>
            <a:ext cx="4992624" cy="3840576"/>
          </a:xfrm>
          <a:prstGeom prst="rect">
            <a:avLst/>
          </a:prstGeom>
        </p:spPr>
      </p:pic>
      <p:sp>
        <p:nvSpPr>
          <p:cNvPr id="25" name="Shape 22">
            <a:extLst>
              <a:ext uri="{FF2B5EF4-FFF2-40B4-BE49-F238E27FC236}">
                <a16:creationId xmlns:a16="http://schemas.microsoft.com/office/drawing/2014/main" id="{C11F208B-FCE7-11E5-F9F1-E09F8742C2F5}"/>
              </a:ext>
            </a:extLst>
          </p:cNvPr>
          <p:cNvSpPr/>
          <p:nvPr/>
        </p:nvSpPr>
        <p:spPr>
          <a:xfrm>
            <a:off x="6656832" y="5477256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C3FC75B-67C6-7A05-848B-958DA8D46ADF}"/>
              </a:ext>
            </a:extLst>
          </p:cNvPr>
          <p:cNvSpPr/>
          <p:nvPr/>
        </p:nvSpPr>
        <p:spPr>
          <a:xfrm>
            <a:off x="6912864" y="5559552"/>
            <a:ext cx="4608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4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REALITY</a:t>
            </a:r>
            <a:endParaRPr lang="en-US" sz="13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76B8F496-FEFD-E147-7D28-94880224D8A7}"/>
              </a:ext>
            </a:extLst>
          </p:cNvPr>
          <p:cNvSpPr/>
          <p:nvPr/>
        </p:nvSpPr>
        <p:spPr>
          <a:xfrm>
            <a:off x="6912864" y="5779008"/>
            <a:ext cx="460857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everyone, yet no record of who reported it or what happens next.</a:t>
            </a:r>
            <a:endParaRPr lang="en-US"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BC15D2AE-0CAC-6E81-06D3-8D9DF46C24C6}"/>
              </a:ext>
            </a:extLst>
          </p:cNvPr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29" name="Text 26">
            <a:hlinkClick r:id="rId4" action="ppaction://hlinksldjump" tooltip="1. Problem Statement"/>
            <a:extLst>
              <a:ext uri="{FF2B5EF4-FFF2-40B4-BE49-F238E27FC236}">
                <a16:creationId xmlns:a16="http://schemas.microsoft.com/office/drawing/2014/main" id="{8612E2D7-56D7-5813-4913-A217342E4587}"/>
              </a:ext>
            </a:extLst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0" name="Text 27">
            <a:hlinkClick r:id="rId5" action="ppaction://hlinksldjump" tooltip="2. Stakeholders and Responsibilities"/>
            <a:extLst>
              <a:ext uri="{FF2B5EF4-FFF2-40B4-BE49-F238E27FC236}">
                <a16:creationId xmlns:a16="http://schemas.microsoft.com/office/drawing/2014/main" id="{610CA2C8-A521-DFDF-5957-FBC2BE863056}"/>
              </a:ext>
            </a:extLst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1" name="Text 28">
            <a:hlinkClick r:id="rId6" action="ppaction://hlinksldjump" tooltip="3. Resident Account Registration"/>
            <a:extLst>
              <a:ext uri="{FF2B5EF4-FFF2-40B4-BE49-F238E27FC236}">
                <a16:creationId xmlns:a16="http://schemas.microsoft.com/office/drawing/2014/main" id="{234020E3-BA1F-1E87-009F-F6ABD91C317C}"/>
              </a:ext>
            </a:extLst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2" name="Text 29">
            <a:hlinkClick r:id="rId7" action="ppaction://hlinksldjump" tooltip="4. Registration Request Submitted"/>
            <a:extLst>
              <a:ext uri="{FF2B5EF4-FFF2-40B4-BE49-F238E27FC236}">
                <a16:creationId xmlns:a16="http://schemas.microsoft.com/office/drawing/2014/main" id="{E1D8466C-5ADD-CCE2-5CD2-B8DB47FC9D77}"/>
              </a:ext>
            </a:extLst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3" name="Text 30">
            <a:hlinkClick r:id="rId8" action="ppaction://hlinksldjump" tooltip="5. Admin Receives the Verification Request"/>
            <a:extLst>
              <a:ext uri="{FF2B5EF4-FFF2-40B4-BE49-F238E27FC236}">
                <a16:creationId xmlns:a16="http://schemas.microsoft.com/office/drawing/2014/main" id="{9CE8DFA5-8BF7-9741-9779-3522046860B9}"/>
              </a:ext>
            </a:extLst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4" name="Text 31">
            <a:hlinkClick r:id="rId9" action="ppaction://hlinksldjump" tooltip="6. Admin Reviews and Approves the Account"/>
            <a:extLst>
              <a:ext uri="{FF2B5EF4-FFF2-40B4-BE49-F238E27FC236}">
                <a16:creationId xmlns:a16="http://schemas.microsoft.com/office/drawing/2014/main" id="{70996142-BE1C-B2AB-7793-76119A3ED795}"/>
              </a:ext>
            </a:extLst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5" name="Text 32">
            <a:hlinkClick r:id="rId10" action="ppaction://hlinksldjump" tooltip="7. Account Verification Completed"/>
            <a:extLst>
              <a:ext uri="{FF2B5EF4-FFF2-40B4-BE49-F238E27FC236}">
                <a16:creationId xmlns:a16="http://schemas.microsoft.com/office/drawing/2014/main" id="{C977B9D8-E653-1CFD-4DBB-8EE845B1EC15}"/>
              </a:ext>
            </a:extLst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6" name="Text 33">
            <a:hlinkClick r:id="rId11" action="ppaction://hlinksldjump" tooltip="8. Create a New Complaint"/>
            <a:extLst>
              <a:ext uri="{FF2B5EF4-FFF2-40B4-BE49-F238E27FC236}">
                <a16:creationId xmlns:a16="http://schemas.microsoft.com/office/drawing/2014/main" id="{BD1801D3-B286-E0A9-F8C8-07C2E782143E}"/>
              </a:ext>
            </a:extLst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7" name="Text 34">
            <a:hlinkClick r:id="rId12" action="ppaction://hlinksldjump" tooltip="9. Add Evidence and Review the Category"/>
            <a:extLst>
              <a:ext uri="{FF2B5EF4-FFF2-40B4-BE49-F238E27FC236}">
                <a16:creationId xmlns:a16="http://schemas.microsoft.com/office/drawing/2014/main" id="{D3D2D320-9AC9-0D33-26E3-213D4EA8F02C}"/>
              </a:ext>
            </a:extLst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8" name="Text 35">
            <a:hlinkClick r:id="rId13" action="ppaction://hlinksldjump" tooltip="10. Confirm the Complaint Submission"/>
            <a:extLst>
              <a:ext uri="{FF2B5EF4-FFF2-40B4-BE49-F238E27FC236}">
                <a16:creationId xmlns:a16="http://schemas.microsoft.com/office/drawing/2014/main" id="{6F17BFF5-8486-40FB-1A52-355F19CA18C2}"/>
              </a:ext>
            </a:extLst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6">
            <a:hlinkClick r:id="rId14" action="ppaction://hlinksldjump" tooltip="11. Admin Opens the Review Queue"/>
            <a:extLst>
              <a:ext uri="{FF2B5EF4-FFF2-40B4-BE49-F238E27FC236}">
                <a16:creationId xmlns:a16="http://schemas.microsoft.com/office/drawing/2014/main" id="{B18D3182-4977-4058-2CCF-651FE06DCC1E}"/>
              </a:ext>
            </a:extLst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7">
            <a:hlinkClick r:id="rId15" action="ppaction://hlinksldjump" tooltip="12. Complaint Check and Duplicate Comparison"/>
            <a:extLst>
              <a:ext uri="{FF2B5EF4-FFF2-40B4-BE49-F238E27FC236}">
                <a16:creationId xmlns:a16="http://schemas.microsoft.com/office/drawing/2014/main" id="{0B01E7F3-C4A8-28AC-C2B5-198BDE3A39D9}"/>
              </a:ext>
            </a:extLst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8">
            <a:hlinkClick r:id="rId16" action="ppaction://hlinksldjump" tooltip="13. Duplicate Review Outcomes"/>
            <a:extLst>
              <a:ext uri="{FF2B5EF4-FFF2-40B4-BE49-F238E27FC236}">
                <a16:creationId xmlns:a16="http://schemas.microsoft.com/office/drawing/2014/main" id="{3E82B8D4-89DA-A643-E8FE-565C986C1355}"/>
              </a:ext>
            </a:extLst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9">
            <a:hlinkClick r:id="rId17" action="ppaction://hlinksldjump" tooltip="14. Pending Complaint Visibility"/>
            <a:extLst>
              <a:ext uri="{FF2B5EF4-FFF2-40B4-BE49-F238E27FC236}">
                <a16:creationId xmlns:a16="http://schemas.microsoft.com/office/drawing/2014/main" id="{64502461-7DFB-9E7E-55B5-75798A1AA01B}"/>
              </a:ext>
            </a:extLst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40">
            <a:hlinkClick r:id="rId18" action="ppaction://hlinksldjump" tooltip="15. Authority Opens the Complaint"/>
            <a:extLst>
              <a:ext uri="{FF2B5EF4-FFF2-40B4-BE49-F238E27FC236}">
                <a16:creationId xmlns:a16="http://schemas.microsoft.com/office/drawing/2014/main" id="{94818ED1-CDD9-07F4-CFDE-FE2348F7969D}"/>
              </a:ext>
            </a:extLst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41">
            <a:hlinkClick r:id="rId19" action="ppaction://hlinksldjump" tooltip="16. Assign a Contractor and Start Work"/>
            <a:extLst>
              <a:ext uri="{FF2B5EF4-FFF2-40B4-BE49-F238E27FC236}">
                <a16:creationId xmlns:a16="http://schemas.microsoft.com/office/drawing/2014/main" id="{281918AB-D007-540E-9222-57986972EA0D}"/>
              </a:ext>
            </a:extLst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2">
            <a:hlinkClick r:id="rId20" action="ppaction://hlinksldjump" tooltip="17. The Complaint Moves to In Progress"/>
            <a:extLst>
              <a:ext uri="{FF2B5EF4-FFF2-40B4-BE49-F238E27FC236}">
                <a16:creationId xmlns:a16="http://schemas.microsoft.com/office/drawing/2014/main" id="{AF5A378C-81BE-EC1C-E02A-A3F6CC005EAC}"/>
              </a:ext>
            </a:extLst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3">
            <a:hlinkClick r:id="rId21" action="ppaction://hlinksldjump" tooltip="18. Residents See the Progress Update"/>
            <a:extLst>
              <a:ext uri="{FF2B5EF4-FFF2-40B4-BE49-F238E27FC236}">
                <a16:creationId xmlns:a16="http://schemas.microsoft.com/office/drawing/2014/main" id="{A96856A4-310E-D1DD-0650-507D03EDDE21}"/>
              </a:ext>
            </a:extLst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4">
            <a:hlinkClick r:id="rId22" action="ppaction://hlinksldjump" tooltip="19. Resident Starts a Forum Discussion"/>
            <a:extLst>
              <a:ext uri="{FF2B5EF4-FFF2-40B4-BE49-F238E27FC236}">
                <a16:creationId xmlns:a16="http://schemas.microsoft.com/office/drawing/2014/main" id="{5C7295FF-C8C4-A5B1-956C-576054729096}"/>
              </a:ext>
            </a:extLst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5">
            <a:hlinkClick r:id="rId23" action="ppaction://hlinksldjump" tooltip="20. Everyone Is Notified"/>
            <a:extLst>
              <a:ext uri="{FF2B5EF4-FFF2-40B4-BE49-F238E27FC236}">
                <a16:creationId xmlns:a16="http://schemas.microsoft.com/office/drawing/2014/main" id="{3EBE8F35-B8E1-EA3A-AA24-DBF62F6D7643}"/>
              </a:ext>
            </a:extLst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6">
            <a:hlinkClick r:id="rId24" action="ppaction://hlinksldjump" tooltip="21. Open the Post and Discuss"/>
            <a:extLst>
              <a:ext uri="{FF2B5EF4-FFF2-40B4-BE49-F238E27FC236}">
                <a16:creationId xmlns:a16="http://schemas.microsoft.com/office/drawing/2014/main" id="{77FCB7B0-90D7-FC9A-E3F3-2FED5C6D8F0E}"/>
              </a:ext>
            </a:extLst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7">
            <a:hlinkClick r:id="rId25" action="ppaction://hlinksldjump" tooltip="22. Authority Updates the Work"/>
            <a:extLst>
              <a:ext uri="{FF2B5EF4-FFF2-40B4-BE49-F238E27FC236}">
                <a16:creationId xmlns:a16="http://schemas.microsoft.com/office/drawing/2014/main" id="{DF7CFB5E-9764-1059-61A9-DA74ED15C109}"/>
              </a:ext>
            </a:extLst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8">
            <a:hlinkClick r:id="rId26" action="ppaction://hlinksldjump" tooltip="23. Authority Resolves the Complaint"/>
            <a:extLst>
              <a:ext uri="{FF2B5EF4-FFF2-40B4-BE49-F238E27FC236}">
                <a16:creationId xmlns:a16="http://schemas.microsoft.com/office/drawing/2014/main" id="{D410CAAA-5397-EE63-05A3-2A4CDFD3303E}"/>
              </a:ext>
            </a:extLst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9">
            <a:hlinkClick r:id="rId27" action="ppaction://hlinksldjump" tooltip="24. Residents Give Feedback"/>
            <a:extLst>
              <a:ext uri="{FF2B5EF4-FFF2-40B4-BE49-F238E27FC236}">
                <a16:creationId xmlns:a16="http://schemas.microsoft.com/office/drawing/2014/main" id="{A7EE462C-6521-BA99-F9DE-DB5D93C252ED}"/>
              </a:ext>
            </a:extLst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50">
            <a:hlinkClick r:id="rId28" action="ppaction://hlinksldjump" tooltip="25. Feedback Is Public and Answered"/>
            <a:extLst>
              <a:ext uri="{FF2B5EF4-FFF2-40B4-BE49-F238E27FC236}">
                <a16:creationId xmlns:a16="http://schemas.microsoft.com/office/drawing/2014/main" id="{2864AFF4-540D-D71F-71D0-3D92CF3D95F3}"/>
              </a:ext>
            </a:extLst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51">
            <a:hlinkClick r:id="rId29" action="ppaction://hlinksldjump" tooltip="26. Analytics and Reporting"/>
            <a:extLst>
              <a:ext uri="{FF2B5EF4-FFF2-40B4-BE49-F238E27FC236}">
                <a16:creationId xmlns:a16="http://schemas.microsoft.com/office/drawing/2014/main" id="{66E95689-02B1-FC93-6CBC-57C56D0D9AF4}"/>
              </a:ext>
            </a:extLst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2">
            <a:hlinkClick r:id="rId30" action="ppaction://hlinksldjump" tooltip="27. Forum Announcements and Events"/>
            <a:extLst>
              <a:ext uri="{FF2B5EF4-FFF2-40B4-BE49-F238E27FC236}">
                <a16:creationId xmlns:a16="http://schemas.microsoft.com/office/drawing/2014/main" id="{9C513979-04A2-A78C-E503-50DE3A7A6A9A}"/>
              </a:ext>
            </a:extLst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019042D7-661A-EAB7-94F2-97D9950D28C3}"/>
              </a:ext>
            </a:extLst>
          </p:cNvPr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27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04846324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3088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WHO USES THE PLATFORM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286512" y="585216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and Responsibilities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383012" y="475488"/>
            <a:ext cx="1397203" cy="420624"/>
          </a:xfrm>
          <a:prstGeom prst="roundRect">
            <a:avLst>
              <a:gd name="adj" fmla="val 50000"/>
            </a:avLst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383012" y="475488"/>
            <a:ext cx="139720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0" name="c_res_bg"/>
          <p:cNvSpPr/>
          <p:nvPr/>
        </p:nvSpPr>
        <p:spPr>
          <a:xfrm>
            <a:off x="440284" y="1426464"/>
            <a:ext cx="3502152" cy="406908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1" name="c_res_hd"/>
          <p:cNvSpPr/>
          <p:nvPr/>
        </p:nvSpPr>
        <p:spPr>
          <a:xfrm>
            <a:off x="440284" y="1426464"/>
            <a:ext cx="3502152" cy="658368"/>
          </a:xfrm>
          <a:prstGeom prst="roundRect">
            <a:avLst>
              <a:gd name="adj" fmla="val 13889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2" name="c_res_hd2"/>
          <p:cNvSpPr/>
          <p:nvPr/>
        </p:nvSpPr>
        <p:spPr>
          <a:xfrm>
            <a:off x="440284" y="1847088"/>
            <a:ext cx="3502152" cy="237744"/>
          </a:xfrm>
          <a:prstGeom prst="rect">
            <a:avLst/>
          </a:prstGeom>
          <a:solidFill>
            <a:srgbClr val="2563A6"/>
          </a:solidFill>
          <a:ln/>
        </p:spPr>
      </p:sp>
      <p:sp>
        <p:nvSpPr>
          <p:cNvPr id="13" name="c_res_hdt"/>
          <p:cNvSpPr/>
          <p:nvPr/>
        </p:nvSpPr>
        <p:spPr>
          <a:xfrm>
            <a:off x="440284" y="1426464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2000"/>
          </a:p>
        </p:txBody>
      </p:sp>
      <p:sp>
        <p:nvSpPr>
          <p:cNvPr id="14" name="c_res_bl"/>
          <p:cNvSpPr/>
          <p:nvPr/>
        </p:nvSpPr>
        <p:spPr>
          <a:xfrm>
            <a:off x="696316" y="2231136"/>
            <a:ext cx="299008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community problems with location and optional photographic evidence.</a:t>
            </a:r>
            <a:endParaRPr lang="en-US" sz="180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complaint status and receives important notifications.</a:t>
            </a:r>
            <a:endParaRPr lang="en-US" sz="180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Participates through urgency votes, forum discussions, and feedback.</a:t>
            </a:r>
            <a:endParaRPr lang="en-US" sz="1800"/>
          </a:p>
        </p:txBody>
      </p:sp>
      <p:sp>
        <p:nvSpPr>
          <p:cNvPr id="15" name="c_adm_bg"/>
          <p:cNvSpPr/>
          <p:nvPr/>
        </p:nvSpPr>
        <p:spPr>
          <a:xfrm>
            <a:off x="4344772" y="1426464"/>
            <a:ext cx="3502152" cy="406908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6" name="c_adm_hd"/>
          <p:cNvSpPr/>
          <p:nvPr/>
        </p:nvSpPr>
        <p:spPr>
          <a:xfrm>
            <a:off x="4344772" y="1426464"/>
            <a:ext cx="3502152" cy="658368"/>
          </a:xfrm>
          <a:prstGeom prst="roundRect">
            <a:avLst>
              <a:gd name="adj" fmla="val 13889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</p:spPr>
      </p:sp>
      <p:sp>
        <p:nvSpPr>
          <p:cNvPr id="17" name="c_adm_hd2"/>
          <p:cNvSpPr/>
          <p:nvPr/>
        </p:nvSpPr>
        <p:spPr>
          <a:xfrm>
            <a:off x="4344772" y="1847088"/>
            <a:ext cx="3502152" cy="237744"/>
          </a:xfrm>
          <a:prstGeom prst="rect">
            <a:avLst/>
          </a:prstGeom>
          <a:solidFill>
            <a:srgbClr val="B86A12"/>
          </a:solidFill>
          <a:ln/>
        </p:spPr>
      </p:sp>
      <p:sp>
        <p:nvSpPr>
          <p:cNvPr id="18" name="c_adm_hdt"/>
          <p:cNvSpPr/>
          <p:nvPr/>
        </p:nvSpPr>
        <p:spPr>
          <a:xfrm>
            <a:off x="4344772" y="1426464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000"/>
          </a:p>
        </p:txBody>
      </p:sp>
      <p:sp>
        <p:nvSpPr>
          <p:cNvPr id="19" name="c_adm_bl"/>
          <p:cNvSpPr/>
          <p:nvPr/>
        </p:nvSpPr>
        <p:spPr>
          <a:xfrm>
            <a:off x="4600804" y="2231136"/>
            <a:ext cx="299008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resident accounts and newly submitted complaints.</a:t>
            </a:r>
            <a:endParaRPr lang="en-US" sz="180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possible duplicates identified by the system.</a:t>
            </a:r>
            <a:endParaRPr lang="en-US" sz="180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valid records and maintains platform integrity.</a:t>
            </a:r>
            <a:endParaRPr lang="en-US" sz="1800"/>
          </a:p>
        </p:txBody>
      </p:sp>
      <p:sp>
        <p:nvSpPr>
          <p:cNvPr id="20" name="c_aut_bg"/>
          <p:cNvSpPr/>
          <p:nvPr/>
        </p:nvSpPr>
        <p:spPr>
          <a:xfrm>
            <a:off x="8249260" y="1426464"/>
            <a:ext cx="3502152" cy="406908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1" name="c_aut_hd"/>
          <p:cNvSpPr/>
          <p:nvPr/>
        </p:nvSpPr>
        <p:spPr>
          <a:xfrm>
            <a:off x="8249260" y="1426464"/>
            <a:ext cx="3502152" cy="658368"/>
          </a:xfrm>
          <a:prstGeom prst="roundRect">
            <a:avLst>
              <a:gd name="adj" fmla="val 13889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22" name="c_aut_hd2"/>
          <p:cNvSpPr/>
          <p:nvPr/>
        </p:nvSpPr>
        <p:spPr>
          <a:xfrm>
            <a:off x="8249260" y="1847088"/>
            <a:ext cx="3502152" cy="237744"/>
          </a:xfrm>
          <a:prstGeom prst="rect">
            <a:avLst/>
          </a:prstGeom>
          <a:solidFill>
            <a:srgbClr val="237A57"/>
          </a:solidFill>
          <a:ln/>
        </p:spPr>
      </p:sp>
      <p:sp>
        <p:nvSpPr>
          <p:cNvPr id="23" name="c_aut_hdt"/>
          <p:cNvSpPr/>
          <p:nvPr/>
        </p:nvSpPr>
        <p:spPr>
          <a:xfrm>
            <a:off x="8249260" y="1426464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Authority</a:t>
            </a:r>
            <a:endParaRPr lang="en-US" sz="2000"/>
          </a:p>
        </p:txBody>
      </p:sp>
      <p:sp>
        <p:nvSpPr>
          <p:cNvPr id="24" name="c_aut_bl"/>
          <p:cNvSpPr/>
          <p:nvPr/>
        </p:nvSpPr>
        <p:spPr>
          <a:xfrm>
            <a:off x="8505292" y="2231136"/>
            <a:ext cx="299008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verified complaints and begins the required work.</a:t>
            </a:r>
            <a:endParaRPr lang="en-US" sz="180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deadlines, budgets, contractors, notes, and evidence.</a:t>
            </a:r>
            <a:endParaRPr lang="en-US" sz="180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complaints and responds to resident feedback.</a:t>
            </a:r>
            <a:endParaRPr lang="en-US" sz="1800"/>
          </a:p>
        </p:txBody>
      </p:sp>
      <p:sp>
        <p:nvSpPr>
          <p:cNvPr id="25" name="sys_bg"/>
          <p:cNvSpPr/>
          <p:nvPr/>
        </p:nvSpPr>
        <p:spPr>
          <a:xfrm>
            <a:off x="440284" y="5605272"/>
            <a:ext cx="11311128" cy="731520"/>
          </a:xfrm>
          <a:prstGeom prst="roundRect">
            <a:avLst>
              <a:gd name="adj" fmla="val 12500"/>
            </a:avLst>
          </a:prstGeom>
          <a:solidFill>
            <a:srgbClr val="E9ECF1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9740" y="57972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kern="0" spc="8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sys_tx"/>
          <p:cNvSpPr/>
          <p:nvPr/>
        </p:nvSpPr>
        <p:spPr>
          <a:xfrm>
            <a:off x="2013052" y="5605272"/>
            <a:ext cx="8787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and AI: categorization, duplicate screening, status tracking, and notifications</a:t>
            </a:r>
            <a:endParaRPr lang="en-US" sz="1800"/>
          </a:p>
        </p:txBody>
      </p:sp>
      <p:sp>
        <p:nvSpPr>
          <p:cNvPr id="29" name="Text 27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0" name="Text 28">
            <a:hlinkClick r:id="rId3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1" name="Text 29">
            <a:hlinkClick r:id="rId4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2" name="Text 30">
            <a:hlinkClick r:id="rId5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3" name="Text 31">
            <a:hlinkClick r:id="rId6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4" name="Text 32">
            <a:hlinkClick r:id="rId7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5" name="Text 33">
            <a:hlinkClick r:id="rId8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6" name="Text 34">
            <a:hlinkClick r:id="rId9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7" name="Text 35">
            <a:hlinkClick r:id="rId10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8" name="Text 36">
            <a:hlinkClick r:id="rId11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7">
            <a:hlinkClick r:id="rId12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8">
            <a:hlinkClick r:id="rId13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9">
            <a:hlinkClick r:id="rId14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40">
            <a:hlinkClick r:id="rId15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41">
            <a:hlinkClick r:id="rId16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42">
            <a:hlinkClick r:id="rId17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3">
            <a:hlinkClick r:id="rId18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4">
            <a:hlinkClick r:id="rId19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5">
            <a:hlinkClick r:id="rId20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6">
            <a:hlinkClick r:id="rId21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7">
            <a:hlinkClick r:id="rId22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8">
            <a:hlinkClick r:id="rId23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9">
            <a:hlinkClick r:id="rId24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50">
            <a:hlinkClick r:id="rId25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51">
            <a:hlinkClick r:id="rId26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52">
            <a:hlinkClick r:id="rId27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3">
            <a:hlinkClick r:id="rId28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4">
            <a:hlinkClick r:id="rId29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5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71856" y="38404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ACCOUNT REGISTRATION AND VERIFICATION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47472" y="64008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Account Registration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CFE3F4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417320"/>
            <a:ext cx="3547872" cy="4197096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1" name="p3_1_c"/>
          <p:cNvSpPr/>
          <p:nvPr/>
        </p:nvSpPr>
        <p:spPr>
          <a:xfrm>
            <a:off x="685800" y="1801368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2" name="p3_1_t"/>
          <p:cNvSpPr/>
          <p:nvPr/>
        </p:nvSpPr>
        <p:spPr>
          <a:xfrm>
            <a:off x="1234440" y="1783080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Register from the public home page.</a:t>
            </a:r>
            <a:endParaRPr lang="en-US" sz="1800"/>
          </a:p>
        </p:txBody>
      </p:sp>
      <p:sp>
        <p:nvSpPr>
          <p:cNvPr id="13" name="p3_2_c"/>
          <p:cNvSpPr/>
          <p:nvPr/>
        </p:nvSpPr>
        <p:spPr>
          <a:xfrm>
            <a:off x="685800" y="2791968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4" name="p3_2_t"/>
          <p:cNvSpPr/>
          <p:nvPr/>
        </p:nvSpPr>
        <p:spPr>
          <a:xfrm>
            <a:off x="1234440" y="2773680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identity and contact information.</a:t>
            </a:r>
            <a:endParaRPr lang="en-US" sz="1800"/>
          </a:p>
        </p:txBody>
      </p:sp>
      <p:sp>
        <p:nvSpPr>
          <p:cNvPr id="15" name="p3_3_c"/>
          <p:cNvSpPr/>
          <p:nvPr/>
        </p:nvSpPr>
        <p:spPr>
          <a:xfrm>
            <a:off x="685800" y="3782568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16" name="p3_3_t"/>
          <p:cNvSpPr/>
          <p:nvPr/>
        </p:nvSpPr>
        <p:spPr>
          <a:xfrm>
            <a:off x="1234440" y="3739896"/>
            <a:ext cx="2487168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residential address and secure login credentials.</a:t>
            </a:r>
            <a:endParaRPr lang="en-US" sz="1800"/>
          </a:p>
        </p:txBody>
      </p:sp>
      <p:sp>
        <p:nvSpPr>
          <p:cNvPr id="17" name="p3_4_c"/>
          <p:cNvSpPr/>
          <p:nvPr/>
        </p:nvSpPr>
        <p:spPr>
          <a:xfrm>
            <a:off x="679704" y="4885944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18" name="p3_4_t"/>
          <p:cNvSpPr/>
          <p:nvPr/>
        </p:nvSpPr>
        <p:spPr>
          <a:xfrm>
            <a:off x="1222248" y="4776216"/>
            <a:ext cx="2487168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information before registration.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685800" y="6144768"/>
            <a:ext cx="3218688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50" i="1">
              <a:solidFill>
                <a:srgbClr val="667085"/>
              </a:solidFill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63800" y="2327148"/>
            <a:ext cx="1935058" cy="3712464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1" name="Image 0" descr="C:/NogorShomadhan/User Manual/Phase 1/registration/01-public-home-registration-entr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092" y="2377440"/>
            <a:ext cx="1834474" cy="36118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894052" y="6099048"/>
            <a:ext cx="2474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home page</a:t>
            </a:r>
            <a:endParaRPr lang="en-US" sz="1600"/>
          </a:p>
        </p:txBody>
      </p:sp>
      <p:sp>
        <p:nvSpPr>
          <p:cNvPr id="23" name="Shape 20"/>
          <p:cNvSpPr/>
          <p:nvPr/>
        </p:nvSpPr>
        <p:spPr>
          <a:xfrm>
            <a:off x="6236018" y="1641348"/>
            <a:ext cx="3246916" cy="4398264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4" name="Image 1" descr="C:/NogorShomadhan/User Manual/Phase 1/registration/02-resident-registration-personal-informatio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310" y="1691640"/>
            <a:ext cx="3146332" cy="42976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966270" y="6099048"/>
            <a:ext cx="37864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</a:t>
            </a:r>
            <a:endParaRPr lang="en-US" sz="1600"/>
          </a:p>
        </p:txBody>
      </p:sp>
      <p:sp>
        <p:nvSpPr>
          <p:cNvPr id="26" name="Shape 22"/>
          <p:cNvSpPr/>
          <p:nvPr/>
        </p:nvSpPr>
        <p:spPr>
          <a:xfrm>
            <a:off x="9620094" y="1641348"/>
            <a:ext cx="2303145" cy="4398264"/>
          </a:xfrm>
          <a:prstGeom prst="roundRect">
            <a:avLst>
              <a:gd name="adj" fmla="val 3176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7" name="Image 2" descr="C:/NogorShomadhan/User Manual/Phase 1/registration/03-resident-registration-address-and-security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0386" y="1691640"/>
            <a:ext cx="2202561" cy="42976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350346" y="6099048"/>
            <a:ext cx="28426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and credentials</a:t>
            </a:r>
            <a:endParaRPr lang="en-US" sz="1600"/>
          </a:p>
        </p:txBody>
      </p:sp>
      <p:sp>
        <p:nvSpPr>
          <p:cNvPr id="29" name="Shape 24"/>
          <p:cNvSpPr/>
          <p:nvPr/>
        </p:nvSpPr>
        <p:spPr>
          <a:xfrm>
            <a:off x="6890406" y="4321820"/>
            <a:ext cx="582071" cy="184800"/>
          </a:xfrm>
          <a:prstGeom prst="roundRect">
            <a:avLst>
              <a:gd name="adj" fmla="val 24740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896502" y="5003048"/>
            <a:ext cx="1702164" cy="178704"/>
          </a:xfrm>
          <a:prstGeom prst="roundRect">
            <a:avLst>
              <a:gd name="adj" fmla="val 24740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919116" y="5605028"/>
            <a:ext cx="626906" cy="178704"/>
          </a:xfrm>
          <a:prstGeom prst="roundRect">
            <a:avLst>
              <a:gd name="adj" fmla="val 24740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952314" y="2357780"/>
            <a:ext cx="176205" cy="116037"/>
          </a:xfrm>
          <a:prstGeom prst="roundRect">
            <a:avLst>
              <a:gd name="adj" fmla="val 39401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3" name="h3_1"/>
          <p:cNvSpPr/>
          <p:nvPr/>
        </p:nvSpPr>
        <p:spPr>
          <a:xfrm>
            <a:off x="5389990" y="2381052"/>
            <a:ext cx="388908" cy="180594"/>
          </a:xfrm>
          <a:prstGeom prst="roundRect">
            <a:avLst>
              <a:gd name="adj" fmla="val 30380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4" name="h3_4"/>
          <p:cNvSpPr/>
          <p:nvPr/>
        </p:nvSpPr>
        <p:spPr>
          <a:xfrm>
            <a:off x="9868479" y="5076306"/>
            <a:ext cx="1840985" cy="326967"/>
          </a:xfrm>
          <a:prstGeom prst="roundRect">
            <a:avLst>
              <a:gd name="adj" fmla="val 22010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5" name="b3_1"/>
          <p:cNvSpPr/>
          <p:nvPr/>
        </p:nvSpPr>
        <p:spPr>
          <a:xfrm>
            <a:off x="5401361" y="2608880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6" name="b3_1_t"/>
          <p:cNvSpPr/>
          <p:nvPr/>
        </p:nvSpPr>
        <p:spPr>
          <a:xfrm>
            <a:off x="5401361" y="260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7" name="b3_2"/>
          <p:cNvSpPr/>
          <p:nvPr/>
        </p:nvSpPr>
        <p:spPr>
          <a:xfrm>
            <a:off x="8325232" y="2311769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8" name="b3_2_t"/>
          <p:cNvSpPr/>
          <p:nvPr/>
        </p:nvSpPr>
        <p:spPr>
          <a:xfrm>
            <a:off x="8325232" y="232354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39" name="b3_3"/>
          <p:cNvSpPr/>
          <p:nvPr/>
        </p:nvSpPr>
        <p:spPr>
          <a:xfrm>
            <a:off x="11171973" y="1827137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40" name="b3_3_t"/>
          <p:cNvSpPr/>
          <p:nvPr/>
        </p:nvSpPr>
        <p:spPr>
          <a:xfrm>
            <a:off x="11171641" y="182713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1" name="b3_4"/>
          <p:cNvSpPr/>
          <p:nvPr/>
        </p:nvSpPr>
        <p:spPr>
          <a:xfrm>
            <a:off x="9597542" y="5234849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42" name="b3_4_t"/>
          <p:cNvSpPr/>
          <p:nvPr/>
        </p:nvSpPr>
        <p:spPr>
          <a:xfrm>
            <a:off x="9597542" y="523484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/>
          </a:p>
        </p:txBody>
      </p:sp>
      <p:sp>
        <p:nvSpPr>
          <p:cNvPr id="44" name="Text 39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8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59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5" name="Text 60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6" name="Text 61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7" name="Text 62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8" name="Text 63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9" name="Text 64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70" name="Text 65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71" name="Text 66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A6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918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ACCOUNT REGISTRATION AND VERIFICATION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" y="5486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Request Submitted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CFE3F4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417320"/>
            <a:ext cx="4206240" cy="463600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11" name="p4_1_c"/>
          <p:cNvSpPr/>
          <p:nvPr/>
        </p:nvSpPr>
        <p:spPr>
          <a:xfrm>
            <a:off x="685800" y="1801368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p4_1_t"/>
          <p:cNvSpPr/>
          <p:nvPr/>
        </p:nvSpPr>
        <p:spPr>
          <a:xfrm>
            <a:off x="1234440" y="1783080"/>
            <a:ext cx="310896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submits the completed registration form.</a:t>
            </a:r>
            <a:endParaRPr lang="en-US" sz="1800" dirty="0"/>
          </a:p>
        </p:txBody>
      </p:sp>
      <p:sp>
        <p:nvSpPr>
          <p:cNvPr id="13" name="p4_2_c"/>
          <p:cNvSpPr/>
          <p:nvPr/>
        </p:nvSpPr>
        <p:spPr>
          <a:xfrm>
            <a:off x="685800" y="2880360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p4_2_t"/>
          <p:cNvSpPr/>
          <p:nvPr/>
        </p:nvSpPr>
        <p:spPr>
          <a:xfrm>
            <a:off x="1234440" y="2862072"/>
            <a:ext cx="310896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creates the account with an unverified status.</a:t>
            </a:r>
            <a:endParaRPr lang="en-US" sz="1800" dirty="0"/>
          </a:p>
        </p:txBody>
      </p:sp>
      <p:sp>
        <p:nvSpPr>
          <p:cNvPr id="15" name="p4_3_c"/>
          <p:cNvSpPr/>
          <p:nvPr/>
        </p:nvSpPr>
        <p:spPr>
          <a:xfrm>
            <a:off x="685800" y="3959352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p4_3_t"/>
          <p:cNvSpPr/>
          <p:nvPr/>
        </p:nvSpPr>
        <p:spPr>
          <a:xfrm>
            <a:off x="1234440" y="3941064"/>
            <a:ext cx="310896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sees an awaiting-verification confirmation.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87468" y="1367028"/>
            <a:ext cx="2490910" cy="4736592"/>
          </a:xfrm>
          <a:prstGeom prst="roundRect">
            <a:avLst>
              <a:gd name="adj" fmla="val 2937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18" name="Image 0" descr="C:/NogorShomadhan/User Manual/Phase 1/registration/04-registration-success-awaiting-admin-verification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17320"/>
            <a:ext cx="2390326" cy="463600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253283" y="2121993"/>
            <a:ext cx="186445" cy="125172"/>
          </a:xfrm>
          <a:prstGeom prst="roundRect">
            <a:avLst>
              <a:gd name="adj" fmla="val 36526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0" name="h4_3"/>
          <p:cNvSpPr/>
          <p:nvPr/>
        </p:nvSpPr>
        <p:spPr>
          <a:xfrm>
            <a:off x="5454070" y="1431228"/>
            <a:ext cx="1797525" cy="500689"/>
          </a:xfrm>
          <a:prstGeom prst="roundRect">
            <a:avLst>
              <a:gd name="adj" fmla="val 10958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21" name="b4_3"/>
          <p:cNvSpPr/>
          <p:nvPr/>
        </p:nvSpPr>
        <p:spPr>
          <a:xfrm>
            <a:off x="4898300" y="1489420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22" name="b4_3_t"/>
          <p:cNvSpPr/>
          <p:nvPr/>
        </p:nvSpPr>
        <p:spPr>
          <a:xfrm>
            <a:off x="4898300" y="14894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7693846" y="1417320"/>
            <a:ext cx="4086369" cy="4636008"/>
          </a:xfrm>
          <a:prstGeom prst="roundRect">
            <a:avLst>
              <a:gd name="adj" fmla="val 2685"/>
            </a:avLst>
          </a:prstGeom>
          <a:solidFill>
            <a:srgbClr val="F2F8FD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968166" y="1636776"/>
            <a:ext cx="35377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30" kern="0" dirty="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</a:t>
            </a:r>
            <a:endParaRPr lang="en-US" sz="1300" dirty="0"/>
          </a:p>
        </p:txBody>
      </p:sp>
      <p:sp>
        <p:nvSpPr>
          <p:cNvPr id="25" name="e4_quote"/>
          <p:cNvSpPr/>
          <p:nvPr/>
        </p:nvSpPr>
        <p:spPr>
          <a:xfrm>
            <a:off x="7968166" y="1929384"/>
            <a:ext cx="353772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“Account created. Awaiting admin verification.”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968166" y="2843784"/>
            <a:ext cx="35377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30" kern="0" dirty="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STATUS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968166" y="3136392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B4480A"/>
          </a:solidFill>
          <a:ln w="12700">
            <a:solidFill>
              <a:srgbClr val="B4480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68166" y="31363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968166" y="3849624"/>
            <a:ext cx="35377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30" kern="0" dirty="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1300" dirty="0"/>
          </a:p>
        </p:txBody>
      </p:sp>
      <p:sp>
        <p:nvSpPr>
          <p:cNvPr id="30" name="e4_next"/>
          <p:cNvSpPr/>
          <p:nvPr/>
        </p:nvSpPr>
        <p:spPr>
          <a:xfrm>
            <a:off x="7968166" y="4142232"/>
            <a:ext cx="353772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now waits for an admin to review the account and approve it.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Nogor Shomadhan  ·  User Manual</a:t>
            </a:r>
            <a:endParaRPr lang="en-US" sz="1100" dirty="0"/>
          </a:p>
        </p:txBody>
      </p:sp>
      <p:sp>
        <p:nvSpPr>
          <p:cNvPr id="32" name="Text 29">
            <a:hlinkClick r:id="rId2" tooltip="1. Problem Statement" action="ppaction://hlinksldjump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3" name="Text 30">
            <a:hlinkClick r:id="rId3" tooltip="2. Stakeholders and Responsibilities" action="ppaction://hlinksldjump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4" name="Text 31">
            <a:hlinkClick r:id="rId4" tooltip="3. Resident Account Registration" action="ppaction://hlinksldjump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5" name="Text 32">
            <a:hlinkClick r:id="rId5" tooltip="4. Registration Request Submitted" action="ppaction://hlinksldjump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6" name="Text 33">
            <a:hlinkClick r:id="rId6" tooltip="5. Admin Receives the Verification Request" action="ppaction://hlinksldjump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7" name="Text 34">
            <a:hlinkClick r:id="rId7" tooltip="6. Admin Reviews and Approves the Account" action="ppaction://hlinksldjump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8" name="Text 35">
            <a:hlinkClick r:id="rId8" tooltip="7. Account Verification Completed" action="ppaction://hlinksldjump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39" name="Text 36">
            <a:hlinkClick r:id="rId9" tooltip="8. Create a New Complaint" action="ppaction://hlinksldjump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0" name="Text 37">
            <a:hlinkClick r:id="rId10" tooltip="9. Add Evidence and Review the Category" action="ppaction://hlinksldjump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1" name="Text 38">
            <a:hlinkClick r:id="rId11" tooltip="10. Confirm the Complaint Submission" action="ppaction://hlinksldjump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2" name="Text 39">
            <a:hlinkClick r:id="rId12" tooltip="11. Admin Opens the Review Queue" action="ppaction://hlinksldjump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3" name="Text 40">
            <a:hlinkClick r:id="rId13" tooltip="12. Complaint Check and Duplicate Comparison" action="ppaction://hlinksldjump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4" name="Text 41">
            <a:hlinkClick r:id="rId14" tooltip="13. Duplicate Review Outcomes" action="ppaction://hlinksldjump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5" name="Text 42">
            <a:hlinkClick r:id="rId15" tooltip="14. Pending Complaint Visibility" action="ppaction://hlinksldjump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6" name="Text 43">
            <a:hlinkClick r:id="rId16" tooltip="15. Authority Opens the Complaint" action="ppaction://hlinksldjump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7" name="Text 44">
            <a:hlinkClick r:id="rId17" tooltip="16. Assign a Contractor and Start Work" action="ppaction://hlinksldjump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8" name="Text 45">
            <a:hlinkClick r:id="rId18" tooltip="17. The Complaint Moves to In Progress" action="ppaction://hlinksldjump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9" name="Text 46">
            <a:hlinkClick r:id="rId19" tooltip="18. Residents See the Progress Update" action="ppaction://hlinksldjump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0" name="Text 47">
            <a:hlinkClick r:id="rId20" tooltip="19. Resident Starts a Forum Discussion" action="ppaction://hlinksldjump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1" name="Text 48">
            <a:hlinkClick r:id="rId21" tooltip="20. Everyone Is Notified" action="ppaction://hlinksldjump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2" name="Text 49">
            <a:hlinkClick r:id="rId22" tooltip="21. Open the Post and Discuss" action="ppaction://hlinksldjump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3" name="Text 50">
            <a:hlinkClick r:id="rId23" tooltip="22. Authority Updates the Work" action="ppaction://hlinksldjump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4" name="Text 51">
            <a:hlinkClick r:id="rId24" tooltip="23. Authority Resolves the Complaint" action="ppaction://hlinksldjump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5" name="Text 52">
            <a:hlinkClick r:id="rId25" tooltip="24. Residents Give Feedback" action="ppaction://hlinksldjump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6" name="Text 53">
            <a:hlinkClick r:id="rId26" tooltip="25. Feedback Is Public and Answered" action="ppaction://hlinksldjump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7" name="Text 54">
            <a:hlinkClick r:id="rId27" tooltip="26. Analytics and Reporting" action="ppaction://hlinksldjump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8" name="Text 55">
            <a:hlinkClick r:id="rId28" tooltip="27. Forum Announcements and Events" action="ppaction://hlinksldjump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4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B86A1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918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ACCOUNT REGISTRATION AND VERIFICATION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" y="5486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Receives the Verification Request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975543" y="475488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5543" y="475488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F2DBBB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417320"/>
            <a:ext cx="3657600" cy="485546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11" name="p5_1_c"/>
          <p:cNvSpPr/>
          <p:nvPr/>
        </p:nvSpPr>
        <p:spPr>
          <a:xfrm>
            <a:off x="667512" y="1773936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p5_1_t"/>
          <p:cNvSpPr/>
          <p:nvPr/>
        </p:nvSpPr>
        <p:spPr>
          <a:xfrm>
            <a:off x="1216152" y="1755648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a pending account verification and a notification badge.</a:t>
            </a:r>
            <a:endParaRPr lang="en-US" sz="1800" dirty="0"/>
          </a:p>
        </p:txBody>
      </p:sp>
      <p:sp>
        <p:nvSpPr>
          <p:cNvPr id="13" name="p5_2_c"/>
          <p:cNvSpPr/>
          <p:nvPr/>
        </p:nvSpPr>
        <p:spPr>
          <a:xfrm>
            <a:off x="667512" y="3087624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p5_2_t"/>
          <p:cNvSpPr/>
          <p:nvPr/>
        </p:nvSpPr>
        <p:spPr>
          <a:xfrm>
            <a:off x="1216152" y="3069336"/>
            <a:ext cx="259689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 opens the admin inbox listing the new resident account.</a:t>
            </a:r>
            <a:endParaRPr lang="en-US" sz="1800" dirty="0"/>
          </a:p>
        </p:txBody>
      </p:sp>
      <p:sp>
        <p:nvSpPr>
          <p:cNvPr id="15" name="p5_3_c"/>
          <p:cNvSpPr/>
          <p:nvPr/>
        </p:nvSpPr>
        <p:spPr>
          <a:xfrm>
            <a:off x="667512" y="4117848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p5_3_t"/>
          <p:cNvSpPr/>
          <p:nvPr/>
        </p:nvSpPr>
        <p:spPr>
          <a:xfrm>
            <a:off x="1216152" y="4099560"/>
            <a:ext cx="259689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Accounts on the dashboard opens the same pending queue.</a:t>
            </a:r>
            <a:endParaRPr lang="en-US" sz="1800" dirty="0"/>
          </a:p>
        </p:txBody>
      </p:sp>
      <p:sp>
        <p:nvSpPr>
          <p:cNvPr id="17" name="p5_4_c"/>
          <p:cNvSpPr/>
          <p:nvPr/>
        </p:nvSpPr>
        <p:spPr>
          <a:xfrm>
            <a:off x="667512" y="5148072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p5_4_t"/>
          <p:cNvSpPr/>
          <p:nvPr/>
        </p:nvSpPr>
        <p:spPr>
          <a:xfrm>
            <a:off x="1216152" y="5129784"/>
            <a:ext cx="259689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pending account offers View info, Reject, and Approve.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38396" y="1412748"/>
            <a:ext cx="2139124" cy="4078224"/>
          </a:xfrm>
          <a:prstGeom prst="roundRect">
            <a:avLst>
              <a:gd name="adj" fmla="val 3420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0" name="Image 0" descr="C:/NogorShomadhan/User Manual/New changes/Account verification UI/IMG_452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8688" y="1463040"/>
            <a:ext cx="2038540" cy="39776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906120" y="1412748"/>
            <a:ext cx="2347951" cy="4078224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2" name="Image 1" descr="C:/NogorShomadhan/User Manual/New changes/Account verification UI/IMG_4524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412" y="1463040"/>
            <a:ext cx="2247367" cy="39776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9482671" y="1412748"/>
            <a:ext cx="2139124" cy="4078224"/>
          </a:xfrm>
          <a:prstGeom prst="roundRect">
            <a:avLst>
              <a:gd name="adj" fmla="val 3420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4" name="Image 2" descr="C:/NogorShomadhan/User Manual/New changes/Account verification UI/IMG_4525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963" y="1463040"/>
            <a:ext cx="2038540" cy="397764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0215874" y="2904935"/>
            <a:ext cx="330244" cy="79553"/>
          </a:xfrm>
          <a:prstGeom prst="roundRect">
            <a:avLst>
              <a:gd name="adj" fmla="val 57471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6" name="arrow5a"/>
          <p:cNvSpPr/>
          <p:nvPr/>
        </p:nvSpPr>
        <p:spPr>
          <a:xfrm>
            <a:off x="6663804" y="3314700"/>
            <a:ext cx="256032" cy="274320"/>
          </a:xfrm>
          <a:prstGeom prst="rightArrow">
            <a:avLst/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</p:spPr>
      </p:sp>
      <p:sp>
        <p:nvSpPr>
          <p:cNvPr id="27" name="arrow5b"/>
          <p:cNvSpPr/>
          <p:nvPr/>
        </p:nvSpPr>
        <p:spPr>
          <a:xfrm>
            <a:off x="9240355" y="3314700"/>
            <a:ext cx="256032" cy="274320"/>
          </a:xfrm>
          <a:prstGeom prst="rightArrow">
            <a:avLst/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</p:spPr>
      </p:sp>
      <p:sp>
        <p:nvSpPr>
          <p:cNvPr id="28" name="arrow5c"/>
          <p:cNvSpPr/>
          <p:nvPr/>
        </p:nvSpPr>
        <p:spPr>
          <a:xfrm>
            <a:off x="5607958" y="5650992"/>
            <a:ext cx="4944275" cy="274320"/>
          </a:xfrm>
          <a:prstGeom prst="rightArrow">
            <a:avLst/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</p:spPr>
      </p:sp>
      <p:sp>
        <p:nvSpPr>
          <p:cNvPr id="29" name="arrow5ct"/>
          <p:cNvSpPr/>
          <p:nvPr/>
        </p:nvSpPr>
        <p:spPr>
          <a:xfrm>
            <a:off x="5059318" y="5980176"/>
            <a:ext cx="60415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Accounts opens the same pending queue</a:t>
            </a:r>
            <a:endParaRPr lang="en-US" sz="1500" dirty="0"/>
          </a:p>
        </p:txBody>
      </p:sp>
      <p:sp>
        <p:nvSpPr>
          <p:cNvPr id="30" name="h5_1a"/>
          <p:cNvSpPr/>
          <p:nvPr/>
        </p:nvSpPr>
        <p:spPr>
          <a:xfrm>
            <a:off x="4645767" y="1653967"/>
            <a:ext cx="1903997" cy="429585"/>
          </a:xfrm>
          <a:prstGeom prst="roundRect">
            <a:avLst>
              <a:gd name="adj" fmla="val 12771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1" name="h5_1b"/>
          <p:cNvSpPr/>
          <p:nvPr/>
        </p:nvSpPr>
        <p:spPr>
          <a:xfrm>
            <a:off x="6133901" y="1482928"/>
            <a:ext cx="301704" cy="167061"/>
          </a:xfrm>
          <a:prstGeom prst="roundRect">
            <a:avLst>
              <a:gd name="adj" fmla="val 32841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2" name="b5_1"/>
          <p:cNvSpPr/>
          <p:nvPr/>
        </p:nvSpPr>
        <p:spPr>
          <a:xfrm>
            <a:off x="4466964" y="1471087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3" name="b5_1_t"/>
          <p:cNvSpPr/>
          <p:nvPr/>
        </p:nvSpPr>
        <p:spPr>
          <a:xfrm>
            <a:off x="4466964" y="147108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4" name="h5_2"/>
          <p:cNvSpPr/>
          <p:nvPr/>
        </p:nvSpPr>
        <p:spPr>
          <a:xfrm>
            <a:off x="7041812" y="2871125"/>
            <a:ext cx="2085556" cy="485272"/>
          </a:xfrm>
          <a:prstGeom prst="roundRect">
            <a:avLst>
              <a:gd name="adj" fmla="val 11306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5" name="b5_2"/>
          <p:cNvSpPr/>
          <p:nvPr/>
        </p:nvSpPr>
        <p:spPr>
          <a:xfrm>
            <a:off x="6840953" y="2688245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6" name="b5_2_t"/>
          <p:cNvSpPr/>
          <p:nvPr/>
        </p:nvSpPr>
        <p:spPr>
          <a:xfrm>
            <a:off x="6840953" y="268824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37" name="h5_3"/>
          <p:cNvSpPr/>
          <p:nvPr/>
        </p:nvSpPr>
        <p:spPr>
          <a:xfrm>
            <a:off x="4645767" y="3730295"/>
            <a:ext cx="1903997" cy="469362"/>
          </a:xfrm>
          <a:prstGeom prst="roundRect">
            <a:avLst>
              <a:gd name="adj" fmla="val 11689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8" name="b5_3"/>
          <p:cNvSpPr/>
          <p:nvPr/>
        </p:nvSpPr>
        <p:spPr>
          <a:xfrm>
            <a:off x="4466964" y="3547415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9" name="b5_3_t"/>
          <p:cNvSpPr/>
          <p:nvPr/>
        </p:nvSpPr>
        <p:spPr>
          <a:xfrm>
            <a:off x="4466964" y="354741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0" name="h5_4a"/>
          <p:cNvSpPr/>
          <p:nvPr/>
        </p:nvSpPr>
        <p:spPr>
          <a:xfrm>
            <a:off x="9602273" y="2696108"/>
            <a:ext cx="1895843" cy="763707"/>
          </a:xfrm>
          <a:prstGeom prst="roundRect">
            <a:avLst>
              <a:gd name="adj" fmla="val 7184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41" name="h5_4b"/>
          <p:cNvSpPr/>
          <p:nvPr/>
        </p:nvSpPr>
        <p:spPr>
          <a:xfrm>
            <a:off x="9671584" y="3205246"/>
            <a:ext cx="1757222" cy="182971"/>
          </a:xfrm>
          <a:prstGeom prst="roundRect">
            <a:avLst>
              <a:gd name="adj" fmla="val 29985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42" name="b5_4"/>
          <p:cNvSpPr/>
          <p:nvPr/>
        </p:nvSpPr>
        <p:spPr>
          <a:xfrm>
            <a:off x="9411239" y="2513228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3" name="b5_4_t"/>
          <p:cNvSpPr/>
          <p:nvPr/>
        </p:nvSpPr>
        <p:spPr>
          <a:xfrm>
            <a:off x="9411239" y="25132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4" name="Text 39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Nogor Shomadhan  ·  User Manual</a:t>
            </a:r>
            <a:endParaRPr lang="en-US" sz="1100" dirty="0"/>
          </a:p>
        </p:txBody>
      </p:sp>
      <p:sp>
        <p:nvSpPr>
          <p:cNvPr id="45" name="Text 40">
            <a:hlinkClick r:id="rId4" tooltip="1. Problem Statement" action="ppaction://hlinksldjump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6" name="Text 41">
            <a:hlinkClick r:id="rId5" tooltip="2. Stakeholders and Responsibilities" action="ppaction://hlinksldjump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7" name="Text 42">
            <a:hlinkClick r:id="rId6" tooltip="3. Resident Account Registration" action="ppaction://hlinksldjump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8" name="Text 43">
            <a:hlinkClick r:id="rId7" tooltip="4. Registration Request Submitted" action="ppaction://hlinksldjump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9" name="Text 44">
            <a:hlinkClick r:id="rId8" tooltip="5. Admin Receives the Verification Request" action="ppaction://hlinksldjump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0" name="Text 45">
            <a:hlinkClick r:id="rId9" tooltip="6. Admin Reviews and Approves the Account" action="ppaction://hlinksldjump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1" name="Text 46">
            <a:hlinkClick r:id="rId10" tooltip="7. Account Verification Completed" action="ppaction://hlinksldjump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2" name="Text 47">
            <a:hlinkClick r:id="rId11" tooltip="8. Create a New Complaint" action="ppaction://hlinksldjump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3" name="Text 48">
            <a:hlinkClick r:id="rId12" tooltip="9. Add Evidence and Review the Category" action="ppaction://hlinksldjump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4" name="Text 49">
            <a:hlinkClick r:id="rId13" tooltip="10. Confirm the Complaint Submission" action="ppaction://hlinksldjump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5" name="Text 50">
            <a:hlinkClick r:id="rId14" tooltip="11. Admin Opens the Review Queue" action="ppaction://hlinksldjump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6" name="Text 51">
            <a:hlinkClick r:id="rId15" tooltip="12. Complaint Check and Duplicate Comparison" action="ppaction://hlinksldjump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7" name="Text 52">
            <a:hlinkClick r:id="rId16" tooltip="13. Duplicate Review Outcomes" action="ppaction://hlinksldjump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8" name="Text 53">
            <a:hlinkClick r:id="rId17" tooltip="14. Pending Complaint Visibility" action="ppaction://hlinksldjump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9" name="Text 54">
            <a:hlinkClick r:id="rId18" tooltip="15. Authority Opens the Complaint" action="ppaction://hlinksldjump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0" name="Text 55">
            <a:hlinkClick r:id="rId19" tooltip="16. Assign a Contractor and Start Work" action="ppaction://hlinksldjump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1" name="Text 56">
            <a:hlinkClick r:id="rId20" tooltip="17. The Complaint Moves to In Progress" action="ppaction://hlinksldjump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2" name="Text 57">
            <a:hlinkClick r:id="rId21" tooltip="18. Residents See the Progress Update" action="ppaction://hlinksldjump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3" name="Text 58">
            <a:hlinkClick r:id="rId22" tooltip="19. Resident Starts a Forum Discussion" action="ppaction://hlinksldjump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4" name="Text 59">
            <a:hlinkClick r:id="rId23" tooltip="20. Everyone Is Notified" action="ppaction://hlinksldjump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5" name="Text 60">
            <a:hlinkClick r:id="rId24" tooltip="21. Open the Post and Discuss" action="ppaction://hlinksldjump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6" name="Text 61">
            <a:hlinkClick r:id="rId25" tooltip="22. Authority Updates the Work" action="ppaction://hlinksldjump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7" name="Text 62">
            <a:hlinkClick r:id="rId26" tooltip="23. Authority Resolves the Complaint" action="ppaction://hlinksldjump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8" name="Text 63">
            <a:hlinkClick r:id="rId27" tooltip="24. Residents Give Feedback" action="ppaction://hlinksldjump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9" name="Text 64">
            <a:hlinkClick r:id="rId28" tooltip="25. Feedback Is Public and Answered" action="ppaction://hlinksldjump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70" name="Text 65">
            <a:hlinkClick r:id="rId29" tooltip="26. Analytics and Reporting" action="ppaction://hlinksldjump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71" name="Text 66">
            <a:hlinkClick r:id="rId30" tooltip="27. Forum Announcements and Events" action="ppaction://hlinksldjump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72" name="Text 67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4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B86A1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918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ACCOUNT REGISTRATION AND VERIFICATION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" y="5486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and Approves the Account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975543" y="475488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5543" y="475488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F2DBBB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417320"/>
            <a:ext cx="4343400" cy="463600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11" name="p6_1_c"/>
          <p:cNvSpPr/>
          <p:nvPr/>
        </p:nvSpPr>
        <p:spPr>
          <a:xfrm>
            <a:off x="704088" y="1828800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p6_1_t"/>
          <p:cNvSpPr/>
          <p:nvPr/>
        </p:nvSpPr>
        <p:spPr>
          <a:xfrm>
            <a:off x="1252728" y="1810512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View info to see the complete account details.</a:t>
            </a:r>
            <a:endParaRPr lang="en-US" sz="1800" dirty="0"/>
          </a:p>
        </p:txBody>
      </p:sp>
      <p:sp>
        <p:nvSpPr>
          <p:cNvPr id="13" name="p6_2_c"/>
          <p:cNvSpPr/>
          <p:nvPr/>
        </p:nvSpPr>
        <p:spPr>
          <a:xfrm>
            <a:off x="704088" y="2834640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p6_2_t"/>
          <p:cNvSpPr/>
          <p:nvPr/>
        </p:nvSpPr>
        <p:spPr>
          <a:xfrm>
            <a:off x="1252728" y="2816352"/>
            <a:ext cx="320954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identity and address details are valid.</a:t>
            </a:r>
            <a:endParaRPr lang="en-US" sz="1800" dirty="0"/>
          </a:p>
        </p:txBody>
      </p:sp>
      <p:sp>
        <p:nvSpPr>
          <p:cNvPr id="15" name="p6_3_c"/>
          <p:cNvSpPr/>
          <p:nvPr/>
        </p:nvSpPr>
        <p:spPr>
          <a:xfrm>
            <a:off x="704088" y="4123944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p6_3_t"/>
          <p:cNvSpPr/>
          <p:nvPr/>
        </p:nvSpPr>
        <p:spPr>
          <a:xfrm>
            <a:off x="1252728" y="4105656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account and confirm the action.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4088" y="6144768"/>
            <a:ext cx="3941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masked for this presentation.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85854" y="1367028"/>
            <a:ext cx="2476538" cy="4736592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19" name="Image 0" descr="C:/NogorShomadhan/User Manual/New changes/Account verification UI/IMG_452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6146" y="1417320"/>
            <a:ext cx="2375954" cy="463600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16106" y="6163056"/>
            <a:ext cx="3016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account details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701888" y="1367028"/>
            <a:ext cx="2476538" cy="4736592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2" name="Image 1" descr="C:/NogorShomadhan/User Manual/New changes/Account verification UI/IMG_4527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80" y="1417320"/>
            <a:ext cx="2375954" cy="46360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432140" y="6163056"/>
            <a:ext cx="3016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confirmation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080659" y="2917069"/>
            <a:ext cx="415792" cy="101992"/>
          </a:xfrm>
          <a:prstGeom prst="roundRect">
            <a:avLst>
              <a:gd name="adj" fmla="val 44827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080659" y="3218409"/>
            <a:ext cx="487071" cy="101992"/>
          </a:xfrm>
          <a:prstGeom prst="roundRect">
            <a:avLst>
              <a:gd name="adj" fmla="val 44827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92539" y="3519750"/>
            <a:ext cx="332634" cy="101992"/>
          </a:xfrm>
          <a:prstGeom prst="roundRect">
            <a:avLst>
              <a:gd name="adj" fmla="val 44827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940478" y="3821090"/>
            <a:ext cx="178197" cy="101992"/>
          </a:xfrm>
          <a:prstGeom prst="roundRect">
            <a:avLst>
              <a:gd name="adj" fmla="val 44827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8" name="h6_1"/>
          <p:cNvSpPr/>
          <p:nvPr/>
        </p:nvSpPr>
        <p:spPr>
          <a:xfrm>
            <a:off x="5926222" y="2474330"/>
            <a:ext cx="1995801" cy="1131186"/>
          </a:xfrm>
          <a:prstGeom prst="roundRect">
            <a:avLst>
              <a:gd name="adj" fmla="val 4850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29" name="b6_1"/>
          <p:cNvSpPr/>
          <p:nvPr/>
        </p:nvSpPr>
        <p:spPr>
          <a:xfrm>
            <a:off x="5700575" y="2291450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0" name="b6_1_t"/>
          <p:cNvSpPr/>
          <p:nvPr/>
        </p:nvSpPr>
        <p:spPr>
          <a:xfrm>
            <a:off x="5700575" y="229145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1" name="h6_2"/>
          <p:cNvSpPr/>
          <p:nvPr/>
        </p:nvSpPr>
        <p:spPr>
          <a:xfrm>
            <a:off x="5926222" y="3688964"/>
            <a:ext cx="1995801" cy="936474"/>
          </a:xfrm>
          <a:prstGeom prst="roundRect">
            <a:avLst>
              <a:gd name="adj" fmla="val 5859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2" name="b6_2"/>
          <p:cNvSpPr/>
          <p:nvPr/>
        </p:nvSpPr>
        <p:spPr>
          <a:xfrm>
            <a:off x="5700575" y="3506084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3" name="b6_2_t"/>
          <p:cNvSpPr/>
          <p:nvPr/>
        </p:nvSpPr>
        <p:spPr>
          <a:xfrm>
            <a:off x="5700575" y="35060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34" name="h6_3a"/>
          <p:cNvSpPr/>
          <p:nvPr/>
        </p:nvSpPr>
        <p:spPr>
          <a:xfrm>
            <a:off x="8989775" y="2937931"/>
            <a:ext cx="1900763" cy="1427890"/>
          </a:xfrm>
          <a:prstGeom prst="roundRect">
            <a:avLst>
              <a:gd name="adj" fmla="val 3842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5" name="h6_3b"/>
          <p:cNvSpPr/>
          <p:nvPr/>
        </p:nvSpPr>
        <p:spPr>
          <a:xfrm>
            <a:off x="9968668" y="3976396"/>
            <a:ext cx="788817" cy="259616"/>
          </a:xfrm>
          <a:prstGeom prst="roundRect">
            <a:avLst>
              <a:gd name="adj" fmla="val 21133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6" name="b6_3"/>
          <p:cNvSpPr/>
          <p:nvPr/>
        </p:nvSpPr>
        <p:spPr>
          <a:xfrm>
            <a:off x="10648259" y="3923325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7" name="b6_3_t"/>
          <p:cNvSpPr/>
          <p:nvPr/>
        </p:nvSpPr>
        <p:spPr>
          <a:xfrm>
            <a:off x="10648259" y="392332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8" name="Text 34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Nogor Shomadhan  ·  User Manual</a:t>
            </a:r>
            <a:endParaRPr lang="en-US" sz="1100" dirty="0"/>
          </a:p>
        </p:txBody>
      </p:sp>
      <p:sp>
        <p:nvSpPr>
          <p:cNvPr id="39" name="Text 35">
            <a:hlinkClick r:id="rId3" tooltip="1. Problem Statement" action="ppaction://hlinksldjump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0" name="Text 36">
            <a:hlinkClick r:id="rId4" tooltip="2. Stakeholders and Responsibilities" action="ppaction://hlinksldjump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1" name="Text 37">
            <a:hlinkClick r:id="rId5" tooltip="3. Resident Account Registration" action="ppaction://hlinksldjump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2" name="Text 38">
            <a:hlinkClick r:id="rId6" tooltip="4. Registration Request Submitted" action="ppaction://hlinksldjump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3" name="Text 39">
            <a:hlinkClick r:id="rId7" tooltip="5. Admin Receives the Verification Request" action="ppaction://hlinksldjump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4" name="Text 40">
            <a:hlinkClick r:id="rId8" tooltip="6. Admin Reviews and Approves the Account" action="ppaction://hlinksldjump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5" name="Text 41">
            <a:hlinkClick r:id="rId9" tooltip="7. Account Verification Completed" action="ppaction://hlinksldjump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6" name="Text 42">
            <a:hlinkClick r:id="rId10" tooltip="8. Create a New Complaint" action="ppaction://hlinksldjump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7" name="Text 43">
            <a:hlinkClick r:id="rId11" tooltip="9. Add Evidence and Review the Category" action="ppaction://hlinksldjump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8" name="Text 44">
            <a:hlinkClick r:id="rId12" tooltip="10. Confirm the Complaint Submission" action="ppaction://hlinksldjump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49" name="Text 45">
            <a:hlinkClick r:id="rId13" tooltip="11. Admin Opens the Review Queue" action="ppaction://hlinksldjump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0" name="Text 46">
            <a:hlinkClick r:id="rId14" tooltip="12. Complaint Check and Duplicate Comparison" action="ppaction://hlinksldjump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1" name="Text 47">
            <a:hlinkClick r:id="rId15" tooltip="13. Duplicate Review Outcomes" action="ppaction://hlinksldjump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2" name="Text 48">
            <a:hlinkClick r:id="rId16" tooltip="14. Pending Complaint Visibility" action="ppaction://hlinksldjump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3" name="Text 49">
            <a:hlinkClick r:id="rId17" tooltip="15. Authority Opens the Complaint" action="ppaction://hlinksldjump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4" name="Text 50">
            <a:hlinkClick r:id="rId18" tooltip="16. Assign a Contractor and Start Work" action="ppaction://hlinksldjump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5" name="Text 51">
            <a:hlinkClick r:id="rId19" tooltip="17. The Complaint Moves to In Progress" action="ppaction://hlinksldjump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6" name="Text 52">
            <a:hlinkClick r:id="rId20" tooltip="18. Residents See the Progress Update" action="ppaction://hlinksldjump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7" name="Text 53">
            <a:hlinkClick r:id="rId21" tooltip="19. Resident Starts a Forum Discussion" action="ppaction://hlinksldjump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8" name="Text 54">
            <a:hlinkClick r:id="rId22" tooltip="20. Everyone Is Notified" action="ppaction://hlinksldjump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9" name="Text 55">
            <a:hlinkClick r:id="rId23" tooltip="21. Open the Post and Discuss" action="ppaction://hlinksldjump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0" name="Text 56">
            <a:hlinkClick r:id="rId24" tooltip="22. Authority Updates the Work" action="ppaction://hlinksldjump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1" name="Text 57">
            <a:hlinkClick r:id="rId25" tooltip="23. Authority Resolves the Complaint" action="ppaction://hlinksldjump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2" name="Text 58">
            <a:hlinkClick r:id="rId26" tooltip="24. Residents Give Feedback" action="ppaction://hlinksldjump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3" name="Text 59">
            <a:hlinkClick r:id="rId27" tooltip="25. Feedback Is Public and Answered" action="ppaction://hlinksldjump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4" name="Text 60">
            <a:hlinkClick r:id="rId28" tooltip="26. Analytics and Reporting" action="ppaction://hlinksldjump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5" name="Text 61">
            <a:hlinkClick r:id="rId29" tooltip="27. Forum Announcements and Events" action="ppaction://hlinksldjump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6" name="Text 62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2918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ACCOUNT REGISTRATION AND VERIFICATION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" y="5486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Verification Completed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975543" y="475488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5543" y="475488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28302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28302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1417320"/>
            <a:ext cx="47548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13" name="p7_1_c"/>
          <p:cNvSpPr/>
          <p:nvPr/>
        </p:nvSpPr>
        <p:spPr>
          <a:xfrm>
            <a:off x="685800" y="1664208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p7_1_t"/>
          <p:cNvSpPr/>
          <p:nvPr/>
        </p:nvSpPr>
        <p:spPr>
          <a:xfrm>
            <a:off x="1234440" y="164592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receives an SMS confirming account approval.</a:t>
            </a:r>
            <a:endParaRPr lang="en-US" sz="1800" dirty="0"/>
          </a:p>
        </p:txBody>
      </p:sp>
      <p:sp>
        <p:nvSpPr>
          <p:cNvPr id="15" name="p7_2_c"/>
          <p:cNvSpPr/>
          <p:nvPr/>
        </p:nvSpPr>
        <p:spPr>
          <a:xfrm>
            <a:off x="685800" y="2417064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p7_2_t"/>
          <p:cNvSpPr/>
          <p:nvPr/>
        </p:nvSpPr>
        <p:spPr>
          <a:xfrm>
            <a:off x="1234440" y="239877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Registered Accounts to view all approved profiles.</a:t>
            </a:r>
            <a:endParaRPr lang="en-US" sz="1800" dirty="0"/>
          </a:p>
        </p:txBody>
      </p:sp>
      <p:sp>
        <p:nvSpPr>
          <p:cNvPr id="17" name="p7_3_c"/>
          <p:cNvSpPr/>
          <p:nvPr/>
        </p:nvSpPr>
        <p:spPr>
          <a:xfrm>
            <a:off x="685800" y="3169920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p7_3_t"/>
          <p:cNvSpPr/>
          <p:nvPr/>
        </p:nvSpPr>
        <p:spPr>
          <a:xfrm>
            <a:off x="1234440" y="315163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appears in the Registered Accounts list.</a:t>
            </a:r>
            <a:endParaRPr lang="en-US" sz="1800" dirty="0"/>
          </a:p>
        </p:txBody>
      </p:sp>
      <p:sp>
        <p:nvSpPr>
          <p:cNvPr id="19" name="p7_4_c"/>
          <p:cNvSpPr/>
          <p:nvPr/>
        </p:nvSpPr>
        <p:spPr>
          <a:xfrm>
            <a:off x="685800" y="3922776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p7_4_t"/>
          <p:cNvSpPr/>
          <p:nvPr/>
        </p:nvSpPr>
        <p:spPr>
          <a:xfrm>
            <a:off x="1234440" y="390448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status changes to Verified.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11480" y="4727448"/>
            <a:ext cx="4754880" cy="1216152"/>
          </a:xfrm>
          <a:prstGeom prst="roundRect">
            <a:avLst>
              <a:gd name="adj" fmla="val 9023"/>
            </a:avLst>
          </a:prstGeom>
          <a:solidFill>
            <a:srgbClr val="F2F8FD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" y="4782312"/>
            <a:ext cx="4315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TO THE RESIDENT</a:t>
            </a:r>
            <a:endParaRPr lang="en-US" sz="1200" dirty="0"/>
          </a:p>
        </p:txBody>
      </p:sp>
      <p:sp>
        <p:nvSpPr>
          <p:cNvPr id="23" name="s7_sms_f"/>
          <p:cNvSpPr/>
          <p:nvPr/>
        </p:nvSpPr>
        <p:spPr>
          <a:xfrm>
            <a:off x="1120140" y="4965192"/>
            <a:ext cx="3337560" cy="1004888"/>
          </a:xfrm>
          <a:prstGeom prst="roundRect">
            <a:avLst>
              <a:gd name="adj" fmla="val 6370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pic>
        <p:nvPicPr>
          <p:cNvPr id="24" name="s7_sms" descr="C:/NogorShomadhan/User Manual/Phase 1/admin verification/10-resident-account-approved-sm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5010912"/>
            <a:ext cx="3246120" cy="91344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486400" y="1417320"/>
            <a:ext cx="6293815" cy="4526280"/>
          </a:xfrm>
          <a:prstGeom prst="roundRect">
            <a:avLst>
              <a:gd name="adj" fmla="val 2424"/>
            </a:avLst>
          </a:prstGeom>
          <a:solidFill>
            <a:srgbClr val="FFFAF2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649269" y="1517904"/>
            <a:ext cx="252854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073928" y="1517904"/>
            <a:ext cx="25434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accounts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873297" y="1906524"/>
            <a:ext cx="2080490" cy="4014216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29" name="Image 1" descr="C:/NogorShomadhan/User Manual/New changes/Account registered UI/IMG_4528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589" y="1956816"/>
            <a:ext cx="1979906" cy="3913632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9297956" y="1906524"/>
            <a:ext cx="2095362" cy="4014216"/>
          </a:xfrm>
          <a:prstGeom prst="roundRect">
            <a:avLst>
              <a:gd name="adj" fmla="val 3491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pic>
        <p:nvPicPr>
          <p:cNvPr id="31" name="Image 2" descr="C:/NogorShomadhan/User Manual/New changes/Account registered UI/IMG_4529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8248" y="1956816"/>
            <a:ext cx="1994778" cy="3913632"/>
          </a:xfrm>
          <a:prstGeom prst="rect">
            <a:avLst/>
          </a:prstGeom>
        </p:spPr>
      </p:pic>
      <p:sp>
        <p:nvSpPr>
          <p:cNvPr id="32" name="arrow7"/>
          <p:cNvSpPr/>
          <p:nvPr/>
        </p:nvSpPr>
        <p:spPr>
          <a:xfrm>
            <a:off x="8214392" y="3657600"/>
            <a:ext cx="822960" cy="512064"/>
          </a:xfrm>
          <a:prstGeom prst="rightArrow">
            <a:avLst/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sx="100000" sy="100000" kx="0" ky="0" algn="bl" rotWithShape="0" blurRad="76200" dist="12700" dir="5400000">
              <a:srgbClr val="0B2239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647464" y="3845143"/>
            <a:ext cx="598433" cy="78273"/>
          </a:xfrm>
          <a:prstGeom prst="roundRect">
            <a:avLst>
              <a:gd name="adj" fmla="val 58411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647464" y="4148450"/>
            <a:ext cx="239373" cy="78273"/>
          </a:xfrm>
          <a:prstGeom prst="roundRect">
            <a:avLst>
              <a:gd name="adj" fmla="val 58411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9647464" y="5117074"/>
            <a:ext cx="758016" cy="78273"/>
          </a:xfrm>
          <a:prstGeom prst="roundRect">
            <a:avLst>
              <a:gd name="adj" fmla="val 58411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647464" y="5420380"/>
            <a:ext cx="219426" cy="78273"/>
          </a:xfrm>
          <a:prstGeom prst="roundRect">
            <a:avLst>
              <a:gd name="adj" fmla="val 58411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7" name="h7_2"/>
          <p:cNvSpPr/>
          <p:nvPr/>
        </p:nvSpPr>
        <p:spPr>
          <a:xfrm>
            <a:off x="5986946" y="4618086"/>
            <a:ext cx="1845273" cy="579218"/>
          </a:xfrm>
          <a:prstGeom prst="roundRect">
            <a:avLst>
              <a:gd name="adj" fmla="val 9472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8" name="b7_2"/>
          <p:cNvSpPr/>
          <p:nvPr/>
        </p:nvSpPr>
        <p:spPr>
          <a:xfrm>
            <a:off x="5800106" y="4435206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39" name="b7_2_t"/>
          <p:cNvSpPr/>
          <p:nvPr/>
        </p:nvSpPr>
        <p:spPr>
          <a:xfrm>
            <a:off x="5800106" y="443520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40" name="h7_3"/>
          <p:cNvSpPr/>
          <p:nvPr/>
        </p:nvSpPr>
        <p:spPr>
          <a:xfrm>
            <a:off x="9416070" y="3326587"/>
            <a:ext cx="1855144" cy="1181917"/>
          </a:xfrm>
          <a:prstGeom prst="roundRect">
            <a:avLst>
              <a:gd name="adj" fmla="val 4642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41" name="b7_3"/>
          <p:cNvSpPr/>
          <p:nvPr/>
        </p:nvSpPr>
        <p:spPr>
          <a:xfrm>
            <a:off x="9225211" y="3143707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2" name="b7_3_t"/>
          <p:cNvSpPr/>
          <p:nvPr/>
        </p:nvSpPr>
        <p:spPr>
          <a:xfrm>
            <a:off x="9225211" y="314370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3" name="h7_4"/>
          <p:cNvSpPr/>
          <p:nvPr/>
        </p:nvSpPr>
        <p:spPr>
          <a:xfrm>
            <a:off x="10860290" y="3424428"/>
            <a:ext cx="339112" cy="125236"/>
          </a:xfrm>
          <a:prstGeom prst="roundRect">
            <a:avLst>
              <a:gd name="adj" fmla="val 43808"/>
            </a:avLst>
          </a:prstGeom>
          <a:ln w="28575">
            <a:solidFill>
              <a:srgbClr val="18835C"/>
            </a:solidFill>
            <a:prstDash val="solid"/>
          </a:ln>
        </p:spPr>
      </p:sp>
      <p:sp>
        <p:nvSpPr>
          <p:cNvPr id="44" name="b7_4"/>
          <p:cNvSpPr/>
          <p:nvPr/>
        </p:nvSpPr>
        <p:spPr>
          <a:xfrm>
            <a:off x="10481921" y="3241548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5" name="b7_4_t"/>
          <p:cNvSpPr/>
          <p:nvPr/>
        </p:nvSpPr>
        <p:spPr>
          <a:xfrm>
            <a:off x="10481921" y="32415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6" name="b7_1"/>
          <p:cNvSpPr/>
          <p:nvPr/>
        </p:nvSpPr>
        <p:spPr>
          <a:xfrm>
            <a:off x="804443" y="5284756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7" name="b7_1_t"/>
          <p:cNvSpPr/>
          <p:nvPr/>
        </p:nvSpPr>
        <p:spPr>
          <a:xfrm>
            <a:off x="804443" y="52847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8" name="out7_bg"/>
          <p:cNvSpPr/>
          <p:nvPr/>
        </p:nvSpPr>
        <p:spPr>
          <a:xfrm>
            <a:off x="411480" y="6035040"/>
            <a:ext cx="11368735" cy="457200"/>
          </a:xfrm>
          <a:prstGeom prst="roundRect">
            <a:avLst>
              <a:gd name="adj" fmla="val 20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27000" dist="25400" dir="5400000">
              <a:srgbClr val="0B2239">
                <a:alpha val="13000"/>
              </a:srgbClr>
            </a:outerShdw>
          </a:effectLst>
        </p:spPr>
      </p:sp>
      <p:sp>
        <p:nvSpPr>
          <p:cNvPr id="49" name="out7_tx"/>
          <p:cNvSpPr/>
          <p:nvPr/>
        </p:nvSpPr>
        <p:spPr>
          <a:xfrm>
            <a:off x="411480" y="6035040"/>
            <a:ext cx="113687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can now sign in and begin reporting community problems.</a:t>
            </a:r>
            <a:endParaRPr lang="en-US" sz="1850" dirty="0"/>
          </a:p>
        </p:txBody>
      </p:sp>
      <p:sp>
        <p:nvSpPr>
          <p:cNvPr id="50" name="Text 45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Nogor Shomadhan  ·  User Manual</a:t>
            </a:r>
            <a:endParaRPr lang="en-US" sz="1100" dirty="0"/>
          </a:p>
        </p:txBody>
      </p:sp>
      <p:sp>
        <p:nvSpPr>
          <p:cNvPr id="51" name="Text 46">
            <a:hlinkClick r:id="rId4" tooltip="1. Problem Statement" action="ppaction://hlinksldjump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2" name="Text 47">
            <a:hlinkClick r:id="rId5" tooltip="2. Stakeholders and Responsibilities" action="ppaction://hlinksldjump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3" name="Text 48">
            <a:hlinkClick r:id="rId6" tooltip="3. Resident Account Registration" action="ppaction://hlinksldjump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4" name="Text 49">
            <a:hlinkClick r:id="rId7" tooltip="4. Registration Request Submitted" action="ppaction://hlinksldjump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5" name="Text 50">
            <a:hlinkClick r:id="rId8" tooltip="5. Admin Receives the Verification Request" action="ppaction://hlinksldjump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6" name="Text 51">
            <a:hlinkClick r:id="rId9" tooltip="6. Admin Reviews and Approves the Account" action="ppaction://hlinksldjump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7" name="Text 52">
            <a:hlinkClick r:id="rId10" tooltip="7. Account Verification Completed" action="ppaction://hlinksldjump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8" name="Text 53">
            <a:hlinkClick r:id="rId11" tooltip="8. Create a New Complaint" action="ppaction://hlinksldjump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59" name="Text 54">
            <a:hlinkClick r:id="rId12" tooltip="9. Add Evidence and Review the Category" action="ppaction://hlinksldjump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0" name="Text 55">
            <a:hlinkClick r:id="rId13" tooltip="10. Confirm the Complaint Submission" action="ppaction://hlinksldjump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1" name="Text 56">
            <a:hlinkClick r:id="rId14" tooltip="11. Admin Opens the Review Queue" action="ppaction://hlinksldjump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2" name="Text 57">
            <a:hlinkClick r:id="rId15" tooltip="12. Complaint Check and Duplicate Comparison" action="ppaction://hlinksldjump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3" name="Text 58">
            <a:hlinkClick r:id="rId16" tooltip="13. Duplicate Review Outcomes" action="ppaction://hlinksldjump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4" name="Text 59">
            <a:hlinkClick r:id="rId17" tooltip="14. Pending Complaint Visibility" action="ppaction://hlinksldjump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5" name="Text 60">
            <a:hlinkClick r:id="rId18" tooltip="15. Authority Opens the Complaint" action="ppaction://hlinksldjump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6" name="Text 61">
            <a:hlinkClick r:id="rId19" tooltip="16. Assign a Contractor and Start Work" action="ppaction://hlinksldjump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7" name="Text 62">
            <a:hlinkClick r:id="rId20" tooltip="17. The Complaint Moves to In Progress" action="ppaction://hlinksldjump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8" name="Text 63">
            <a:hlinkClick r:id="rId21" tooltip="18. Residents See the Progress Update" action="ppaction://hlinksldjump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69" name="Text 64">
            <a:hlinkClick r:id="rId22" tooltip="19. Resident Starts a Forum Discussion" action="ppaction://hlinksldjump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70" name="Text 65">
            <a:hlinkClick r:id="rId23" tooltip="20. Everyone Is Notified" action="ppaction://hlinksldjump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71" name="Text 66">
            <a:hlinkClick r:id="rId24" tooltip="21. Open the Post and Discuss" action="ppaction://hlinksldjump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72" name="Text 67">
            <a:hlinkClick r:id="rId25" tooltip="22. Authority Updates the Work" action="ppaction://hlinksldjump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73" name="Text 68">
            <a:hlinkClick r:id="rId26" tooltip="23. Authority Resolves the Complaint" action="ppaction://hlinksldjump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74" name="Text 69">
            <a:hlinkClick r:id="rId27" tooltip="24. Residents Give Feedback" action="ppaction://hlinksldjump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75" name="Text 70">
            <a:hlinkClick r:id="rId28" tooltip="25. Feedback Is Public and Answered" action="ppaction://hlinksldjump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76" name="Text 71">
            <a:hlinkClick r:id="rId29" tooltip="26. Analytics and Reporting" action="ppaction://hlinksldjump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77" name="Text 72">
            <a:hlinkClick r:id="rId30" tooltip="27. Forum Announcements and Events" action="ppaction://hlinksldjump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 dirty="0"/>
          </a:p>
        </p:txBody>
      </p:sp>
      <p:sp>
        <p:nvSpPr>
          <p:cNvPr id="78" name="Text 73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77952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RESIDENT SUBMITS A COMPLAINT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71856" y="585216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Complaint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CFE3F4"/>
          </a:solidFill>
          <a:ln/>
        </p:spPr>
      </p:sp>
      <p:sp>
        <p:nvSpPr>
          <p:cNvPr id="13" name="Shape 11"/>
          <p:cNvSpPr/>
          <p:nvPr/>
        </p:nvSpPr>
        <p:spPr>
          <a:xfrm>
            <a:off x="368808" y="1530096"/>
            <a:ext cx="3474720" cy="4151376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4" name="p8_1_c"/>
          <p:cNvSpPr/>
          <p:nvPr/>
        </p:nvSpPr>
        <p:spPr>
          <a:xfrm>
            <a:off x="624840" y="1859280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5" name="p8_1_t"/>
          <p:cNvSpPr/>
          <p:nvPr/>
        </p:nvSpPr>
        <p:spPr>
          <a:xfrm>
            <a:off x="1173480" y="1840992"/>
            <a:ext cx="241401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Complaints from the Resident Dashboard.</a:t>
            </a:r>
            <a:endParaRPr lang="en-US" sz="1800"/>
          </a:p>
        </p:txBody>
      </p:sp>
      <p:sp>
        <p:nvSpPr>
          <p:cNvPr id="16" name="p8_2_c"/>
          <p:cNvSpPr/>
          <p:nvPr/>
        </p:nvSpPr>
        <p:spPr>
          <a:xfrm>
            <a:off x="624840" y="2942844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7" name="p8_2_t"/>
          <p:cNvSpPr/>
          <p:nvPr/>
        </p:nvSpPr>
        <p:spPr>
          <a:xfrm>
            <a:off x="1173480" y="2924556"/>
            <a:ext cx="24140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New Complaint tab.</a:t>
            </a:r>
            <a:endParaRPr lang="en-US" sz="1800"/>
          </a:p>
        </p:txBody>
      </p:sp>
      <p:sp>
        <p:nvSpPr>
          <p:cNvPr id="18" name="p8_3_c"/>
          <p:cNvSpPr/>
          <p:nvPr/>
        </p:nvSpPr>
        <p:spPr>
          <a:xfrm>
            <a:off x="624840" y="3742944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19" name="p8_3_t"/>
          <p:cNvSpPr/>
          <p:nvPr/>
        </p:nvSpPr>
        <p:spPr>
          <a:xfrm>
            <a:off x="1173480" y="3724656"/>
            <a:ext cx="241401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complaint title, description, incident address, nearby landmark, and additional location details.</a:t>
            </a:r>
            <a:endParaRPr lang="en-US" sz="1800"/>
          </a:p>
        </p:txBody>
      </p:sp>
      <p:sp>
        <p:nvSpPr>
          <p:cNvPr id="20" name="Shape 18"/>
          <p:cNvSpPr/>
          <p:nvPr/>
        </p:nvSpPr>
        <p:spPr>
          <a:xfrm>
            <a:off x="4218640" y="1528572"/>
            <a:ext cx="2228164" cy="4251960"/>
          </a:xfrm>
          <a:prstGeom prst="roundRect">
            <a:avLst>
              <a:gd name="adj" fmla="val 3283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1" name="Image 0" descr="C:/NogorShomadhan/User Manual/Phase 2/resident submits complaint/13-resident-dashboard selecting-complai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932" y="1578864"/>
            <a:ext cx="2127580" cy="4151376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533673" y="3480816"/>
            <a:ext cx="219456" cy="347472"/>
          </a:xfrm>
          <a:prstGeom prst="chevron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8" name="h8_1"/>
          <p:cNvSpPr/>
          <p:nvPr/>
        </p:nvSpPr>
        <p:spPr>
          <a:xfrm>
            <a:off x="4896569" y="5497763"/>
            <a:ext cx="372327" cy="190963"/>
          </a:xfrm>
          <a:prstGeom prst="roundRect">
            <a:avLst>
              <a:gd name="adj" fmla="val 28730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29" name="b8_1"/>
          <p:cNvSpPr/>
          <p:nvPr/>
        </p:nvSpPr>
        <p:spPr>
          <a:xfrm>
            <a:off x="4900916" y="5123920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0" name="b8_1_t"/>
          <p:cNvSpPr/>
          <p:nvPr/>
        </p:nvSpPr>
        <p:spPr>
          <a:xfrm>
            <a:off x="4900916" y="5123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/>
          </a:p>
        </p:txBody>
      </p:sp>
      <p:sp>
        <p:nvSpPr>
          <p:cNvPr id="22" name="Shape 19"/>
          <p:cNvSpPr/>
          <p:nvPr/>
        </p:nvSpPr>
        <p:spPr>
          <a:xfrm>
            <a:off x="6852189" y="1528572"/>
            <a:ext cx="2218616" cy="425196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3" name="Image 1" descr="C:/NogorShomadhan/User Manual/Phase 2/resident submits complaint/14-resident-opens-submit-compla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481" y="1578864"/>
            <a:ext cx="2118032" cy="4151376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9218633" y="3480816"/>
            <a:ext cx="219456" cy="347472"/>
          </a:xfrm>
          <a:prstGeom prst="chevron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31" name="h8_2"/>
          <p:cNvSpPr/>
          <p:nvPr/>
        </p:nvSpPr>
        <p:spPr>
          <a:xfrm>
            <a:off x="6991438" y="2043818"/>
            <a:ext cx="677770" cy="224174"/>
          </a:xfrm>
          <a:prstGeom prst="roundRect">
            <a:avLst>
              <a:gd name="adj" fmla="val 24474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2" name="b8_2"/>
          <p:cNvSpPr/>
          <p:nvPr/>
        </p:nvSpPr>
        <p:spPr>
          <a:xfrm>
            <a:off x="6850919" y="2292681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3" name="b8_2_t"/>
          <p:cNvSpPr/>
          <p:nvPr/>
        </p:nvSpPr>
        <p:spPr>
          <a:xfrm>
            <a:off x="6850919" y="229268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/>
          </a:p>
        </p:txBody>
      </p:sp>
      <p:sp>
        <p:nvSpPr>
          <p:cNvPr id="24" name="Shape 20"/>
          <p:cNvSpPr/>
          <p:nvPr/>
        </p:nvSpPr>
        <p:spPr>
          <a:xfrm>
            <a:off x="9549341" y="1528572"/>
            <a:ext cx="2221522" cy="4251960"/>
          </a:xfrm>
          <a:prstGeom prst="roundRect">
            <a:avLst>
              <a:gd name="adj" fmla="val 3293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5" name="Image 2" descr="C:/NogorShomadhan/User Manual/Phase 2/resident submits complaint/15-add-title-description-addr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9633" y="1578864"/>
            <a:ext cx="2120938" cy="4151376"/>
          </a:xfrm>
          <a:prstGeom prst="rect">
            <a:avLst/>
          </a:prstGeom>
        </p:spPr>
      </p:pic>
      <p:sp>
        <p:nvSpPr>
          <p:cNvPr id="34" name="h8_3a"/>
          <p:cNvSpPr/>
          <p:nvPr/>
        </p:nvSpPr>
        <p:spPr>
          <a:xfrm>
            <a:off x="9705680" y="2558589"/>
            <a:ext cx="1908844" cy="896697"/>
          </a:xfrm>
          <a:prstGeom prst="roundRect">
            <a:avLst>
              <a:gd name="adj" fmla="val 6118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5" name="h8_3b"/>
          <p:cNvSpPr/>
          <p:nvPr/>
        </p:nvSpPr>
        <p:spPr>
          <a:xfrm>
            <a:off x="9705680" y="3521708"/>
            <a:ext cx="1908844" cy="1619037"/>
          </a:xfrm>
          <a:prstGeom prst="roundRect">
            <a:avLst>
              <a:gd name="adj" fmla="val 3389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6" name="b8_3"/>
          <p:cNvSpPr/>
          <p:nvPr/>
        </p:nvSpPr>
        <p:spPr>
          <a:xfrm>
            <a:off x="9248480" y="3936236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7" name="b8_3_t"/>
          <p:cNvSpPr/>
          <p:nvPr/>
        </p:nvSpPr>
        <p:spPr>
          <a:xfrm>
            <a:off x="9248480" y="39362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/>
          </a:p>
        </p:txBody>
      </p:sp>
      <p:sp>
        <p:nvSpPr>
          <p:cNvPr id="38" name="Text 33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9" name="Text 34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8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59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5" name="Text 60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6" name="Text 61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43281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RESIDENT SUBMITS A COMPLAINT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Evidence and Review the Category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CFE3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572768"/>
            <a:ext cx="3931920" cy="415137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4" name="p9_1_c"/>
          <p:cNvSpPr/>
          <p:nvPr/>
        </p:nvSpPr>
        <p:spPr>
          <a:xfrm>
            <a:off x="685800" y="1920240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5" name="p9_1_t"/>
          <p:cNvSpPr/>
          <p:nvPr/>
        </p:nvSpPr>
        <p:spPr>
          <a:xfrm>
            <a:off x="1234440" y="1901952"/>
            <a:ext cx="283464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attach photo evidence using the camera or gallery.</a:t>
            </a:r>
            <a:endParaRPr lang="en-US" sz="1800"/>
          </a:p>
        </p:txBody>
      </p:sp>
      <p:sp>
        <p:nvSpPr>
          <p:cNvPr id="16" name="p9_2_c"/>
          <p:cNvSpPr/>
          <p:nvPr/>
        </p:nvSpPr>
        <p:spPr>
          <a:xfrm>
            <a:off x="685800" y="3136392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7" name="p9_2_t"/>
          <p:cNvSpPr/>
          <p:nvPr/>
        </p:nvSpPr>
        <p:spPr>
          <a:xfrm>
            <a:off x="1234440" y="3118104"/>
            <a:ext cx="283464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category automatically suggested by the AI.</a:t>
            </a:r>
            <a:endParaRPr lang="en-US" sz="1800"/>
          </a:p>
        </p:txBody>
      </p:sp>
      <p:sp>
        <p:nvSpPr>
          <p:cNvPr id="18" name="p9_3_c"/>
          <p:cNvSpPr/>
          <p:nvPr/>
        </p:nvSpPr>
        <p:spPr>
          <a:xfrm>
            <a:off x="685800" y="4352544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19" name="p9_3_t"/>
          <p:cNvSpPr/>
          <p:nvPr/>
        </p:nvSpPr>
        <p:spPr>
          <a:xfrm>
            <a:off x="1234440" y="4334256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necessary, open the category menu and select a more appropriate category manually.</a:t>
            </a:r>
            <a:endParaRPr lang="en-US" sz="1800"/>
          </a:p>
        </p:txBody>
      </p:sp>
      <p:sp>
        <p:nvSpPr>
          <p:cNvPr id="24" name="arrow9"/>
          <p:cNvSpPr/>
          <p:nvPr/>
        </p:nvSpPr>
        <p:spPr>
          <a:xfrm>
            <a:off x="7660247" y="3441192"/>
            <a:ext cx="822960" cy="512064"/>
          </a:xfrm>
          <a:prstGeom prst="rightArrow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25" name="arrow9t"/>
          <p:cNvSpPr/>
          <p:nvPr/>
        </p:nvSpPr>
        <p:spPr>
          <a:xfrm>
            <a:off x="7385927" y="31790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4902927" y="1571244"/>
            <a:ext cx="2185820" cy="4251960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1" name="Image 0" descr="C:/NogorShomadhan/User Manual/Phase 2/resident submits complaint/16-add-photo-evidence-if-des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219" y="1621536"/>
            <a:ext cx="2085236" cy="4151376"/>
          </a:xfrm>
          <a:prstGeom prst="rect">
            <a:avLst/>
          </a:prstGeom>
        </p:spPr>
      </p:pic>
      <p:sp>
        <p:nvSpPr>
          <p:cNvPr id="26" name="h9_1a"/>
          <p:cNvSpPr/>
          <p:nvPr/>
        </p:nvSpPr>
        <p:spPr>
          <a:xfrm>
            <a:off x="5140890" y="3074518"/>
            <a:ext cx="1709894" cy="855183"/>
          </a:xfrm>
          <a:prstGeom prst="roundRect">
            <a:avLst>
              <a:gd name="adj" fmla="val 6415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27" name="h9_1b"/>
          <p:cNvSpPr/>
          <p:nvPr/>
        </p:nvSpPr>
        <p:spPr>
          <a:xfrm>
            <a:off x="5132549" y="3946307"/>
            <a:ext cx="471263" cy="489862"/>
          </a:xfrm>
          <a:prstGeom prst="roundRect">
            <a:avLst>
              <a:gd name="adj" fmla="val 11642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28" name="b9_1"/>
          <p:cNvSpPr/>
          <p:nvPr/>
        </p:nvSpPr>
        <p:spPr>
          <a:xfrm>
            <a:off x="5901462" y="2812390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9" name="b9_1_t"/>
          <p:cNvSpPr/>
          <p:nvPr/>
        </p:nvSpPr>
        <p:spPr>
          <a:xfrm>
            <a:off x="5901462" y="281239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/>
          </a:p>
        </p:txBody>
      </p:sp>
      <p:sp>
        <p:nvSpPr>
          <p:cNvPr id="30" name="h9_2a"/>
          <p:cNvSpPr/>
          <p:nvPr/>
        </p:nvSpPr>
        <p:spPr>
          <a:xfrm>
            <a:off x="5140890" y="4793187"/>
            <a:ext cx="1709894" cy="315505"/>
          </a:xfrm>
          <a:prstGeom prst="roundRect">
            <a:avLst>
              <a:gd name="adj" fmla="val 17389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1" name="h9_2b"/>
          <p:cNvSpPr/>
          <p:nvPr/>
        </p:nvSpPr>
        <p:spPr>
          <a:xfrm>
            <a:off x="5128379" y="5116470"/>
            <a:ext cx="1683593" cy="151656"/>
          </a:xfrm>
          <a:prstGeom prst="roundRect">
            <a:avLst>
              <a:gd name="adj" fmla="val 34779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2" name="b9_2"/>
          <p:cNvSpPr/>
          <p:nvPr/>
        </p:nvSpPr>
        <p:spPr>
          <a:xfrm>
            <a:off x="4822470" y="4759757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3" name="b9_2_t"/>
          <p:cNvSpPr/>
          <p:nvPr/>
        </p:nvSpPr>
        <p:spPr>
          <a:xfrm>
            <a:off x="4822470" y="475975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/>
          </a:p>
        </p:txBody>
      </p:sp>
      <p:sp>
        <p:nvSpPr>
          <p:cNvPr id="22" name="Shape 19"/>
          <p:cNvSpPr/>
          <p:nvPr/>
        </p:nvSpPr>
        <p:spPr>
          <a:xfrm>
            <a:off x="8853539" y="1577340"/>
            <a:ext cx="2208653" cy="4251960"/>
          </a:xfrm>
          <a:prstGeom prst="roundRect">
            <a:avLst>
              <a:gd name="adj" fmla="val 3312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3" name="Image 1" descr="C:/NogorShomadhan/User Manual/Phase 2/categorization/19-choose-from-category op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831" y="1627632"/>
            <a:ext cx="2108069" cy="4151376"/>
          </a:xfrm>
          <a:prstGeom prst="rect">
            <a:avLst/>
          </a:prstGeom>
        </p:spPr>
      </p:pic>
      <p:sp>
        <p:nvSpPr>
          <p:cNvPr id="34" name="h9_3"/>
          <p:cNvSpPr/>
          <p:nvPr/>
        </p:nvSpPr>
        <p:spPr>
          <a:xfrm>
            <a:off x="9105239" y="2308458"/>
            <a:ext cx="1644294" cy="273991"/>
          </a:xfrm>
          <a:prstGeom prst="roundRect">
            <a:avLst>
              <a:gd name="adj" fmla="val 20024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5" name="b9_3"/>
          <p:cNvSpPr/>
          <p:nvPr/>
        </p:nvSpPr>
        <p:spPr>
          <a:xfrm>
            <a:off x="10382204" y="2152845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6" name="b9_3_t"/>
          <p:cNvSpPr/>
          <p:nvPr/>
        </p:nvSpPr>
        <p:spPr>
          <a:xfrm>
            <a:off x="10382204" y="215284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/>
          </a:p>
        </p:txBody>
      </p:sp>
      <p:sp>
        <p:nvSpPr>
          <p:cNvPr id="37" name="Text 33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8" name="Text 34">
            <a:hlinkClick r:id="rId5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5">
            <a:hlinkClick r:id="rId6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6">
            <a:hlinkClick r:id="rId7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7">
            <a:hlinkClick r:id="rId8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8">
            <a:hlinkClick r:id="rId9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9">
            <a:hlinkClick r:id="rId10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40">
            <a:hlinkClick r:id="rId11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1">
            <a:hlinkClick r:id="rId12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2">
            <a:hlinkClick r:id="rId13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3">
            <a:hlinkClick r:id="rId14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4">
            <a:hlinkClick r:id="rId15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5">
            <a:hlinkClick r:id="rId16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6">
            <a:hlinkClick r:id="rId17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7">
            <a:hlinkClick r:id="rId18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8">
            <a:hlinkClick r:id="rId19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9">
            <a:hlinkClick r:id="rId20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50">
            <a:hlinkClick r:id="rId21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1">
            <a:hlinkClick r:id="rId22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2">
            <a:hlinkClick r:id="rId23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3">
            <a:hlinkClick r:id="rId24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4">
            <a:hlinkClick r:id="rId25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5">
            <a:hlinkClick r:id="rId26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6">
            <a:hlinkClick r:id="rId27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7">
            <a:hlinkClick r:id="rId28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8">
            <a:hlinkClick r:id="rId29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9">
            <a:hlinkClick r:id="rId30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60">
            <a:hlinkClick r:id="rId31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5" name="Text 61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3088" y="34747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RESIDENT SUBMITS A COMPLAINT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286512" y="64008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Complaint Submission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CFE3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621536"/>
            <a:ext cx="4480560" cy="27127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4" name="p10_1_c"/>
          <p:cNvSpPr/>
          <p:nvPr/>
        </p:nvSpPr>
        <p:spPr>
          <a:xfrm>
            <a:off x="685800" y="1938528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5" name="p10_1_t"/>
          <p:cNvSpPr/>
          <p:nvPr/>
        </p:nvSpPr>
        <p:spPr>
          <a:xfrm>
            <a:off x="1234440" y="1920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Submit Complaint.</a:t>
            </a:r>
            <a:endParaRPr lang="en-US" sz="1800"/>
          </a:p>
        </p:txBody>
      </p:sp>
      <p:sp>
        <p:nvSpPr>
          <p:cNvPr id="16" name="p10_2_c"/>
          <p:cNvSpPr/>
          <p:nvPr/>
        </p:nvSpPr>
        <p:spPr>
          <a:xfrm>
            <a:off x="685800" y="2427732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7" name="p10_2_t"/>
          <p:cNvSpPr/>
          <p:nvPr/>
        </p:nvSpPr>
        <p:spPr>
          <a:xfrm>
            <a:off x="1234440" y="2409444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confirmation prompt and select Yes.</a:t>
            </a:r>
            <a:endParaRPr lang="en-US" sz="1800"/>
          </a:p>
        </p:txBody>
      </p:sp>
      <p:sp>
        <p:nvSpPr>
          <p:cNvPr id="18" name="p10_3_c"/>
          <p:cNvSpPr/>
          <p:nvPr/>
        </p:nvSpPr>
        <p:spPr>
          <a:xfrm>
            <a:off x="685800" y="3191256"/>
            <a:ext cx="347472" cy="3474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19" name="p10_3_t"/>
          <p:cNvSpPr/>
          <p:nvPr/>
        </p:nvSpPr>
        <p:spPr>
          <a:xfrm>
            <a:off x="1234440" y="3172968"/>
            <a:ext cx="338328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success message confirms the complaint was logged and queued for review.</a:t>
            </a:r>
            <a:endParaRPr lang="en-US" sz="1800"/>
          </a:p>
        </p:txBody>
      </p:sp>
      <p:sp>
        <p:nvSpPr>
          <p:cNvPr id="22" name="Shape 20"/>
          <p:cNvSpPr/>
          <p:nvPr/>
        </p:nvSpPr>
        <p:spPr>
          <a:xfrm>
            <a:off x="5726247" y="1620012"/>
            <a:ext cx="1928652" cy="3685032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3" name="Image 0" descr="C:/NogorShomadhan/User Manual/Phase 2/final submit/20-confirm-submi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539" y="1670304"/>
            <a:ext cx="1828068" cy="358444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8389468" y="1620012"/>
            <a:ext cx="1928652" cy="3685032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5" name="Image 1" descr="C:/NogorShomadhan/User Manual/Phase 2/final submit/21-queue-for-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760" y="1670304"/>
            <a:ext cx="1828068" cy="3584448"/>
          </a:xfrm>
          <a:prstGeom prst="rect">
            <a:avLst/>
          </a:prstGeom>
        </p:spPr>
      </p:pic>
      <p:sp>
        <p:nvSpPr>
          <p:cNvPr id="26" name="h10_1"/>
          <p:cNvSpPr/>
          <p:nvPr/>
        </p:nvSpPr>
        <p:spPr>
          <a:xfrm>
            <a:off x="5860630" y="4215262"/>
            <a:ext cx="1656230" cy="279587"/>
          </a:xfrm>
          <a:prstGeom prst="roundRect">
            <a:avLst>
              <a:gd name="adj" fmla="val 19623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27" name="b10_1"/>
          <p:cNvSpPr/>
          <p:nvPr/>
        </p:nvSpPr>
        <p:spPr>
          <a:xfrm>
            <a:off x="5648501" y="4172176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8" name="b10_1_t"/>
          <p:cNvSpPr/>
          <p:nvPr/>
        </p:nvSpPr>
        <p:spPr>
          <a:xfrm>
            <a:off x="5648501" y="4172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/>
          </a:p>
        </p:txBody>
      </p:sp>
      <p:sp>
        <p:nvSpPr>
          <p:cNvPr id="29" name="h10_2"/>
          <p:cNvSpPr/>
          <p:nvPr/>
        </p:nvSpPr>
        <p:spPr>
          <a:xfrm>
            <a:off x="6708854" y="3684764"/>
            <a:ext cx="676385" cy="236574"/>
          </a:xfrm>
          <a:prstGeom prst="roundRect">
            <a:avLst>
              <a:gd name="adj" fmla="val 23191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0" name="b10_2"/>
          <p:cNvSpPr/>
          <p:nvPr/>
        </p:nvSpPr>
        <p:spPr>
          <a:xfrm>
            <a:off x="6873307" y="3838822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1" name="b10_2_t"/>
          <p:cNvSpPr/>
          <p:nvPr/>
        </p:nvSpPr>
        <p:spPr>
          <a:xfrm>
            <a:off x="6873307" y="383882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/>
          </a:p>
        </p:txBody>
      </p:sp>
      <p:sp>
        <p:nvSpPr>
          <p:cNvPr id="32" name="h10_3"/>
          <p:cNvSpPr/>
          <p:nvPr/>
        </p:nvSpPr>
        <p:spPr>
          <a:xfrm>
            <a:off x="8682893" y="2516234"/>
            <a:ext cx="1502672" cy="480316"/>
          </a:xfrm>
          <a:prstGeom prst="roundRect">
            <a:avLst>
              <a:gd name="adj" fmla="val 11422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3" name="b10_3"/>
          <p:cNvSpPr/>
          <p:nvPr/>
        </p:nvSpPr>
        <p:spPr>
          <a:xfrm>
            <a:off x="8446999" y="2333354"/>
            <a:ext cx="365760" cy="365760"/>
          </a:xfrm>
          <a:prstGeom prst="ellipse">
            <a:avLst/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4" name="b10_3_t"/>
          <p:cNvSpPr/>
          <p:nvPr/>
        </p:nvSpPr>
        <p:spPr>
          <a:xfrm>
            <a:off x="8446999" y="233335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/>
          </a:p>
        </p:txBody>
      </p:sp>
      <p:sp>
        <p:nvSpPr>
          <p:cNvPr id="47" name="Text 43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48" name="Text 44">
            <a:hlinkClick r:id="rId5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5">
            <a:hlinkClick r:id="rId6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6">
            <a:hlinkClick r:id="rId7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7">
            <a:hlinkClick r:id="rId8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8">
            <a:hlinkClick r:id="rId9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9">
            <a:hlinkClick r:id="rId10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50">
            <a:hlinkClick r:id="rId11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1">
            <a:hlinkClick r:id="rId12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2">
            <a:hlinkClick r:id="rId13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3">
            <a:hlinkClick r:id="rId14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4">
            <a:hlinkClick r:id="rId15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5">
            <a:hlinkClick r:id="rId16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6">
            <a:hlinkClick r:id="rId17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7">
            <a:hlinkClick r:id="rId18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8">
            <a:hlinkClick r:id="rId19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9">
            <a:hlinkClick r:id="rId20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60">
            <a:hlinkClick r:id="rId21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5" name="Text 61">
            <a:hlinkClick r:id="rId22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6" name="Text 62">
            <a:hlinkClick r:id="rId23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7" name="Text 63">
            <a:hlinkClick r:id="rId24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8" name="Text 64">
            <a:hlinkClick r:id="rId25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9" name="Text 65">
            <a:hlinkClick r:id="rId26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70" name="Text 66">
            <a:hlinkClick r:id="rId27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71" name="Text 67">
            <a:hlinkClick r:id="rId28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72" name="Text 68">
            <a:hlinkClick r:id="rId29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73" name="Text 69">
            <a:hlinkClick r:id="rId30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74" name="Text 70">
            <a:hlinkClick r:id="rId31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75" name="Text 71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B86A1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1376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B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ADMIN COMPLAINT VERIFICATION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23088" y="585216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400" b="1">
                <a:solidFill>
                  <a:srgbClr val="17324D"/>
                </a:solidFill>
                <a:ea typeface="+mn-lt"/>
                <a:cs typeface="+mn-lt"/>
              </a:rPr>
              <a:t>Admin Reviews a Standard New Complaint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975543" y="475488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5543" y="475488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F2DBBB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417320"/>
            <a:ext cx="3474720" cy="491032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1" name="p11_1_c"/>
          <p:cNvSpPr/>
          <p:nvPr/>
        </p:nvSpPr>
        <p:spPr>
          <a:xfrm>
            <a:off x="667512" y="1709928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2" name="p11_1_t"/>
          <p:cNvSpPr/>
          <p:nvPr/>
        </p:nvSpPr>
        <p:spPr>
          <a:xfrm>
            <a:off x="1216152" y="1588008"/>
            <a:ext cx="24140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</a:t>
            </a: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opens Review Complaints from Administrative Actions.</a:t>
            </a:r>
            <a:endParaRPr lang="en-US" sz="1800"/>
          </a:p>
        </p:txBody>
      </p:sp>
      <p:sp>
        <p:nvSpPr>
          <p:cNvPr id="13" name="p11_2_c"/>
          <p:cNvSpPr/>
          <p:nvPr/>
        </p:nvSpPr>
        <p:spPr>
          <a:xfrm>
            <a:off x="667512" y="2933700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4" name="p11_2_t"/>
          <p:cNvSpPr/>
          <p:nvPr/>
        </p:nvSpPr>
        <p:spPr>
          <a:xfrm>
            <a:off x="1197864" y="2848356"/>
            <a:ext cx="2438400" cy="21884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2000"/>
              </a:lnSpc>
            </a:pPr>
            <a:r>
              <a:rPr lang="en-US" b="1">
                <a:solidFill>
                  <a:srgbClr val="17324D"/>
                </a:solidFill>
                <a:ea typeface="+mn-lt"/>
                <a:cs typeface="+mn-lt"/>
              </a:rPr>
              <a:t>Select New Complaint</a:t>
            </a:r>
            <a:r>
              <a:rPr lang="en-US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— </a:t>
            </a:r>
            <a:r>
              <a:rPr lang="en-US">
                <a:solidFill>
                  <a:srgbClr val="17324D"/>
                </a:solidFill>
                <a:ea typeface="+mn-lt"/>
                <a:cs typeface="+mn-lt"/>
              </a:rPr>
              <a:t>the admin chooses a new submission that has not been flagged as a duplicate.</a:t>
            </a:r>
            <a:endParaRPr lang="en-US" sz="1800">
              <a:solidFill>
                <a:srgbClr val="34405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p11_3_c"/>
          <p:cNvSpPr/>
          <p:nvPr/>
        </p:nvSpPr>
        <p:spPr>
          <a:xfrm>
            <a:off x="667512" y="4687824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16" name="p11_3_t"/>
          <p:cNvSpPr/>
          <p:nvPr/>
        </p:nvSpPr>
        <p:spPr>
          <a:xfrm>
            <a:off x="1197864" y="4596384"/>
            <a:ext cx="2798064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2000"/>
              </a:lnSpc>
            </a:pPr>
            <a:r>
              <a:rPr lang="en-US" b="1">
                <a:solidFill>
                  <a:srgbClr val="17324D"/>
                </a:solidFill>
                <a:ea typeface="+mn-lt"/>
                <a:cs typeface="+mn-lt"/>
              </a:rPr>
              <a:t>Verify Complaint</a:t>
            </a:r>
            <a:r>
              <a:rPr lang="en-US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— </a:t>
            </a:r>
            <a:r>
              <a:rPr lang="en-US">
                <a:solidFill>
                  <a:srgbClr val="17324D"/>
                </a:solidFill>
                <a:ea typeface="+mn-lt"/>
                <a:cs typeface="+mn-lt"/>
              </a:rPr>
              <a:t>the complaint remains “Unverified” until the admin reviews and accepts it.</a:t>
            </a:r>
            <a:endParaRPr lang="en-US" sz="1800">
              <a:solidFill>
                <a:srgbClr val="17324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059604" y="1385316"/>
            <a:ext cx="2392240" cy="462686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8" name="Image 0" descr="C:/NogorShomadhan/User Manual/Phase 3/review complaint/IMG_444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896" y="1435608"/>
            <a:ext cx="2291656" cy="45262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911776" y="6053328"/>
            <a:ext cx="2931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00"/>
          </a:p>
        </p:txBody>
      </p:sp>
      <p:sp>
        <p:nvSpPr>
          <p:cNvPr id="20" name="Shape 17"/>
          <p:cNvSpPr/>
          <p:nvPr/>
        </p:nvSpPr>
        <p:spPr>
          <a:xfrm>
            <a:off x="6747499" y="1367028"/>
            <a:ext cx="2468281" cy="4626864"/>
          </a:xfrm>
          <a:prstGeom prst="roundRect">
            <a:avLst>
              <a:gd name="adj" fmla="val 2964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1" name="Image 1" descr="C:/NogorShomadhan/User Manual/Phase 3/review complaint/IMG_444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791" y="1417320"/>
            <a:ext cx="2367697" cy="45262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477751" y="6053328"/>
            <a:ext cx="30077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notifications</a:t>
            </a:r>
            <a:endParaRPr lang="en-US" sz="1600"/>
          </a:p>
        </p:txBody>
      </p:sp>
      <p:sp>
        <p:nvSpPr>
          <p:cNvPr id="23" name="Shape 19"/>
          <p:cNvSpPr/>
          <p:nvPr/>
        </p:nvSpPr>
        <p:spPr>
          <a:xfrm>
            <a:off x="9511436" y="1379220"/>
            <a:ext cx="2406271" cy="4626864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4" name="Image 2" descr="C:/NogorShomadhan/User Manual/Phase 3/review complaint/22-complaint-in-admin-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1728" y="1429512"/>
            <a:ext cx="2305687" cy="45262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644024" y="6053328"/>
            <a:ext cx="2055751" cy="3230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Review queue for new complaint</a:t>
            </a:r>
            <a:endParaRPr lang="en-US" sz="1600"/>
          </a:p>
        </p:txBody>
      </p:sp>
      <p:sp>
        <p:nvSpPr>
          <p:cNvPr id="26" name="Shape 21"/>
          <p:cNvSpPr/>
          <p:nvPr/>
        </p:nvSpPr>
        <p:spPr>
          <a:xfrm>
            <a:off x="6477751" y="3512820"/>
            <a:ext cx="256032" cy="341376"/>
          </a:xfrm>
          <a:prstGeom prst="chevron">
            <a:avLst/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235592" y="3518916"/>
            <a:ext cx="237744" cy="286512"/>
          </a:xfrm>
          <a:prstGeom prst="chevron">
            <a:avLst/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</p:spPr>
      </p:sp>
      <p:sp>
        <p:nvSpPr>
          <p:cNvPr id="28" name="h11_1a"/>
          <p:cNvSpPr/>
          <p:nvPr/>
        </p:nvSpPr>
        <p:spPr>
          <a:xfrm>
            <a:off x="4192395" y="3354751"/>
            <a:ext cx="2126656" cy="488838"/>
          </a:xfrm>
          <a:prstGeom prst="roundRect">
            <a:avLst>
              <a:gd name="adj" fmla="val 11223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29" name="h11_1b"/>
          <p:cNvSpPr/>
          <p:nvPr/>
        </p:nvSpPr>
        <p:spPr>
          <a:xfrm>
            <a:off x="5920304" y="1480871"/>
            <a:ext cx="192499" cy="171999"/>
          </a:xfrm>
          <a:prstGeom prst="roundRect">
            <a:avLst>
              <a:gd name="adj" fmla="val 31898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0" name="b11_1"/>
          <p:cNvSpPr/>
          <p:nvPr/>
        </p:nvSpPr>
        <p:spPr>
          <a:xfrm>
            <a:off x="3995765" y="3171871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1" name="b11_1_t"/>
          <p:cNvSpPr/>
          <p:nvPr/>
        </p:nvSpPr>
        <p:spPr>
          <a:xfrm>
            <a:off x="3995765" y="317187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/>
          </a:p>
        </p:txBody>
      </p:sp>
      <p:sp>
        <p:nvSpPr>
          <p:cNvPr id="33" name="h11_2b"/>
          <p:cNvSpPr/>
          <p:nvPr/>
        </p:nvSpPr>
        <p:spPr>
          <a:xfrm>
            <a:off x="6887764" y="3408883"/>
            <a:ext cx="2201958" cy="452628"/>
          </a:xfrm>
          <a:prstGeom prst="roundRect">
            <a:avLst>
              <a:gd name="adj" fmla="val 12121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4" name="b11_2"/>
          <p:cNvSpPr/>
          <p:nvPr/>
        </p:nvSpPr>
        <p:spPr>
          <a:xfrm>
            <a:off x="6661558" y="3170347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5" name="b11_2_t"/>
          <p:cNvSpPr/>
          <p:nvPr/>
        </p:nvSpPr>
        <p:spPr>
          <a:xfrm>
            <a:off x="6655462" y="317034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/>
          </a:p>
        </p:txBody>
      </p:sp>
      <p:sp>
        <p:nvSpPr>
          <p:cNvPr id="36" name="h11_3a"/>
          <p:cNvSpPr/>
          <p:nvPr/>
        </p:nvSpPr>
        <p:spPr>
          <a:xfrm>
            <a:off x="11148041" y="2932237"/>
            <a:ext cx="548754" cy="181051"/>
          </a:xfrm>
          <a:prstGeom prst="roundRect">
            <a:avLst>
              <a:gd name="adj" fmla="val 30303"/>
            </a:avLst>
          </a:prstGeom>
          <a:ln w="28575">
            <a:solidFill>
              <a:srgbClr val="B4480A"/>
            </a:solidFill>
            <a:prstDash val="solid"/>
          </a:ln>
        </p:spPr>
      </p:sp>
      <p:sp>
        <p:nvSpPr>
          <p:cNvPr id="37" name="h11_3b"/>
          <p:cNvSpPr/>
          <p:nvPr/>
        </p:nvSpPr>
        <p:spPr>
          <a:xfrm>
            <a:off x="9735476" y="4863572"/>
            <a:ext cx="645592" cy="226314"/>
          </a:xfrm>
          <a:prstGeom prst="roundRect">
            <a:avLst>
              <a:gd name="adj" fmla="val 24242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8" name="b11_3"/>
          <p:cNvSpPr/>
          <p:nvPr/>
        </p:nvSpPr>
        <p:spPr>
          <a:xfrm>
            <a:off x="10854488" y="2595463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9" name="b11_3_t"/>
          <p:cNvSpPr/>
          <p:nvPr/>
        </p:nvSpPr>
        <p:spPr>
          <a:xfrm>
            <a:off x="10854488" y="259546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/>
          </a:p>
        </p:txBody>
      </p:sp>
      <p:sp>
        <p:nvSpPr>
          <p:cNvPr id="40" name="Text 35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41" name="Text 36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8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59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5" name="Text 60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6" name="Text 61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7" name="Text 62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8" name="Text 63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B86A1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B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ADMIN COMPLAINT VERIFICATION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53568" y="609600"/>
            <a:ext cx="9284208" cy="4511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400" b="1">
                <a:solidFill>
                  <a:srgbClr val="17324D"/>
                </a:solidFill>
                <a:ea typeface="+mn-lt"/>
                <a:cs typeface="+mn-lt"/>
              </a:rPr>
              <a:t>Admin Reviews a Possible Duplicate Complaint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975543" y="475488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5543" y="475488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F2DBBB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" y="1392936"/>
            <a:ext cx="4779264" cy="272491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1" name="p12_4_c"/>
          <p:cNvSpPr/>
          <p:nvPr/>
        </p:nvSpPr>
        <p:spPr>
          <a:xfrm>
            <a:off x="637032" y="1557528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12" name="p12_4_t"/>
          <p:cNvSpPr/>
          <p:nvPr/>
        </p:nvSpPr>
        <p:spPr>
          <a:xfrm>
            <a:off x="1143000" y="1533144"/>
            <a:ext cx="3657600" cy="7453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2000"/>
              </a:lnSpc>
            </a:pPr>
            <a:r>
              <a:rPr lang="en-US" b="1">
                <a:solidFill>
                  <a:srgbClr val="17324D"/>
                </a:solidFill>
                <a:ea typeface="+mn-lt"/>
                <a:cs typeface="+mn-lt"/>
              </a:rPr>
              <a:t>Review New Submission</a:t>
            </a:r>
            <a:r>
              <a:rPr lang="en-US">
                <a:solidFill>
                  <a:srgbClr val="17324D"/>
                </a:solidFill>
                <a:ea typeface="+mn-lt"/>
                <a:cs typeface="+mn-lt"/>
              </a:rPr>
              <a:t> </a:t>
            </a:r>
            <a:r>
              <a:rPr lang="en-US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— </a:t>
            </a:r>
            <a:r>
              <a:rPr lang="en-US">
                <a:solidFill>
                  <a:srgbClr val="17324D"/>
                </a:solidFill>
                <a:ea typeface="+mn-lt"/>
                <a:cs typeface="+mn-lt"/>
              </a:rPr>
              <a:t>the admin checks the category, location, submission time, and evidence.</a:t>
            </a:r>
            <a:endParaRPr lang="en-US" sz="1800">
              <a:solidFill>
                <a:srgbClr val="34405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p12_5_c"/>
          <p:cNvSpPr/>
          <p:nvPr/>
        </p:nvSpPr>
        <p:spPr>
          <a:xfrm>
            <a:off x="667512" y="2467425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/>
          </a:p>
        </p:txBody>
      </p:sp>
      <p:sp>
        <p:nvSpPr>
          <p:cNvPr id="14" name="p12_5_t"/>
          <p:cNvSpPr/>
          <p:nvPr/>
        </p:nvSpPr>
        <p:spPr>
          <a:xfrm>
            <a:off x="1136904" y="2388177"/>
            <a:ext cx="4041648" cy="7453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2000"/>
              </a:lnSpc>
            </a:pPr>
            <a:r>
              <a:rPr lang="en-US" b="1">
                <a:solidFill>
                  <a:srgbClr val="17324D"/>
                </a:solidFill>
                <a:ea typeface="+mn-lt"/>
                <a:cs typeface="+mn-lt"/>
              </a:rPr>
              <a:t>Check AI Duplicate Warning</a:t>
            </a:r>
            <a:r>
              <a:rPr lang="en-US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— </a:t>
            </a:r>
            <a:r>
              <a:rPr lang="en-US">
                <a:solidFill>
                  <a:srgbClr val="17324D"/>
                </a:solidFill>
                <a:ea typeface="+mn-lt"/>
                <a:cs typeface="+mn-lt"/>
              </a:rPr>
              <a:t>the AI shows a possible matching complaint, its reason, and confidence score.</a:t>
            </a:r>
            <a:endParaRPr lang="en-US" sz="1800">
              <a:solidFill>
                <a:srgbClr val="34405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p12_6_c"/>
          <p:cNvSpPr/>
          <p:nvPr/>
        </p:nvSpPr>
        <p:spPr>
          <a:xfrm>
            <a:off x="667512" y="3261498"/>
            <a:ext cx="347472" cy="3474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/>
          </a:p>
        </p:txBody>
      </p:sp>
      <p:sp>
        <p:nvSpPr>
          <p:cNvPr id="16" name="p12_6_t"/>
          <p:cNvSpPr/>
          <p:nvPr/>
        </p:nvSpPr>
        <p:spPr>
          <a:xfrm>
            <a:off x="1118616" y="3218826"/>
            <a:ext cx="4328160" cy="49363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2000"/>
              </a:lnSpc>
            </a:pPr>
            <a:r>
              <a:rPr lang="en-US" b="1" dirty="0">
                <a:solidFill>
                  <a:srgbClr val="17324D"/>
                </a:solidFill>
                <a:ea typeface="+mn-lt"/>
                <a:cs typeface="+mn-lt"/>
              </a:rPr>
              <a:t>Compare and Decide</a:t>
            </a:r>
            <a:r>
              <a:rPr lang="en-US" b="1" dirty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800" b="1" dirty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— </a:t>
            </a:r>
            <a:r>
              <a:rPr lang="en-US" dirty="0">
                <a:solidFill>
                  <a:srgbClr val="17324D"/>
                </a:solidFill>
                <a:ea typeface="+mn-lt"/>
                <a:cs typeface="+mn-lt"/>
              </a:rPr>
              <a:t>the admin compares the new submission with the existing complaint and confirms or rejects </a:t>
            </a:r>
            <a:r>
              <a:rPr lang="en-US" dirty="0" err="1">
                <a:solidFill>
                  <a:srgbClr val="17324D"/>
                </a:solidFill>
                <a:ea typeface="+mn-lt"/>
                <a:cs typeface="+mn-lt"/>
              </a:rPr>
              <a:t>rejects</a:t>
            </a:r>
            <a:r>
              <a:rPr lang="en-US" dirty="0">
                <a:solidFill>
                  <a:srgbClr val="17324D"/>
                </a:solidFill>
                <a:ea typeface="+mn-lt"/>
                <a:cs typeface="+mn-lt"/>
              </a:rPr>
              <a:t> the duplicate match.</a:t>
            </a:r>
            <a:endParaRPr lang="en-US" sz="1800" dirty="0">
              <a:solidFill>
                <a:srgbClr val="34405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8096" y="4137660"/>
            <a:ext cx="4041648" cy="2167431"/>
          </a:xfrm>
          <a:prstGeom prst="roundRect">
            <a:avLst>
              <a:gd name="adj" fmla="val 3375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8" name="Image 0" descr="C:\Users\ASUS\AppData\Local\Temp\claude\C--NogorShomadhan\6d8323a9-c937-42c6-8eb9-13e28f50f09f\scratchpad\deck\crops/25-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4187952"/>
            <a:ext cx="3941064" cy="206684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832854" y="1367028"/>
            <a:ext cx="2551820" cy="5010912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0" name="Image 1" descr="C:/NogorShomadhan/User Manual/Phase 3/review complaint/23-check-inf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146" y="1417320"/>
            <a:ext cx="2451236" cy="491032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969890" y="1367028"/>
            <a:ext cx="2509591" cy="5010912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2" name="Image 2" descr="C:/NogorShomadhan/User Manual/Phase 3/review complaint/24-view-duplicacy-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82" y="1417320"/>
            <a:ext cx="2409007" cy="4910328"/>
          </a:xfrm>
          <a:prstGeom prst="rect">
            <a:avLst/>
          </a:prstGeom>
        </p:spPr>
      </p:pic>
      <p:sp>
        <p:nvSpPr>
          <p:cNvPr id="23" name="arrow12"/>
          <p:cNvSpPr/>
          <p:nvPr/>
        </p:nvSpPr>
        <p:spPr>
          <a:xfrm>
            <a:off x="8425822" y="3634740"/>
            <a:ext cx="502920" cy="475488"/>
          </a:xfrm>
          <a:prstGeom prst="rightArrow">
            <a:avLst/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24" name="h12_4"/>
          <p:cNvSpPr/>
          <p:nvPr/>
        </p:nvSpPr>
        <p:spPr>
          <a:xfrm>
            <a:off x="5981196" y="2173511"/>
            <a:ext cx="2255137" cy="1404354"/>
          </a:xfrm>
          <a:prstGeom prst="roundRect">
            <a:avLst>
              <a:gd name="adj" fmla="val 3907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25" name="b12_4"/>
          <p:cNvSpPr/>
          <p:nvPr/>
        </p:nvSpPr>
        <p:spPr>
          <a:xfrm>
            <a:off x="5810572" y="2098658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6" name="b12_4_t"/>
          <p:cNvSpPr/>
          <p:nvPr/>
        </p:nvSpPr>
        <p:spPr>
          <a:xfrm>
            <a:off x="5810572" y="209865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/>
          </a:p>
        </p:txBody>
      </p:sp>
      <p:sp>
        <p:nvSpPr>
          <p:cNvPr id="27" name="h12_5a"/>
          <p:cNvSpPr/>
          <p:nvPr/>
        </p:nvSpPr>
        <p:spPr>
          <a:xfrm>
            <a:off x="5981196" y="3607326"/>
            <a:ext cx="2255137" cy="2347137"/>
          </a:xfrm>
          <a:prstGeom prst="roundRect">
            <a:avLst>
              <a:gd name="adj" fmla="val 2433"/>
            </a:avLst>
          </a:prstGeom>
          <a:ln w="28575">
            <a:solidFill>
              <a:srgbClr val="B4480A"/>
            </a:solidFill>
            <a:prstDash val="solid"/>
          </a:ln>
        </p:spPr>
      </p:sp>
      <p:sp>
        <p:nvSpPr>
          <p:cNvPr id="28" name="h12_5b"/>
          <p:cNvSpPr/>
          <p:nvPr/>
        </p:nvSpPr>
        <p:spPr>
          <a:xfrm>
            <a:off x="6821970" y="4186745"/>
            <a:ext cx="416710" cy="147310"/>
          </a:xfrm>
          <a:prstGeom prst="roundRect">
            <a:avLst>
              <a:gd name="adj" fmla="val 37244"/>
            </a:avLst>
          </a:prstGeom>
          <a:ln w="28575">
            <a:solidFill>
              <a:srgbClr val="B4480A"/>
            </a:solidFill>
            <a:prstDash val="solid"/>
          </a:ln>
        </p:spPr>
      </p:sp>
      <p:sp>
        <p:nvSpPr>
          <p:cNvPr id="29" name="h12_5c"/>
          <p:cNvSpPr/>
          <p:nvPr/>
        </p:nvSpPr>
        <p:spPr>
          <a:xfrm>
            <a:off x="6569492" y="5738409"/>
            <a:ext cx="1093251" cy="157130"/>
          </a:xfrm>
          <a:prstGeom prst="roundRect">
            <a:avLst>
              <a:gd name="adj" fmla="val 34916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0" name="b12_5"/>
          <p:cNvSpPr/>
          <p:nvPr/>
        </p:nvSpPr>
        <p:spPr>
          <a:xfrm>
            <a:off x="5810572" y="3532474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1" name="b12_5_t"/>
          <p:cNvSpPr/>
          <p:nvPr/>
        </p:nvSpPr>
        <p:spPr>
          <a:xfrm>
            <a:off x="5810572" y="353247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/>
          </a:p>
        </p:txBody>
      </p:sp>
      <p:sp>
        <p:nvSpPr>
          <p:cNvPr id="32" name="h12_6a"/>
          <p:cNvSpPr/>
          <p:nvPr/>
        </p:nvSpPr>
        <p:spPr>
          <a:xfrm>
            <a:off x="10812483" y="1898532"/>
            <a:ext cx="529982" cy="363364"/>
          </a:xfrm>
          <a:prstGeom prst="roundRect">
            <a:avLst>
              <a:gd name="adj" fmla="val 15099"/>
            </a:avLst>
          </a:prstGeom>
          <a:ln w="28575">
            <a:solidFill>
              <a:srgbClr val="18835C"/>
            </a:solidFill>
            <a:prstDash val="solid"/>
          </a:ln>
        </p:spPr>
      </p:sp>
      <p:sp>
        <p:nvSpPr>
          <p:cNvPr id="33" name="h12_6b"/>
          <p:cNvSpPr/>
          <p:nvPr/>
        </p:nvSpPr>
        <p:spPr>
          <a:xfrm>
            <a:off x="9130996" y="3951049"/>
            <a:ext cx="1079235" cy="2327495"/>
          </a:xfrm>
          <a:prstGeom prst="roundRect">
            <a:avLst>
              <a:gd name="adj" fmla="val 5084"/>
            </a:avLst>
          </a:prstGeom>
          <a:ln w="28575">
            <a:solidFill>
              <a:srgbClr val="B4480A"/>
            </a:solidFill>
            <a:prstDash val="solid"/>
          </a:ln>
        </p:spPr>
      </p:sp>
      <p:sp>
        <p:nvSpPr>
          <p:cNvPr id="34" name="h12_6c"/>
          <p:cNvSpPr/>
          <p:nvPr/>
        </p:nvSpPr>
        <p:spPr>
          <a:xfrm>
            <a:off x="10248776" y="3951049"/>
            <a:ext cx="1084053" cy="2327495"/>
          </a:xfrm>
          <a:prstGeom prst="roundRect">
            <a:avLst>
              <a:gd name="adj" fmla="val 5061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5" name="h12_6d"/>
          <p:cNvSpPr/>
          <p:nvPr/>
        </p:nvSpPr>
        <p:spPr>
          <a:xfrm>
            <a:off x="1017227" y="5500400"/>
            <a:ext cx="3600346" cy="626440"/>
          </a:xfrm>
          <a:prstGeom prst="roundRect">
            <a:avLst>
              <a:gd name="adj" fmla="val 10618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6" name="b12_6"/>
          <p:cNvSpPr/>
          <p:nvPr/>
        </p:nvSpPr>
        <p:spPr>
          <a:xfrm>
            <a:off x="725046" y="5314843"/>
            <a:ext cx="365760" cy="365760"/>
          </a:xfrm>
          <a:prstGeom prst="ellipse">
            <a:avLst/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7" name="b12_6_t"/>
          <p:cNvSpPr/>
          <p:nvPr/>
        </p:nvSpPr>
        <p:spPr>
          <a:xfrm>
            <a:off x="725046" y="53148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/>
          </a:p>
        </p:txBody>
      </p:sp>
      <p:sp>
        <p:nvSpPr>
          <p:cNvPr id="38" name="Text 33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9" name="Text 34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8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59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5" name="Text 60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6" name="Text 61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ADMIN COMPLAINT VERIFICATION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47472" y="585216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Review Outcomes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728302" y="475488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28302" y="475488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1389888"/>
            <a:ext cx="5500116" cy="4901184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EFD6BC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389888"/>
            <a:ext cx="5500116" cy="54864"/>
          </a:xfrm>
          <a:prstGeom prst="rect">
            <a:avLst/>
          </a:prstGeom>
          <a:solidFill>
            <a:srgbClr val="B4480A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517904"/>
            <a:ext cx="2507285" cy="347472"/>
          </a:xfrm>
          <a:prstGeom prst="roundRect">
            <a:avLst>
              <a:gd name="adj" fmla="val 50000"/>
            </a:avLst>
          </a:prstGeom>
          <a:solidFill>
            <a:srgbClr val="B4480A"/>
          </a:solidFill>
          <a:ln w="12700">
            <a:solidFill>
              <a:srgbClr val="B448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1517904"/>
            <a:ext cx="25072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CONFIRMED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667512" y="1901952"/>
            <a:ext cx="49880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30">
                <a:solidFill>
                  <a:srgbClr val="B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DECISION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054350" y="2107692"/>
            <a:ext cx="2214375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FD6BC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8" name="Image 0" descr="C:\Users\ASUS\AppData\Local\Temp\claude\C--NogorShomadhan\6d8323a9-c937-42c6-8eb9-13e28f50f09f\scratchpad\deck\crops/26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642" y="2157984"/>
            <a:ext cx="2113791" cy="1417320"/>
          </a:xfrm>
          <a:prstGeom prst="rect">
            <a:avLst/>
          </a:prstGeom>
        </p:spPr>
      </p:pic>
      <p:sp>
        <p:nvSpPr>
          <p:cNvPr id="19" name="l13a_cap"/>
          <p:cNvSpPr/>
          <p:nvPr/>
        </p:nvSpPr>
        <p:spPr>
          <a:xfrm>
            <a:off x="667512" y="3630168"/>
            <a:ext cx="49880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confirms the match. The submitted copy is deleted and linked to the base complaint.</a:t>
            </a:r>
            <a:endParaRPr lang="en-US" sz="1800"/>
          </a:p>
        </p:txBody>
      </p:sp>
      <p:sp>
        <p:nvSpPr>
          <p:cNvPr id="20" name="Text 17"/>
          <p:cNvSpPr/>
          <p:nvPr/>
        </p:nvSpPr>
        <p:spPr>
          <a:xfrm>
            <a:off x="667512" y="4297680"/>
            <a:ext cx="49880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3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OUTCOME</a:t>
            </a:r>
            <a:endParaRPr lang="en-US" sz="1300"/>
          </a:p>
        </p:txBody>
      </p:sp>
      <p:sp>
        <p:nvSpPr>
          <p:cNvPr id="21" name="Shape 18"/>
          <p:cNvSpPr/>
          <p:nvPr/>
        </p:nvSpPr>
        <p:spPr>
          <a:xfrm>
            <a:off x="1731862" y="4503420"/>
            <a:ext cx="285935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EFD6BC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2" name="Image 1" descr="C:\Users\ASUS\AppData\Local\Temp\claude\C--NogorShomadhan\6d8323a9-c937-42c6-8eb9-13e28f50f09f\scratchpad\deck\crops/27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154" y="4553712"/>
            <a:ext cx="2758768" cy="1051560"/>
          </a:xfrm>
          <a:prstGeom prst="rect">
            <a:avLst/>
          </a:prstGeom>
        </p:spPr>
      </p:pic>
      <p:sp>
        <p:nvSpPr>
          <p:cNvPr id="23" name="l13b_cap"/>
          <p:cNvSpPr/>
          <p:nvPr/>
        </p:nvSpPr>
        <p:spPr>
          <a:xfrm>
            <a:off x="667512" y="5660136"/>
            <a:ext cx="498805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800">
                <a:solidFill>
                  <a:srgbClr val="344054"/>
                </a:solidFill>
                <a:latin typeface="Calibri"/>
                <a:ea typeface="Calibri"/>
                <a:cs typeface="Calibri"/>
              </a:rPr>
              <a:t>The resident is notified and follows the base complaint.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6277356" y="1389888"/>
            <a:ext cx="5500116" cy="4901184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C2E0D2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77356" y="1389888"/>
            <a:ext cx="5500116" cy="54864"/>
          </a:xfrm>
          <a:prstGeom prst="rect">
            <a:avLst/>
          </a:prstGeom>
          <a:solidFill>
            <a:srgbClr val="18835C"/>
          </a:solidFill>
          <a:ln/>
        </p:spPr>
      </p:sp>
      <p:sp>
        <p:nvSpPr>
          <p:cNvPr id="26" name="Shape 22"/>
          <p:cNvSpPr/>
          <p:nvPr/>
        </p:nvSpPr>
        <p:spPr>
          <a:xfrm>
            <a:off x="6533388" y="1517904"/>
            <a:ext cx="2075688" cy="347472"/>
          </a:xfrm>
          <a:prstGeom prst="roundRect">
            <a:avLst>
              <a:gd name="adj" fmla="val 50000"/>
            </a:avLst>
          </a:prstGeom>
          <a:solidFill>
            <a:srgbClr val="18835C"/>
          </a:solidFill>
          <a:ln w="12700">
            <a:solidFill>
              <a:srgbClr val="18835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533388" y="1517904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DUPLICATE</a:t>
            </a:r>
            <a:endParaRPr lang="en-US" sz="1400"/>
          </a:p>
        </p:txBody>
      </p:sp>
      <p:sp>
        <p:nvSpPr>
          <p:cNvPr id="28" name="Text 24"/>
          <p:cNvSpPr/>
          <p:nvPr/>
        </p:nvSpPr>
        <p:spPr>
          <a:xfrm>
            <a:off x="6533388" y="1901952"/>
            <a:ext cx="49880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30">
                <a:solidFill>
                  <a:srgbClr val="B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DECISION</a:t>
            </a:r>
            <a:endParaRPr lang="en-US" sz="1300"/>
          </a:p>
        </p:txBody>
      </p:sp>
      <p:sp>
        <p:nvSpPr>
          <p:cNvPr id="29" name="Shape 25"/>
          <p:cNvSpPr/>
          <p:nvPr/>
        </p:nvSpPr>
        <p:spPr>
          <a:xfrm>
            <a:off x="7802093" y="2107692"/>
            <a:ext cx="245064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C2E0D2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30" name="Image 2" descr="C:\Users\ASUS\AppData\Local\Temp\claude\C--NogorShomadhan\6d8323a9-c937-42c6-8eb9-13e28f50f09f\scratchpad\deck\crops/28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385" y="2157984"/>
            <a:ext cx="2350058" cy="1417320"/>
          </a:xfrm>
          <a:prstGeom prst="rect">
            <a:avLst/>
          </a:prstGeom>
        </p:spPr>
      </p:pic>
      <p:sp>
        <p:nvSpPr>
          <p:cNvPr id="31" name="r13a_cap"/>
          <p:cNvSpPr/>
          <p:nvPr/>
        </p:nvSpPr>
        <p:spPr>
          <a:xfrm>
            <a:off x="6533388" y="3630168"/>
            <a:ext cx="49880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rejects the duplicate suggestion, not the complaint. It is kept and set to Pending.</a:t>
            </a:r>
            <a:endParaRPr lang="en-US" sz="1800"/>
          </a:p>
        </p:txBody>
      </p:sp>
      <p:sp>
        <p:nvSpPr>
          <p:cNvPr id="32" name="Text 27"/>
          <p:cNvSpPr/>
          <p:nvPr/>
        </p:nvSpPr>
        <p:spPr>
          <a:xfrm>
            <a:off x="6533388" y="4297680"/>
            <a:ext cx="49880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3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OUTCOME</a:t>
            </a:r>
            <a:endParaRPr lang="en-US" sz="1300"/>
          </a:p>
        </p:txBody>
      </p:sp>
      <p:sp>
        <p:nvSpPr>
          <p:cNvPr id="33" name="Shape 28"/>
          <p:cNvSpPr/>
          <p:nvPr/>
        </p:nvSpPr>
        <p:spPr>
          <a:xfrm>
            <a:off x="7191100" y="4503420"/>
            <a:ext cx="367262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C2E0D2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34" name="Image 3" descr="C:\Users\ASUS\AppData\Local\Temp\claude\C--NogorShomadhan\6d8323a9-c937-42c6-8eb9-13e28f50f09f\scratchpad\deck\crops/29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1392" y="4553712"/>
            <a:ext cx="3572044" cy="1051560"/>
          </a:xfrm>
          <a:prstGeom prst="rect">
            <a:avLst/>
          </a:prstGeom>
        </p:spPr>
      </p:pic>
      <p:sp>
        <p:nvSpPr>
          <p:cNvPr id="35" name="r13b_cap"/>
          <p:cNvSpPr/>
          <p:nvPr/>
        </p:nvSpPr>
        <p:spPr>
          <a:xfrm>
            <a:off x="6533388" y="5660136"/>
            <a:ext cx="49880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is notified that the complaint was accepted and tracks it as Pending.</a:t>
            </a:r>
            <a:endParaRPr lang="en-US" sz="1800"/>
          </a:p>
        </p:txBody>
      </p:sp>
      <p:sp>
        <p:nvSpPr>
          <p:cNvPr id="36" name="Text 30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7" name="Text 31">
            <a:hlinkClick r:id="rId7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8" name="Text 32">
            <a:hlinkClick r:id="rId8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3">
            <a:hlinkClick r:id="rId9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4">
            <a:hlinkClick r:id="rId10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5">
            <a:hlinkClick r:id="rId11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6">
            <a:hlinkClick r:id="rId12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7">
            <a:hlinkClick r:id="rId13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8">
            <a:hlinkClick r:id="rId14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39">
            <a:hlinkClick r:id="rId15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0">
            <a:hlinkClick r:id="rId16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1">
            <a:hlinkClick r:id="rId17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2">
            <a:hlinkClick r:id="rId18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3">
            <a:hlinkClick r:id="rId19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4">
            <a:hlinkClick r:id="rId20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5">
            <a:hlinkClick r:id="rId21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6">
            <a:hlinkClick r:id="rId22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7">
            <a:hlinkClick r:id="rId23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8">
            <a:hlinkClick r:id="rId24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49">
            <a:hlinkClick r:id="rId25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0">
            <a:hlinkClick r:id="rId26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1">
            <a:hlinkClick r:id="rId27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2">
            <a:hlinkClick r:id="rId28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3">
            <a:hlinkClick r:id="rId29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4">
            <a:hlinkClick r:id="rId30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5">
            <a:hlinkClick r:id="rId31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6">
            <a:hlinkClick r:id="rId32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7">
            <a:hlinkClick r:id="rId33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3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58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298704" y="38404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ADMIN COMPLAINT VERIFICATION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298704" y="585216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Complaint Visibility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9987991" y="475488"/>
            <a:ext cx="1792224" cy="420624"/>
          </a:xfrm>
          <a:prstGeom prst="roundRect">
            <a:avLst>
              <a:gd name="adj" fmla="val 50000"/>
            </a:avLst>
          </a:prstGeom>
          <a:solidFill>
            <a:srgbClr val="18835C"/>
          </a:solidFill>
          <a:ln w="12700">
            <a:solidFill>
              <a:srgbClr val="18835C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987991" y="475488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duplicate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EDCD306-F4FD-1DE4-DEAE-B5F91A56A198}"/>
              </a:ext>
            </a:extLst>
          </p:cNvPr>
          <p:cNvGrpSpPr/>
          <p:nvPr/>
        </p:nvGrpSpPr>
        <p:grpSpPr>
          <a:xfrm>
            <a:off x="1706895" y="1365504"/>
            <a:ext cx="1014984" cy="347472"/>
            <a:chOff x="1712991" y="1463040"/>
            <a:chExt cx="1014984" cy="347472"/>
          </a:xfrm>
        </p:grpSpPr>
        <p:sp>
          <p:nvSpPr>
            <p:cNvPr id="10" name="Shape 8"/>
            <p:cNvSpPr/>
            <p:nvPr/>
          </p:nvSpPr>
          <p:spPr>
            <a:xfrm>
              <a:off x="1731279" y="1463040"/>
              <a:ext cx="996696" cy="347472"/>
            </a:xfrm>
            <a:prstGeom prst="roundRect">
              <a:avLst>
                <a:gd name="adj" fmla="val 50000"/>
              </a:avLst>
            </a:prstGeom>
            <a:solidFill>
              <a:srgbClr val="B86A12"/>
            </a:solidFill>
            <a:ln w="12700">
              <a:solidFill>
                <a:srgbClr val="B86A12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1712991" y="1463040"/>
              <a:ext cx="996696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kern="0" spc="8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ADMIN</a:t>
              </a:r>
              <a:endParaRPr lang="en-US" sz="1400"/>
            </a:p>
          </p:txBody>
        </p:sp>
      </p:grpSp>
      <p:sp>
        <p:nvSpPr>
          <p:cNvPr id="12" name="Shape 10"/>
          <p:cNvSpPr/>
          <p:nvPr/>
        </p:nvSpPr>
        <p:spPr>
          <a:xfrm>
            <a:off x="1376329" y="1815084"/>
            <a:ext cx="1706596" cy="3282696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3" name="Image 0" descr="C:/NogorShomadhan/User Manual/Phase 3/post duplicate actions/30-added-in-all-compl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621" y="1865376"/>
            <a:ext cx="1606012" cy="3182112"/>
          </a:xfrm>
          <a:prstGeom prst="rect">
            <a:avLst/>
          </a:prstGeom>
        </p:spPr>
      </p:pic>
      <p:sp>
        <p:nvSpPr>
          <p:cNvPr id="14" name="c14_a"/>
          <p:cNvSpPr/>
          <p:nvPr/>
        </p:nvSpPr>
        <p:spPr>
          <a:xfrm>
            <a:off x="502920" y="5120640"/>
            <a:ext cx="345341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 All Complaints with Pending status.</a:t>
            </a:r>
            <a:endParaRPr lang="en-US" sz="1800"/>
          </a:p>
        </p:txBody>
      </p:sp>
      <p:sp>
        <p:nvSpPr>
          <p:cNvPr id="15" name="Shape 12"/>
          <p:cNvSpPr/>
          <p:nvPr/>
        </p:nvSpPr>
        <p:spPr>
          <a:xfrm>
            <a:off x="4932319" y="1365504"/>
            <a:ext cx="2507285" cy="347472"/>
          </a:xfrm>
          <a:prstGeom prst="roundRect">
            <a:avLst>
              <a:gd name="adj" fmla="val 50000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2319" y="1365504"/>
            <a:ext cx="25072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AUTHORITY</a:t>
            </a:r>
            <a:endParaRPr lang="en-US" sz="1400"/>
          </a:p>
        </p:txBody>
      </p:sp>
      <p:sp>
        <p:nvSpPr>
          <p:cNvPr id="17" name="Shape 14"/>
          <p:cNvSpPr/>
          <p:nvPr/>
        </p:nvSpPr>
        <p:spPr>
          <a:xfrm>
            <a:off x="5325186" y="1815084"/>
            <a:ext cx="1721552" cy="3282696"/>
          </a:xfrm>
          <a:prstGeom prst="roundRect">
            <a:avLst>
              <a:gd name="adj" fmla="val 4249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8" name="Image 1" descr="C:/NogorShomadhan/User Manual/Phase 3/post duplicate actions/31-available-in-autho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478" y="1865376"/>
            <a:ext cx="1620968" cy="3182112"/>
          </a:xfrm>
          <a:prstGeom prst="rect">
            <a:avLst/>
          </a:prstGeom>
        </p:spPr>
      </p:pic>
      <p:sp>
        <p:nvSpPr>
          <p:cNvPr id="19" name="c14_b"/>
          <p:cNvSpPr/>
          <p:nvPr/>
        </p:nvSpPr>
        <p:spPr>
          <a:xfrm>
            <a:off x="4459254" y="5120640"/>
            <a:ext cx="345341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the assigned authority for mitigation.</a:t>
            </a:r>
            <a:endParaRPr lang="en-US" sz="1800"/>
          </a:p>
        </p:txBody>
      </p:sp>
      <p:sp>
        <p:nvSpPr>
          <p:cNvPr id="20" name="Shape 16"/>
          <p:cNvSpPr/>
          <p:nvPr/>
        </p:nvSpPr>
        <p:spPr>
          <a:xfrm>
            <a:off x="9463811" y="1365504"/>
            <a:ext cx="1320394" cy="347472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482099" y="1365504"/>
            <a:ext cx="13203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400"/>
          </a:p>
        </p:txBody>
      </p:sp>
      <p:sp>
        <p:nvSpPr>
          <p:cNvPr id="22" name="Shape 18"/>
          <p:cNvSpPr/>
          <p:nvPr/>
        </p:nvSpPr>
        <p:spPr>
          <a:xfrm>
            <a:off x="8904917" y="1815084"/>
            <a:ext cx="2474758" cy="3282696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3" name="Image 2" descr="C:/NogorShomadhan/User Manual/Phase 3/post duplicate actions/32-available-in-resid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5209" y="1865376"/>
            <a:ext cx="2374174" cy="3182112"/>
          </a:xfrm>
          <a:prstGeom prst="rect">
            <a:avLst/>
          </a:prstGeom>
        </p:spPr>
      </p:pic>
      <p:sp>
        <p:nvSpPr>
          <p:cNvPr id="24" name="c14_c"/>
          <p:cNvSpPr/>
          <p:nvPr/>
        </p:nvSpPr>
        <p:spPr>
          <a:xfrm>
            <a:off x="8415589" y="5120640"/>
            <a:ext cx="345341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My Complaints with status and progress.</a:t>
            </a:r>
            <a:endParaRPr lang="en-US" sz="1800"/>
          </a:p>
        </p:txBody>
      </p:sp>
      <p:sp>
        <p:nvSpPr>
          <p:cNvPr id="25" name="Shape 20"/>
          <p:cNvSpPr/>
          <p:nvPr/>
        </p:nvSpPr>
        <p:spPr>
          <a:xfrm>
            <a:off x="1908425" y="4161270"/>
            <a:ext cx="305142" cy="66824"/>
          </a:xfrm>
          <a:prstGeom prst="roundRect">
            <a:avLst>
              <a:gd name="adj" fmla="val 68419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796004" y="4361743"/>
            <a:ext cx="340475" cy="66824"/>
          </a:xfrm>
          <a:prstGeom prst="roundRect">
            <a:avLst>
              <a:gd name="adj" fmla="val 68419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747824" y="4559034"/>
            <a:ext cx="369383" cy="66824"/>
          </a:xfrm>
          <a:prstGeom prst="roundRect">
            <a:avLst>
              <a:gd name="adj" fmla="val 68419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792792" y="4759507"/>
            <a:ext cx="224842" cy="66824"/>
          </a:xfrm>
          <a:prstGeom prst="roundRect">
            <a:avLst>
              <a:gd name="adj" fmla="val 68419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9" name="h14_a"/>
          <p:cNvSpPr/>
          <p:nvPr/>
        </p:nvSpPr>
        <p:spPr>
          <a:xfrm>
            <a:off x="1558314" y="2412699"/>
            <a:ext cx="411139" cy="133649"/>
          </a:xfrm>
          <a:prstGeom prst="roundRect">
            <a:avLst>
              <a:gd name="adj" fmla="val 41051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0" name="h14_b"/>
          <p:cNvSpPr/>
          <p:nvPr/>
        </p:nvSpPr>
        <p:spPr>
          <a:xfrm>
            <a:off x="5505155" y="2279051"/>
            <a:ext cx="376065" cy="127284"/>
          </a:xfrm>
          <a:prstGeom prst="roundRect">
            <a:avLst>
              <a:gd name="adj" fmla="val 43104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1" name="h14_c"/>
          <p:cNvSpPr/>
          <p:nvPr/>
        </p:nvSpPr>
        <p:spPr>
          <a:xfrm>
            <a:off x="10735840" y="3825557"/>
            <a:ext cx="389364" cy="133649"/>
          </a:xfrm>
          <a:prstGeom prst="roundRect">
            <a:avLst>
              <a:gd name="adj" fmla="val 41051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2" name="out14_bg"/>
          <p:cNvSpPr/>
          <p:nvPr/>
        </p:nvSpPr>
        <p:spPr>
          <a:xfrm>
            <a:off x="411480" y="5760720"/>
            <a:ext cx="11368735" cy="694944"/>
          </a:xfrm>
          <a:prstGeom prst="roundRect">
            <a:avLst>
              <a:gd name="adj" fmla="val 1315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3" name="out14_tx"/>
          <p:cNvSpPr/>
          <p:nvPr/>
        </p:nvSpPr>
        <p:spPr>
          <a:xfrm>
            <a:off x="685800" y="5760720"/>
            <a:ext cx="1082009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complaint that is not a duplicate continues as a separate Pending complaint and becomes visible to every relevant role.</a:t>
            </a:r>
            <a:endParaRPr lang="en-US" sz="1850"/>
          </a:p>
        </p:txBody>
      </p:sp>
      <p:sp>
        <p:nvSpPr>
          <p:cNvPr id="34" name="Text 29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5" name="Text 30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6" name="Text 31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7" name="Text 32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8" name="Text 33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4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37A5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3088" y="38404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23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AUTHORITY STARTS THE WORK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27152" y="636016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Opens the Complaint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580522" y="475488"/>
            <a:ext cx="1199693" cy="420624"/>
          </a:xfrm>
          <a:prstGeom prst="roundRect">
            <a:avLst>
              <a:gd name="adj" fmla="val 50000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80522" y="475488"/>
            <a:ext cx="119969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C6E5D6"/>
          </a:solidFill>
          <a:ln/>
        </p:spPr>
      </p:sp>
      <p:sp>
        <p:nvSpPr>
          <p:cNvPr id="10" name="Shape 8"/>
          <p:cNvSpPr/>
          <p:nvPr/>
        </p:nvSpPr>
        <p:spPr>
          <a:xfrm>
            <a:off x="1222549" y="1385316"/>
            <a:ext cx="2015040" cy="3895344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1" name="Image 0" descr="C:/NogorShomadhan/User Manual/Phase 4/Final/1-authority-dashboar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41" y="1435608"/>
            <a:ext cx="1914456" cy="3794760"/>
          </a:xfrm>
          <a:prstGeom prst="rect">
            <a:avLst/>
          </a:prstGeom>
        </p:spPr>
      </p:pic>
      <p:sp>
        <p:nvSpPr>
          <p:cNvPr id="12" name="p15_ca"/>
          <p:cNvSpPr/>
          <p:nvPr/>
        </p:nvSpPr>
        <p:spPr>
          <a:xfrm>
            <a:off x="484632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complaint counts and a notification badge.</a:t>
            </a:r>
            <a:endParaRPr lang="en-US" sz="1800"/>
          </a:p>
        </p:txBody>
      </p:sp>
      <p:sp>
        <p:nvSpPr>
          <p:cNvPr id="14" name="p15_ta_t"/>
          <p:cNvSpPr/>
          <p:nvPr/>
        </p:nvSpPr>
        <p:spPr>
          <a:xfrm>
            <a:off x="1114245" y="140451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053230" y="3159252"/>
            <a:ext cx="219456" cy="347472"/>
          </a:xfrm>
          <a:prstGeom prst="chevron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9071" y="1385316"/>
            <a:ext cx="3033554" cy="3895344"/>
          </a:xfrm>
          <a:prstGeom prst="roundRect">
            <a:avLst>
              <a:gd name="adj" fmla="val 2411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7" name="Image 1" descr="C:/NogorShomadhan/User Manual/Phase 4/Final/2-choose-pothol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363" y="1435608"/>
            <a:ext cx="2932970" cy="3794760"/>
          </a:xfrm>
          <a:prstGeom prst="rect">
            <a:avLst/>
          </a:prstGeom>
        </p:spPr>
      </p:pic>
      <p:sp>
        <p:nvSpPr>
          <p:cNvPr id="18" name="p15_cb"/>
          <p:cNvSpPr/>
          <p:nvPr/>
        </p:nvSpPr>
        <p:spPr>
          <a:xfrm>
            <a:off x="4350410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notification names the complaint that is ready for authority action.</a:t>
            </a:r>
            <a:endParaRPr lang="en-US" sz="1800"/>
          </a:p>
        </p:txBody>
      </p:sp>
      <p:sp>
        <p:nvSpPr>
          <p:cNvPr id="19" name="p15_tb"/>
          <p:cNvSpPr/>
          <p:nvPr/>
        </p:nvSpPr>
        <p:spPr>
          <a:xfrm>
            <a:off x="4353086" y="4995062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0" name="p15_tb_t"/>
          <p:cNvSpPr/>
          <p:nvPr/>
        </p:nvSpPr>
        <p:spPr>
          <a:xfrm>
            <a:off x="4334798" y="4995062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1" name="Shape 17"/>
          <p:cNvSpPr/>
          <p:nvPr/>
        </p:nvSpPr>
        <p:spPr>
          <a:xfrm>
            <a:off x="7919009" y="3159252"/>
            <a:ext cx="219456" cy="347472"/>
          </a:xfrm>
          <a:prstGeom prst="chevron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938927" y="1385316"/>
            <a:ext cx="2045399" cy="3895344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3" name="Image 2" descr="C:/NogorShomadhan/User Manual/Phase 4/Final/3-seethe-complaints-detai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9219" y="1435608"/>
            <a:ext cx="1944815" cy="3794760"/>
          </a:xfrm>
          <a:prstGeom prst="rect">
            <a:avLst/>
          </a:prstGeom>
        </p:spPr>
      </p:pic>
      <p:sp>
        <p:nvSpPr>
          <p:cNvPr id="24" name="p15_cc"/>
          <p:cNvSpPr/>
          <p:nvPr/>
        </p:nvSpPr>
        <p:spPr>
          <a:xfrm>
            <a:off x="8216189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complaint to check its category, submission time, and location.</a:t>
            </a:r>
            <a:endParaRPr lang="en-US" sz="1800"/>
          </a:p>
        </p:txBody>
      </p:sp>
      <p:sp>
        <p:nvSpPr>
          <p:cNvPr id="25" name="p15_tc"/>
          <p:cNvSpPr/>
          <p:nvPr/>
        </p:nvSpPr>
        <p:spPr>
          <a:xfrm>
            <a:off x="10381132" y="1922678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6" name="p15_tc_t"/>
          <p:cNvSpPr/>
          <p:nvPr/>
        </p:nvSpPr>
        <p:spPr>
          <a:xfrm>
            <a:off x="10387228" y="192267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27" name="h15_a1"/>
          <p:cNvSpPr/>
          <p:nvPr/>
        </p:nvSpPr>
        <p:spPr>
          <a:xfrm>
            <a:off x="2674223" y="1473556"/>
            <a:ext cx="183788" cy="166969"/>
          </a:xfrm>
          <a:prstGeom prst="roundRect">
            <a:avLst>
              <a:gd name="adj" fmla="val 32859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28" name="h15_a2"/>
          <p:cNvSpPr/>
          <p:nvPr/>
        </p:nvSpPr>
        <p:spPr>
          <a:xfrm>
            <a:off x="1334104" y="2536088"/>
            <a:ext cx="1784273" cy="1054943"/>
          </a:xfrm>
          <a:prstGeom prst="roundRect">
            <a:avLst>
              <a:gd name="adj" fmla="val 5201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29" name="h15_b1"/>
          <p:cNvSpPr/>
          <p:nvPr/>
        </p:nvSpPr>
        <p:spPr>
          <a:xfrm>
            <a:off x="4740815" y="4528337"/>
            <a:ext cx="2710064" cy="614751"/>
          </a:xfrm>
          <a:prstGeom prst="roundRect">
            <a:avLst>
              <a:gd name="adj" fmla="val 8925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0" name="h15_c1"/>
          <p:cNvSpPr/>
          <p:nvPr/>
        </p:nvSpPr>
        <p:spPr>
          <a:xfrm>
            <a:off x="9133135" y="1803700"/>
            <a:ext cx="427859" cy="121432"/>
          </a:xfrm>
          <a:prstGeom prst="roundRect">
            <a:avLst>
              <a:gd name="adj" fmla="val 45181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1" name="h15_c2"/>
          <p:cNvSpPr/>
          <p:nvPr/>
        </p:nvSpPr>
        <p:spPr>
          <a:xfrm>
            <a:off x="9059232" y="2369119"/>
            <a:ext cx="1804788" cy="956280"/>
          </a:xfrm>
          <a:prstGeom prst="roundRect">
            <a:avLst>
              <a:gd name="adj" fmla="val 5737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2" name="h15_c3"/>
          <p:cNvSpPr/>
          <p:nvPr/>
        </p:nvSpPr>
        <p:spPr>
          <a:xfrm>
            <a:off x="9059232" y="3386115"/>
            <a:ext cx="1804788" cy="1791127"/>
          </a:xfrm>
          <a:prstGeom prst="roundRect">
            <a:avLst>
              <a:gd name="adj" fmla="val 3063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4" name="Text 29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5" name="Text 30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6" name="Text 31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7" name="Text 32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8" name="Text 33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4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237A57"/>
          </a:solidFill>
          <a:ln>
            <a:solidFill>
              <a:srgbClr val="237A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37A5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5440" y="3799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23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AUTHORITY STARTS THE WORK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288544" y="64008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Contractor and Start Work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580522" y="475488"/>
            <a:ext cx="1199693" cy="420624"/>
          </a:xfrm>
          <a:prstGeom prst="roundRect">
            <a:avLst>
              <a:gd name="adj" fmla="val 50000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80522" y="475488"/>
            <a:ext cx="119969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C6E5D6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370" y="1385316"/>
            <a:ext cx="2045399" cy="3895344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1" name="Image 0" descr="C:/NogorShomadhan/User Manual/Phase 4/Final/4-allthereporter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662" y="1435608"/>
            <a:ext cx="1944815" cy="3794760"/>
          </a:xfrm>
          <a:prstGeom prst="rect">
            <a:avLst/>
          </a:prstGeom>
        </p:spPr>
      </p:pic>
      <p:sp>
        <p:nvSpPr>
          <p:cNvPr id="12" name="p16_ca"/>
          <p:cNvSpPr/>
          <p:nvPr/>
        </p:nvSpPr>
        <p:spPr>
          <a:xfrm>
            <a:off x="484632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primary reporter and the other residents who reported the same issue.</a:t>
            </a:r>
            <a:endParaRPr lang="en-US" sz="1800"/>
          </a:p>
        </p:txBody>
      </p:sp>
      <p:sp>
        <p:nvSpPr>
          <p:cNvPr id="13" name="p16_ta"/>
          <p:cNvSpPr/>
          <p:nvPr/>
        </p:nvSpPr>
        <p:spPr>
          <a:xfrm>
            <a:off x="3045815" y="1642262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4" name="p16_ta_t"/>
          <p:cNvSpPr/>
          <p:nvPr/>
        </p:nvSpPr>
        <p:spPr>
          <a:xfrm>
            <a:off x="3045815" y="1642262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15" name="Shape 12"/>
          <p:cNvSpPr/>
          <p:nvPr/>
        </p:nvSpPr>
        <p:spPr>
          <a:xfrm>
            <a:off x="4053230" y="3159252"/>
            <a:ext cx="219456" cy="347472"/>
          </a:xfrm>
          <a:prstGeom prst="chevron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73148" y="1385316"/>
            <a:ext cx="2045399" cy="3895344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7" name="Image 1" descr="C:/NogorShomadhan/User Manual/Phase 4/Final/5-assign-and-other-detail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440" y="1435608"/>
            <a:ext cx="1944815" cy="3794760"/>
          </a:xfrm>
          <a:prstGeom prst="rect">
            <a:avLst/>
          </a:prstGeom>
        </p:spPr>
      </p:pic>
      <p:sp>
        <p:nvSpPr>
          <p:cNvPr id="18" name="p16_cb"/>
          <p:cNvSpPr/>
          <p:nvPr/>
        </p:nvSpPr>
        <p:spPr>
          <a:xfrm>
            <a:off x="4350410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contractor, phone, deadline, budget, and an initial work note.</a:t>
            </a:r>
            <a:endParaRPr lang="en-US" sz="1800"/>
          </a:p>
        </p:txBody>
      </p:sp>
      <p:sp>
        <p:nvSpPr>
          <p:cNvPr id="19" name="p16_tb"/>
          <p:cNvSpPr/>
          <p:nvPr/>
        </p:nvSpPr>
        <p:spPr>
          <a:xfrm>
            <a:off x="6484873" y="2690774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0" name="p16_tb_t"/>
          <p:cNvSpPr/>
          <p:nvPr/>
        </p:nvSpPr>
        <p:spPr>
          <a:xfrm>
            <a:off x="6442201" y="2690774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21" name="Shape 17"/>
          <p:cNvSpPr/>
          <p:nvPr/>
        </p:nvSpPr>
        <p:spPr>
          <a:xfrm>
            <a:off x="7919009" y="3159252"/>
            <a:ext cx="219456" cy="347472"/>
          </a:xfrm>
          <a:prstGeom prst="chevron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938927" y="1385316"/>
            <a:ext cx="2045399" cy="3895344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3" name="Image 2" descr="C:/NogorShomadhan/User Manual/Phase 4/Final/6-confirm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9219" y="1435608"/>
            <a:ext cx="1944815" cy="3794760"/>
          </a:xfrm>
          <a:prstGeom prst="rect">
            <a:avLst/>
          </a:prstGeom>
        </p:spPr>
      </p:pic>
      <p:sp>
        <p:nvSpPr>
          <p:cNvPr id="24" name="p16_cc"/>
          <p:cNvSpPr/>
          <p:nvPr/>
        </p:nvSpPr>
        <p:spPr>
          <a:xfrm>
            <a:off x="8216189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prompt to start work on this complaint.</a:t>
            </a:r>
            <a:endParaRPr lang="en-US" sz="1800"/>
          </a:p>
        </p:txBody>
      </p:sp>
      <p:sp>
        <p:nvSpPr>
          <p:cNvPr id="25" name="p16_tc"/>
          <p:cNvSpPr/>
          <p:nvPr/>
        </p:nvSpPr>
        <p:spPr>
          <a:xfrm>
            <a:off x="10015372" y="3867302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6" name="p16_tc_t"/>
          <p:cNvSpPr/>
          <p:nvPr/>
        </p:nvSpPr>
        <p:spPr>
          <a:xfrm>
            <a:off x="9997084" y="3867302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27" name="Shape 22"/>
          <p:cNvSpPr/>
          <p:nvPr/>
        </p:nvSpPr>
        <p:spPr>
          <a:xfrm>
            <a:off x="1646625" y="1976361"/>
            <a:ext cx="326729" cy="62614"/>
          </a:xfrm>
          <a:prstGeom prst="roundRect">
            <a:avLst>
              <a:gd name="adj" fmla="val 73019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469617" y="3517034"/>
            <a:ext cx="307281" cy="81587"/>
          </a:xfrm>
          <a:prstGeom prst="roundRect">
            <a:avLst>
              <a:gd name="adj" fmla="val 56038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9" name="h16_a1"/>
          <p:cNvSpPr/>
          <p:nvPr/>
        </p:nvSpPr>
        <p:spPr>
          <a:xfrm>
            <a:off x="1323786" y="1758163"/>
            <a:ext cx="1808677" cy="447782"/>
          </a:xfrm>
          <a:prstGeom prst="roundRect">
            <a:avLst>
              <a:gd name="adj" fmla="val 12252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0" name="h16_a2"/>
          <p:cNvSpPr/>
          <p:nvPr/>
        </p:nvSpPr>
        <p:spPr>
          <a:xfrm>
            <a:off x="1323786" y="2179381"/>
            <a:ext cx="1808677" cy="576804"/>
          </a:xfrm>
          <a:prstGeom prst="roundRect">
            <a:avLst>
              <a:gd name="adj" fmla="val 9512"/>
            </a:avLst>
          </a:prstGeom>
          <a:ln w="28575">
            <a:solidFill>
              <a:srgbClr val="B4480A"/>
            </a:solidFill>
            <a:prstDash val="solid"/>
          </a:ln>
        </p:spPr>
      </p:sp>
      <p:sp>
        <p:nvSpPr>
          <p:cNvPr id="31" name="h16_b1"/>
          <p:cNvSpPr/>
          <p:nvPr/>
        </p:nvSpPr>
        <p:spPr>
          <a:xfrm>
            <a:off x="5259577" y="3105302"/>
            <a:ext cx="1672540" cy="1753179"/>
          </a:xfrm>
          <a:prstGeom prst="roundRect">
            <a:avLst>
              <a:gd name="adj" fmla="val 3280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2" name="h16_b2"/>
          <p:cNvSpPr/>
          <p:nvPr/>
        </p:nvSpPr>
        <p:spPr>
          <a:xfrm>
            <a:off x="5259577" y="4987503"/>
            <a:ext cx="1672540" cy="212507"/>
          </a:xfrm>
          <a:prstGeom prst="roundRect">
            <a:avLst>
              <a:gd name="adj" fmla="val 25818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3" name="h16_c1"/>
          <p:cNvSpPr/>
          <p:nvPr/>
        </p:nvSpPr>
        <p:spPr>
          <a:xfrm>
            <a:off x="9187590" y="2687879"/>
            <a:ext cx="1551962" cy="1176376"/>
          </a:xfrm>
          <a:prstGeom prst="roundRect">
            <a:avLst>
              <a:gd name="adj" fmla="val 4664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4" name="h16_c2"/>
          <p:cNvSpPr/>
          <p:nvPr/>
        </p:nvSpPr>
        <p:spPr>
          <a:xfrm>
            <a:off x="9984964" y="3537905"/>
            <a:ext cx="645678" cy="204917"/>
          </a:xfrm>
          <a:prstGeom prst="roundRect">
            <a:avLst>
              <a:gd name="adj" fmla="val 26774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6" name="Text 31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7" name="Text 32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8" name="Text 33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4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237A57"/>
          </a:solidFill>
          <a:ln>
            <a:solidFill>
              <a:srgbClr val="237A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8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37A5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4683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23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AUTHORITY STARTS THE WORK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62181" y="590585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Complaint Moves to In Progress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580522" y="475488"/>
            <a:ext cx="1199693" cy="420624"/>
          </a:xfrm>
          <a:prstGeom prst="roundRect">
            <a:avLst>
              <a:gd name="adj" fmla="val 50000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80522" y="475488"/>
            <a:ext cx="119969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C6E5D6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370" y="1385316"/>
            <a:ext cx="2045399" cy="3895344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1" name="Image 0" descr="C:/NogorShomadhan/User Manual/Phase 4/Final/7-pendingtoinprogres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662" y="1435608"/>
            <a:ext cx="1944815" cy="3794760"/>
          </a:xfrm>
          <a:prstGeom prst="rect">
            <a:avLst/>
          </a:prstGeom>
        </p:spPr>
      </p:pic>
      <p:sp>
        <p:nvSpPr>
          <p:cNvPr id="12" name="p17_ca"/>
          <p:cNvSpPr/>
          <p:nvPr/>
        </p:nvSpPr>
        <p:spPr>
          <a:xfrm>
            <a:off x="484632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changes from Pending to In Progress and approval is recorded.</a:t>
            </a:r>
            <a:endParaRPr lang="en-US" sz="1800"/>
          </a:p>
        </p:txBody>
      </p:sp>
      <p:sp>
        <p:nvSpPr>
          <p:cNvPr id="13" name="p17_ta"/>
          <p:cNvSpPr/>
          <p:nvPr/>
        </p:nvSpPr>
        <p:spPr>
          <a:xfrm>
            <a:off x="2619095" y="2099462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4" name="p17_ta_t"/>
          <p:cNvSpPr/>
          <p:nvPr/>
        </p:nvSpPr>
        <p:spPr>
          <a:xfrm>
            <a:off x="2619095" y="2099462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6</a:t>
            </a:r>
          </a:p>
        </p:txBody>
      </p:sp>
      <p:sp>
        <p:nvSpPr>
          <p:cNvPr id="15" name="Shape 12"/>
          <p:cNvSpPr/>
          <p:nvPr/>
        </p:nvSpPr>
        <p:spPr>
          <a:xfrm>
            <a:off x="4053230" y="3159252"/>
            <a:ext cx="219456" cy="347472"/>
          </a:xfrm>
          <a:prstGeom prst="chevron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73148" y="1385316"/>
            <a:ext cx="2045399" cy="3895344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7" name="Image 1" descr="C:/NogorShomadhan/User Manual/Phase 4/Final/8-inprogressdetail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440" y="1435608"/>
            <a:ext cx="1944815" cy="3794760"/>
          </a:xfrm>
          <a:prstGeom prst="rect">
            <a:avLst/>
          </a:prstGeom>
        </p:spPr>
      </p:pic>
      <p:sp>
        <p:nvSpPr>
          <p:cNvPr id="18" name="p17_cb"/>
          <p:cNvSpPr/>
          <p:nvPr/>
        </p:nvSpPr>
        <p:spPr>
          <a:xfrm>
            <a:off x="4350410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history records the assignment, the first note, and the budget.</a:t>
            </a:r>
            <a:endParaRPr lang="en-US" sz="1800"/>
          </a:p>
        </p:txBody>
      </p:sp>
      <p:sp>
        <p:nvSpPr>
          <p:cNvPr id="19" name="p17_tb"/>
          <p:cNvSpPr/>
          <p:nvPr/>
        </p:nvSpPr>
        <p:spPr>
          <a:xfrm>
            <a:off x="6094729" y="1416710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0" name="p17_tb_t"/>
          <p:cNvSpPr/>
          <p:nvPr/>
        </p:nvSpPr>
        <p:spPr>
          <a:xfrm>
            <a:off x="6082537" y="141671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7</a:t>
            </a:r>
          </a:p>
        </p:txBody>
      </p:sp>
      <p:sp>
        <p:nvSpPr>
          <p:cNvPr id="21" name="Shape 17"/>
          <p:cNvSpPr/>
          <p:nvPr/>
        </p:nvSpPr>
        <p:spPr>
          <a:xfrm>
            <a:off x="7919009" y="3159252"/>
            <a:ext cx="219456" cy="347472"/>
          </a:xfrm>
          <a:prstGeom prst="chevron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899841" y="1385316"/>
            <a:ext cx="2123571" cy="3895344"/>
          </a:xfrm>
          <a:prstGeom prst="roundRect">
            <a:avLst>
              <a:gd name="adj" fmla="val 3445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3" name="Image 2" descr="C:/NogorShomadhan/User Manual/Phase 4/Final/9-inprgressdetails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0133" y="1435608"/>
            <a:ext cx="2022987" cy="3794760"/>
          </a:xfrm>
          <a:prstGeom prst="rect">
            <a:avLst/>
          </a:prstGeom>
        </p:spPr>
      </p:pic>
      <p:sp>
        <p:nvSpPr>
          <p:cNvPr id="24" name="p17_cc"/>
          <p:cNvSpPr/>
          <p:nvPr/>
        </p:nvSpPr>
        <p:spPr>
          <a:xfrm>
            <a:off x="7819949" y="5230368"/>
            <a:ext cx="4082186" cy="8961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800">
                <a:solidFill>
                  <a:srgbClr val="344054"/>
                </a:solidFill>
                <a:latin typeface="Calibri"/>
                <a:ea typeface="Calibri"/>
                <a:cs typeface="Calibri"/>
              </a:rPr>
              <a:t>The progress panel confirms the complaint is now In Progress</a:t>
            </a:r>
            <a:r>
              <a:rPr lang="en-US">
                <a:solidFill>
                  <a:srgbClr val="344054"/>
                </a:solidFill>
                <a:latin typeface="Calibri"/>
                <a:ea typeface="Calibri"/>
                <a:cs typeface="Calibri"/>
              </a:rPr>
              <a:t> and authority can change amount, deadline, contractor later if needed.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25" name="p17_tc"/>
          <p:cNvSpPr/>
          <p:nvPr/>
        </p:nvSpPr>
        <p:spPr>
          <a:xfrm>
            <a:off x="10768142" y="1806854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6" name="p17_tc_t"/>
          <p:cNvSpPr/>
          <p:nvPr/>
        </p:nvSpPr>
        <p:spPr>
          <a:xfrm>
            <a:off x="10749854" y="1806854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8</a:t>
            </a:r>
          </a:p>
        </p:txBody>
      </p:sp>
      <p:sp>
        <p:nvSpPr>
          <p:cNvPr id="27" name="Shape 22"/>
          <p:cNvSpPr/>
          <p:nvPr/>
        </p:nvSpPr>
        <p:spPr>
          <a:xfrm>
            <a:off x="5473507" y="2169894"/>
            <a:ext cx="373404" cy="62614"/>
          </a:xfrm>
          <a:prstGeom prst="roundRect">
            <a:avLst>
              <a:gd name="adj" fmla="val 73019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516293" y="3266580"/>
            <a:ext cx="322839" cy="62614"/>
          </a:xfrm>
          <a:prstGeom prst="roundRect">
            <a:avLst>
              <a:gd name="adj" fmla="val 73019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566858" y="4663051"/>
            <a:ext cx="412301" cy="62614"/>
          </a:xfrm>
          <a:prstGeom prst="roundRect">
            <a:avLst>
              <a:gd name="adj" fmla="val 73019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411374" y="1718318"/>
            <a:ext cx="424827" cy="70203"/>
          </a:xfrm>
          <a:prstGeom prst="roundRect">
            <a:avLst>
              <a:gd name="adj" fmla="val 65125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1" name="h17_a1"/>
          <p:cNvSpPr/>
          <p:nvPr/>
        </p:nvSpPr>
        <p:spPr>
          <a:xfrm>
            <a:off x="1397689" y="1887184"/>
            <a:ext cx="563996" cy="136611"/>
          </a:xfrm>
          <a:prstGeom prst="roundRect">
            <a:avLst>
              <a:gd name="adj" fmla="val 40161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2" name="h17_a2"/>
          <p:cNvSpPr/>
          <p:nvPr/>
        </p:nvSpPr>
        <p:spPr>
          <a:xfrm>
            <a:off x="1323786" y="2463988"/>
            <a:ext cx="1808677" cy="440192"/>
          </a:xfrm>
          <a:prstGeom prst="roundRect">
            <a:avLst>
              <a:gd name="adj" fmla="val 12464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3" name="h17_b1"/>
          <p:cNvSpPr/>
          <p:nvPr/>
        </p:nvSpPr>
        <p:spPr>
          <a:xfrm>
            <a:off x="5189564" y="1739189"/>
            <a:ext cx="1808677" cy="1252271"/>
          </a:xfrm>
          <a:prstGeom prst="roundRect">
            <a:avLst>
              <a:gd name="adj" fmla="val 4381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4" name="h17_b2"/>
          <p:cNvSpPr/>
          <p:nvPr/>
        </p:nvSpPr>
        <p:spPr>
          <a:xfrm>
            <a:off x="5189564" y="3469599"/>
            <a:ext cx="1808677" cy="591983"/>
          </a:xfrm>
          <a:prstGeom prst="roundRect">
            <a:avLst>
              <a:gd name="adj" fmla="val 9268"/>
            </a:avLst>
          </a:prstGeom>
          <a:ln w="28575">
            <a:solidFill>
              <a:srgbClr val="B4480A"/>
            </a:solidFill>
            <a:prstDash val="solid"/>
          </a:ln>
        </p:spPr>
      </p:sp>
      <p:sp>
        <p:nvSpPr>
          <p:cNvPr id="35" name="h17_c1"/>
          <p:cNvSpPr/>
          <p:nvPr/>
        </p:nvSpPr>
        <p:spPr>
          <a:xfrm>
            <a:off x="8982014" y="2096232"/>
            <a:ext cx="1940936" cy="3121914"/>
          </a:xfrm>
          <a:prstGeom prst="rect">
            <a:avLst/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7" name="Text 32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8" name="Text 33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4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237A57"/>
          </a:solidFill>
          <a:ln>
            <a:solidFill>
              <a:srgbClr val="237A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8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59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31458" y="3799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AUTHORITY STARTS THE WORK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21541" y="590585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See the Progress Update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CFE3F4"/>
          </a:solidFill>
          <a:ln/>
        </p:spPr>
      </p:sp>
      <p:sp>
        <p:nvSpPr>
          <p:cNvPr id="10" name="Shape 8"/>
          <p:cNvSpPr/>
          <p:nvPr/>
        </p:nvSpPr>
        <p:spPr>
          <a:xfrm>
            <a:off x="696700" y="1463040"/>
            <a:ext cx="2291486" cy="347472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700" y="1463040"/>
            <a:ext cx="22914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REPORTER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361188" y="1833372"/>
            <a:ext cx="2962510" cy="3255264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3" name="Image 0" descr="C:/NogorShomadhan/User Manual/Phase 4/Final/10-resident-notificati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83664"/>
            <a:ext cx="2861926" cy="3154680"/>
          </a:xfrm>
          <a:prstGeom prst="rect">
            <a:avLst/>
          </a:prstGeom>
        </p:spPr>
      </p:pic>
      <p:sp>
        <p:nvSpPr>
          <p:cNvPr id="14" name="p18_ca"/>
          <p:cNvSpPr/>
          <p:nvPr/>
        </p:nvSpPr>
        <p:spPr>
          <a:xfrm>
            <a:off x="320040" y="5294376"/>
            <a:ext cx="304480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who reported the issue is notified that work has started.</a:t>
            </a:r>
            <a:endParaRPr lang="en-US" sz="1800"/>
          </a:p>
        </p:txBody>
      </p:sp>
      <p:sp>
        <p:nvSpPr>
          <p:cNvPr id="15" name="p18_ta"/>
          <p:cNvSpPr/>
          <p:nvPr/>
        </p:nvSpPr>
        <p:spPr>
          <a:xfrm>
            <a:off x="2875035" y="3906393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6" name="p18_ta_t"/>
          <p:cNvSpPr/>
          <p:nvPr/>
        </p:nvSpPr>
        <p:spPr>
          <a:xfrm>
            <a:off x="2875035" y="3894201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9</a:t>
            </a:r>
          </a:p>
        </p:txBody>
      </p:sp>
      <p:sp>
        <p:nvSpPr>
          <p:cNvPr id="17" name="Shape 14"/>
          <p:cNvSpPr/>
          <p:nvPr/>
        </p:nvSpPr>
        <p:spPr>
          <a:xfrm>
            <a:off x="4443143" y="1463040"/>
            <a:ext cx="2399386" cy="347472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43143" y="1463040"/>
            <a:ext cx="23993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REPORTER</a:t>
            </a:r>
            <a:endParaRPr lang="en-US" sz="1400"/>
          </a:p>
        </p:txBody>
      </p:sp>
      <p:sp>
        <p:nvSpPr>
          <p:cNvPr id="19" name="Shape 16"/>
          <p:cNvSpPr/>
          <p:nvPr/>
        </p:nvSpPr>
        <p:spPr>
          <a:xfrm>
            <a:off x="3796584" y="1833372"/>
            <a:ext cx="3692503" cy="3255264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0" name="Image 1" descr="C:/NogorShomadhan/User Manual/Phase 4/Final/11-duplicate-notifoicatio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6876" y="1883664"/>
            <a:ext cx="3591919" cy="3154680"/>
          </a:xfrm>
          <a:prstGeom prst="rect">
            <a:avLst/>
          </a:prstGeom>
        </p:spPr>
      </p:pic>
      <p:sp>
        <p:nvSpPr>
          <p:cNvPr id="21" name="p18_cb"/>
          <p:cNvSpPr/>
          <p:nvPr/>
        </p:nvSpPr>
        <p:spPr>
          <a:xfrm>
            <a:off x="3755436" y="5294376"/>
            <a:ext cx="3774799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whose duplicate was linked receives the same update.</a:t>
            </a:r>
            <a:endParaRPr lang="en-US" sz="1800"/>
          </a:p>
        </p:txBody>
      </p:sp>
      <p:sp>
        <p:nvSpPr>
          <p:cNvPr id="22" name="p18_tb"/>
          <p:cNvSpPr/>
          <p:nvPr/>
        </p:nvSpPr>
        <p:spPr>
          <a:xfrm>
            <a:off x="3715905" y="1937385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3" name="p18_tb_t"/>
          <p:cNvSpPr/>
          <p:nvPr/>
        </p:nvSpPr>
        <p:spPr>
          <a:xfrm>
            <a:off x="3715905" y="1937385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600"/>
          </a:p>
        </p:txBody>
      </p:sp>
      <p:sp>
        <p:nvSpPr>
          <p:cNvPr id="24" name="Shape 20"/>
          <p:cNvSpPr/>
          <p:nvPr/>
        </p:nvSpPr>
        <p:spPr>
          <a:xfrm>
            <a:off x="8804447" y="1463040"/>
            <a:ext cx="2183587" cy="347472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804447" y="1463040"/>
            <a:ext cx="21835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COMPLAINTS</a:t>
            </a:r>
            <a:endParaRPr lang="en-US" sz="1400"/>
          </a:p>
        </p:txBody>
      </p:sp>
      <p:sp>
        <p:nvSpPr>
          <p:cNvPr id="26" name="Shape 22"/>
          <p:cNvSpPr/>
          <p:nvPr/>
        </p:nvSpPr>
        <p:spPr>
          <a:xfrm>
            <a:off x="7961973" y="1833372"/>
            <a:ext cx="3868534" cy="3255264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7" name="Image 2" descr="C:/NogorShomadhan/User Manual/Phase 4/Final/12-residentcanalsoseethework[prpgress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265" y="1883664"/>
            <a:ext cx="3767950" cy="3154680"/>
          </a:xfrm>
          <a:prstGeom prst="rect">
            <a:avLst/>
          </a:prstGeom>
        </p:spPr>
      </p:pic>
      <p:sp>
        <p:nvSpPr>
          <p:cNvPr id="28" name="p18_cc"/>
          <p:cNvSpPr/>
          <p:nvPr/>
        </p:nvSpPr>
        <p:spPr>
          <a:xfrm>
            <a:off x="7920825" y="5294376"/>
            <a:ext cx="395083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Complaints shows the complaint as In Progress.</a:t>
            </a:r>
            <a:endParaRPr lang="en-US" sz="1800"/>
          </a:p>
        </p:txBody>
      </p:sp>
      <p:sp>
        <p:nvSpPr>
          <p:cNvPr id="29" name="p18_tc"/>
          <p:cNvSpPr/>
          <p:nvPr/>
        </p:nvSpPr>
        <p:spPr>
          <a:xfrm>
            <a:off x="7889215" y="1937385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0" name="p18_tc_t"/>
          <p:cNvSpPr/>
          <p:nvPr/>
        </p:nvSpPr>
        <p:spPr>
          <a:xfrm>
            <a:off x="7889215" y="1937385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600"/>
          </a:p>
        </p:txBody>
      </p:sp>
      <p:sp>
        <p:nvSpPr>
          <p:cNvPr id="31" name="h18_a"/>
          <p:cNvSpPr/>
          <p:nvPr/>
        </p:nvSpPr>
        <p:spPr>
          <a:xfrm>
            <a:off x="520233" y="4274911"/>
            <a:ext cx="2644419" cy="738195"/>
          </a:xfrm>
          <a:prstGeom prst="roundRect">
            <a:avLst>
              <a:gd name="adj" fmla="val 7432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2" name="h18_b"/>
          <p:cNvSpPr/>
          <p:nvPr/>
        </p:nvSpPr>
        <p:spPr>
          <a:xfrm>
            <a:off x="3983369" y="4079321"/>
            <a:ext cx="3318933" cy="927476"/>
          </a:xfrm>
          <a:prstGeom prst="roundRect">
            <a:avLst>
              <a:gd name="adj" fmla="val 5915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3" name="h18_c1"/>
          <p:cNvSpPr/>
          <p:nvPr/>
        </p:nvSpPr>
        <p:spPr>
          <a:xfrm>
            <a:off x="10657366" y="3227558"/>
            <a:ext cx="859093" cy="214518"/>
          </a:xfrm>
          <a:prstGeom prst="roundRect">
            <a:avLst>
              <a:gd name="adj" fmla="val 25575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4" name="h18_c2"/>
          <p:cNvSpPr/>
          <p:nvPr/>
        </p:nvSpPr>
        <p:spPr>
          <a:xfrm>
            <a:off x="8147912" y="3101370"/>
            <a:ext cx="3496657" cy="1880189"/>
          </a:xfrm>
          <a:prstGeom prst="roundRect">
            <a:avLst>
              <a:gd name="adj" fmla="val 2918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6" name="Text 31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7" name="Text 32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8" name="Text 33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4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8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A6"/>
          </a:solidFill>
          <a:ln/>
        </p:spPr>
      </p:sp>
      <p:sp>
        <p:nvSpPr>
          <p:cNvPr id="5" name="Text 3"/>
          <p:cNvSpPr/>
          <p:nvPr/>
        </p:nvSpPr>
        <p:spPr>
          <a:xfrm>
            <a:off x="351778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·  COMMUNITY FORUM DISCUSSION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39996" y="590585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Starts a Forum Discussion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CFE3F4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370" y="1385316"/>
            <a:ext cx="2045399" cy="3895344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1" name="Image 0" descr="C:/NogorShomadhan/User Manual/Phase 5/New Final/1-resident-sees-theforu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662" y="1435608"/>
            <a:ext cx="1944815" cy="3794760"/>
          </a:xfrm>
          <a:prstGeom prst="rect">
            <a:avLst/>
          </a:prstGeom>
        </p:spPr>
      </p:pic>
      <p:sp>
        <p:nvSpPr>
          <p:cNvPr id="12" name="p19_ca"/>
          <p:cNvSpPr/>
          <p:nvPr/>
        </p:nvSpPr>
        <p:spPr>
          <a:xfrm>
            <a:off x="484632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Forum from the resident dashboard.</a:t>
            </a:r>
            <a:endParaRPr lang="en-US" sz="1800"/>
          </a:p>
        </p:txBody>
      </p:sp>
      <p:sp>
        <p:nvSpPr>
          <p:cNvPr id="13" name="p19_ta"/>
          <p:cNvSpPr/>
          <p:nvPr/>
        </p:nvSpPr>
        <p:spPr>
          <a:xfrm>
            <a:off x="1101191" y="1404518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4" name="p19_ta_t"/>
          <p:cNvSpPr/>
          <p:nvPr/>
        </p:nvSpPr>
        <p:spPr>
          <a:xfrm>
            <a:off x="1101191" y="140451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5" name="Shape 12"/>
          <p:cNvSpPr/>
          <p:nvPr/>
        </p:nvSpPr>
        <p:spPr>
          <a:xfrm>
            <a:off x="3871469" y="3159252"/>
            <a:ext cx="219456" cy="347472"/>
          </a:xfrm>
          <a:prstGeom prst="chevron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19295" y="1385316"/>
            <a:ext cx="2953105" cy="3895344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7" name="Image 1" descr="C:/NogorShomadhan/User Manual/Phase 5/New Final/2-resident-writes-discussio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587" y="1435608"/>
            <a:ext cx="2852521" cy="3794760"/>
          </a:xfrm>
          <a:prstGeom prst="rect">
            <a:avLst/>
          </a:prstGeom>
        </p:spPr>
      </p:pic>
      <p:sp>
        <p:nvSpPr>
          <p:cNvPr id="18" name="p19_cb"/>
          <p:cNvSpPr/>
          <p:nvPr/>
        </p:nvSpPr>
        <p:spPr>
          <a:xfrm>
            <a:off x="4350410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title, describe the issue, and post the discussion.</a:t>
            </a:r>
            <a:endParaRPr lang="en-US" sz="1800"/>
          </a:p>
        </p:txBody>
      </p:sp>
      <p:sp>
        <p:nvSpPr>
          <p:cNvPr id="19" name="p19_tb"/>
          <p:cNvSpPr/>
          <p:nvPr/>
        </p:nvSpPr>
        <p:spPr>
          <a:xfrm>
            <a:off x="4576656" y="1404518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0" name="p19_tb_t"/>
          <p:cNvSpPr/>
          <p:nvPr/>
        </p:nvSpPr>
        <p:spPr>
          <a:xfrm>
            <a:off x="4576656" y="140451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21" name="Shape 17"/>
          <p:cNvSpPr/>
          <p:nvPr/>
        </p:nvSpPr>
        <p:spPr>
          <a:xfrm>
            <a:off x="7919009" y="3159252"/>
            <a:ext cx="219456" cy="347472"/>
          </a:xfrm>
          <a:prstGeom prst="chevron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495699" y="1385316"/>
            <a:ext cx="2931854" cy="3895344"/>
          </a:xfrm>
          <a:prstGeom prst="roundRect">
            <a:avLst>
              <a:gd name="adj" fmla="val 2495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3" name="Image 2" descr="C:/NogorShomadhan/User Manual/Phase 5/New Final/3-resident-confirms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5991" y="1435608"/>
            <a:ext cx="2831270" cy="3794760"/>
          </a:xfrm>
          <a:prstGeom prst="rect">
            <a:avLst/>
          </a:prstGeom>
        </p:spPr>
      </p:pic>
      <p:sp>
        <p:nvSpPr>
          <p:cNvPr id="24" name="p19_cc"/>
          <p:cNvSpPr/>
          <p:nvPr/>
        </p:nvSpPr>
        <p:spPr>
          <a:xfrm>
            <a:off x="8216189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prompt to publish the post to the community.</a:t>
            </a:r>
            <a:endParaRPr lang="en-US" sz="1800"/>
          </a:p>
        </p:txBody>
      </p:sp>
      <p:sp>
        <p:nvSpPr>
          <p:cNvPr id="25" name="p19_tc"/>
          <p:cNvSpPr/>
          <p:nvPr/>
        </p:nvSpPr>
        <p:spPr>
          <a:xfrm>
            <a:off x="8451572" y="1404518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6" name="p19_tc_t"/>
          <p:cNvSpPr/>
          <p:nvPr/>
        </p:nvSpPr>
        <p:spPr>
          <a:xfrm>
            <a:off x="8451572" y="140451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27" name="h19_a1"/>
          <p:cNvSpPr/>
          <p:nvPr/>
        </p:nvSpPr>
        <p:spPr>
          <a:xfrm>
            <a:off x="2829072" y="5006477"/>
            <a:ext cx="237267" cy="197328"/>
          </a:xfrm>
          <a:prstGeom prst="roundRect">
            <a:avLst>
              <a:gd name="adj" fmla="val 27803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29" name="h19_b1"/>
          <p:cNvSpPr/>
          <p:nvPr/>
        </p:nvSpPr>
        <p:spPr>
          <a:xfrm>
            <a:off x="4874969" y="3462010"/>
            <a:ext cx="2441758" cy="280812"/>
          </a:xfrm>
          <a:prstGeom prst="roundRect">
            <a:avLst>
              <a:gd name="adj" fmla="val 19538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0" name="h19_b2"/>
          <p:cNvSpPr/>
          <p:nvPr/>
        </p:nvSpPr>
        <p:spPr>
          <a:xfrm>
            <a:off x="4874969" y="3792154"/>
            <a:ext cx="2441758" cy="614751"/>
          </a:xfrm>
          <a:prstGeom prst="roundRect">
            <a:avLst>
              <a:gd name="adj" fmla="val 8925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1" name="h19_b3"/>
          <p:cNvSpPr/>
          <p:nvPr/>
        </p:nvSpPr>
        <p:spPr>
          <a:xfrm>
            <a:off x="4874969" y="4456237"/>
            <a:ext cx="2441758" cy="280812"/>
          </a:xfrm>
          <a:prstGeom prst="roundRect">
            <a:avLst>
              <a:gd name="adj" fmla="val 19538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2" name="h19_c1"/>
          <p:cNvSpPr/>
          <p:nvPr/>
        </p:nvSpPr>
        <p:spPr>
          <a:xfrm>
            <a:off x="8826287" y="3249503"/>
            <a:ext cx="2270679" cy="1738000"/>
          </a:xfrm>
          <a:prstGeom prst="roundRect">
            <a:avLst>
              <a:gd name="adj" fmla="val 3157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3" name="h19_c2"/>
          <p:cNvSpPr/>
          <p:nvPr/>
        </p:nvSpPr>
        <p:spPr>
          <a:xfrm>
            <a:off x="9995601" y="4520748"/>
            <a:ext cx="945644" cy="258044"/>
          </a:xfrm>
          <a:prstGeom prst="roundRect">
            <a:avLst>
              <a:gd name="adj" fmla="val 21261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5" name="Text 30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6" name="Text 31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7" name="Text 32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8" name="Text 33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4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5132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·  COMMUNITY FORUM DISCUSSION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284070" y="590585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Is Notified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580522" y="475488"/>
            <a:ext cx="1199693" cy="420624"/>
          </a:xfrm>
          <a:prstGeom prst="roundRect">
            <a:avLst>
              <a:gd name="adj" fmla="val 50000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80522" y="475488"/>
            <a:ext cx="119969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629546" y="475488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29546" y="475488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8382305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82305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4" name="Shape 12"/>
          <p:cNvSpPr/>
          <p:nvPr/>
        </p:nvSpPr>
        <p:spPr>
          <a:xfrm>
            <a:off x="1569872" y="1591056"/>
            <a:ext cx="1320394" cy="347472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69872" y="1591056"/>
            <a:ext cx="13203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37150" y="1961388"/>
            <a:ext cx="3585838" cy="3026664"/>
          </a:xfrm>
          <a:prstGeom prst="roundRect">
            <a:avLst>
              <a:gd name="adj" fmla="val 2417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7" name="Image 0" descr="C:/NogorShomadhan/User Manual/Phase 5/New Final/4-other-residents-getnotificati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42" y="2011680"/>
            <a:ext cx="3485254" cy="2926080"/>
          </a:xfrm>
          <a:prstGeom prst="rect">
            <a:avLst/>
          </a:prstGeom>
        </p:spPr>
      </p:pic>
      <p:sp>
        <p:nvSpPr>
          <p:cNvPr id="18" name="p20_ca"/>
          <p:cNvSpPr/>
          <p:nvPr/>
        </p:nvSpPr>
        <p:spPr>
          <a:xfrm>
            <a:off x="484632" y="5175504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residents are notified that a new discussion was posted.</a:t>
            </a:r>
            <a:endParaRPr lang="en-US" sz="1800"/>
          </a:p>
        </p:txBody>
      </p:sp>
      <p:sp>
        <p:nvSpPr>
          <p:cNvPr id="19" name="p20_ta"/>
          <p:cNvSpPr/>
          <p:nvPr/>
        </p:nvSpPr>
        <p:spPr>
          <a:xfrm>
            <a:off x="2594137" y="3660038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0" name="p20_ta_t"/>
          <p:cNvSpPr/>
          <p:nvPr/>
        </p:nvSpPr>
        <p:spPr>
          <a:xfrm>
            <a:off x="2594137" y="366003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21" name="h20_a"/>
          <p:cNvSpPr/>
          <p:nvPr/>
        </p:nvSpPr>
        <p:spPr>
          <a:xfrm>
            <a:off x="619882" y="4141866"/>
            <a:ext cx="3220375" cy="772485"/>
          </a:xfrm>
          <a:prstGeom prst="roundRect">
            <a:avLst>
              <a:gd name="adj" fmla="val 7102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97500" y="1591056"/>
            <a:ext cx="996696" cy="347472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97500" y="1591056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/>
          </a:p>
        </p:txBody>
      </p:sp>
      <p:sp>
        <p:nvSpPr>
          <p:cNvPr id="24" name="Shape 21"/>
          <p:cNvSpPr/>
          <p:nvPr/>
        </p:nvSpPr>
        <p:spPr>
          <a:xfrm>
            <a:off x="4291517" y="1961388"/>
            <a:ext cx="3608661" cy="3026664"/>
          </a:xfrm>
          <a:prstGeom prst="roundRect">
            <a:avLst>
              <a:gd name="adj" fmla="val 2417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5" name="Image 1" descr="C:/NogorShomadhan/User Manual/Phase 5/New Final/5-admin-gets-notificatio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809" y="2011680"/>
            <a:ext cx="3508077" cy="2926080"/>
          </a:xfrm>
          <a:prstGeom prst="rect">
            <a:avLst/>
          </a:prstGeom>
        </p:spPr>
      </p:pic>
      <p:sp>
        <p:nvSpPr>
          <p:cNvPr id="26" name="p20_cb"/>
          <p:cNvSpPr/>
          <p:nvPr/>
        </p:nvSpPr>
        <p:spPr>
          <a:xfrm>
            <a:off x="4350410" y="5175504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inbox receives the same discussion notification.</a:t>
            </a:r>
            <a:endParaRPr lang="en-US" sz="1800"/>
          </a:p>
        </p:txBody>
      </p:sp>
      <p:sp>
        <p:nvSpPr>
          <p:cNvPr id="27" name="p20_tb"/>
          <p:cNvSpPr/>
          <p:nvPr/>
        </p:nvSpPr>
        <p:spPr>
          <a:xfrm>
            <a:off x="6211901" y="3660038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8" name="p20_tb_t"/>
          <p:cNvSpPr/>
          <p:nvPr/>
        </p:nvSpPr>
        <p:spPr>
          <a:xfrm>
            <a:off x="6211901" y="366003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/>
          </a:p>
        </p:txBody>
      </p:sp>
      <p:sp>
        <p:nvSpPr>
          <p:cNvPr id="29" name="h20_b"/>
          <p:cNvSpPr/>
          <p:nvPr/>
        </p:nvSpPr>
        <p:spPr>
          <a:xfrm>
            <a:off x="4475116" y="4141866"/>
            <a:ext cx="3241463" cy="772485"/>
          </a:xfrm>
          <a:prstGeom prst="roundRect">
            <a:avLst>
              <a:gd name="adj" fmla="val 7102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707984" y="1591056"/>
            <a:ext cx="2507285" cy="347472"/>
          </a:xfrm>
          <a:prstGeom prst="roundRect">
            <a:avLst>
              <a:gd name="adj" fmla="val 50000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707984" y="1591056"/>
            <a:ext cx="25072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AUTHORITY</a:t>
            </a:r>
            <a:endParaRPr lang="en-US" sz="1400"/>
          </a:p>
        </p:txBody>
      </p:sp>
      <p:sp>
        <p:nvSpPr>
          <p:cNvPr id="32" name="Shape 28"/>
          <p:cNvSpPr/>
          <p:nvPr/>
        </p:nvSpPr>
        <p:spPr>
          <a:xfrm>
            <a:off x="8168707" y="1961388"/>
            <a:ext cx="3585838" cy="3026664"/>
          </a:xfrm>
          <a:prstGeom prst="roundRect">
            <a:avLst>
              <a:gd name="adj" fmla="val 2417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33" name="Image 2" descr="C:/NogorShomadhan/User Manual/Phase 5/New Final/5-community-authority-gets-notififcation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999" y="2011680"/>
            <a:ext cx="3485254" cy="2926080"/>
          </a:xfrm>
          <a:prstGeom prst="rect">
            <a:avLst/>
          </a:prstGeom>
        </p:spPr>
      </p:pic>
      <p:sp>
        <p:nvSpPr>
          <p:cNvPr id="34" name="p20_cc"/>
          <p:cNvSpPr/>
          <p:nvPr/>
        </p:nvSpPr>
        <p:spPr>
          <a:xfrm>
            <a:off x="8216189" y="5175504"/>
            <a:ext cx="3490874" cy="8961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800">
                <a:solidFill>
                  <a:srgbClr val="344054"/>
                </a:solidFill>
                <a:latin typeface="Calibri"/>
                <a:ea typeface="Calibri"/>
                <a:cs typeface="Calibri"/>
              </a:rPr>
              <a:t>The community authority </a:t>
            </a:r>
            <a:r>
              <a:rPr lang="en-US">
                <a:solidFill>
                  <a:srgbClr val="344054"/>
                </a:solidFill>
                <a:latin typeface="Calibri"/>
                <a:ea typeface="Calibri"/>
                <a:cs typeface="Calibri"/>
              </a:rPr>
              <a:t>receives the same discussion notification.</a:t>
            </a:r>
            <a:endParaRPr lang="en-US" sz="1800">
              <a:solidFill>
                <a:srgbClr val="34405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p20_tc"/>
          <p:cNvSpPr/>
          <p:nvPr/>
        </p:nvSpPr>
        <p:spPr>
          <a:xfrm>
            <a:off x="10142814" y="3660038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6" name="p20_tc_t"/>
          <p:cNvSpPr/>
          <p:nvPr/>
        </p:nvSpPr>
        <p:spPr>
          <a:xfrm>
            <a:off x="10130622" y="366003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6</a:t>
            </a:r>
          </a:p>
        </p:txBody>
      </p:sp>
      <p:sp>
        <p:nvSpPr>
          <p:cNvPr id="37" name="h20_c"/>
          <p:cNvSpPr/>
          <p:nvPr/>
        </p:nvSpPr>
        <p:spPr>
          <a:xfrm>
            <a:off x="8351439" y="4141866"/>
            <a:ext cx="3220375" cy="772485"/>
          </a:xfrm>
          <a:prstGeom prst="roundRect">
            <a:avLst>
              <a:gd name="adj" fmla="val 7102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9" name="Text 34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8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59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5" name="Text 60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6" name="Text 61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5772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·  COMMUNITY FORUM DISCUSSION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233270" y="590585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Post and Discuss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333281" y="475488"/>
            <a:ext cx="1199693" cy="420624"/>
          </a:xfrm>
          <a:prstGeom prst="roundRect">
            <a:avLst>
              <a:gd name="adj" fmla="val 50000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33281" y="475488"/>
            <a:ext cx="119969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463040"/>
            <a:ext cx="3035808" cy="347472"/>
          </a:xfrm>
          <a:prstGeom prst="roundRect">
            <a:avLst>
              <a:gd name="adj" fmla="val 50000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6304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OPENS THE POST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452628" y="1833372"/>
            <a:ext cx="4032504" cy="3386219"/>
          </a:xfrm>
          <a:prstGeom prst="roundRect">
            <a:avLst>
              <a:gd name="adj" fmla="val 2160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5" name="Image 0" descr="C:/NogorShomadhan/User Manual/Phase 5/New Final/6-they-navigate-to-this-notification-through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3664"/>
            <a:ext cx="3931920" cy="3285635"/>
          </a:xfrm>
          <a:prstGeom prst="rect">
            <a:avLst/>
          </a:prstGeom>
        </p:spPr>
      </p:pic>
      <p:sp>
        <p:nvSpPr>
          <p:cNvPr id="16" name="p21_ca"/>
          <p:cNvSpPr/>
          <p:nvPr/>
        </p:nvSpPr>
        <p:spPr>
          <a:xfrm>
            <a:off x="411480" y="5388755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notification opens the discussion directly, ready to reply.</a:t>
            </a:r>
            <a:endParaRPr lang="en-US" sz="1800"/>
          </a:p>
        </p:txBody>
      </p:sp>
      <p:sp>
        <p:nvSpPr>
          <p:cNvPr id="17" name="p21_ta"/>
          <p:cNvSpPr/>
          <p:nvPr/>
        </p:nvSpPr>
        <p:spPr>
          <a:xfrm>
            <a:off x="2662428" y="2193423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8" name="p21_ta_t"/>
          <p:cNvSpPr/>
          <p:nvPr/>
        </p:nvSpPr>
        <p:spPr>
          <a:xfrm>
            <a:off x="2662428" y="2193423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7</a:t>
            </a:r>
          </a:p>
        </p:txBody>
      </p:sp>
      <p:sp>
        <p:nvSpPr>
          <p:cNvPr id="19" name="h21_a"/>
          <p:cNvSpPr/>
          <p:nvPr/>
        </p:nvSpPr>
        <p:spPr>
          <a:xfrm>
            <a:off x="801746" y="4571314"/>
            <a:ext cx="2925348" cy="374562"/>
          </a:xfrm>
          <a:prstGeom prst="roundRect">
            <a:avLst>
              <a:gd name="adj" fmla="val 14648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31536" y="1463040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31536" y="14630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400"/>
          </a:p>
        </p:txBody>
      </p:sp>
      <p:sp>
        <p:nvSpPr>
          <p:cNvPr id="22" name="Shape 19"/>
          <p:cNvSpPr/>
          <p:nvPr/>
        </p:nvSpPr>
        <p:spPr>
          <a:xfrm>
            <a:off x="4917472" y="1833372"/>
            <a:ext cx="2326576" cy="4443984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3" name="Image 1" descr="C:/NogorShomadhan/User Manual/Phase 5/New Final/7-everyone-comments-repli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764" y="1883664"/>
            <a:ext cx="2225992" cy="4343400"/>
          </a:xfrm>
          <a:prstGeom prst="rect">
            <a:avLst/>
          </a:prstGeom>
        </p:spPr>
      </p:pic>
      <p:sp>
        <p:nvSpPr>
          <p:cNvPr id="24" name="p21_tb"/>
          <p:cNvSpPr/>
          <p:nvPr/>
        </p:nvSpPr>
        <p:spPr>
          <a:xfrm>
            <a:off x="6562239" y="3158947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5" name="p21_tb_t"/>
          <p:cNvSpPr/>
          <p:nvPr/>
        </p:nvSpPr>
        <p:spPr>
          <a:xfrm>
            <a:off x="6562239" y="3158947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8</a:t>
            </a:r>
          </a:p>
        </p:txBody>
      </p:sp>
      <p:sp>
        <p:nvSpPr>
          <p:cNvPr id="26" name="h21_b1"/>
          <p:cNvSpPr/>
          <p:nvPr/>
        </p:nvSpPr>
        <p:spPr>
          <a:xfrm>
            <a:off x="5123583" y="3195371"/>
            <a:ext cx="556498" cy="147676"/>
          </a:xfrm>
          <a:prstGeom prst="roundRect">
            <a:avLst>
              <a:gd name="adj" fmla="val 37152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27" name="h21_b2"/>
          <p:cNvSpPr/>
          <p:nvPr/>
        </p:nvSpPr>
        <p:spPr>
          <a:xfrm>
            <a:off x="5230431" y="3786073"/>
            <a:ext cx="1803054" cy="503834"/>
          </a:xfrm>
          <a:prstGeom prst="roundRect">
            <a:avLst>
              <a:gd name="adj" fmla="val 10889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28" name="h21_b3"/>
          <p:cNvSpPr/>
          <p:nvPr/>
        </p:nvSpPr>
        <p:spPr>
          <a:xfrm>
            <a:off x="5123583" y="4819802"/>
            <a:ext cx="1905450" cy="1025042"/>
          </a:xfrm>
          <a:prstGeom prst="roundRect">
            <a:avLst>
              <a:gd name="adj" fmla="val 5352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726680" y="1883664"/>
            <a:ext cx="4053535" cy="4343400"/>
          </a:xfrm>
          <a:prstGeom prst="roundRect">
            <a:avLst>
              <a:gd name="adj" fmla="val 270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7982712" y="2066544"/>
            <a:ext cx="354147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3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REPLIES IN ONE THREAD</a:t>
            </a:r>
            <a:endParaRPr lang="en-US" sz="1300"/>
          </a:p>
        </p:txBody>
      </p:sp>
      <p:sp>
        <p:nvSpPr>
          <p:cNvPr id="31" name="p21_cc"/>
          <p:cNvSpPr/>
          <p:nvPr/>
        </p:nvSpPr>
        <p:spPr>
          <a:xfrm>
            <a:off x="7982712" y="2377440"/>
            <a:ext cx="3541471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Residents, the admin, and the community authority all answer in the same discussion. Official replies are badged so residents can tell them apart.</a:t>
            </a:r>
            <a:endParaRPr lang="en-US" sz="1800"/>
          </a:p>
        </p:txBody>
      </p:sp>
      <p:sp>
        <p:nvSpPr>
          <p:cNvPr id="32" name="Text 28"/>
          <p:cNvSpPr/>
          <p:nvPr/>
        </p:nvSpPr>
        <p:spPr>
          <a:xfrm>
            <a:off x="7982712" y="3913632"/>
            <a:ext cx="354147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3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TOOK PART</a:t>
            </a:r>
            <a:endParaRPr lang="en-US" sz="1300"/>
          </a:p>
        </p:txBody>
      </p:sp>
      <p:sp>
        <p:nvSpPr>
          <p:cNvPr id="33" name="Shape 29"/>
          <p:cNvSpPr/>
          <p:nvPr/>
        </p:nvSpPr>
        <p:spPr>
          <a:xfrm>
            <a:off x="7982712" y="4270248"/>
            <a:ext cx="146304" cy="146304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238744" y="4206240"/>
            <a:ext cx="32854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— follow-up questions</a:t>
            </a:r>
            <a:endParaRPr lang="en-US" sz="1700"/>
          </a:p>
        </p:txBody>
      </p:sp>
      <p:sp>
        <p:nvSpPr>
          <p:cNvPr id="35" name="Shape 31"/>
          <p:cNvSpPr/>
          <p:nvPr/>
        </p:nvSpPr>
        <p:spPr>
          <a:xfrm>
            <a:off x="7982712" y="4654296"/>
            <a:ext cx="146304" cy="146304"/>
          </a:xfrm>
          <a:prstGeom prst="ellipse">
            <a:avLst/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238744" y="4590288"/>
            <a:ext cx="32854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progress replies</a:t>
            </a:r>
            <a:endParaRPr lang="en-US" sz="1700"/>
          </a:p>
        </p:txBody>
      </p:sp>
      <p:sp>
        <p:nvSpPr>
          <p:cNvPr id="37" name="Shape 33"/>
          <p:cNvSpPr/>
          <p:nvPr/>
        </p:nvSpPr>
        <p:spPr>
          <a:xfrm>
            <a:off x="7982712" y="5038344"/>
            <a:ext cx="146304" cy="146304"/>
          </a:xfrm>
          <a:prstGeom prst="ellipse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238744" y="4974336"/>
            <a:ext cx="32854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— work updates</a:t>
            </a:r>
            <a:endParaRPr lang="en-US" sz="1700"/>
          </a:p>
        </p:txBody>
      </p:sp>
      <p:sp>
        <p:nvSpPr>
          <p:cNvPr id="39" name="p21_cd"/>
          <p:cNvSpPr/>
          <p:nvPr/>
        </p:nvSpPr>
        <p:spPr>
          <a:xfrm>
            <a:off x="7982712" y="5468112"/>
            <a:ext cx="3541471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comment is sent to the other participants as a notification.</a:t>
            </a:r>
            <a:endParaRPr lang="en-US" sz="1700"/>
          </a:p>
        </p:txBody>
      </p:sp>
      <p:sp>
        <p:nvSpPr>
          <p:cNvPr id="40" name="Text 36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41" name="Text 37">
            <a:hlinkClick r:id="rId5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8">
            <a:hlinkClick r:id="rId6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9">
            <a:hlinkClick r:id="rId7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40">
            <a:hlinkClick r:id="rId8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1">
            <a:hlinkClick r:id="rId9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2">
            <a:hlinkClick r:id="rId10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3">
            <a:hlinkClick r:id="rId11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4">
            <a:hlinkClick r:id="rId12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5">
            <a:hlinkClick r:id="rId13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6">
            <a:hlinkClick r:id="rId14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7">
            <a:hlinkClick r:id="rId15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8">
            <a:hlinkClick r:id="rId16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9">
            <a:hlinkClick r:id="rId17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50">
            <a:hlinkClick r:id="rId18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1">
            <a:hlinkClick r:id="rId19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2">
            <a:hlinkClick r:id="rId20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3">
            <a:hlinkClick r:id="rId21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4">
            <a:hlinkClick r:id="rId22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5">
            <a:hlinkClick r:id="rId23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6">
            <a:hlinkClick r:id="rId24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7">
            <a:hlinkClick r:id="rId25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8">
            <a:hlinkClick r:id="rId26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9">
            <a:hlinkClick r:id="rId27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60">
            <a:hlinkClick r:id="rId28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5" name="Text 61">
            <a:hlinkClick r:id="rId29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6" name="Text 62">
            <a:hlinkClick r:id="rId30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7" name="Text 63">
            <a:hlinkClick r:id="rId31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8" name="Text 64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87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 ·  RESOLUTION AND RESIDENT FEEDBACK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284070" y="590585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Updates the Work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333281" y="475488"/>
            <a:ext cx="1199693" cy="420624"/>
          </a:xfrm>
          <a:prstGeom prst="roundRect">
            <a:avLst>
              <a:gd name="adj" fmla="val 50000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33281" y="475488"/>
            <a:ext cx="119969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3442" y="1385316"/>
            <a:ext cx="2033255" cy="3895344"/>
          </a:xfrm>
          <a:prstGeom prst="roundRect">
            <a:avLst>
              <a:gd name="adj" fmla="val 3598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3" name="Image 0" descr="C:/NogorShomadhan/User Manual/Phase 6/Final/1-authoritychangesthecontractortosolvetheisssu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34" y="1435608"/>
            <a:ext cx="1932671" cy="3794760"/>
          </a:xfrm>
          <a:prstGeom prst="rect">
            <a:avLst/>
          </a:prstGeom>
        </p:spPr>
      </p:pic>
      <p:sp>
        <p:nvSpPr>
          <p:cNvPr id="14" name="p22_ca"/>
          <p:cNvSpPr/>
          <p:nvPr/>
        </p:nvSpPr>
        <p:spPr>
          <a:xfrm>
            <a:off x="484632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Record Progress to change the amount, deadline, or contractor.</a:t>
            </a:r>
            <a:endParaRPr lang="en-US" sz="1800"/>
          </a:p>
        </p:txBody>
      </p:sp>
      <p:sp>
        <p:nvSpPr>
          <p:cNvPr id="15" name="p22_ta"/>
          <p:cNvSpPr/>
          <p:nvPr/>
        </p:nvSpPr>
        <p:spPr>
          <a:xfrm>
            <a:off x="2904733" y="2849270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6" name="p22_ta_t"/>
          <p:cNvSpPr/>
          <p:nvPr/>
        </p:nvSpPr>
        <p:spPr>
          <a:xfrm>
            <a:off x="2904733" y="284927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7" name="Shape 14"/>
          <p:cNvSpPr/>
          <p:nvPr/>
        </p:nvSpPr>
        <p:spPr>
          <a:xfrm>
            <a:off x="4053230" y="3159252"/>
            <a:ext cx="219456" cy="347472"/>
          </a:xfrm>
          <a:prstGeom prst="chevron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3656" y="1385316"/>
            <a:ext cx="2404383" cy="3895344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9" name="Image 1" descr="C:/NogorShomadhan/User Manual/Phase 6/Final/2-theupdateshow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948" y="1435608"/>
            <a:ext cx="2303799" cy="3794760"/>
          </a:xfrm>
          <a:prstGeom prst="rect">
            <a:avLst/>
          </a:prstGeom>
        </p:spPr>
      </p:pic>
      <p:sp>
        <p:nvSpPr>
          <p:cNvPr id="20" name="p22_cb"/>
          <p:cNvSpPr/>
          <p:nvPr/>
        </p:nvSpPr>
        <p:spPr>
          <a:xfrm>
            <a:off x="4350410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history records the contractor change and the new deadline.</a:t>
            </a:r>
            <a:endParaRPr lang="en-US" sz="1800"/>
          </a:p>
        </p:txBody>
      </p:sp>
      <p:sp>
        <p:nvSpPr>
          <p:cNvPr id="21" name="p22_tb"/>
          <p:cNvSpPr/>
          <p:nvPr/>
        </p:nvSpPr>
        <p:spPr>
          <a:xfrm>
            <a:off x="4526094" y="3788054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2" name="p22_tb_t"/>
          <p:cNvSpPr/>
          <p:nvPr/>
        </p:nvSpPr>
        <p:spPr>
          <a:xfrm>
            <a:off x="4526094" y="3788054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23" name="Shape 19"/>
          <p:cNvSpPr/>
          <p:nvPr/>
        </p:nvSpPr>
        <p:spPr>
          <a:xfrm>
            <a:off x="7660348" y="3159252"/>
            <a:ext cx="219456" cy="347472"/>
          </a:xfrm>
          <a:prstGeom prst="chevron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138465" y="2230701"/>
            <a:ext cx="3646322" cy="3049959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5" name="Image 2" descr="C:/NogorShomadhan/User Manual/Phase 6/Final/3-residengetsnotification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757" y="2280993"/>
            <a:ext cx="3545738" cy="2949375"/>
          </a:xfrm>
          <a:prstGeom prst="rect">
            <a:avLst/>
          </a:prstGeom>
        </p:spPr>
      </p:pic>
      <p:sp>
        <p:nvSpPr>
          <p:cNvPr id="26" name="p22_cc"/>
          <p:cNvSpPr/>
          <p:nvPr/>
        </p:nvSpPr>
        <p:spPr>
          <a:xfrm>
            <a:off x="8216189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is notified that the deadline and progress changed.</a:t>
            </a:r>
            <a:endParaRPr lang="en-US" sz="1800"/>
          </a:p>
        </p:txBody>
      </p:sp>
      <p:sp>
        <p:nvSpPr>
          <p:cNvPr id="27" name="p22_tc"/>
          <p:cNvSpPr/>
          <p:nvPr/>
        </p:nvSpPr>
        <p:spPr>
          <a:xfrm>
            <a:off x="10564462" y="4026600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8" name="p22_tc_t"/>
          <p:cNvSpPr/>
          <p:nvPr/>
        </p:nvSpPr>
        <p:spPr>
          <a:xfrm>
            <a:off x="10564462" y="40266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29" name="Shape 24"/>
          <p:cNvSpPr/>
          <p:nvPr/>
        </p:nvSpPr>
        <p:spPr>
          <a:xfrm>
            <a:off x="1712113" y="2253379"/>
            <a:ext cx="401996" cy="58819"/>
          </a:xfrm>
          <a:prstGeom prst="roundRect">
            <a:avLst>
              <a:gd name="adj" fmla="val 77730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372455" y="2545575"/>
            <a:ext cx="414684" cy="66408"/>
          </a:xfrm>
          <a:prstGeom prst="roundRect">
            <a:avLst>
              <a:gd name="adj" fmla="val 68847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360936" y="4247525"/>
            <a:ext cx="405469" cy="66408"/>
          </a:xfrm>
          <a:prstGeom prst="roundRect">
            <a:avLst>
              <a:gd name="adj" fmla="val 68847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2" name="h22_a1"/>
          <p:cNvSpPr/>
          <p:nvPr/>
        </p:nvSpPr>
        <p:spPr>
          <a:xfrm>
            <a:off x="1386531" y="3030093"/>
            <a:ext cx="1680981" cy="2241225"/>
          </a:xfrm>
          <a:prstGeom prst="rect">
            <a:avLst/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4" name="h22_b1"/>
          <p:cNvSpPr/>
          <p:nvPr/>
        </p:nvSpPr>
        <p:spPr>
          <a:xfrm>
            <a:off x="5174328" y="3469599"/>
            <a:ext cx="1893723" cy="554035"/>
          </a:xfrm>
          <a:prstGeom prst="roundRect">
            <a:avLst>
              <a:gd name="adj" fmla="val 9903"/>
            </a:avLst>
          </a:prstGeom>
          <a:ln w="28575">
            <a:solidFill>
              <a:srgbClr val="B4480A"/>
            </a:solidFill>
            <a:prstDash val="solid"/>
          </a:ln>
        </p:spPr>
      </p:sp>
      <p:sp>
        <p:nvSpPr>
          <p:cNvPr id="35" name="h22_b2"/>
          <p:cNvSpPr/>
          <p:nvPr/>
        </p:nvSpPr>
        <p:spPr>
          <a:xfrm>
            <a:off x="5169720" y="4539722"/>
            <a:ext cx="1898330" cy="508498"/>
          </a:xfrm>
          <a:prstGeom prst="roundRect">
            <a:avLst>
              <a:gd name="adj" fmla="val 10789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6" name="h22_c1"/>
          <p:cNvSpPr/>
          <p:nvPr/>
        </p:nvSpPr>
        <p:spPr>
          <a:xfrm>
            <a:off x="8316403" y="4439936"/>
            <a:ext cx="3290445" cy="772736"/>
          </a:xfrm>
          <a:prstGeom prst="roundRect">
            <a:avLst>
              <a:gd name="adj" fmla="val 7100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8" name="Text 33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4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8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59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5" name="Text 60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37A5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79182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23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 ·  RESOLUTION AND RESIDENT FEEDBACK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39996" y="590585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Resolves the Complaint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580522" y="475488"/>
            <a:ext cx="1199693" cy="420624"/>
          </a:xfrm>
          <a:prstGeom prst="roundRect">
            <a:avLst>
              <a:gd name="adj" fmla="val 50000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80522" y="475488"/>
            <a:ext cx="119969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C6E5D6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370" y="1385316"/>
            <a:ext cx="2045399" cy="3895344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1" name="Image 0" descr="C:/NogorShomadhan/User Manual/Phase 6/Final/4-resolvingthecomplai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662" y="1435608"/>
            <a:ext cx="1944815" cy="3794760"/>
          </a:xfrm>
          <a:prstGeom prst="rect">
            <a:avLst/>
          </a:prstGeom>
        </p:spPr>
      </p:pic>
      <p:sp>
        <p:nvSpPr>
          <p:cNvPr id="12" name="p23_ca"/>
          <p:cNvSpPr/>
          <p:nvPr/>
        </p:nvSpPr>
        <p:spPr>
          <a:xfrm>
            <a:off x="484632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final completion photo and the completion note.</a:t>
            </a:r>
            <a:endParaRPr lang="en-US" sz="1800"/>
          </a:p>
        </p:txBody>
      </p:sp>
      <p:sp>
        <p:nvSpPr>
          <p:cNvPr id="13" name="p23_ta"/>
          <p:cNvSpPr/>
          <p:nvPr/>
        </p:nvSpPr>
        <p:spPr>
          <a:xfrm>
            <a:off x="3045815" y="2690774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4" name="p23_ta_t"/>
          <p:cNvSpPr/>
          <p:nvPr/>
        </p:nvSpPr>
        <p:spPr>
          <a:xfrm>
            <a:off x="3045815" y="2690774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15" name="Shape 12"/>
          <p:cNvSpPr/>
          <p:nvPr/>
        </p:nvSpPr>
        <p:spPr>
          <a:xfrm>
            <a:off x="4053230" y="3159252"/>
            <a:ext cx="219456" cy="347472"/>
          </a:xfrm>
          <a:prstGeom prst="chevron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73148" y="1385316"/>
            <a:ext cx="2045399" cy="3895344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7" name="Image 1" descr="C:/NogorShomadhan/User Manual/Phase 6/Final/5-popup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440" y="1435608"/>
            <a:ext cx="1944815" cy="3794760"/>
          </a:xfrm>
          <a:prstGeom prst="rect">
            <a:avLst/>
          </a:prstGeom>
        </p:spPr>
      </p:pic>
      <p:sp>
        <p:nvSpPr>
          <p:cNvPr id="18" name="p23_cb"/>
          <p:cNvSpPr/>
          <p:nvPr/>
        </p:nvSpPr>
        <p:spPr>
          <a:xfrm>
            <a:off x="4350410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prompt to resolve the complaint.</a:t>
            </a:r>
            <a:endParaRPr lang="en-US" sz="1800"/>
          </a:p>
        </p:txBody>
      </p:sp>
      <p:sp>
        <p:nvSpPr>
          <p:cNvPr id="19" name="p23_tb"/>
          <p:cNvSpPr/>
          <p:nvPr/>
        </p:nvSpPr>
        <p:spPr>
          <a:xfrm>
            <a:off x="6119113" y="3867302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0" name="p23_tb_t"/>
          <p:cNvSpPr/>
          <p:nvPr/>
        </p:nvSpPr>
        <p:spPr>
          <a:xfrm>
            <a:off x="6094729" y="3867302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/>
          </a:p>
        </p:txBody>
      </p:sp>
      <p:sp>
        <p:nvSpPr>
          <p:cNvPr id="21" name="Shape 17"/>
          <p:cNvSpPr/>
          <p:nvPr/>
        </p:nvSpPr>
        <p:spPr>
          <a:xfrm>
            <a:off x="7919009" y="3159252"/>
            <a:ext cx="219456" cy="347472"/>
          </a:xfrm>
          <a:prstGeom prst="chevron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938927" y="1385316"/>
            <a:ext cx="2045399" cy="3895344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3" name="Image 2" descr="C:/NogorShomadhan/User Manual/Phase 6/Final/6-statuschanged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9219" y="1435608"/>
            <a:ext cx="1944815" cy="3794760"/>
          </a:xfrm>
          <a:prstGeom prst="rect">
            <a:avLst/>
          </a:prstGeom>
        </p:spPr>
      </p:pic>
      <p:sp>
        <p:nvSpPr>
          <p:cNvPr id="24" name="p23_cc"/>
          <p:cNvSpPr/>
          <p:nvPr/>
        </p:nvSpPr>
        <p:spPr>
          <a:xfrm>
            <a:off x="8216189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changes to Resolved and the approval is recorded.</a:t>
            </a:r>
            <a:endParaRPr lang="en-US" sz="1800"/>
          </a:p>
        </p:txBody>
      </p:sp>
      <p:sp>
        <p:nvSpPr>
          <p:cNvPr id="25" name="p23_tc"/>
          <p:cNvSpPr/>
          <p:nvPr/>
        </p:nvSpPr>
        <p:spPr>
          <a:xfrm>
            <a:off x="9765436" y="1703222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6" name="p23_tc_t"/>
          <p:cNvSpPr/>
          <p:nvPr/>
        </p:nvSpPr>
        <p:spPr>
          <a:xfrm>
            <a:off x="9765436" y="1715414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/>
          </a:p>
        </p:txBody>
      </p:sp>
      <p:sp>
        <p:nvSpPr>
          <p:cNvPr id="27" name="Shape 22"/>
          <p:cNvSpPr/>
          <p:nvPr/>
        </p:nvSpPr>
        <p:spPr>
          <a:xfrm>
            <a:off x="1704969" y="2188868"/>
            <a:ext cx="373404" cy="58819"/>
          </a:xfrm>
          <a:prstGeom prst="roundRect">
            <a:avLst>
              <a:gd name="adj" fmla="val 77730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570748" y="2188868"/>
            <a:ext cx="373404" cy="58819"/>
          </a:xfrm>
          <a:prstGeom prst="roundRect">
            <a:avLst>
              <a:gd name="adj" fmla="val 77730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9" name="h23_a1"/>
          <p:cNvSpPr/>
          <p:nvPr/>
        </p:nvSpPr>
        <p:spPr>
          <a:xfrm>
            <a:off x="2502343" y="2987665"/>
            <a:ext cx="560107" cy="151790"/>
          </a:xfrm>
          <a:prstGeom prst="roundRect">
            <a:avLst>
              <a:gd name="adj" fmla="val 36145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0" name="h23_a2"/>
          <p:cNvSpPr/>
          <p:nvPr/>
        </p:nvSpPr>
        <p:spPr>
          <a:xfrm>
            <a:off x="1393799" y="3547918"/>
            <a:ext cx="1666444" cy="800694"/>
          </a:xfrm>
          <a:prstGeom prst="roundRect">
            <a:avLst>
              <a:gd name="adj" fmla="val 6852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1" name="h23_a3"/>
          <p:cNvSpPr/>
          <p:nvPr/>
        </p:nvSpPr>
        <p:spPr>
          <a:xfrm>
            <a:off x="1393799" y="4382277"/>
            <a:ext cx="1672540" cy="426872"/>
          </a:xfrm>
          <a:prstGeom prst="roundRect">
            <a:avLst>
              <a:gd name="adj" fmla="val 16064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2" name="h23_a4"/>
          <p:cNvSpPr/>
          <p:nvPr/>
        </p:nvSpPr>
        <p:spPr>
          <a:xfrm>
            <a:off x="1393799" y="4979350"/>
            <a:ext cx="1672540" cy="209398"/>
          </a:xfrm>
          <a:prstGeom prst="roundRect">
            <a:avLst>
              <a:gd name="adj" fmla="val 24096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3" name="h23_b1"/>
          <p:cNvSpPr/>
          <p:nvPr/>
        </p:nvSpPr>
        <p:spPr>
          <a:xfrm>
            <a:off x="5321811" y="2687879"/>
            <a:ext cx="1551962" cy="1176376"/>
          </a:xfrm>
          <a:prstGeom prst="roundRect">
            <a:avLst>
              <a:gd name="adj" fmla="val 4664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4" name="h23_b2"/>
          <p:cNvSpPr/>
          <p:nvPr/>
        </p:nvSpPr>
        <p:spPr>
          <a:xfrm>
            <a:off x="6119185" y="3537905"/>
            <a:ext cx="645678" cy="204917"/>
          </a:xfrm>
          <a:prstGeom prst="roundRect">
            <a:avLst>
              <a:gd name="adj" fmla="val 26774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5" name="h23_c1"/>
          <p:cNvSpPr/>
          <p:nvPr/>
        </p:nvSpPr>
        <p:spPr>
          <a:xfrm>
            <a:off x="9129245" y="1887184"/>
            <a:ext cx="474535" cy="136611"/>
          </a:xfrm>
          <a:prstGeom prst="roundRect">
            <a:avLst>
              <a:gd name="adj" fmla="val 40161"/>
            </a:avLst>
          </a:prstGeom>
          <a:ln w="28575">
            <a:solidFill>
              <a:srgbClr val="18835C"/>
            </a:solidFill>
            <a:prstDash val="solid"/>
          </a:ln>
        </p:spPr>
      </p:sp>
      <p:sp>
        <p:nvSpPr>
          <p:cNvPr id="36" name="h23_c2"/>
          <p:cNvSpPr/>
          <p:nvPr/>
        </p:nvSpPr>
        <p:spPr>
          <a:xfrm>
            <a:off x="9059232" y="2551267"/>
            <a:ext cx="1804788" cy="425013"/>
          </a:xfrm>
          <a:prstGeom prst="roundRect">
            <a:avLst>
              <a:gd name="adj" fmla="val 12909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8" name="Text 33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4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237A57"/>
          </a:solidFill>
          <a:ln>
            <a:solidFill>
              <a:srgbClr val="237A5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8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59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C6E5D6"/>
          </a:solidFill>
          <a:ln>
            <a:solidFill>
              <a:srgbClr val="C6E5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5" name="Text 60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527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 ·  RESOLUTION AND RESIDENT FEEDBACK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43166" y="590585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Give Feedback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679278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79278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CFE3F4"/>
          </a:solidFill>
          <a:ln/>
        </p:spPr>
      </p:sp>
      <p:sp>
        <p:nvSpPr>
          <p:cNvPr id="10" name="Shape 8"/>
          <p:cNvSpPr/>
          <p:nvPr/>
        </p:nvSpPr>
        <p:spPr>
          <a:xfrm>
            <a:off x="406908" y="2030268"/>
            <a:ext cx="3646322" cy="3250392"/>
          </a:xfrm>
          <a:prstGeom prst="roundRect">
            <a:avLst>
              <a:gd name="adj" fmla="val 2251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1" name="Image 0" descr="C:/NogorShomadhan/User Manual/Phase 6/Final/7-residentgetsnotificati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60"/>
            <a:ext cx="3545738" cy="3149808"/>
          </a:xfrm>
          <a:prstGeom prst="rect">
            <a:avLst/>
          </a:prstGeom>
        </p:spPr>
      </p:pic>
      <p:sp>
        <p:nvSpPr>
          <p:cNvPr id="12" name="p24_ca"/>
          <p:cNvSpPr/>
          <p:nvPr/>
        </p:nvSpPr>
        <p:spPr>
          <a:xfrm>
            <a:off x="484632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is notified that the complaint is resolved and can rate it.</a:t>
            </a:r>
            <a:endParaRPr lang="en-US" sz="1800"/>
          </a:p>
        </p:txBody>
      </p:sp>
      <p:sp>
        <p:nvSpPr>
          <p:cNvPr id="13" name="p24_ta"/>
          <p:cNvSpPr/>
          <p:nvPr/>
        </p:nvSpPr>
        <p:spPr>
          <a:xfrm>
            <a:off x="2753658" y="3840281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4" name="p24_ta_t"/>
          <p:cNvSpPr/>
          <p:nvPr/>
        </p:nvSpPr>
        <p:spPr>
          <a:xfrm>
            <a:off x="2753658" y="3858569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/>
          </a:p>
        </p:txBody>
      </p:sp>
      <p:sp>
        <p:nvSpPr>
          <p:cNvPr id="15" name="Shape 12"/>
          <p:cNvSpPr/>
          <p:nvPr/>
        </p:nvSpPr>
        <p:spPr>
          <a:xfrm>
            <a:off x="4053230" y="3159252"/>
            <a:ext cx="219456" cy="347472"/>
          </a:xfrm>
          <a:prstGeom prst="chevron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73148" y="1385316"/>
            <a:ext cx="2045399" cy="3895344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7" name="Image 1" descr="C:/NogorShomadhan/User Manual/Phase 6/Final/8-residentgivesfeedback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440" y="1435608"/>
            <a:ext cx="1944815" cy="3794760"/>
          </a:xfrm>
          <a:prstGeom prst="rect">
            <a:avLst/>
          </a:prstGeom>
        </p:spPr>
      </p:pic>
      <p:sp>
        <p:nvSpPr>
          <p:cNvPr id="18" name="p24_cb"/>
          <p:cNvSpPr/>
          <p:nvPr/>
        </p:nvSpPr>
        <p:spPr>
          <a:xfrm>
            <a:off x="4350410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star rating and write a short comment.</a:t>
            </a:r>
            <a:endParaRPr lang="en-US" sz="1800"/>
          </a:p>
        </p:txBody>
      </p:sp>
      <p:sp>
        <p:nvSpPr>
          <p:cNvPr id="19" name="p24_tb"/>
          <p:cNvSpPr/>
          <p:nvPr/>
        </p:nvSpPr>
        <p:spPr>
          <a:xfrm>
            <a:off x="6149593" y="2794406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0" name="p24_tb_t"/>
          <p:cNvSpPr/>
          <p:nvPr/>
        </p:nvSpPr>
        <p:spPr>
          <a:xfrm>
            <a:off x="6149593" y="2794406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/>
          </a:p>
        </p:txBody>
      </p:sp>
      <p:sp>
        <p:nvSpPr>
          <p:cNvPr id="21" name="Shape 17"/>
          <p:cNvSpPr/>
          <p:nvPr/>
        </p:nvSpPr>
        <p:spPr>
          <a:xfrm>
            <a:off x="7919009" y="3159252"/>
            <a:ext cx="219456" cy="347472"/>
          </a:xfrm>
          <a:prstGeom prst="chevron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938927" y="1385316"/>
            <a:ext cx="2045399" cy="3895344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3" name="Image 2" descr="C:/NogorShomadhan/User Manual/Phase 6/Final/9-submitfeedback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9219" y="1435608"/>
            <a:ext cx="1944815" cy="3794760"/>
          </a:xfrm>
          <a:prstGeom prst="rect">
            <a:avLst/>
          </a:prstGeom>
        </p:spPr>
      </p:pic>
      <p:sp>
        <p:nvSpPr>
          <p:cNvPr id="24" name="p24_cc"/>
          <p:cNvSpPr/>
          <p:nvPr/>
        </p:nvSpPr>
        <p:spPr>
          <a:xfrm>
            <a:off x="8216189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prompt to submit the feedback.</a:t>
            </a:r>
            <a:endParaRPr lang="en-US" sz="1800"/>
          </a:p>
        </p:txBody>
      </p:sp>
      <p:sp>
        <p:nvSpPr>
          <p:cNvPr id="25" name="p24_tc"/>
          <p:cNvSpPr/>
          <p:nvPr/>
        </p:nvSpPr>
        <p:spPr>
          <a:xfrm>
            <a:off x="10015372" y="3879494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6" name="p24_tc_t"/>
          <p:cNvSpPr/>
          <p:nvPr/>
        </p:nvSpPr>
        <p:spPr>
          <a:xfrm>
            <a:off x="10021468" y="3879494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/>
          </a:p>
        </p:txBody>
      </p:sp>
      <p:sp>
        <p:nvSpPr>
          <p:cNvPr id="27" name="Shape 22"/>
          <p:cNvSpPr/>
          <p:nvPr/>
        </p:nvSpPr>
        <p:spPr>
          <a:xfrm>
            <a:off x="5570748" y="2257174"/>
            <a:ext cx="373404" cy="58819"/>
          </a:xfrm>
          <a:prstGeom prst="roundRect">
            <a:avLst>
              <a:gd name="adj" fmla="val 77730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436526" y="2257174"/>
            <a:ext cx="373404" cy="58819"/>
          </a:xfrm>
          <a:prstGeom prst="roundRect">
            <a:avLst>
              <a:gd name="adj" fmla="val 77730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29" name="h24_a1"/>
          <p:cNvSpPr/>
          <p:nvPr/>
        </p:nvSpPr>
        <p:spPr>
          <a:xfrm>
            <a:off x="584847" y="4244478"/>
            <a:ext cx="3290445" cy="960691"/>
          </a:xfrm>
          <a:prstGeom prst="roundRect">
            <a:avLst>
              <a:gd name="adj" fmla="val 5711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0" name="h24_b1"/>
          <p:cNvSpPr/>
          <p:nvPr/>
        </p:nvSpPr>
        <p:spPr>
          <a:xfrm>
            <a:off x="5699105" y="3480984"/>
            <a:ext cx="793484" cy="182148"/>
          </a:xfrm>
          <a:prstGeom prst="roundRect">
            <a:avLst>
              <a:gd name="adj" fmla="val 30121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1" name="h24_b2"/>
          <p:cNvSpPr/>
          <p:nvPr/>
        </p:nvSpPr>
        <p:spPr>
          <a:xfrm>
            <a:off x="5263467" y="3678311"/>
            <a:ext cx="1664761" cy="318760"/>
          </a:xfrm>
          <a:prstGeom prst="roundRect">
            <a:avLst>
              <a:gd name="adj" fmla="val 17212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2" name="h24_b3"/>
          <p:cNvSpPr/>
          <p:nvPr/>
        </p:nvSpPr>
        <p:spPr>
          <a:xfrm>
            <a:off x="5263467" y="4042608"/>
            <a:ext cx="1664761" cy="189738"/>
          </a:xfrm>
          <a:prstGeom prst="roundRect">
            <a:avLst>
              <a:gd name="adj" fmla="val 28916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3" name="h24_c1"/>
          <p:cNvSpPr/>
          <p:nvPr/>
        </p:nvSpPr>
        <p:spPr>
          <a:xfrm>
            <a:off x="9187590" y="2687879"/>
            <a:ext cx="1551962" cy="1176376"/>
          </a:xfrm>
          <a:prstGeom prst="roundRect">
            <a:avLst>
              <a:gd name="adj" fmla="val 4664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4" name="h24_c2"/>
          <p:cNvSpPr/>
          <p:nvPr/>
        </p:nvSpPr>
        <p:spPr>
          <a:xfrm>
            <a:off x="9984964" y="3537905"/>
            <a:ext cx="645678" cy="204917"/>
          </a:xfrm>
          <a:prstGeom prst="roundRect">
            <a:avLst>
              <a:gd name="adj" fmla="val 26774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6" name="Text 31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7" name="Text 32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8" name="Text 33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4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2563A6"/>
          </a:solidFill>
          <a:ln>
            <a:solidFill>
              <a:srgbClr val="2563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CFE3F4"/>
          </a:solidFill>
          <a:ln>
            <a:solidFill>
              <a:srgbClr val="CFE3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8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5601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 ·  RESOLUTION AND RESIDENT FEEDBACK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76256" y="590585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Public and Answered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580522" y="475488"/>
            <a:ext cx="1199693" cy="420624"/>
          </a:xfrm>
          <a:prstGeom prst="roundRect">
            <a:avLst>
              <a:gd name="adj" fmla="val 50000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80522" y="475488"/>
            <a:ext cx="119969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333281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33281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7370" y="1385316"/>
            <a:ext cx="2045399" cy="3895344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12700">
            <a:solidFill>
              <a:srgbClr val="CFE3F4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3" name="Image 0" descr="C:/NogorShomadhan/User Manual/Phase 6/Final/10-thefeedback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662" y="1435608"/>
            <a:ext cx="1944815" cy="3794760"/>
          </a:xfrm>
          <a:prstGeom prst="rect">
            <a:avLst/>
          </a:prstGeom>
        </p:spPr>
      </p:pic>
      <p:sp>
        <p:nvSpPr>
          <p:cNvPr id="14" name="p25_ca"/>
          <p:cNvSpPr/>
          <p:nvPr/>
        </p:nvSpPr>
        <p:spPr>
          <a:xfrm>
            <a:off x="484632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rating and comment appear on the complaint for everyone to see.</a:t>
            </a:r>
            <a:endParaRPr lang="en-US" sz="1800"/>
          </a:p>
        </p:txBody>
      </p:sp>
      <p:sp>
        <p:nvSpPr>
          <p:cNvPr id="15" name="p25_ta"/>
          <p:cNvSpPr/>
          <p:nvPr/>
        </p:nvSpPr>
        <p:spPr>
          <a:xfrm>
            <a:off x="2472791" y="4641494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563A6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6" name="p25_ta_t"/>
          <p:cNvSpPr/>
          <p:nvPr/>
        </p:nvSpPr>
        <p:spPr>
          <a:xfrm>
            <a:off x="2460599" y="4641494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/>
          </a:p>
        </p:txBody>
      </p:sp>
      <p:sp>
        <p:nvSpPr>
          <p:cNvPr id="17" name="Shape 14"/>
          <p:cNvSpPr/>
          <p:nvPr/>
        </p:nvSpPr>
        <p:spPr>
          <a:xfrm>
            <a:off x="3766606" y="3159252"/>
            <a:ext cx="219456" cy="347472"/>
          </a:xfrm>
          <a:prstGeom prst="chevron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72686" y="2217146"/>
            <a:ext cx="3646322" cy="3063514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9" name="Image 1" descr="C:/NogorShomadhan/User Manual/Phase 6/Final/11-authoritygetsfeedbacknoti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978" y="2267438"/>
            <a:ext cx="3545738" cy="2962930"/>
          </a:xfrm>
          <a:prstGeom prst="rect">
            <a:avLst/>
          </a:prstGeom>
        </p:spPr>
      </p:pic>
      <p:sp>
        <p:nvSpPr>
          <p:cNvPr id="20" name="p25_cb"/>
          <p:cNvSpPr/>
          <p:nvPr/>
        </p:nvSpPr>
        <p:spPr>
          <a:xfrm>
            <a:off x="4350410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authority is notified that a resident left a rating.</a:t>
            </a:r>
            <a:endParaRPr lang="en-US" sz="1800"/>
          </a:p>
        </p:txBody>
      </p:sp>
      <p:sp>
        <p:nvSpPr>
          <p:cNvPr id="21" name="p25_tb"/>
          <p:cNvSpPr/>
          <p:nvPr/>
        </p:nvSpPr>
        <p:spPr>
          <a:xfrm>
            <a:off x="6564572" y="4013587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2" name="p25_tb_t"/>
          <p:cNvSpPr/>
          <p:nvPr/>
        </p:nvSpPr>
        <p:spPr>
          <a:xfrm>
            <a:off x="6564572" y="4013587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/>
          </a:p>
        </p:txBody>
      </p:sp>
      <p:sp>
        <p:nvSpPr>
          <p:cNvPr id="23" name="Shape 19"/>
          <p:cNvSpPr/>
          <p:nvPr/>
        </p:nvSpPr>
        <p:spPr>
          <a:xfrm>
            <a:off x="8149706" y="3159252"/>
            <a:ext cx="219456" cy="347472"/>
          </a:xfrm>
          <a:prstGeom prst="chevron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683160" y="1385316"/>
            <a:ext cx="2556932" cy="3895344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5" name="Image 2" descr="C:/NogorShomadhan/User Manual/Phase 6/Final/12-authorityreplies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3452" y="1435608"/>
            <a:ext cx="2456348" cy="3794760"/>
          </a:xfrm>
          <a:prstGeom prst="rect">
            <a:avLst/>
          </a:prstGeom>
        </p:spPr>
      </p:pic>
      <p:sp>
        <p:nvSpPr>
          <p:cNvPr id="26" name="p25_cc"/>
          <p:cNvSpPr/>
          <p:nvPr/>
        </p:nvSpPr>
        <p:spPr>
          <a:xfrm>
            <a:off x="8216189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authority replies to the feedback in the community discussion.</a:t>
            </a:r>
            <a:endParaRPr lang="en-US" sz="1800"/>
          </a:p>
        </p:txBody>
      </p:sp>
      <p:sp>
        <p:nvSpPr>
          <p:cNvPr id="27" name="p25_tc"/>
          <p:cNvSpPr/>
          <p:nvPr/>
        </p:nvSpPr>
        <p:spPr>
          <a:xfrm>
            <a:off x="9996580" y="3245510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8" name="p25_tc_t"/>
          <p:cNvSpPr/>
          <p:nvPr/>
        </p:nvSpPr>
        <p:spPr>
          <a:xfrm>
            <a:off x="10014868" y="324551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/>
          </a:p>
        </p:txBody>
      </p:sp>
      <p:sp>
        <p:nvSpPr>
          <p:cNvPr id="29" name="Shape 24"/>
          <p:cNvSpPr/>
          <p:nvPr/>
        </p:nvSpPr>
        <p:spPr>
          <a:xfrm>
            <a:off x="1652459" y="1866313"/>
            <a:ext cx="311170" cy="55024"/>
          </a:xfrm>
          <a:prstGeom prst="roundRect">
            <a:avLst>
              <a:gd name="adj" fmla="val 83091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704969" y="2644239"/>
            <a:ext cx="373404" cy="58819"/>
          </a:xfrm>
          <a:prstGeom prst="roundRect">
            <a:avLst>
              <a:gd name="adj" fmla="val 77730"/>
            </a:avLst>
          </a:prstGeom>
          <a:solidFill>
            <a:srgbClr val="A9B4C2"/>
          </a:solidFill>
          <a:ln w="12700">
            <a:solidFill>
              <a:srgbClr val="A9B4C2"/>
            </a:solidFill>
            <a:prstDash val="solid"/>
          </a:ln>
        </p:spPr>
      </p:sp>
      <p:sp>
        <p:nvSpPr>
          <p:cNvPr id="31" name="h25_a1"/>
          <p:cNvSpPr/>
          <p:nvPr/>
        </p:nvSpPr>
        <p:spPr>
          <a:xfrm>
            <a:off x="1401578" y="3773180"/>
            <a:ext cx="1656982" cy="326349"/>
          </a:xfrm>
          <a:prstGeom prst="roundRect">
            <a:avLst>
              <a:gd name="adj" fmla="val 16811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2" name="h25_a2"/>
          <p:cNvSpPr/>
          <p:nvPr/>
        </p:nvSpPr>
        <p:spPr>
          <a:xfrm>
            <a:off x="1401578" y="4156451"/>
            <a:ext cx="1656982" cy="443987"/>
          </a:xfrm>
          <a:prstGeom prst="roundRect">
            <a:avLst>
              <a:gd name="adj" fmla="val 12357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3" name="h25_b1"/>
          <p:cNvSpPr/>
          <p:nvPr/>
        </p:nvSpPr>
        <p:spPr>
          <a:xfrm>
            <a:off x="4450625" y="4436303"/>
            <a:ext cx="3290445" cy="776288"/>
          </a:xfrm>
          <a:prstGeom prst="roundRect">
            <a:avLst>
              <a:gd name="adj" fmla="val 7067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4" name="h25_c1"/>
          <p:cNvSpPr/>
          <p:nvPr/>
        </p:nvSpPr>
        <p:spPr>
          <a:xfrm>
            <a:off x="8915222" y="3784564"/>
            <a:ext cx="2092809" cy="379476"/>
          </a:xfrm>
          <a:prstGeom prst="roundRect">
            <a:avLst>
              <a:gd name="adj" fmla="val 14458"/>
            </a:avLst>
          </a:prstGeom>
          <a:ln w="28575">
            <a:solidFill>
              <a:srgbClr val="2563A6"/>
            </a:solidFill>
            <a:prstDash val="solid"/>
          </a:ln>
        </p:spPr>
      </p:sp>
      <p:sp>
        <p:nvSpPr>
          <p:cNvPr id="35" name="h25_c2"/>
          <p:cNvSpPr/>
          <p:nvPr/>
        </p:nvSpPr>
        <p:spPr>
          <a:xfrm>
            <a:off x="9133837" y="4881250"/>
            <a:ext cx="1621190" cy="235275"/>
          </a:xfrm>
          <a:prstGeom prst="roundRect">
            <a:avLst>
              <a:gd name="adj" fmla="val 23319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7" name="Text 32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8" name="Text 33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39" name="Text 34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8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59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0223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  ·  ANALYTICS AND FORUM TOOLS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76256" y="590585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Reporting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580522" y="475488"/>
            <a:ext cx="1199693" cy="420624"/>
          </a:xfrm>
          <a:prstGeom prst="roundRect">
            <a:avLst>
              <a:gd name="adj" fmla="val 50000"/>
            </a:avLst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80522" y="475488"/>
            <a:ext cx="119969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629546" y="475488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29546" y="475488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8382305" y="475488"/>
            <a:ext cx="1100938" cy="420624"/>
          </a:xfrm>
          <a:prstGeom prst="roundRect">
            <a:avLst>
              <a:gd name="adj" fmla="val 50000"/>
            </a:avLst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82305" y="475488"/>
            <a:ext cx="11009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4" name="Shape 12"/>
          <p:cNvSpPr/>
          <p:nvPr/>
        </p:nvSpPr>
        <p:spPr>
          <a:xfrm>
            <a:off x="1256512" y="1385316"/>
            <a:ext cx="1947114" cy="3895344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5" name="Image 0" descr="C:/NogorShomadhan/User Manual/additional features/admin-analytics/1-admin_analytic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804" y="1435608"/>
            <a:ext cx="1846530" cy="3794760"/>
          </a:xfrm>
          <a:prstGeom prst="rect">
            <a:avLst/>
          </a:prstGeom>
        </p:spPr>
      </p:pic>
      <p:sp>
        <p:nvSpPr>
          <p:cNvPr id="16" name="p26_ca"/>
          <p:cNvSpPr/>
          <p:nvPr/>
        </p:nvSpPr>
        <p:spPr>
          <a:xfrm>
            <a:off x="484632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volume, status, resolution rate, and response time at a glance.</a:t>
            </a:r>
            <a:endParaRPr lang="en-US" sz="1800"/>
          </a:p>
        </p:txBody>
      </p:sp>
      <p:sp>
        <p:nvSpPr>
          <p:cNvPr id="17" name="p26_ta"/>
          <p:cNvSpPr/>
          <p:nvPr/>
        </p:nvSpPr>
        <p:spPr>
          <a:xfrm>
            <a:off x="2466285" y="2709062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8" name="p26_ta_t"/>
          <p:cNvSpPr/>
          <p:nvPr/>
        </p:nvSpPr>
        <p:spPr>
          <a:xfrm>
            <a:off x="2466285" y="2709062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9" name="Shape 16"/>
          <p:cNvSpPr/>
          <p:nvPr/>
        </p:nvSpPr>
        <p:spPr>
          <a:xfrm>
            <a:off x="4053230" y="3159252"/>
            <a:ext cx="219456" cy="347472"/>
          </a:xfrm>
          <a:prstGeom prst="chevron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05214" y="1385316"/>
            <a:ext cx="1981267" cy="3895344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C6E5D6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1" name="Image 1" descr="C:/NogorShomadhan/User Manual/additional features/authority-analytics/2_authority_analytic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5506" y="1435608"/>
            <a:ext cx="1880683" cy="3794760"/>
          </a:xfrm>
          <a:prstGeom prst="rect">
            <a:avLst/>
          </a:prstGeom>
        </p:spPr>
      </p:pic>
      <p:sp>
        <p:nvSpPr>
          <p:cNvPr id="22" name="p26_cb"/>
          <p:cNvSpPr/>
          <p:nvPr/>
        </p:nvSpPr>
        <p:spPr>
          <a:xfrm>
            <a:off x="4350410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 by category and area, plus deadline and response performance.</a:t>
            </a:r>
            <a:endParaRPr lang="en-US" sz="1800"/>
          </a:p>
        </p:txBody>
      </p:sp>
      <p:sp>
        <p:nvSpPr>
          <p:cNvPr id="23" name="p26_tb"/>
          <p:cNvSpPr/>
          <p:nvPr/>
        </p:nvSpPr>
        <p:spPr>
          <a:xfrm>
            <a:off x="6908690" y="2123846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237A57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4" name="p26_tb_t"/>
          <p:cNvSpPr/>
          <p:nvPr/>
        </p:nvSpPr>
        <p:spPr>
          <a:xfrm>
            <a:off x="6908690" y="210555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25" name="Shape 21"/>
          <p:cNvSpPr/>
          <p:nvPr/>
        </p:nvSpPr>
        <p:spPr>
          <a:xfrm>
            <a:off x="7919009" y="3159252"/>
            <a:ext cx="219456" cy="347472"/>
          </a:xfrm>
          <a:prstGeom prst="chevron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985413" y="1385316"/>
            <a:ext cx="1952427" cy="3895344"/>
          </a:xfrm>
          <a:prstGeom prst="roundRect">
            <a:avLst>
              <a:gd name="adj" fmla="val 3747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27" name="Image 2" descr="C:/NogorShomadhan/User Manual/additional features/admin-analytics/1_report_pdf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5705" y="1435608"/>
            <a:ext cx="1851843" cy="3794760"/>
          </a:xfrm>
          <a:prstGeom prst="rect">
            <a:avLst/>
          </a:prstGeom>
        </p:spPr>
      </p:pic>
      <p:sp>
        <p:nvSpPr>
          <p:cNvPr id="28" name="p26_cc"/>
          <p:cNvSpPr/>
          <p:nvPr/>
        </p:nvSpPr>
        <p:spPr>
          <a:xfrm>
            <a:off x="8216189" y="5431536"/>
            <a:ext cx="34908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Report PDF exports the selected period as a shareable file.</a:t>
            </a:r>
            <a:endParaRPr lang="en-US" sz="1800"/>
          </a:p>
        </p:txBody>
      </p:sp>
      <p:sp>
        <p:nvSpPr>
          <p:cNvPr id="29" name="p26_tc"/>
          <p:cNvSpPr/>
          <p:nvPr/>
        </p:nvSpPr>
        <p:spPr>
          <a:xfrm>
            <a:off x="10018774" y="2404262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30" name="p26_tc_t"/>
          <p:cNvSpPr/>
          <p:nvPr/>
        </p:nvSpPr>
        <p:spPr>
          <a:xfrm>
            <a:off x="10037062" y="2404262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31" name="h26_a1"/>
          <p:cNvSpPr/>
          <p:nvPr/>
        </p:nvSpPr>
        <p:spPr>
          <a:xfrm>
            <a:off x="1476685" y="2365324"/>
            <a:ext cx="812473" cy="220096"/>
          </a:xfrm>
          <a:prstGeom prst="roundRect">
            <a:avLst>
              <a:gd name="adj" fmla="val 24927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2" name="h26_a2"/>
          <p:cNvSpPr/>
          <p:nvPr/>
        </p:nvSpPr>
        <p:spPr>
          <a:xfrm>
            <a:off x="1376972" y="2923154"/>
            <a:ext cx="1026671" cy="155585"/>
          </a:xfrm>
          <a:prstGeom prst="roundRect">
            <a:avLst>
              <a:gd name="adj" fmla="val 35263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3" name="h26_a3"/>
          <p:cNvSpPr/>
          <p:nvPr/>
        </p:nvSpPr>
        <p:spPr>
          <a:xfrm>
            <a:off x="1376972" y="3135660"/>
            <a:ext cx="1706194" cy="1457188"/>
          </a:xfrm>
          <a:prstGeom prst="roundRect">
            <a:avLst>
              <a:gd name="adj" fmla="val 3765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4" name="h26_b1"/>
          <p:cNvSpPr/>
          <p:nvPr/>
        </p:nvSpPr>
        <p:spPr>
          <a:xfrm>
            <a:off x="5230733" y="2308403"/>
            <a:ext cx="1730228" cy="1252271"/>
          </a:xfrm>
          <a:prstGeom prst="roundRect">
            <a:avLst>
              <a:gd name="adj" fmla="val 4381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5" name="h26_b2"/>
          <p:cNvSpPr/>
          <p:nvPr/>
        </p:nvSpPr>
        <p:spPr>
          <a:xfrm>
            <a:off x="5255117" y="3673831"/>
            <a:ext cx="1681460" cy="1114562"/>
          </a:xfrm>
          <a:prstGeom prst="roundRect">
            <a:avLst>
              <a:gd name="adj" fmla="val 3950"/>
            </a:avLst>
          </a:prstGeom>
          <a:ln w="28575">
            <a:solidFill>
              <a:srgbClr val="237A57"/>
            </a:solidFill>
            <a:prstDash val="solid"/>
          </a:ln>
        </p:spPr>
      </p:sp>
      <p:sp>
        <p:nvSpPr>
          <p:cNvPr id="36" name="h26_c1"/>
          <p:cNvSpPr/>
          <p:nvPr/>
        </p:nvSpPr>
        <p:spPr>
          <a:xfrm>
            <a:off x="9206074" y="2365324"/>
            <a:ext cx="681478" cy="204917"/>
          </a:xfrm>
          <a:prstGeom prst="roundRect">
            <a:avLst>
              <a:gd name="adj" fmla="val 26774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7" name="h26_c2"/>
          <p:cNvSpPr/>
          <p:nvPr/>
        </p:nvSpPr>
        <p:spPr>
          <a:xfrm>
            <a:off x="9135704" y="3492368"/>
            <a:ext cx="1666659" cy="402245"/>
          </a:xfrm>
          <a:prstGeom prst="roundRect">
            <a:avLst>
              <a:gd name="adj" fmla="val 13639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9" name="Text 34">
            <a:hlinkClick r:id="rId6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5">
            <a:hlinkClick r:id="rId7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6">
            <a:hlinkClick r:id="rId8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7">
            <a:hlinkClick r:id="rId9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8">
            <a:hlinkClick r:id="rId10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39">
            <a:hlinkClick r:id="rId11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0">
            <a:hlinkClick r:id="rId12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1">
            <a:hlinkClick r:id="rId13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2">
            <a:hlinkClick r:id="rId14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3">
            <a:hlinkClick r:id="rId15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4">
            <a:hlinkClick r:id="rId16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5">
            <a:hlinkClick r:id="rId17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6">
            <a:hlinkClick r:id="rId18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7">
            <a:hlinkClick r:id="rId19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8">
            <a:hlinkClick r:id="rId20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49">
            <a:hlinkClick r:id="rId21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0">
            <a:hlinkClick r:id="rId22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1">
            <a:hlinkClick r:id="rId23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2">
            <a:hlinkClick r:id="rId24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3">
            <a:hlinkClick r:id="rId25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4">
            <a:hlinkClick r:id="rId26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5">
            <a:hlinkClick r:id="rId27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6">
            <a:hlinkClick r:id="rId28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7">
            <a:hlinkClick r:id="rId29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8">
            <a:hlinkClick r:id="rId30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59">
            <a:hlinkClick r:id="rId31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475467"/>
          </a:solidFill>
          <a:ln>
            <a:solidFill>
              <a:srgbClr val="4754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5" name="Text 60">
            <a:hlinkClick r:id="rId32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DDE1E7"/>
          </a:solidFill>
          <a:ln>
            <a:solidFill>
              <a:srgbClr val="DDE1E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6" name="Text 61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B86A1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4297" y="329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B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  ·  ANALYTICS AND FORUM TOOLS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79984" y="58928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Announcements and Events</a:t>
            </a:r>
            <a:endParaRPr lang="en-US" sz="3400"/>
          </a:p>
        </p:txBody>
      </p:sp>
      <p:sp>
        <p:nvSpPr>
          <p:cNvPr id="7" name="Shape 5"/>
          <p:cNvSpPr/>
          <p:nvPr/>
        </p:nvSpPr>
        <p:spPr>
          <a:xfrm>
            <a:off x="10682935" y="469392"/>
            <a:ext cx="1097280" cy="451104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  <a:effectLst>
            <a:outerShdw blurRad="76200" dist="12700" dir="5400000" algn="bl" rotWithShape="0">
              <a:srgbClr val="0B223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311079" y="469392"/>
            <a:ext cx="1883664" cy="4511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Authority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1368735" cy="18288"/>
          </a:xfrm>
          <a:prstGeom prst="rect">
            <a:avLst/>
          </a:prstGeom>
          <a:solidFill>
            <a:srgbClr val="F2DBBB"/>
          </a:solidFill>
          <a:ln/>
        </p:spPr>
      </p:sp>
      <p:sp>
        <p:nvSpPr>
          <p:cNvPr id="10" name="Shape 8"/>
          <p:cNvSpPr/>
          <p:nvPr/>
        </p:nvSpPr>
        <p:spPr>
          <a:xfrm>
            <a:off x="890907" y="1412748"/>
            <a:ext cx="1967226" cy="3895344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1" name="Image 0" descr="C:/NogorShomadhan/User Manual/additional features/forum-features/event_creati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99" y="1463040"/>
            <a:ext cx="1866642" cy="3794760"/>
          </a:xfrm>
          <a:prstGeom prst="rect">
            <a:avLst/>
          </a:prstGeom>
        </p:spPr>
      </p:pic>
      <p:sp>
        <p:nvSpPr>
          <p:cNvPr id="12" name="p27_ca"/>
          <p:cNvSpPr/>
          <p:nvPr/>
        </p:nvSpPr>
        <p:spPr>
          <a:xfrm>
            <a:off x="274320" y="5477256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event, mark the dates, and post it to the community.</a:t>
            </a:r>
            <a:endParaRPr lang="en-US" sz="1800"/>
          </a:p>
        </p:txBody>
      </p:sp>
      <p:sp>
        <p:nvSpPr>
          <p:cNvPr id="13" name="p27_ta"/>
          <p:cNvSpPr/>
          <p:nvPr/>
        </p:nvSpPr>
        <p:spPr>
          <a:xfrm>
            <a:off x="2644632" y="2035454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4" name="p27_ta_t"/>
          <p:cNvSpPr/>
          <p:nvPr/>
        </p:nvSpPr>
        <p:spPr>
          <a:xfrm>
            <a:off x="2644632" y="2035454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15" name="Shape 12"/>
          <p:cNvSpPr/>
          <p:nvPr/>
        </p:nvSpPr>
        <p:spPr>
          <a:xfrm>
            <a:off x="4008784" y="1412748"/>
            <a:ext cx="1949391" cy="3895344"/>
          </a:xfrm>
          <a:prstGeom prst="roundRect">
            <a:avLst>
              <a:gd name="adj" fmla="val 3753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pic>
        <p:nvPicPr>
          <p:cNvPr id="16" name="Image 1" descr="C:/NogorShomadhan/User Manual/additional features/forum-features/forum_aler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076" y="1463040"/>
            <a:ext cx="1848807" cy="3794760"/>
          </a:xfrm>
          <a:prstGeom prst="rect">
            <a:avLst/>
          </a:prstGeom>
        </p:spPr>
      </p:pic>
      <p:sp>
        <p:nvSpPr>
          <p:cNvPr id="17" name="p27_cb"/>
          <p:cNvSpPr/>
          <p:nvPr/>
        </p:nvSpPr>
        <p:spPr>
          <a:xfrm>
            <a:off x="3383280" y="5477256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official post and choose its message type before publishing.</a:t>
            </a:r>
            <a:endParaRPr lang="en-US" sz="1800"/>
          </a:p>
        </p:txBody>
      </p:sp>
      <p:sp>
        <p:nvSpPr>
          <p:cNvPr id="18" name="p27_tb"/>
          <p:cNvSpPr/>
          <p:nvPr/>
        </p:nvSpPr>
        <p:spPr>
          <a:xfrm>
            <a:off x="5791741" y="2504846"/>
            <a:ext cx="585216" cy="365760"/>
          </a:xfrm>
          <a:prstGeom prst="roundRect">
            <a:avLst>
              <a:gd name="adj" fmla="val 37500"/>
            </a:avLst>
          </a:prstGeom>
          <a:solidFill>
            <a:srgbClr val="B86A12"/>
          </a:solidFill>
          <a:ln w="22225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19" name="p27_tb_t"/>
          <p:cNvSpPr/>
          <p:nvPr/>
        </p:nvSpPr>
        <p:spPr>
          <a:xfrm>
            <a:off x="5791741" y="2504846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/>
          </a:p>
        </p:txBody>
      </p:sp>
      <p:sp>
        <p:nvSpPr>
          <p:cNvPr id="20" name="h27_a1"/>
          <p:cNvSpPr/>
          <p:nvPr/>
        </p:nvSpPr>
        <p:spPr>
          <a:xfrm>
            <a:off x="1101730" y="2271324"/>
            <a:ext cx="1545580" cy="258044"/>
          </a:xfrm>
          <a:prstGeom prst="roundRect">
            <a:avLst>
              <a:gd name="adj" fmla="val 21261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21" name="h27_a2"/>
          <p:cNvSpPr/>
          <p:nvPr/>
        </p:nvSpPr>
        <p:spPr>
          <a:xfrm>
            <a:off x="1101730" y="2677363"/>
            <a:ext cx="1545580" cy="1305397"/>
          </a:xfrm>
          <a:prstGeom prst="roundRect">
            <a:avLst>
              <a:gd name="adj" fmla="val 4203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22" name="h27_a3"/>
          <p:cNvSpPr/>
          <p:nvPr/>
        </p:nvSpPr>
        <p:spPr>
          <a:xfrm>
            <a:off x="1646790" y="4643049"/>
            <a:ext cx="1000520" cy="189738"/>
          </a:xfrm>
          <a:prstGeom prst="roundRect">
            <a:avLst>
              <a:gd name="adj" fmla="val 28916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23" name="h27_b1"/>
          <p:cNvSpPr/>
          <p:nvPr/>
        </p:nvSpPr>
        <p:spPr>
          <a:xfrm>
            <a:off x="4210679" y="2684953"/>
            <a:ext cx="1545603" cy="667878"/>
          </a:xfrm>
          <a:prstGeom prst="roundRect">
            <a:avLst>
              <a:gd name="adj" fmla="val 8215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24" name="h27_b2"/>
          <p:cNvSpPr/>
          <p:nvPr/>
        </p:nvSpPr>
        <p:spPr>
          <a:xfrm>
            <a:off x="5253406" y="3386983"/>
            <a:ext cx="502876" cy="459166"/>
          </a:xfrm>
          <a:prstGeom prst="roundRect">
            <a:avLst>
              <a:gd name="adj" fmla="val 11949"/>
            </a:avLst>
          </a:prstGeom>
          <a:ln w="28575">
            <a:solidFill>
              <a:srgbClr val="B4480A"/>
            </a:solidFill>
            <a:prstDash val="solid"/>
          </a:ln>
        </p:spPr>
      </p:sp>
      <p:sp>
        <p:nvSpPr>
          <p:cNvPr id="25" name="h27_b3"/>
          <p:cNvSpPr/>
          <p:nvPr/>
        </p:nvSpPr>
        <p:spPr>
          <a:xfrm>
            <a:off x="4210679" y="3884097"/>
            <a:ext cx="1545603" cy="227686"/>
          </a:xfrm>
          <a:prstGeom prst="roundRect">
            <a:avLst>
              <a:gd name="adj" fmla="val 24096"/>
            </a:avLst>
          </a:prstGeom>
          <a:ln w="28575">
            <a:solidFill>
              <a:srgbClr val="B86A1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720840" y="1463040"/>
            <a:ext cx="5059375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F2DBBB"/>
            </a:solidFill>
            <a:prstDash val="solid"/>
          </a:ln>
          <a:effectLst>
            <a:outerShdw blurRad="127000" dist="25400" dir="5400000" algn="bl" rotWithShape="0">
              <a:srgbClr val="0B2239">
                <a:alpha val="13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995160" y="1664208"/>
            <a:ext cx="45107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30">
                <a:solidFill>
                  <a:srgbClr val="B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POST TYPES</a:t>
            </a:r>
            <a:endParaRPr lang="en-US" sz="1300"/>
          </a:p>
        </p:txBody>
      </p:sp>
      <p:sp>
        <p:nvSpPr>
          <p:cNvPr id="28" name="Shape 24"/>
          <p:cNvSpPr/>
          <p:nvPr/>
        </p:nvSpPr>
        <p:spPr>
          <a:xfrm>
            <a:off x="6995160" y="2066544"/>
            <a:ext cx="1751990" cy="347472"/>
          </a:xfrm>
          <a:prstGeom prst="roundRect">
            <a:avLst>
              <a:gd name="adj" fmla="val 50000"/>
            </a:avLst>
          </a:prstGeom>
          <a:solidFill>
            <a:srgbClr val="B86A12"/>
          </a:solidFill>
          <a:ln w="12700">
            <a:solidFill>
              <a:srgbClr val="B86A1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995160" y="2066544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</a:t>
            </a:r>
            <a:endParaRPr lang="en-US" sz="1400"/>
          </a:p>
        </p:txBody>
      </p:sp>
      <p:sp>
        <p:nvSpPr>
          <p:cNvPr id="30" name="p27_d0"/>
          <p:cNvSpPr/>
          <p:nvPr/>
        </p:nvSpPr>
        <p:spPr>
          <a:xfrm>
            <a:off x="6995160" y="2487168"/>
            <a:ext cx="4510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notices, schedules, and community events</a:t>
            </a:r>
            <a:endParaRPr lang="en-US" sz="1700"/>
          </a:p>
        </p:txBody>
      </p:sp>
      <p:sp>
        <p:nvSpPr>
          <p:cNvPr id="31" name="Shape 27"/>
          <p:cNvSpPr/>
          <p:nvPr/>
        </p:nvSpPr>
        <p:spPr>
          <a:xfrm>
            <a:off x="6995160" y="3108960"/>
            <a:ext cx="1967789" cy="347472"/>
          </a:xfrm>
          <a:prstGeom prst="roundRect">
            <a:avLst>
              <a:gd name="adj" fmla="val 50000"/>
            </a:avLst>
          </a:prstGeom>
          <a:solidFill>
            <a:srgbClr val="18835C"/>
          </a:solidFill>
          <a:ln w="12700">
            <a:solidFill>
              <a:srgbClr val="18835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995160" y="3108960"/>
            <a:ext cx="19677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UPDATE</a:t>
            </a:r>
            <a:endParaRPr lang="en-US" sz="1400"/>
          </a:p>
        </p:txBody>
      </p:sp>
      <p:sp>
        <p:nvSpPr>
          <p:cNvPr id="33" name="p27_d1"/>
          <p:cNvSpPr/>
          <p:nvPr/>
        </p:nvSpPr>
        <p:spPr>
          <a:xfrm>
            <a:off x="6995160" y="3529584"/>
            <a:ext cx="4510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or changes to community services</a:t>
            </a:r>
            <a:endParaRPr lang="en-US" sz="1700"/>
          </a:p>
        </p:txBody>
      </p:sp>
      <p:sp>
        <p:nvSpPr>
          <p:cNvPr id="34" name="Shape 30"/>
          <p:cNvSpPr/>
          <p:nvPr/>
        </p:nvSpPr>
        <p:spPr>
          <a:xfrm>
            <a:off x="6995160" y="4151376"/>
            <a:ext cx="996696" cy="347472"/>
          </a:xfrm>
          <a:prstGeom prst="roundRect">
            <a:avLst>
              <a:gd name="adj" fmla="val 50000"/>
            </a:avLst>
          </a:prstGeom>
          <a:solidFill>
            <a:srgbClr val="B4480A"/>
          </a:solidFill>
          <a:ln w="12700">
            <a:solidFill>
              <a:srgbClr val="B4480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995160" y="4151376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/>
          </a:p>
        </p:txBody>
      </p:sp>
      <p:sp>
        <p:nvSpPr>
          <p:cNvPr id="36" name="p27_d2"/>
          <p:cNvSpPr/>
          <p:nvPr/>
        </p:nvSpPr>
        <p:spPr>
          <a:xfrm>
            <a:off x="6995160" y="4572000"/>
            <a:ext cx="4510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Urgent, time-sensitive information</a:t>
            </a:r>
            <a:endParaRPr lang="en-US" sz="1700"/>
          </a:p>
        </p:txBody>
      </p:sp>
      <p:sp>
        <p:nvSpPr>
          <p:cNvPr id="37" name="p27_note"/>
          <p:cNvSpPr/>
          <p:nvPr/>
        </p:nvSpPr>
        <p:spPr>
          <a:xfrm>
            <a:off x="6995160" y="5248656"/>
            <a:ext cx="45107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can filter the forum by type.</a:t>
            </a:r>
            <a:endParaRPr lang="en-US" sz="1600"/>
          </a:p>
        </p:txBody>
      </p:sp>
      <p:sp>
        <p:nvSpPr>
          <p:cNvPr id="38" name="Text 34"/>
          <p:cNvSpPr/>
          <p:nvPr/>
        </p:nvSpPr>
        <p:spPr>
          <a:xfrm>
            <a:off x="411480" y="6510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9" name="Text 35">
            <a:hlinkClick r:id="rId5" action="ppaction://hlinksldjump" tooltip="1. Problem Statement"/>
          </p:cNvPr>
          <p:cNvSpPr/>
          <p:nvPr/>
        </p:nvSpPr>
        <p:spPr>
          <a:xfrm>
            <a:off x="69064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1. Problem Stat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0" name="Text 36">
            <a:hlinkClick r:id="rId6" action="ppaction://hlinksldjump" tooltip="2. Stakeholders and Responsibilities"/>
          </p:cNvPr>
          <p:cNvSpPr/>
          <p:nvPr/>
        </p:nvSpPr>
        <p:spPr>
          <a:xfrm>
            <a:off x="70893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2. Stakeholders and Responsibil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1" name="Text 37">
            <a:hlinkClick r:id="rId7" action="ppaction://hlinksldjump" tooltip="3. Resident Account Registration"/>
          </p:cNvPr>
          <p:cNvSpPr/>
          <p:nvPr/>
        </p:nvSpPr>
        <p:spPr>
          <a:xfrm>
            <a:off x="72722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3. Resident Account Regist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2" name="Text 38">
            <a:hlinkClick r:id="rId8" action="ppaction://hlinksldjump" tooltip="4. Registration Request Submitted"/>
          </p:cNvPr>
          <p:cNvSpPr/>
          <p:nvPr/>
        </p:nvSpPr>
        <p:spPr>
          <a:xfrm>
            <a:off x="74551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4. Registration Request Submit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3" name="Text 39">
            <a:hlinkClick r:id="rId9" action="ppaction://hlinksldjump" tooltip="5. Admin Receives the Verification Request"/>
          </p:cNvPr>
          <p:cNvSpPr/>
          <p:nvPr/>
        </p:nvSpPr>
        <p:spPr>
          <a:xfrm>
            <a:off x="76379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5. Admin Receives the Verification Reque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4" name="Text 40">
            <a:hlinkClick r:id="rId10" action="ppaction://hlinksldjump" tooltip="6. Admin Reviews and Approves the Account"/>
          </p:cNvPr>
          <p:cNvSpPr/>
          <p:nvPr/>
        </p:nvSpPr>
        <p:spPr>
          <a:xfrm>
            <a:off x="78208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6. Admin Reviews and Approves the Accou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5" name="Text 41">
            <a:hlinkClick r:id="rId11" action="ppaction://hlinksldjump" tooltip="7. Account Verification Completed"/>
          </p:cNvPr>
          <p:cNvSpPr/>
          <p:nvPr/>
        </p:nvSpPr>
        <p:spPr>
          <a:xfrm>
            <a:off x="80037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7. Account Verification Comple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6" name="Text 42">
            <a:hlinkClick r:id="rId12" action="ppaction://hlinksldjump" tooltip="8. Create a New Complaint"/>
          </p:cNvPr>
          <p:cNvSpPr/>
          <p:nvPr/>
        </p:nvSpPr>
        <p:spPr>
          <a:xfrm>
            <a:off x="81866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8. Create a New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7" name="Text 43">
            <a:hlinkClick r:id="rId13" action="ppaction://hlinksldjump" tooltip="9. Add Evidence and Review the Category"/>
          </p:cNvPr>
          <p:cNvSpPr/>
          <p:nvPr/>
        </p:nvSpPr>
        <p:spPr>
          <a:xfrm>
            <a:off x="83695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9. Add Evidence and Review the Categ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8" name="Text 44">
            <a:hlinkClick r:id="rId14" action="ppaction://hlinksldjump" tooltip="10. Confirm the Complaint Submission"/>
          </p:cNvPr>
          <p:cNvSpPr/>
          <p:nvPr/>
        </p:nvSpPr>
        <p:spPr>
          <a:xfrm>
            <a:off x="85523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10. Confirm the Complaint Submi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49" name="Text 45">
            <a:hlinkClick r:id="rId15" action="ppaction://hlinksldjump" tooltip="11. Admin Opens the Review Queue"/>
          </p:cNvPr>
          <p:cNvSpPr/>
          <p:nvPr/>
        </p:nvSpPr>
        <p:spPr>
          <a:xfrm>
            <a:off x="87352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11. Admin Opens the Review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0" name="Text 46">
            <a:hlinkClick r:id="rId16" action="ppaction://hlinksldjump" tooltip="12. Complaint Check and Duplicate Comparison"/>
          </p:cNvPr>
          <p:cNvSpPr/>
          <p:nvPr/>
        </p:nvSpPr>
        <p:spPr>
          <a:xfrm>
            <a:off x="89181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12. Complaint Check and Duplicate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1" name="Text 47">
            <a:hlinkClick r:id="rId17" action="ppaction://hlinksldjump" tooltip="13. Duplicate Review Outcomes"/>
          </p:cNvPr>
          <p:cNvSpPr/>
          <p:nvPr/>
        </p:nvSpPr>
        <p:spPr>
          <a:xfrm>
            <a:off x="91010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13. Duplicate Review Outcom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2" name="Text 48">
            <a:hlinkClick r:id="rId18" action="ppaction://hlinksldjump" tooltip="14. Pending Complaint Visibility"/>
          </p:cNvPr>
          <p:cNvSpPr/>
          <p:nvPr/>
        </p:nvSpPr>
        <p:spPr>
          <a:xfrm>
            <a:off x="92839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14. Pending Complaint Vi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3" name="Text 49">
            <a:hlinkClick r:id="rId19" action="ppaction://hlinksldjump" tooltip="15. Authority Opens the Complaint"/>
          </p:cNvPr>
          <p:cNvSpPr/>
          <p:nvPr/>
        </p:nvSpPr>
        <p:spPr>
          <a:xfrm>
            <a:off x="94667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15. Authority Open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4" name="Text 50">
            <a:hlinkClick r:id="rId20" action="ppaction://hlinksldjump" tooltip="16. Assign a Contractor and Start Work"/>
          </p:cNvPr>
          <p:cNvSpPr/>
          <p:nvPr/>
        </p:nvSpPr>
        <p:spPr>
          <a:xfrm>
            <a:off x="96496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16. Assign a Contractor and Star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5" name="Text 51">
            <a:hlinkClick r:id="rId21" action="ppaction://hlinksldjump" tooltip="17. The Complaint Moves to In Progress"/>
          </p:cNvPr>
          <p:cNvSpPr/>
          <p:nvPr/>
        </p:nvSpPr>
        <p:spPr>
          <a:xfrm>
            <a:off x="98325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17. The Complaint Moves to In Prog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6" name="Text 52">
            <a:hlinkClick r:id="rId22" action="ppaction://hlinksldjump" tooltip="18. Residents See the Progress Update"/>
          </p:cNvPr>
          <p:cNvSpPr/>
          <p:nvPr/>
        </p:nvSpPr>
        <p:spPr>
          <a:xfrm>
            <a:off x="100154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18. Residents See the Progress Upd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7" name="Text 53">
            <a:hlinkClick r:id="rId23" action="ppaction://hlinksldjump" tooltip="19. Resident Starts a Forum Discussion"/>
          </p:cNvPr>
          <p:cNvSpPr/>
          <p:nvPr/>
        </p:nvSpPr>
        <p:spPr>
          <a:xfrm>
            <a:off x="101983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19. Resident Starts a Forum Discu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8" name="Text 54">
            <a:hlinkClick r:id="rId24" action="ppaction://hlinksldjump" tooltip="20. Everyone Is Notified"/>
          </p:cNvPr>
          <p:cNvSpPr/>
          <p:nvPr/>
        </p:nvSpPr>
        <p:spPr>
          <a:xfrm>
            <a:off x="103811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20. Everyone Is Not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59" name="Text 55">
            <a:hlinkClick r:id="rId25" action="ppaction://hlinksldjump" tooltip="21. Open the Post and Discuss"/>
          </p:cNvPr>
          <p:cNvSpPr/>
          <p:nvPr/>
        </p:nvSpPr>
        <p:spPr>
          <a:xfrm>
            <a:off x="105640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21. Open the Post and Discu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0" name="Text 56">
            <a:hlinkClick r:id="rId26" action="ppaction://hlinksldjump" tooltip="22. Authority Updates the Work"/>
          </p:cNvPr>
          <p:cNvSpPr/>
          <p:nvPr/>
        </p:nvSpPr>
        <p:spPr>
          <a:xfrm>
            <a:off x="1074694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22. Authority Updates the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1" name="Text 57">
            <a:hlinkClick r:id="rId27" action="ppaction://hlinksldjump" tooltip="23. Authority Resolves the Complaint"/>
          </p:cNvPr>
          <p:cNvSpPr/>
          <p:nvPr/>
        </p:nvSpPr>
        <p:spPr>
          <a:xfrm>
            <a:off x="1092982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23. Authority Resolves the Complai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2" name="Text 58">
            <a:hlinkClick r:id="rId28" action="ppaction://hlinksldjump" tooltip="24. Residents Give Feedback"/>
          </p:cNvPr>
          <p:cNvSpPr/>
          <p:nvPr/>
        </p:nvSpPr>
        <p:spPr>
          <a:xfrm>
            <a:off x="1111270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24. Residents Give Feed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3" name="Text 59">
            <a:hlinkClick r:id="rId29" action="ppaction://hlinksldjump" tooltip="25. Feedback Is Public and Answered"/>
          </p:cNvPr>
          <p:cNvSpPr/>
          <p:nvPr/>
        </p:nvSpPr>
        <p:spPr>
          <a:xfrm>
            <a:off x="1129558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25. Feedback Is Public and Answe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4" name="Text 60">
            <a:hlinkClick r:id="rId30" action="ppaction://hlinksldjump" tooltip="26. Analytics and Reporting"/>
          </p:cNvPr>
          <p:cNvSpPr/>
          <p:nvPr/>
        </p:nvSpPr>
        <p:spPr>
          <a:xfrm>
            <a:off x="11478463" y="6528816"/>
            <a:ext cx="118872" cy="118872"/>
          </a:xfrm>
          <a:prstGeom prst="ellipse">
            <a:avLst/>
          </a:prstGeom>
          <a:solidFill>
            <a:srgbClr val="F2DBBB"/>
          </a:solidFill>
          <a:ln>
            <a:solidFill>
              <a:srgbClr val="F2DB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action="ppaction://hlinksldjump" tooltip="26. Analytics and Re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5" name="Text 61">
            <a:hlinkClick r:id="rId31" action="ppaction://hlinksldjump" tooltip="27. Forum Announcements and Events"/>
          </p:cNvPr>
          <p:cNvSpPr/>
          <p:nvPr/>
        </p:nvSpPr>
        <p:spPr>
          <a:xfrm>
            <a:off x="11661343" y="6528816"/>
            <a:ext cx="118872" cy="118872"/>
          </a:xfrm>
          <a:prstGeom prst="ellipse">
            <a:avLst/>
          </a:prstGeom>
          <a:solidFill>
            <a:srgbClr val="B86A12"/>
          </a:solidFill>
          <a:ln>
            <a:solidFill>
              <a:srgbClr val="B86A1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27. Forum Announcements and Ev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600"/>
          </a:p>
        </p:txBody>
      </p:sp>
      <p:sp>
        <p:nvSpPr>
          <p:cNvPr id="66" name="Text 62"/>
          <p:cNvSpPr/>
          <p:nvPr/>
        </p:nvSpPr>
        <p:spPr>
          <a:xfrm>
            <a:off x="6083503" y="65105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27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25DE47-63A6-8F14-50C7-971F4FB69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2404A5A-FE9E-23D8-060B-A7C475A34891}"/>
              </a:ext>
            </a:extLst>
          </p:cNvPr>
          <p:cNvSpPr/>
          <p:nvPr/>
        </p:nvSpPr>
        <p:spPr>
          <a:xfrm>
            <a:off x="411480" y="329184"/>
            <a:ext cx="621792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7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4C47D6C-9D49-6704-6B60-194CD5DD535D}"/>
              </a:ext>
            </a:extLst>
          </p:cNvPr>
          <p:cNvSpPr/>
          <p:nvPr/>
        </p:nvSpPr>
        <p:spPr>
          <a:xfrm>
            <a:off x="3397504" y="2946400"/>
            <a:ext cx="8321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7200" b="1">
                <a:solidFill>
                  <a:srgbClr val="17324D"/>
                </a:solidFill>
                <a:latin typeface="Tw Cen MT"/>
                <a:ea typeface="Calibri"/>
                <a:cs typeface="Calibr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68140410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2563</Words>
  <Application>Microsoft Office PowerPoint</Application>
  <PresentationFormat>Widescreen</PresentationFormat>
  <Paragraphs>1149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Franklin Gothic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Nogor Shomadhan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Nogor Shomadhan — User Manual: Phases 1-6 and additional features</dc:title>
  <dc:subject>PptxGenJS Presentation</dc:subject>
  <dc:creator>Ashfia Tabassum</dc:creator>
  <cp:lastModifiedBy>Ashfia Tabassum</cp:lastModifiedBy>
  <cp:revision>5</cp:revision>
  <dcterms:created xsi:type="dcterms:W3CDTF">2026-09-12T19:57:52Z</dcterms:created>
  <dcterms:modified xsi:type="dcterms:W3CDTF">2026-09-13T00:04:14Z</dcterms:modified>
</cp:coreProperties>
</file>